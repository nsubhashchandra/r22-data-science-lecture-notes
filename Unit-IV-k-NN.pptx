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912" r:id="rId3"/>
    <p:sldId id="907" r:id="rId4"/>
    <p:sldId id="914" r:id="rId5"/>
    <p:sldId id="908" r:id="rId6"/>
    <p:sldId id="909" r:id="rId7"/>
    <p:sldId id="910" r:id="rId8"/>
    <p:sldId id="916" r:id="rId9"/>
    <p:sldId id="286" r:id="rId10"/>
    <p:sldId id="918" r:id="rId11"/>
    <p:sldId id="913" r:id="rId12"/>
    <p:sldId id="284" r:id="rId13"/>
    <p:sldId id="260" r:id="rId14"/>
    <p:sldId id="268" r:id="rId15"/>
    <p:sldId id="269" r:id="rId16"/>
    <p:sldId id="285" r:id="rId17"/>
    <p:sldId id="282" r:id="rId18"/>
    <p:sldId id="919" r:id="rId19"/>
    <p:sldId id="920" r:id="rId20"/>
    <p:sldId id="921" r:id="rId21"/>
    <p:sldId id="287" r:id="rId22"/>
    <p:sldId id="290" r:id="rId23"/>
    <p:sldId id="289" r:id="rId24"/>
    <p:sldId id="288" r:id="rId25"/>
    <p:sldId id="279" r:id="rId26"/>
    <p:sldId id="280" r:id="rId27"/>
    <p:sldId id="281" r:id="rId2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83" d="100"/>
          <a:sy n="83" d="100"/>
        </p:scale>
        <p:origin x="686" y="77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7618B5-447F-4792-925D-09EF8A64C30C}" type="doc">
      <dgm:prSet loTypeId="urn:microsoft.com/office/officeart/2005/8/layout/list1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1401798-1665-4669-A8D0-F4D5E2ABEC00}">
      <dgm:prSet/>
      <dgm:spPr/>
      <dgm:t>
        <a:bodyPr/>
        <a:lstStyle/>
        <a:p>
          <a:r>
            <a:rPr lang="en-US" b="0" i="0"/>
            <a:t>Supervised learning (classification)</a:t>
          </a:r>
          <a:endParaRPr lang="en-US"/>
        </a:p>
      </dgm:t>
    </dgm:pt>
    <dgm:pt modelId="{7B25F7F5-062C-47AF-BB4A-08E262E02167}" type="parTrans" cxnId="{3137F3ED-6795-481F-A8C7-A55CF4C85F7C}">
      <dgm:prSet/>
      <dgm:spPr/>
      <dgm:t>
        <a:bodyPr/>
        <a:lstStyle/>
        <a:p>
          <a:endParaRPr lang="en-US"/>
        </a:p>
      </dgm:t>
    </dgm:pt>
    <dgm:pt modelId="{257EB8AD-2409-4414-8B85-9600BD3C84E8}" type="sibTrans" cxnId="{3137F3ED-6795-481F-A8C7-A55CF4C85F7C}">
      <dgm:prSet/>
      <dgm:spPr/>
      <dgm:t>
        <a:bodyPr/>
        <a:lstStyle/>
        <a:p>
          <a:endParaRPr lang="en-US"/>
        </a:p>
      </dgm:t>
    </dgm:pt>
    <dgm:pt modelId="{49C52017-1BE9-4989-AE59-347D53244CD0}">
      <dgm:prSet/>
      <dgm:spPr/>
      <dgm:t>
        <a:bodyPr/>
        <a:lstStyle/>
        <a:p>
          <a:r>
            <a:rPr lang="en-US" dirty="0"/>
            <a:t>Supervision: The training data (observations, measurements, etc.) are accompanied by </a:t>
          </a:r>
          <a:r>
            <a:rPr lang="en-US" b="1" dirty="0"/>
            <a:t>labels</a:t>
          </a:r>
          <a:r>
            <a:rPr lang="en-US" dirty="0"/>
            <a:t> indicating the class of the observations</a:t>
          </a:r>
        </a:p>
      </dgm:t>
    </dgm:pt>
    <dgm:pt modelId="{4FB89139-4138-4236-BBE1-072B84918E6B}" type="parTrans" cxnId="{0F4555DC-512D-46CF-860F-66FBDB1D9F45}">
      <dgm:prSet/>
      <dgm:spPr/>
      <dgm:t>
        <a:bodyPr/>
        <a:lstStyle/>
        <a:p>
          <a:endParaRPr lang="en-US"/>
        </a:p>
      </dgm:t>
    </dgm:pt>
    <dgm:pt modelId="{0662FDFB-2ABD-49D9-8825-AF31C03E579F}" type="sibTrans" cxnId="{0F4555DC-512D-46CF-860F-66FBDB1D9F45}">
      <dgm:prSet/>
      <dgm:spPr/>
      <dgm:t>
        <a:bodyPr/>
        <a:lstStyle/>
        <a:p>
          <a:endParaRPr lang="en-US"/>
        </a:p>
      </dgm:t>
    </dgm:pt>
    <dgm:pt modelId="{A1979813-5CDC-44D7-BD8C-056C7DAB29B7}">
      <dgm:prSet/>
      <dgm:spPr/>
      <dgm:t>
        <a:bodyPr/>
        <a:lstStyle/>
        <a:p>
          <a:r>
            <a:rPr lang="en-US"/>
            <a:t>New data is classified based on the training set</a:t>
          </a:r>
        </a:p>
      </dgm:t>
    </dgm:pt>
    <dgm:pt modelId="{9A2C4B2B-6FD7-4D16-B3F5-5A4055B7FE4D}" type="parTrans" cxnId="{64B7A874-7EEB-4B2D-97C3-CB1F3F9C4764}">
      <dgm:prSet/>
      <dgm:spPr/>
      <dgm:t>
        <a:bodyPr/>
        <a:lstStyle/>
        <a:p>
          <a:endParaRPr lang="en-US"/>
        </a:p>
      </dgm:t>
    </dgm:pt>
    <dgm:pt modelId="{17604810-AF93-4897-A915-F169B8F32B70}" type="sibTrans" cxnId="{64B7A874-7EEB-4B2D-97C3-CB1F3F9C4764}">
      <dgm:prSet/>
      <dgm:spPr/>
      <dgm:t>
        <a:bodyPr/>
        <a:lstStyle/>
        <a:p>
          <a:endParaRPr lang="en-US"/>
        </a:p>
      </dgm:t>
    </dgm:pt>
    <dgm:pt modelId="{3C42C9A6-71A6-40B3-8259-11D09E8E01F8}">
      <dgm:prSet/>
      <dgm:spPr/>
      <dgm:t>
        <a:bodyPr/>
        <a:lstStyle/>
        <a:p>
          <a:r>
            <a:rPr lang="en-US" b="0" i="0"/>
            <a:t>Unsupervised learning (clustering)</a:t>
          </a:r>
          <a:endParaRPr lang="en-US"/>
        </a:p>
      </dgm:t>
    </dgm:pt>
    <dgm:pt modelId="{D19B3A9A-EEE9-4A8A-9A62-53C6982848F7}" type="parTrans" cxnId="{077C741D-6691-401C-BB6E-5F660B1C7CCA}">
      <dgm:prSet/>
      <dgm:spPr/>
      <dgm:t>
        <a:bodyPr/>
        <a:lstStyle/>
        <a:p>
          <a:endParaRPr lang="en-US"/>
        </a:p>
      </dgm:t>
    </dgm:pt>
    <dgm:pt modelId="{4488EF0A-164E-4644-A777-E22EA1A42C4D}" type="sibTrans" cxnId="{077C741D-6691-401C-BB6E-5F660B1C7CCA}">
      <dgm:prSet/>
      <dgm:spPr/>
      <dgm:t>
        <a:bodyPr/>
        <a:lstStyle/>
        <a:p>
          <a:endParaRPr lang="en-US"/>
        </a:p>
      </dgm:t>
    </dgm:pt>
    <dgm:pt modelId="{EBD4332E-0781-46EE-93CB-1337E95F3B8E}">
      <dgm:prSet/>
      <dgm:spPr/>
      <dgm:t>
        <a:bodyPr/>
        <a:lstStyle/>
        <a:p>
          <a:r>
            <a:rPr lang="en-US"/>
            <a:t>The class labels of training data is unknown</a:t>
          </a:r>
        </a:p>
      </dgm:t>
    </dgm:pt>
    <dgm:pt modelId="{DE92C5CA-18A6-4019-9DCB-4AF9A54B90F4}" type="parTrans" cxnId="{702B6D61-39FE-4DD6-974B-86DE03969144}">
      <dgm:prSet/>
      <dgm:spPr/>
      <dgm:t>
        <a:bodyPr/>
        <a:lstStyle/>
        <a:p>
          <a:endParaRPr lang="en-US"/>
        </a:p>
      </dgm:t>
    </dgm:pt>
    <dgm:pt modelId="{EAC09B5D-0B67-4713-918B-15E6D8EC3E16}" type="sibTrans" cxnId="{702B6D61-39FE-4DD6-974B-86DE03969144}">
      <dgm:prSet/>
      <dgm:spPr/>
      <dgm:t>
        <a:bodyPr/>
        <a:lstStyle/>
        <a:p>
          <a:endParaRPr lang="en-US"/>
        </a:p>
      </dgm:t>
    </dgm:pt>
    <dgm:pt modelId="{519E3155-ABCF-4239-BE65-1B448A9EF5E7}">
      <dgm:prSet/>
      <dgm:spPr/>
      <dgm:t>
        <a:bodyPr/>
        <a:lstStyle/>
        <a:p>
          <a:r>
            <a:rPr lang="en-US"/>
            <a:t>Given a set of measurements, observations, etc. with the aim of establishing the existence of classes or clusters in the data</a:t>
          </a:r>
        </a:p>
      </dgm:t>
    </dgm:pt>
    <dgm:pt modelId="{40668264-3A42-4725-8B10-FF6B75090CF7}" type="parTrans" cxnId="{B37AEB51-A629-4FC6-A24E-9750B62DD294}">
      <dgm:prSet/>
      <dgm:spPr/>
      <dgm:t>
        <a:bodyPr/>
        <a:lstStyle/>
        <a:p>
          <a:endParaRPr lang="en-US"/>
        </a:p>
      </dgm:t>
    </dgm:pt>
    <dgm:pt modelId="{4C5C1C0C-AF29-4823-A0BD-B21D305AFA71}" type="sibTrans" cxnId="{B37AEB51-A629-4FC6-A24E-9750B62DD294}">
      <dgm:prSet/>
      <dgm:spPr/>
      <dgm:t>
        <a:bodyPr/>
        <a:lstStyle/>
        <a:p>
          <a:endParaRPr lang="en-US"/>
        </a:p>
      </dgm:t>
    </dgm:pt>
    <dgm:pt modelId="{603B7C5C-29DA-48E6-B5FC-5C985F8DA686}" type="pres">
      <dgm:prSet presAssocID="{A87618B5-447F-4792-925D-09EF8A64C30C}" presName="linear" presStyleCnt="0">
        <dgm:presLayoutVars>
          <dgm:dir/>
          <dgm:animLvl val="lvl"/>
          <dgm:resizeHandles val="exact"/>
        </dgm:presLayoutVars>
      </dgm:prSet>
      <dgm:spPr/>
    </dgm:pt>
    <dgm:pt modelId="{109694A2-3B42-4674-828E-9B4CE424C443}" type="pres">
      <dgm:prSet presAssocID="{C1401798-1665-4669-A8D0-F4D5E2ABEC00}" presName="parentLin" presStyleCnt="0"/>
      <dgm:spPr/>
    </dgm:pt>
    <dgm:pt modelId="{D263A1CD-111A-4E26-A766-2B0BBDD82EF5}" type="pres">
      <dgm:prSet presAssocID="{C1401798-1665-4669-A8D0-F4D5E2ABEC00}" presName="parentLeftMargin" presStyleLbl="node1" presStyleIdx="0" presStyleCnt="2"/>
      <dgm:spPr/>
    </dgm:pt>
    <dgm:pt modelId="{D0DD04E0-EC6A-41E2-8AEA-DBDFA9E8F4F8}" type="pres">
      <dgm:prSet presAssocID="{C1401798-1665-4669-A8D0-F4D5E2ABEC0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D01A71F-B652-4F33-BDED-392A7E7EA1C6}" type="pres">
      <dgm:prSet presAssocID="{C1401798-1665-4669-A8D0-F4D5E2ABEC00}" presName="negativeSpace" presStyleCnt="0"/>
      <dgm:spPr/>
    </dgm:pt>
    <dgm:pt modelId="{4F4B8C36-2035-4BBF-A2C9-AA5CB32A7827}" type="pres">
      <dgm:prSet presAssocID="{C1401798-1665-4669-A8D0-F4D5E2ABEC00}" presName="childText" presStyleLbl="conFgAcc1" presStyleIdx="0" presStyleCnt="2">
        <dgm:presLayoutVars>
          <dgm:bulletEnabled val="1"/>
        </dgm:presLayoutVars>
      </dgm:prSet>
      <dgm:spPr/>
    </dgm:pt>
    <dgm:pt modelId="{4074F40D-F882-4BF9-80BB-62C2CA37728B}" type="pres">
      <dgm:prSet presAssocID="{257EB8AD-2409-4414-8B85-9600BD3C84E8}" presName="spaceBetweenRectangles" presStyleCnt="0"/>
      <dgm:spPr/>
    </dgm:pt>
    <dgm:pt modelId="{FCD3B43A-38AF-47B9-9E93-55A5A3FA29E1}" type="pres">
      <dgm:prSet presAssocID="{3C42C9A6-71A6-40B3-8259-11D09E8E01F8}" presName="parentLin" presStyleCnt="0"/>
      <dgm:spPr/>
    </dgm:pt>
    <dgm:pt modelId="{055BD2A1-F1D1-4181-A3D0-BA810524736F}" type="pres">
      <dgm:prSet presAssocID="{3C42C9A6-71A6-40B3-8259-11D09E8E01F8}" presName="parentLeftMargin" presStyleLbl="node1" presStyleIdx="0" presStyleCnt="2"/>
      <dgm:spPr/>
    </dgm:pt>
    <dgm:pt modelId="{15CB55C0-2EF9-4B0A-ABB6-3162BCA98905}" type="pres">
      <dgm:prSet presAssocID="{3C42C9A6-71A6-40B3-8259-11D09E8E01F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8A18D75-D8CF-41C8-9337-1D9186A6C17A}" type="pres">
      <dgm:prSet presAssocID="{3C42C9A6-71A6-40B3-8259-11D09E8E01F8}" presName="negativeSpace" presStyleCnt="0"/>
      <dgm:spPr/>
    </dgm:pt>
    <dgm:pt modelId="{568FDFB9-7AAF-4B00-AA6A-294F261DD61C}" type="pres">
      <dgm:prSet presAssocID="{3C42C9A6-71A6-40B3-8259-11D09E8E01F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77C741D-6691-401C-BB6E-5F660B1C7CCA}" srcId="{A87618B5-447F-4792-925D-09EF8A64C30C}" destId="{3C42C9A6-71A6-40B3-8259-11D09E8E01F8}" srcOrd="1" destOrd="0" parTransId="{D19B3A9A-EEE9-4A8A-9A62-53C6982848F7}" sibTransId="{4488EF0A-164E-4644-A777-E22EA1A42C4D}"/>
    <dgm:cxn modelId="{C327A71F-B76D-4052-BE54-A6C59BF84D9A}" type="presOf" srcId="{C1401798-1665-4669-A8D0-F4D5E2ABEC00}" destId="{D263A1CD-111A-4E26-A766-2B0BBDD82EF5}" srcOrd="0" destOrd="0" presId="urn:microsoft.com/office/officeart/2005/8/layout/list1"/>
    <dgm:cxn modelId="{702B6D61-39FE-4DD6-974B-86DE03969144}" srcId="{3C42C9A6-71A6-40B3-8259-11D09E8E01F8}" destId="{EBD4332E-0781-46EE-93CB-1337E95F3B8E}" srcOrd="0" destOrd="0" parTransId="{DE92C5CA-18A6-4019-9DCB-4AF9A54B90F4}" sibTransId="{EAC09B5D-0B67-4713-918B-15E6D8EC3E16}"/>
    <dgm:cxn modelId="{E7BF1043-7FDC-406A-B685-BB952F92C928}" type="presOf" srcId="{A87618B5-447F-4792-925D-09EF8A64C30C}" destId="{603B7C5C-29DA-48E6-B5FC-5C985F8DA686}" srcOrd="0" destOrd="0" presId="urn:microsoft.com/office/officeart/2005/8/layout/list1"/>
    <dgm:cxn modelId="{B37AEB51-A629-4FC6-A24E-9750B62DD294}" srcId="{3C42C9A6-71A6-40B3-8259-11D09E8E01F8}" destId="{519E3155-ABCF-4239-BE65-1B448A9EF5E7}" srcOrd="1" destOrd="0" parTransId="{40668264-3A42-4725-8B10-FF6B75090CF7}" sibTransId="{4C5C1C0C-AF29-4823-A0BD-B21D305AFA71}"/>
    <dgm:cxn modelId="{64B7A874-7EEB-4B2D-97C3-CB1F3F9C4764}" srcId="{C1401798-1665-4669-A8D0-F4D5E2ABEC00}" destId="{A1979813-5CDC-44D7-BD8C-056C7DAB29B7}" srcOrd="1" destOrd="0" parTransId="{9A2C4B2B-6FD7-4D16-B3F5-5A4055B7FE4D}" sibTransId="{17604810-AF93-4897-A915-F169B8F32B70}"/>
    <dgm:cxn modelId="{C02C7B77-5704-4A70-BD34-9338A01149D1}" type="presOf" srcId="{EBD4332E-0781-46EE-93CB-1337E95F3B8E}" destId="{568FDFB9-7AAF-4B00-AA6A-294F261DD61C}" srcOrd="0" destOrd="0" presId="urn:microsoft.com/office/officeart/2005/8/layout/list1"/>
    <dgm:cxn modelId="{D2089C58-778E-4F12-AFFA-B59CAA8E2D57}" type="presOf" srcId="{3C42C9A6-71A6-40B3-8259-11D09E8E01F8}" destId="{055BD2A1-F1D1-4181-A3D0-BA810524736F}" srcOrd="0" destOrd="0" presId="urn:microsoft.com/office/officeart/2005/8/layout/list1"/>
    <dgm:cxn modelId="{83D6707B-902E-4D92-84B5-429337A3166C}" type="presOf" srcId="{3C42C9A6-71A6-40B3-8259-11D09E8E01F8}" destId="{15CB55C0-2EF9-4B0A-ABB6-3162BCA98905}" srcOrd="1" destOrd="0" presId="urn:microsoft.com/office/officeart/2005/8/layout/list1"/>
    <dgm:cxn modelId="{45D15488-5004-493D-8C6B-CDCE425B25AA}" type="presOf" srcId="{A1979813-5CDC-44D7-BD8C-056C7DAB29B7}" destId="{4F4B8C36-2035-4BBF-A2C9-AA5CB32A7827}" srcOrd="0" destOrd="1" presId="urn:microsoft.com/office/officeart/2005/8/layout/list1"/>
    <dgm:cxn modelId="{5CDD1BD9-ED52-4E67-AFFD-C60768DCE062}" type="presOf" srcId="{C1401798-1665-4669-A8D0-F4D5E2ABEC00}" destId="{D0DD04E0-EC6A-41E2-8AEA-DBDFA9E8F4F8}" srcOrd="1" destOrd="0" presId="urn:microsoft.com/office/officeart/2005/8/layout/list1"/>
    <dgm:cxn modelId="{0F4555DC-512D-46CF-860F-66FBDB1D9F45}" srcId="{C1401798-1665-4669-A8D0-F4D5E2ABEC00}" destId="{49C52017-1BE9-4989-AE59-347D53244CD0}" srcOrd="0" destOrd="0" parTransId="{4FB89139-4138-4236-BBE1-072B84918E6B}" sibTransId="{0662FDFB-2ABD-49D9-8825-AF31C03E579F}"/>
    <dgm:cxn modelId="{3137F3ED-6795-481F-A8C7-A55CF4C85F7C}" srcId="{A87618B5-447F-4792-925D-09EF8A64C30C}" destId="{C1401798-1665-4669-A8D0-F4D5E2ABEC00}" srcOrd="0" destOrd="0" parTransId="{7B25F7F5-062C-47AF-BB4A-08E262E02167}" sibTransId="{257EB8AD-2409-4414-8B85-9600BD3C84E8}"/>
    <dgm:cxn modelId="{850DF5F2-8C19-47C8-9F28-528B986320EE}" type="presOf" srcId="{49C52017-1BE9-4989-AE59-347D53244CD0}" destId="{4F4B8C36-2035-4BBF-A2C9-AA5CB32A7827}" srcOrd="0" destOrd="0" presId="urn:microsoft.com/office/officeart/2005/8/layout/list1"/>
    <dgm:cxn modelId="{E006E7F9-55A5-4A75-B753-CCB0AE35B774}" type="presOf" srcId="{519E3155-ABCF-4239-BE65-1B448A9EF5E7}" destId="{568FDFB9-7AAF-4B00-AA6A-294F261DD61C}" srcOrd="0" destOrd="1" presId="urn:microsoft.com/office/officeart/2005/8/layout/list1"/>
    <dgm:cxn modelId="{6AE39DFE-2EB9-47D9-BC94-DBB98BA32A8C}" type="presParOf" srcId="{603B7C5C-29DA-48E6-B5FC-5C985F8DA686}" destId="{109694A2-3B42-4674-828E-9B4CE424C443}" srcOrd="0" destOrd="0" presId="urn:microsoft.com/office/officeart/2005/8/layout/list1"/>
    <dgm:cxn modelId="{1981540D-6326-40AC-BBC2-5BD45933DEC1}" type="presParOf" srcId="{109694A2-3B42-4674-828E-9B4CE424C443}" destId="{D263A1CD-111A-4E26-A766-2B0BBDD82EF5}" srcOrd="0" destOrd="0" presId="urn:microsoft.com/office/officeart/2005/8/layout/list1"/>
    <dgm:cxn modelId="{E0E84948-3F68-4CB5-8526-0A242A2E185B}" type="presParOf" srcId="{109694A2-3B42-4674-828E-9B4CE424C443}" destId="{D0DD04E0-EC6A-41E2-8AEA-DBDFA9E8F4F8}" srcOrd="1" destOrd="0" presId="urn:microsoft.com/office/officeart/2005/8/layout/list1"/>
    <dgm:cxn modelId="{5FA00CE4-CBFF-4474-8378-B464B2566F2B}" type="presParOf" srcId="{603B7C5C-29DA-48E6-B5FC-5C985F8DA686}" destId="{9D01A71F-B652-4F33-BDED-392A7E7EA1C6}" srcOrd="1" destOrd="0" presId="urn:microsoft.com/office/officeart/2005/8/layout/list1"/>
    <dgm:cxn modelId="{82457918-9D55-4F02-A3A1-CA0DC933E8FC}" type="presParOf" srcId="{603B7C5C-29DA-48E6-B5FC-5C985F8DA686}" destId="{4F4B8C36-2035-4BBF-A2C9-AA5CB32A7827}" srcOrd="2" destOrd="0" presId="urn:microsoft.com/office/officeart/2005/8/layout/list1"/>
    <dgm:cxn modelId="{EDB18795-DF65-427D-80E9-0AC84E02C1F7}" type="presParOf" srcId="{603B7C5C-29DA-48E6-B5FC-5C985F8DA686}" destId="{4074F40D-F882-4BF9-80BB-62C2CA37728B}" srcOrd="3" destOrd="0" presId="urn:microsoft.com/office/officeart/2005/8/layout/list1"/>
    <dgm:cxn modelId="{CB7557A8-4A64-4A8F-B122-2B6F0FF47345}" type="presParOf" srcId="{603B7C5C-29DA-48E6-B5FC-5C985F8DA686}" destId="{FCD3B43A-38AF-47B9-9E93-55A5A3FA29E1}" srcOrd="4" destOrd="0" presId="urn:microsoft.com/office/officeart/2005/8/layout/list1"/>
    <dgm:cxn modelId="{F31817D5-AE17-46B4-A711-D3B190F4CE3C}" type="presParOf" srcId="{FCD3B43A-38AF-47B9-9E93-55A5A3FA29E1}" destId="{055BD2A1-F1D1-4181-A3D0-BA810524736F}" srcOrd="0" destOrd="0" presId="urn:microsoft.com/office/officeart/2005/8/layout/list1"/>
    <dgm:cxn modelId="{BCD90BB5-6BE7-423A-AF8B-7E24C0240048}" type="presParOf" srcId="{FCD3B43A-38AF-47B9-9E93-55A5A3FA29E1}" destId="{15CB55C0-2EF9-4B0A-ABB6-3162BCA98905}" srcOrd="1" destOrd="0" presId="urn:microsoft.com/office/officeart/2005/8/layout/list1"/>
    <dgm:cxn modelId="{9319E3D9-A780-43B4-BF5A-E98123EA78AD}" type="presParOf" srcId="{603B7C5C-29DA-48E6-B5FC-5C985F8DA686}" destId="{B8A18D75-D8CF-41C8-9337-1D9186A6C17A}" srcOrd="5" destOrd="0" presId="urn:microsoft.com/office/officeart/2005/8/layout/list1"/>
    <dgm:cxn modelId="{6BD1FC89-C62F-4607-95BE-EB14BA817E3B}" type="presParOf" srcId="{603B7C5C-29DA-48E6-B5FC-5C985F8DA686}" destId="{568FDFB9-7AAF-4B00-AA6A-294F261DD61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EF75E1-F517-4E5E-9AC6-6EF4205953F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CA1029-147D-48B3-92C5-5EBB9B66E47F}">
      <dgm:prSet/>
      <dgm:spPr/>
      <dgm:t>
        <a:bodyPr/>
        <a:lstStyle/>
        <a:p>
          <a:r>
            <a:rPr lang="en-US" b="0" i="0"/>
            <a:t>Classification  </a:t>
          </a:r>
          <a:endParaRPr lang="en-US"/>
        </a:p>
      </dgm:t>
    </dgm:pt>
    <dgm:pt modelId="{E9A5ECC7-C8FD-44A0-9295-F7C48B835581}" type="parTrans" cxnId="{C680F043-5334-4F4A-9BF2-DBFF8AD3F897}">
      <dgm:prSet/>
      <dgm:spPr/>
      <dgm:t>
        <a:bodyPr/>
        <a:lstStyle/>
        <a:p>
          <a:endParaRPr lang="en-US"/>
        </a:p>
      </dgm:t>
    </dgm:pt>
    <dgm:pt modelId="{35E9C86B-7567-4A7E-883E-1919D6B33A88}" type="sibTrans" cxnId="{C680F043-5334-4F4A-9BF2-DBFF8AD3F897}">
      <dgm:prSet/>
      <dgm:spPr/>
      <dgm:t>
        <a:bodyPr/>
        <a:lstStyle/>
        <a:p>
          <a:endParaRPr lang="en-US"/>
        </a:p>
      </dgm:t>
    </dgm:pt>
    <dgm:pt modelId="{B654778A-7EAC-42CE-8A4D-ADC621B83154}">
      <dgm:prSet/>
      <dgm:spPr/>
      <dgm:t>
        <a:bodyPr/>
        <a:lstStyle/>
        <a:p>
          <a:r>
            <a:rPr lang="en-US"/>
            <a:t>predicts categorical class labels (discrete or nominal)</a:t>
          </a:r>
        </a:p>
      </dgm:t>
    </dgm:pt>
    <dgm:pt modelId="{FABA8BA4-26B3-438B-8B64-1771FF4F9BC8}" type="parTrans" cxnId="{06BBA3FB-FB91-41F4-AD69-AF49C4861CA0}">
      <dgm:prSet/>
      <dgm:spPr/>
      <dgm:t>
        <a:bodyPr/>
        <a:lstStyle/>
        <a:p>
          <a:endParaRPr lang="en-US"/>
        </a:p>
      </dgm:t>
    </dgm:pt>
    <dgm:pt modelId="{4DC2F8FD-8C70-4DC0-BE3B-69015C2F099C}" type="sibTrans" cxnId="{06BBA3FB-FB91-41F4-AD69-AF49C4861CA0}">
      <dgm:prSet/>
      <dgm:spPr/>
      <dgm:t>
        <a:bodyPr/>
        <a:lstStyle/>
        <a:p>
          <a:endParaRPr lang="en-US"/>
        </a:p>
      </dgm:t>
    </dgm:pt>
    <dgm:pt modelId="{2F99442D-8756-46BA-93F5-FF1CB54ED827}">
      <dgm:prSet/>
      <dgm:spPr/>
      <dgm:t>
        <a:bodyPr/>
        <a:lstStyle/>
        <a:p>
          <a:r>
            <a:rPr lang="en-US"/>
            <a:t>classifies data (constructs a model) based on the training set and the values (class labels) in a classifying attribute and uses it in classifying new data</a:t>
          </a:r>
        </a:p>
      </dgm:t>
    </dgm:pt>
    <dgm:pt modelId="{AC412166-CCE1-45B2-ACD3-49B99C671DB2}" type="parTrans" cxnId="{4FFB15F2-569F-4DAC-A604-8A4EC4A1ACB6}">
      <dgm:prSet/>
      <dgm:spPr/>
      <dgm:t>
        <a:bodyPr/>
        <a:lstStyle/>
        <a:p>
          <a:endParaRPr lang="en-US"/>
        </a:p>
      </dgm:t>
    </dgm:pt>
    <dgm:pt modelId="{B1E55E7F-8F01-409F-9ED4-D114038C2FD9}" type="sibTrans" cxnId="{4FFB15F2-569F-4DAC-A604-8A4EC4A1ACB6}">
      <dgm:prSet/>
      <dgm:spPr/>
      <dgm:t>
        <a:bodyPr/>
        <a:lstStyle/>
        <a:p>
          <a:endParaRPr lang="en-US"/>
        </a:p>
      </dgm:t>
    </dgm:pt>
    <dgm:pt modelId="{458DF1BA-6231-433C-876E-7D47DBAA49DC}">
      <dgm:prSet/>
      <dgm:spPr/>
      <dgm:t>
        <a:bodyPr/>
        <a:lstStyle/>
        <a:p>
          <a:r>
            <a:rPr lang="en-US" b="0" i="0"/>
            <a:t>Numeric Prediction  </a:t>
          </a:r>
          <a:endParaRPr lang="en-US"/>
        </a:p>
      </dgm:t>
    </dgm:pt>
    <dgm:pt modelId="{E1C595C1-D9D7-4B49-844D-FEE4E51769C2}" type="parTrans" cxnId="{1F5B13EC-7DB5-4B5F-8D6F-80A3C195EDB5}">
      <dgm:prSet/>
      <dgm:spPr/>
      <dgm:t>
        <a:bodyPr/>
        <a:lstStyle/>
        <a:p>
          <a:endParaRPr lang="en-US"/>
        </a:p>
      </dgm:t>
    </dgm:pt>
    <dgm:pt modelId="{84C6D307-975B-42C6-8528-0E58321C8C23}" type="sibTrans" cxnId="{1F5B13EC-7DB5-4B5F-8D6F-80A3C195EDB5}">
      <dgm:prSet/>
      <dgm:spPr/>
      <dgm:t>
        <a:bodyPr/>
        <a:lstStyle/>
        <a:p>
          <a:endParaRPr lang="en-US"/>
        </a:p>
      </dgm:t>
    </dgm:pt>
    <dgm:pt modelId="{5AB93A29-68E6-411F-AE02-283370551397}">
      <dgm:prSet/>
      <dgm:spPr/>
      <dgm:t>
        <a:bodyPr/>
        <a:lstStyle/>
        <a:p>
          <a:r>
            <a:rPr lang="en-US"/>
            <a:t>models continuous-valued functions, i.e., predicts unknown or missing values </a:t>
          </a:r>
        </a:p>
      </dgm:t>
    </dgm:pt>
    <dgm:pt modelId="{4333419C-EBA3-4F4D-8397-43777555DEE1}" type="parTrans" cxnId="{001E2B4C-D03D-4946-A92D-4029FD275A83}">
      <dgm:prSet/>
      <dgm:spPr/>
      <dgm:t>
        <a:bodyPr/>
        <a:lstStyle/>
        <a:p>
          <a:endParaRPr lang="en-US"/>
        </a:p>
      </dgm:t>
    </dgm:pt>
    <dgm:pt modelId="{A538C7C1-E989-43E8-B11A-F2044AEA0342}" type="sibTrans" cxnId="{001E2B4C-D03D-4946-A92D-4029FD275A83}">
      <dgm:prSet/>
      <dgm:spPr/>
      <dgm:t>
        <a:bodyPr/>
        <a:lstStyle/>
        <a:p>
          <a:endParaRPr lang="en-US"/>
        </a:p>
      </dgm:t>
    </dgm:pt>
    <dgm:pt modelId="{51A909B1-E523-47BC-94E2-F1EF908E7155}">
      <dgm:prSet/>
      <dgm:spPr/>
      <dgm:t>
        <a:bodyPr/>
        <a:lstStyle/>
        <a:p>
          <a:r>
            <a:rPr lang="en-US" b="1" i="0" dirty="0"/>
            <a:t>Classification: Typical applications</a:t>
          </a:r>
          <a:endParaRPr lang="en-US" dirty="0"/>
        </a:p>
      </dgm:t>
    </dgm:pt>
    <dgm:pt modelId="{3992DBE1-0C2B-4CD3-9D20-30B5EC70DBA7}" type="parTrans" cxnId="{ACD2A702-41EB-436B-8CBF-98C0F01EEEE0}">
      <dgm:prSet/>
      <dgm:spPr/>
      <dgm:t>
        <a:bodyPr/>
        <a:lstStyle/>
        <a:p>
          <a:endParaRPr lang="en-US"/>
        </a:p>
      </dgm:t>
    </dgm:pt>
    <dgm:pt modelId="{F22C967B-1921-4CB1-9C88-C3E63865142E}" type="sibTrans" cxnId="{ACD2A702-41EB-436B-8CBF-98C0F01EEEE0}">
      <dgm:prSet/>
      <dgm:spPr/>
      <dgm:t>
        <a:bodyPr/>
        <a:lstStyle/>
        <a:p>
          <a:endParaRPr lang="en-US"/>
        </a:p>
      </dgm:t>
    </dgm:pt>
    <dgm:pt modelId="{A6FA7468-0B7B-4182-A927-30FEEC714C66}">
      <dgm:prSet/>
      <dgm:spPr/>
      <dgm:t>
        <a:bodyPr/>
        <a:lstStyle/>
        <a:p>
          <a:r>
            <a:rPr lang="en-US"/>
            <a:t>Credit/loan approval:</a:t>
          </a:r>
        </a:p>
      </dgm:t>
    </dgm:pt>
    <dgm:pt modelId="{C570C44A-D56C-4D0D-8CDE-5E02E5EB5A4E}" type="parTrans" cxnId="{4E03CB7A-1265-4766-8DAA-03434A30D3B4}">
      <dgm:prSet/>
      <dgm:spPr/>
      <dgm:t>
        <a:bodyPr/>
        <a:lstStyle/>
        <a:p>
          <a:endParaRPr lang="en-US"/>
        </a:p>
      </dgm:t>
    </dgm:pt>
    <dgm:pt modelId="{3C61A7A3-5944-45BC-8473-CE12A8389AD8}" type="sibTrans" cxnId="{4E03CB7A-1265-4766-8DAA-03434A30D3B4}">
      <dgm:prSet/>
      <dgm:spPr/>
      <dgm:t>
        <a:bodyPr/>
        <a:lstStyle/>
        <a:p>
          <a:endParaRPr lang="en-US"/>
        </a:p>
      </dgm:t>
    </dgm:pt>
    <dgm:pt modelId="{8E3476E6-98FF-4208-A88F-68455E8AA7BA}">
      <dgm:prSet/>
      <dgm:spPr/>
      <dgm:t>
        <a:bodyPr/>
        <a:lstStyle/>
        <a:p>
          <a:r>
            <a:rPr lang="en-US"/>
            <a:t>Medical diagnosis: if a tumor is cancerous or benign</a:t>
          </a:r>
        </a:p>
      </dgm:t>
    </dgm:pt>
    <dgm:pt modelId="{2C5E48CB-94C4-4410-B360-458BAEEF5261}" type="parTrans" cxnId="{A0E57294-728F-45AA-A1EB-1D2E992892FB}">
      <dgm:prSet/>
      <dgm:spPr/>
      <dgm:t>
        <a:bodyPr/>
        <a:lstStyle/>
        <a:p>
          <a:endParaRPr lang="en-US"/>
        </a:p>
      </dgm:t>
    </dgm:pt>
    <dgm:pt modelId="{CDB89F98-C77B-4115-BC17-441974EFBE46}" type="sibTrans" cxnId="{A0E57294-728F-45AA-A1EB-1D2E992892FB}">
      <dgm:prSet/>
      <dgm:spPr/>
      <dgm:t>
        <a:bodyPr/>
        <a:lstStyle/>
        <a:p>
          <a:endParaRPr lang="en-US"/>
        </a:p>
      </dgm:t>
    </dgm:pt>
    <dgm:pt modelId="{C9221844-F9AF-4734-BF74-AC1C8EBE8E4C}">
      <dgm:prSet/>
      <dgm:spPr/>
      <dgm:t>
        <a:bodyPr/>
        <a:lstStyle/>
        <a:p>
          <a:r>
            <a:rPr lang="en-US"/>
            <a:t>Fraud detection: if a transaction is fraudulent</a:t>
          </a:r>
        </a:p>
      </dgm:t>
    </dgm:pt>
    <dgm:pt modelId="{3AC703F6-D054-4121-B895-2397203F5025}" type="parTrans" cxnId="{1516F24B-9F21-41BD-AABB-436EFCE8286F}">
      <dgm:prSet/>
      <dgm:spPr/>
      <dgm:t>
        <a:bodyPr/>
        <a:lstStyle/>
        <a:p>
          <a:endParaRPr lang="en-US"/>
        </a:p>
      </dgm:t>
    </dgm:pt>
    <dgm:pt modelId="{0008417B-AE25-45DD-9E50-6FE3AC387A02}" type="sibTrans" cxnId="{1516F24B-9F21-41BD-AABB-436EFCE8286F}">
      <dgm:prSet/>
      <dgm:spPr/>
      <dgm:t>
        <a:bodyPr/>
        <a:lstStyle/>
        <a:p>
          <a:endParaRPr lang="en-US"/>
        </a:p>
      </dgm:t>
    </dgm:pt>
    <dgm:pt modelId="{EC173402-0A89-4E79-AB70-8F2E27275495}">
      <dgm:prSet/>
      <dgm:spPr/>
      <dgm:t>
        <a:bodyPr/>
        <a:lstStyle/>
        <a:p>
          <a:r>
            <a:rPr lang="en-US"/>
            <a:t>Web page categorization: which category it is</a:t>
          </a:r>
        </a:p>
      </dgm:t>
    </dgm:pt>
    <dgm:pt modelId="{B281C430-0574-41E7-B3BD-E926FE1E9211}" type="parTrans" cxnId="{053FD718-A67A-4B3E-A498-4EFAB6010910}">
      <dgm:prSet/>
      <dgm:spPr/>
      <dgm:t>
        <a:bodyPr/>
        <a:lstStyle/>
        <a:p>
          <a:endParaRPr lang="en-US"/>
        </a:p>
      </dgm:t>
    </dgm:pt>
    <dgm:pt modelId="{DF46AA87-9C7F-4904-B2E9-2B07DD4FD319}" type="sibTrans" cxnId="{053FD718-A67A-4B3E-A498-4EFAB6010910}">
      <dgm:prSet/>
      <dgm:spPr/>
      <dgm:t>
        <a:bodyPr/>
        <a:lstStyle/>
        <a:p>
          <a:endParaRPr lang="en-US"/>
        </a:p>
      </dgm:t>
    </dgm:pt>
    <dgm:pt modelId="{21C61384-A43C-4D39-A751-170932AA338D}" type="pres">
      <dgm:prSet presAssocID="{EDEF75E1-F517-4E5E-9AC6-6EF4205953F3}" presName="linear" presStyleCnt="0">
        <dgm:presLayoutVars>
          <dgm:dir/>
          <dgm:animLvl val="lvl"/>
          <dgm:resizeHandles val="exact"/>
        </dgm:presLayoutVars>
      </dgm:prSet>
      <dgm:spPr/>
    </dgm:pt>
    <dgm:pt modelId="{B793D8FB-38A8-43B6-A642-797D64E183CF}" type="pres">
      <dgm:prSet presAssocID="{BDCA1029-147D-48B3-92C5-5EBB9B66E47F}" presName="parentLin" presStyleCnt="0"/>
      <dgm:spPr/>
    </dgm:pt>
    <dgm:pt modelId="{CB4B887A-FF69-435B-B4D6-66B8BC6D01FC}" type="pres">
      <dgm:prSet presAssocID="{BDCA1029-147D-48B3-92C5-5EBB9B66E47F}" presName="parentLeftMargin" presStyleLbl="node1" presStyleIdx="0" presStyleCnt="3"/>
      <dgm:spPr/>
    </dgm:pt>
    <dgm:pt modelId="{2487CDA5-FDA7-4263-92C3-9927C58C565A}" type="pres">
      <dgm:prSet presAssocID="{BDCA1029-147D-48B3-92C5-5EBB9B66E47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9B615E5-21AB-4FB4-B284-A7B26383D95C}" type="pres">
      <dgm:prSet presAssocID="{BDCA1029-147D-48B3-92C5-5EBB9B66E47F}" presName="negativeSpace" presStyleCnt="0"/>
      <dgm:spPr/>
    </dgm:pt>
    <dgm:pt modelId="{996B888C-B449-45D0-B5FB-6978D6AF71AB}" type="pres">
      <dgm:prSet presAssocID="{BDCA1029-147D-48B3-92C5-5EBB9B66E47F}" presName="childText" presStyleLbl="conFgAcc1" presStyleIdx="0" presStyleCnt="3">
        <dgm:presLayoutVars>
          <dgm:bulletEnabled val="1"/>
        </dgm:presLayoutVars>
      </dgm:prSet>
      <dgm:spPr/>
    </dgm:pt>
    <dgm:pt modelId="{F530EAA7-E609-4B21-9D45-BBE1DE98E612}" type="pres">
      <dgm:prSet presAssocID="{35E9C86B-7567-4A7E-883E-1919D6B33A88}" presName="spaceBetweenRectangles" presStyleCnt="0"/>
      <dgm:spPr/>
    </dgm:pt>
    <dgm:pt modelId="{DBA775C6-4D1F-4C6F-A4A0-14E776FDC654}" type="pres">
      <dgm:prSet presAssocID="{458DF1BA-6231-433C-876E-7D47DBAA49DC}" presName="parentLin" presStyleCnt="0"/>
      <dgm:spPr/>
    </dgm:pt>
    <dgm:pt modelId="{1F31B25B-B182-446C-8E84-E4C1A85DFE30}" type="pres">
      <dgm:prSet presAssocID="{458DF1BA-6231-433C-876E-7D47DBAA49DC}" presName="parentLeftMargin" presStyleLbl="node1" presStyleIdx="0" presStyleCnt="3"/>
      <dgm:spPr/>
    </dgm:pt>
    <dgm:pt modelId="{38C2B239-4E2C-414D-9B4A-9EA1E9DFA70A}" type="pres">
      <dgm:prSet presAssocID="{458DF1BA-6231-433C-876E-7D47DBAA49D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8F55E08-2A6F-4603-A0E0-4A2058219B8B}" type="pres">
      <dgm:prSet presAssocID="{458DF1BA-6231-433C-876E-7D47DBAA49DC}" presName="negativeSpace" presStyleCnt="0"/>
      <dgm:spPr/>
    </dgm:pt>
    <dgm:pt modelId="{2FB6D537-8619-4CDB-A6D7-0444A559FBE3}" type="pres">
      <dgm:prSet presAssocID="{458DF1BA-6231-433C-876E-7D47DBAA49DC}" presName="childText" presStyleLbl="conFgAcc1" presStyleIdx="1" presStyleCnt="3">
        <dgm:presLayoutVars>
          <dgm:bulletEnabled val="1"/>
        </dgm:presLayoutVars>
      </dgm:prSet>
      <dgm:spPr/>
    </dgm:pt>
    <dgm:pt modelId="{DC20C7DB-C2EE-4F65-ACC2-BDB396F8B916}" type="pres">
      <dgm:prSet presAssocID="{84C6D307-975B-42C6-8528-0E58321C8C23}" presName="spaceBetweenRectangles" presStyleCnt="0"/>
      <dgm:spPr/>
    </dgm:pt>
    <dgm:pt modelId="{8C2B9F54-C4CE-4F1E-A000-FCA1E7281397}" type="pres">
      <dgm:prSet presAssocID="{51A909B1-E523-47BC-94E2-F1EF908E7155}" presName="parentLin" presStyleCnt="0"/>
      <dgm:spPr/>
    </dgm:pt>
    <dgm:pt modelId="{F60DD12B-BEA5-4212-A721-D0E90238CC78}" type="pres">
      <dgm:prSet presAssocID="{51A909B1-E523-47BC-94E2-F1EF908E7155}" presName="parentLeftMargin" presStyleLbl="node1" presStyleIdx="1" presStyleCnt="3"/>
      <dgm:spPr/>
    </dgm:pt>
    <dgm:pt modelId="{F23D79D4-12BD-4B89-B8B0-ED46C15F148B}" type="pres">
      <dgm:prSet presAssocID="{51A909B1-E523-47BC-94E2-F1EF908E715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A580A19-4A54-467A-9587-9F8AA30467D2}" type="pres">
      <dgm:prSet presAssocID="{51A909B1-E523-47BC-94E2-F1EF908E7155}" presName="negativeSpace" presStyleCnt="0"/>
      <dgm:spPr/>
    </dgm:pt>
    <dgm:pt modelId="{90C364B2-23CC-499C-97E9-761E2DA24F88}" type="pres">
      <dgm:prSet presAssocID="{51A909B1-E523-47BC-94E2-F1EF908E715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CD2A702-41EB-436B-8CBF-98C0F01EEEE0}" srcId="{EDEF75E1-F517-4E5E-9AC6-6EF4205953F3}" destId="{51A909B1-E523-47BC-94E2-F1EF908E7155}" srcOrd="2" destOrd="0" parTransId="{3992DBE1-0C2B-4CD3-9D20-30B5EC70DBA7}" sibTransId="{F22C967B-1921-4CB1-9C88-C3E63865142E}"/>
    <dgm:cxn modelId="{053FD718-A67A-4B3E-A498-4EFAB6010910}" srcId="{51A909B1-E523-47BC-94E2-F1EF908E7155}" destId="{EC173402-0A89-4E79-AB70-8F2E27275495}" srcOrd="3" destOrd="0" parTransId="{B281C430-0574-41E7-B3BD-E926FE1E9211}" sibTransId="{DF46AA87-9C7F-4904-B2E9-2B07DD4FD319}"/>
    <dgm:cxn modelId="{B1509F1E-1958-42EA-B03D-F2FB9ABBFCCE}" type="presOf" srcId="{C9221844-F9AF-4734-BF74-AC1C8EBE8E4C}" destId="{90C364B2-23CC-499C-97E9-761E2DA24F88}" srcOrd="0" destOrd="2" presId="urn:microsoft.com/office/officeart/2005/8/layout/list1"/>
    <dgm:cxn modelId="{591A2C32-319A-4739-9B31-5881C2DC11F3}" type="presOf" srcId="{EDEF75E1-F517-4E5E-9AC6-6EF4205953F3}" destId="{21C61384-A43C-4D39-A751-170932AA338D}" srcOrd="0" destOrd="0" presId="urn:microsoft.com/office/officeart/2005/8/layout/list1"/>
    <dgm:cxn modelId="{0DAF975E-D58E-4E1C-B535-41DB958B61A4}" type="presOf" srcId="{51A909B1-E523-47BC-94E2-F1EF908E7155}" destId="{F60DD12B-BEA5-4212-A721-D0E90238CC78}" srcOrd="0" destOrd="0" presId="urn:microsoft.com/office/officeart/2005/8/layout/list1"/>
    <dgm:cxn modelId="{50905460-6AD5-46EE-87ED-E385B2D7405F}" type="presOf" srcId="{B654778A-7EAC-42CE-8A4D-ADC621B83154}" destId="{996B888C-B449-45D0-B5FB-6978D6AF71AB}" srcOrd="0" destOrd="0" presId="urn:microsoft.com/office/officeart/2005/8/layout/list1"/>
    <dgm:cxn modelId="{C680F043-5334-4F4A-9BF2-DBFF8AD3F897}" srcId="{EDEF75E1-F517-4E5E-9AC6-6EF4205953F3}" destId="{BDCA1029-147D-48B3-92C5-5EBB9B66E47F}" srcOrd="0" destOrd="0" parTransId="{E9A5ECC7-C8FD-44A0-9295-F7C48B835581}" sibTransId="{35E9C86B-7567-4A7E-883E-1919D6B33A88}"/>
    <dgm:cxn modelId="{1BBC796A-A85A-4185-9B1A-D251BC97D44A}" type="presOf" srcId="{BDCA1029-147D-48B3-92C5-5EBB9B66E47F}" destId="{CB4B887A-FF69-435B-B4D6-66B8BC6D01FC}" srcOrd="0" destOrd="0" presId="urn:microsoft.com/office/officeart/2005/8/layout/list1"/>
    <dgm:cxn modelId="{1516F24B-9F21-41BD-AABB-436EFCE8286F}" srcId="{51A909B1-E523-47BC-94E2-F1EF908E7155}" destId="{C9221844-F9AF-4734-BF74-AC1C8EBE8E4C}" srcOrd="2" destOrd="0" parTransId="{3AC703F6-D054-4121-B895-2397203F5025}" sibTransId="{0008417B-AE25-45DD-9E50-6FE3AC387A02}"/>
    <dgm:cxn modelId="{001E2B4C-D03D-4946-A92D-4029FD275A83}" srcId="{458DF1BA-6231-433C-876E-7D47DBAA49DC}" destId="{5AB93A29-68E6-411F-AE02-283370551397}" srcOrd="0" destOrd="0" parTransId="{4333419C-EBA3-4F4D-8397-43777555DEE1}" sibTransId="{A538C7C1-E989-43E8-B11A-F2044AEA0342}"/>
    <dgm:cxn modelId="{4E03CB7A-1265-4766-8DAA-03434A30D3B4}" srcId="{51A909B1-E523-47BC-94E2-F1EF908E7155}" destId="{A6FA7468-0B7B-4182-A927-30FEEC714C66}" srcOrd="0" destOrd="0" parTransId="{C570C44A-D56C-4D0D-8CDE-5E02E5EB5A4E}" sibTransId="{3C61A7A3-5944-45BC-8473-CE12A8389AD8}"/>
    <dgm:cxn modelId="{073E1881-EFF1-4871-A62A-2313CF671B4C}" type="presOf" srcId="{EC173402-0A89-4E79-AB70-8F2E27275495}" destId="{90C364B2-23CC-499C-97E9-761E2DA24F88}" srcOrd="0" destOrd="3" presId="urn:microsoft.com/office/officeart/2005/8/layout/list1"/>
    <dgm:cxn modelId="{37FAA58D-17F1-4E53-BB1E-5ACF78DE1F4C}" type="presOf" srcId="{458DF1BA-6231-433C-876E-7D47DBAA49DC}" destId="{38C2B239-4E2C-414D-9B4A-9EA1E9DFA70A}" srcOrd="1" destOrd="0" presId="urn:microsoft.com/office/officeart/2005/8/layout/list1"/>
    <dgm:cxn modelId="{4CF78191-20C4-454C-A722-E6B4CDD8430F}" type="presOf" srcId="{8E3476E6-98FF-4208-A88F-68455E8AA7BA}" destId="{90C364B2-23CC-499C-97E9-761E2DA24F88}" srcOrd="0" destOrd="1" presId="urn:microsoft.com/office/officeart/2005/8/layout/list1"/>
    <dgm:cxn modelId="{A0E57294-728F-45AA-A1EB-1D2E992892FB}" srcId="{51A909B1-E523-47BC-94E2-F1EF908E7155}" destId="{8E3476E6-98FF-4208-A88F-68455E8AA7BA}" srcOrd="1" destOrd="0" parTransId="{2C5E48CB-94C4-4410-B360-458BAEEF5261}" sibTransId="{CDB89F98-C77B-4115-BC17-441974EFBE46}"/>
    <dgm:cxn modelId="{7B5EC99B-5A4B-42C3-9A47-F321A3F7C172}" type="presOf" srcId="{2F99442D-8756-46BA-93F5-FF1CB54ED827}" destId="{996B888C-B449-45D0-B5FB-6978D6AF71AB}" srcOrd="0" destOrd="1" presId="urn:microsoft.com/office/officeart/2005/8/layout/list1"/>
    <dgm:cxn modelId="{A8BD9DDC-539B-49D4-AEDC-D7422BE28823}" type="presOf" srcId="{BDCA1029-147D-48B3-92C5-5EBB9B66E47F}" destId="{2487CDA5-FDA7-4263-92C3-9927C58C565A}" srcOrd="1" destOrd="0" presId="urn:microsoft.com/office/officeart/2005/8/layout/list1"/>
    <dgm:cxn modelId="{C6AE7ADF-36B6-4A9A-9F8D-6DCDC82CA924}" type="presOf" srcId="{5AB93A29-68E6-411F-AE02-283370551397}" destId="{2FB6D537-8619-4CDB-A6D7-0444A559FBE3}" srcOrd="0" destOrd="0" presId="urn:microsoft.com/office/officeart/2005/8/layout/list1"/>
    <dgm:cxn modelId="{83017AE9-6087-43C2-90D2-FA29C4EAD29B}" type="presOf" srcId="{458DF1BA-6231-433C-876E-7D47DBAA49DC}" destId="{1F31B25B-B182-446C-8E84-E4C1A85DFE30}" srcOrd="0" destOrd="0" presId="urn:microsoft.com/office/officeart/2005/8/layout/list1"/>
    <dgm:cxn modelId="{1F5B13EC-7DB5-4B5F-8D6F-80A3C195EDB5}" srcId="{EDEF75E1-F517-4E5E-9AC6-6EF4205953F3}" destId="{458DF1BA-6231-433C-876E-7D47DBAA49DC}" srcOrd="1" destOrd="0" parTransId="{E1C595C1-D9D7-4B49-844D-FEE4E51769C2}" sibTransId="{84C6D307-975B-42C6-8528-0E58321C8C23}"/>
    <dgm:cxn modelId="{C4C89CF1-175F-4897-99A1-40339769CDDC}" type="presOf" srcId="{51A909B1-E523-47BC-94E2-F1EF908E7155}" destId="{F23D79D4-12BD-4B89-B8B0-ED46C15F148B}" srcOrd="1" destOrd="0" presId="urn:microsoft.com/office/officeart/2005/8/layout/list1"/>
    <dgm:cxn modelId="{4FFB15F2-569F-4DAC-A604-8A4EC4A1ACB6}" srcId="{BDCA1029-147D-48B3-92C5-5EBB9B66E47F}" destId="{2F99442D-8756-46BA-93F5-FF1CB54ED827}" srcOrd="1" destOrd="0" parTransId="{AC412166-CCE1-45B2-ACD3-49B99C671DB2}" sibTransId="{B1E55E7F-8F01-409F-9ED4-D114038C2FD9}"/>
    <dgm:cxn modelId="{1B2A57F3-AC62-4972-956E-9234C6D5A250}" type="presOf" srcId="{A6FA7468-0B7B-4182-A927-30FEEC714C66}" destId="{90C364B2-23CC-499C-97E9-761E2DA24F88}" srcOrd="0" destOrd="0" presId="urn:microsoft.com/office/officeart/2005/8/layout/list1"/>
    <dgm:cxn modelId="{06BBA3FB-FB91-41F4-AD69-AF49C4861CA0}" srcId="{BDCA1029-147D-48B3-92C5-5EBB9B66E47F}" destId="{B654778A-7EAC-42CE-8A4D-ADC621B83154}" srcOrd="0" destOrd="0" parTransId="{FABA8BA4-26B3-438B-8B64-1771FF4F9BC8}" sibTransId="{4DC2F8FD-8C70-4DC0-BE3B-69015C2F099C}"/>
    <dgm:cxn modelId="{427BF88E-E9E0-4EB1-8E5B-1FCECE7C0428}" type="presParOf" srcId="{21C61384-A43C-4D39-A751-170932AA338D}" destId="{B793D8FB-38A8-43B6-A642-797D64E183CF}" srcOrd="0" destOrd="0" presId="urn:microsoft.com/office/officeart/2005/8/layout/list1"/>
    <dgm:cxn modelId="{C67A5FBC-832A-48E4-B453-29EE17AB7C2C}" type="presParOf" srcId="{B793D8FB-38A8-43B6-A642-797D64E183CF}" destId="{CB4B887A-FF69-435B-B4D6-66B8BC6D01FC}" srcOrd="0" destOrd="0" presId="urn:microsoft.com/office/officeart/2005/8/layout/list1"/>
    <dgm:cxn modelId="{15BE2829-39EF-4FC0-9A07-48C98EE4D29C}" type="presParOf" srcId="{B793D8FB-38A8-43B6-A642-797D64E183CF}" destId="{2487CDA5-FDA7-4263-92C3-9927C58C565A}" srcOrd="1" destOrd="0" presId="urn:microsoft.com/office/officeart/2005/8/layout/list1"/>
    <dgm:cxn modelId="{96F654A2-A607-4AFB-BA38-7D80794A2EAA}" type="presParOf" srcId="{21C61384-A43C-4D39-A751-170932AA338D}" destId="{99B615E5-21AB-4FB4-B284-A7B26383D95C}" srcOrd="1" destOrd="0" presId="urn:microsoft.com/office/officeart/2005/8/layout/list1"/>
    <dgm:cxn modelId="{75D2F9AE-F551-49B2-AFE1-AC6E851D0276}" type="presParOf" srcId="{21C61384-A43C-4D39-A751-170932AA338D}" destId="{996B888C-B449-45D0-B5FB-6978D6AF71AB}" srcOrd="2" destOrd="0" presId="urn:microsoft.com/office/officeart/2005/8/layout/list1"/>
    <dgm:cxn modelId="{D61872EC-5C92-4F21-9C47-595E14EFFB0E}" type="presParOf" srcId="{21C61384-A43C-4D39-A751-170932AA338D}" destId="{F530EAA7-E609-4B21-9D45-BBE1DE98E612}" srcOrd="3" destOrd="0" presId="urn:microsoft.com/office/officeart/2005/8/layout/list1"/>
    <dgm:cxn modelId="{336EB94B-18F1-4E54-8904-CA4C5CC591AD}" type="presParOf" srcId="{21C61384-A43C-4D39-A751-170932AA338D}" destId="{DBA775C6-4D1F-4C6F-A4A0-14E776FDC654}" srcOrd="4" destOrd="0" presId="urn:microsoft.com/office/officeart/2005/8/layout/list1"/>
    <dgm:cxn modelId="{29F9C860-4054-48D6-A00D-43CF37D50C0D}" type="presParOf" srcId="{DBA775C6-4D1F-4C6F-A4A0-14E776FDC654}" destId="{1F31B25B-B182-446C-8E84-E4C1A85DFE30}" srcOrd="0" destOrd="0" presId="urn:microsoft.com/office/officeart/2005/8/layout/list1"/>
    <dgm:cxn modelId="{C1724A39-CBE5-4AFA-8A1D-279BF7BEFAF4}" type="presParOf" srcId="{DBA775C6-4D1F-4C6F-A4A0-14E776FDC654}" destId="{38C2B239-4E2C-414D-9B4A-9EA1E9DFA70A}" srcOrd="1" destOrd="0" presId="urn:microsoft.com/office/officeart/2005/8/layout/list1"/>
    <dgm:cxn modelId="{648C5CF0-A614-4350-97DB-61EA3226B2B1}" type="presParOf" srcId="{21C61384-A43C-4D39-A751-170932AA338D}" destId="{A8F55E08-2A6F-4603-A0E0-4A2058219B8B}" srcOrd="5" destOrd="0" presId="urn:microsoft.com/office/officeart/2005/8/layout/list1"/>
    <dgm:cxn modelId="{B4C710FC-99D5-4985-875A-B74D2D3118C0}" type="presParOf" srcId="{21C61384-A43C-4D39-A751-170932AA338D}" destId="{2FB6D537-8619-4CDB-A6D7-0444A559FBE3}" srcOrd="6" destOrd="0" presId="urn:microsoft.com/office/officeart/2005/8/layout/list1"/>
    <dgm:cxn modelId="{524055C5-93C5-4D9C-AA7B-930A7BC05817}" type="presParOf" srcId="{21C61384-A43C-4D39-A751-170932AA338D}" destId="{DC20C7DB-C2EE-4F65-ACC2-BDB396F8B916}" srcOrd="7" destOrd="0" presId="urn:microsoft.com/office/officeart/2005/8/layout/list1"/>
    <dgm:cxn modelId="{EF5E1DBC-EBF5-4AB0-A83F-3CC900EE962C}" type="presParOf" srcId="{21C61384-A43C-4D39-A751-170932AA338D}" destId="{8C2B9F54-C4CE-4F1E-A000-FCA1E7281397}" srcOrd="8" destOrd="0" presId="urn:microsoft.com/office/officeart/2005/8/layout/list1"/>
    <dgm:cxn modelId="{5E19D4CC-42F3-432C-8FDC-C0659242733F}" type="presParOf" srcId="{8C2B9F54-C4CE-4F1E-A000-FCA1E7281397}" destId="{F60DD12B-BEA5-4212-A721-D0E90238CC78}" srcOrd="0" destOrd="0" presId="urn:microsoft.com/office/officeart/2005/8/layout/list1"/>
    <dgm:cxn modelId="{4529CB46-C22C-4BBB-92E5-648D102CD908}" type="presParOf" srcId="{8C2B9F54-C4CE-4F1E-A000-FCA1E7281397}" destId="{F23D79D4-12BD-4B89-B8B0-ED46C15F148B}" srcOrd="1" destOrd="0" presId="urn:microsoft.com/office/officeart/2005/8/layout/list1"/>
    <dgm:cxn modelId="{8DC9BE39-CC1B-4851-91FE-3C801EDDF0FE}" type="presParOf" srcId="{21C61384-A43C-4D39-A751-170932AA338D}" destId="{FA580A19-4A54-467A-9587-9F8AA30467D2}" srcOrd="9" destOrd="0" presId="urn:microsoft.com/office/officeart/2005/8/layout/list1"/>
    <dgm:cxn modelId="{749DCA19-9C93-4E37-B433-B5F084C1485E}" type="presParOf" srcId="{21C61384-A43C-4D39-A751-170932AA338D}" destId="{90C364B2-23CC-499C-97E9-761E2DA24F8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0403EC-8A7D-4CB0-8C98-F4F2B33B90C4}" type="doc">
      <dgm:prSet loTypeId="urn:microsoft.com/office/officeart/2005/8/layout/vList2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F9EA6E2-1E25-46DD-BF94-1AB973353ECB}">
      <dgm:prSet/>
      <dgm:spPr/>
      <dgm:t>
        <a:bodyPr/>
        <a:lstStyle/>
        <a:p>
          <a:r>
            <a:rPr lang="en-US" b="0" i="0"/>
            <a:t>Model construction: describing a set of predetermined classes</a:t>
          </a:r>
          <a:endParaRPr lang="en-US"/>
        </a:p>
      </dgm:t>
    </dgm:pt>
    <dgm:pt modelId="{83002A3F-421D-40B6-9C35-C961D5953A4C}" type="parTrans" cxnId="{AAAE1D85-EE62-4E0D-A4DB-4113CA952EAD}">
      <dgm:prSet/>
      <dgm:spPr/>
      <dgm:t>
        <a:bodyPr/>
        <a:lstStyle/>
        <a:p>
          <a:endParaRPr lang="en-US"/>
        </a:p>
      </dgm:t>
    </dgm:pt>
    <dgm:pt modelId="{B8E9F32B-3CAC-4A95-BA06-CCF01A1E42DC}" type="sibTrans" cxnId="{AAAE1D85-EE62-4E0D-A4DB-4113CA952EAD}">
      <dgm:prSet/>
      <dgm:spPr/>
      <dgm:t>
        <a:bodyPr/>
        <a:lstStyle/>
        <a:p>
          <a:endParaRPr lang="en-US"/>
        </a:p>
      </dgm:t>
    </dgm:pt>
    <dgm:pt modelId="{52854C14-5B29-47AA-851B-60E1D29E3E4E}">
      <dgm:prSet/>
      <dgm:spPr/>
      <dgm:t>
        <a:bodyPr/>
        <a:lstStyle/>
        <a:p>
          <a:r>
            <a:rPr lang="en-US"/>
            <a:t>Each tuple/sample is assumed to belong to a predefined class, as determined by the class label attribute</a:t>
          </a:r>
        </a:p>
      </dgm:t>
    </dgm:pt>
    <dgm:pt modelId="{7CD7C1E5-BB02-4AFE-84F2-2FCCC07CDAD1}" type="parTrans" cxnId="{F4B0A223-8DB7-4FEE-9EEE-8E2C68A23B5F}">
      <dgm:prSet/>
      <dgm:spPr/>
      <dgm:t>
        <a:bodyPr/>
        <a:lstStyle/>
        <a:p>
          <a:endParaRPr lang="en-US"/>
        </a:p>
      </dgm:t>
    </dgm:pt>
    <dgm:pt modelId="{FFAE2EA8-8F03-4E55-AA43-FF29070D3ED8}" type="sibTrans" cxnId="{F4B0A223-8DB7-4FEE-9EEE-8E2C68A23B5F}">
      <dgm:prSet/>
      <dgm:spPr/>
      <dgm:t>
        <a:bodyPr/>
        <a:lstStyle/>
        <a:p>
          <a:endParaRPr lang="en-US"/>
        </a:p>
      </dgm:t>
    </dgm:pt>
    <dgm:pt modelId="{3BC847FB-B919-427C-98A6-A6FE449B1E56}">
      <dgm:prSet/>
      <dgm:spPr/>
      <dgm:t>
        <a:bodyPr/>
        <a:lstStyle/>
        <a:p>
          <a:r>
            <a:rPr lang="en-US"/>
            <a:t>The set of tuples used for model construction is training set</a:t>
          </a:r>
        </a:p>
      </dgm:t>
    </dgm:pt>
    <dgm:pt modelId="{9BCD71E1-7F39-45C2-91E0-2A4D38AFBDC2}" type="parTrans" cxnId="{B7B20E18-DBFC-4821-8588-053AB9E10E66}">
      <dgm:prSet/>
      <dgm:spPr/>
      <dgm:t>
        <a:bodyPr/>
        <a:lstStyle/>
        <a:p>
          <a:endParaRPr lang="en-US"/>
        </a:p>
      </dgm:t>
    </dgm:pt>
    <dgm:pt modelId="{98BB5F1D-6351-4874-935A-65456EA9001D}" type="sibTrans" cxnId="{B7B20E18-DBFC-4821-8588-053AB9E10E66}">
      <dgm:prSet/>
      <dgm:spPr/>
      <dgm:t>
        <a:bodyPr/>
        <a:lstStyle/>
        <a:p>
          <a:endParaRPr lang="en-US"/>
        </a:p>
      </dgm:t>
    </dgm:pt>
    <dgm:pt modelId="{8B00A307-4F3C-4536-B227-1CFCACA9A969}">
      <dgm:prSet/>
      <dgm:spPr/>
      <dgm:t>
        <a:bodyPr/>
        <a:lstStyle/>
        <a:p>
          <a:r>
            <a:rPr lang="en-US" dirty="0"/>
            <a:t>The model is represented as classification rules, decision trees, or mathematical formulae</a:t>
          </a:r>
        </a:p>
      </dgm:t>
    </dgm:pt>
    <dgm:pt modelId="{8F11C1E5-41D5-4AB8-B363-AAE9A5841770}" type="parTrans" cxnId="{7DF4921A-2E95-4B58-AF97-2353EE4948D0}">
      <dgm:prSet/>
      <dgm:spPr/>
      <dgm:t>
        <a:bodyPr/>
        <a:lstStyle/>
        <a:p>
          <a:endParaRPr lang="en-US"/>
        </a:p>
      </dgm:t>
    </dgm:pt>
    <dgm:pt modelId="{D0C7A312-14F2-4025-9D75-CF161B1853A8}" type="sibTrans" cxnId="{7DF4921A-2E95-4B58-AF97-2353EE4948D0}">
      <dgm:prSet/>
      <dgm:spPr/>
      <dgm:t>
        <a:bodyPr/>
        <a:lstStyle/>
        <a:p>
          <a:endParaRPr lang="en-US"/>
        </a:p>
      </dgm:t>
    </dgm:pt>
    <dgm:pt modelId="{D5577063-4E65-4F3E-AF24-B3C44FBFA7AB}">
      <dgm:prSet/>
      <dgm:spPr/>
      <dgm:t>
        <a:bodyPr/>
        <a:lstStyle/>
        <a:p>
          <a:r>
            <a:rPr lang="en-US" b="0" i="0"/>
            <a:t>Model usage: for classifying future or unknown objects</a:t>
          </a:r>
          <a:endParaRPr lang="en-US"/>
        </a:p>
      </dgm:t>
    </dgm:pt>
    <dgm:pt modelId="{787E6EA2-ECB6-4C52-A6DA-1543F74D81DC}" type="parTrans" cxnId="{FAAA7D5B-B3AB-4602-9CE7-6AFC6D60D343}">
      <dgm:prSet/>
      <dgm:spPr/>
      <dgm:t>
        <a:bodyPr/>
        <a:lstStyle/>
        <a:p>
          <a:endParaRPr lang="en-US"/>
        </a:p>
      </dgm:t>
    </dgm:pt>
    <dgm:pt modelId="{ADAE0B33-7D60-485C-9054-E3C845DC01F0}" type="sibTrans" cxnId="{FAAA7D5B-B3AB-4602-9CE7-6AFC6D60D343}">
      <dgm:prSet/>
      <dgm:spPr/>
      <dgm:t>
        <a:bodyPr/>
        <a:lstStyle/>
        <a:p>
          <a:endParaRPr lang="en-US"/>
        </a:p>
      </dgm:t>
    </dgm:pt>
    <dgm:pt modelId="{2C30A1AF-C579-4E68-A65A-E426A7D6A42F}">
      <dgm:prSet/>
      <dgm:spPr/>
      <dgm:t>
        <a:bodyPr/>
        <a:lstStyle/>
        <a:p>
          <a:r>
            <a:rPr lang="en-US"/>
            <a:t>Estimate accuracy of the model</a:t>
          </a:r>
        </a:p>
      </dgm:t>
    </dgm:pt>
    <dgm:pt modelId="{0F1E3025-E361-4678-A6F8-0081CE9EB2E1}" type="parTrans" cxnId="{8673F962-1578-4099-B252-2C18C2C6ACFE}">
      <dgm:prSet/>
      <dgm:spPr/>
      <dgm:t>
        <a:bodyPr/>
        <a:lstStyle/>
        <a:p>
          <a:endParaRPr lang="en-US"/>
        </a:p>
      </dgm:t>
    </dgm:pt>
    <dgm:pt modelId="{76E8FB3A-0319-44A0-84E2-6E952BCF2F30}" type="sibTrans" cxnId="{8673F962-1578-4099-B252-2C18C2C6ACFE}">
      <dgm:prSet/>
      <dgm:spPr/>
      <dgm:t>
        <a:bodyPr/>
        <a:lstStyle/>
        <a:p>
          <a:endParaRPr lang="en-US"/>
        </a:p>
      </dgm:t>
    </dgm:pt>
    <dgm:pt modelId="{DF1F14B7-02FC-4E82-A003-4ABA1FDA0784}">
      <dgm:prSet/>
      <dgm:spPr/>
      <dgm:t>
        <a:bodyPr/>
        <a:lstStyle/>
        <a:p>
          <a:r>
            <a:rPr lang="en-US"/>
            <a:t>The known label of test sample is compared with the classified result from the model</a:t>
          </a:r>
        </a:p>
      </dgm:t>
    </dgm:pt>
    <dgm:pt modelId="{1431A23F-F474-4694-9F6A-6839D9E0E9B0}" type="parTrans" cxnId="{3747F81B-B957-45A5-9150-499B71575B8B}">
      <dgm:prSet/>
      <dgm:spPr/>
      <dgm:t>
        <a:bodyPr/>
        <a:lstStyle/>
        <a:p>
          <a:endParaRPr lang="en-US"/>
        </a:p>
      </dgm:t>
    </dgm:pt>
    <dgm:pt modelId="{6485FC73-462D-4F54-BB72-074AA4FAF04C}" type="sibTrans" cxnId="{3747F81B-B957-45A5-9150-499B71575B8B}">
      <dgm:prSet/>
      <dgm:spPr/>
      <dgm:t>
        <a:bodyPr/>
        <a:lstStyle/>
        <a:p>
          <a:endParaRPr lang="en-US"/>
        </a:p>
      </dgm:t>
    </dgm:pt>
    <dgm:pt modelId="{78F4C270-AF57-4281-860D-0E282706E3E5}">
      <dgm:prSet/>
      <dgm:spPr/>
      <dgm:t>
        <a:bodyPr/>
        <a:lstStyle/>
        <a:p>
          <a:r>
            <a:rPr lang="en-US"/>
            <a:t>Accuracy rate is the percentage of test set samples that are correctly classified by the model</a:t>
          </a:r>
        </a:p>
      </dgm:t>
    </dgm:pt>
    <dgm:pt modelId="{862C2440-9468-44CF-82B0-603594343C1B}" type="parTrans" cxnId="{5FAE119C-C021-497B-8101-FDFCA2A4D2FA}">
      <dgm:prSet/>
      <dgm:spPr/>
      <dgm:t>
        <a:bodyPr/>
        <a:lstStyle/>
        <a:p>
          <a:endParaRPr lang="en-US"/>
        </a:p>
      </dgm:t>
    </dgm:pt>
    <dgm:pt modelId="{1D0E6F56-4888-4010-B868-3E4A1B7C9B73}" type="sibTrans" cxnId="{5FAE119C-C021-497B-8101-FDFCA2A4D2FA}">
      <dgm:prSet/>
      <dgm:spPr/>
      <dgm:t>
        <a:bodyPr/>
        <a:lstStyle/>
        <a:p>
          <a:endParaRPr lang="en-US"/>
        </a:p>
      </dgm:t>
    </dgm:pt>
    <dgm:pt modelId="{97E98AB2-2869-4971-9EBB-5B9A12D8C897}">
      <dgm:prSet/>
      <dgm:spPr/>
      <dgm:t>
        <a:bodyPr/>
        <a:lstStyle/>
        <a:p>
          <a:r>
            <a:rPr lang="en-US"/>
            <a:t>Test set is independent of training set (otherwise overfitting) </a:t>
          </a:r>
        </a:p>
      </dgm:t>
    </dgm:pt>
    <dgm:pt modelId="{5F61F02D-D744-4BCB-B045-B0B47B6C8597}" type="parTrans" cxnId="{98D35205-267F-4FA1-994F-47446A1F2C70}">
      <dgm:prSet/>
      <dgm:spPr/>
      <dgm:t>
        <a:bodyPr/>
        <a:lstStyle/>
        <a:p>
          <a:endParaRPr lang="en-US"/>
        </a:p>
      </dgm:t>
    </dgm:pt>
    <dgm:pt modelId="{19E72375-DAF5-4989-ACB0-9B51D4821B01}" type="sibTrans" cxnId="{98D35205-267F-4FA1-994F-47446A1F2C70}">
      <dgm:prSet/>
      <dgm:spPr/>
      <dgm:t>
        <a:bodyPr/>
        <a:lstStyle/>
        <a:p>
          <a:endParaRPr lang="en-US"/>
        </a:p>
      </dgm:t>
    </dgm:pt>
    <dgm:pt modelId="{79957AB3-6B44-42F2-AC2E-9099382479CB}">
      <dgm:prSet/>
      <dgm:spPr/>
      <dgm:t>
        <a:bodyPr/>
        <a:lstStyle/>
        <a:p>
          <a:r>
            <a:rPr lang="en-US"/>
            <a:t>If the accuracy is acceptable, use the model to classify new data</a:t>
          </a:r>
        </a:p>
      </dgm:t>
    </dgm:pt>
    <dgm:pt modelId="{B5F847D0-FE22-44D2-9013-BF9314F0C563}" type="parTrans" cxnId="{9EFDE44A-A71D-46C8-873B-0471795D2AFD}">
      <dgm:prSet/>
      <dgm:spPr/>
      <dgm:t>
        <a:bodyPr/>
        <a:lstStyle/>
        <a:p>
          <a:endParaRPr lang="en-US"/>
        </a:p>
      </dgm:t>
    </dgm:pt>
    <dgm:pt modelId="{7BC27A7E-01D2-4ECC-A801-BBD6F92BC88F}" type="sibTrans" cxnId="{9EFDE44A-A71D-46C8-873B-0471795D2AFD}">
      <dgm:prSet/>
      <dgm:spPr/>
      <dgm:t>
        <a:bodyPr/>
        <a:lstStyle/>
        <a:p>
          <a:endParaRPr lang="en-US"/>
        </a:p>
      </dgm:t>
    </dgm:pt>
    <dgm:pt modelId="{BFAE7145-95AE-4455-A524-F726FB5B7DDD}">
      <dgm:prSet/>
      <dgm:spPr/>
      <dgm:t>
        <a:bodyPr/>
        <a:lstStyle/>
        <a:p>
          <a:r>
            <a:rPr lang="en-US" b="0" i="0"/>
            <a:t>Note: If </a:t>
          </a:r>
          <a:r>
            <a:rPr lang="en-US" b="0" i="1"/>
            <a:t>the test set </a:t>
          </a:r>
          <a:r>
            <a:rPr lang="en-US" b="0" i="0"/>
            <a:t>is used to select models, it is called validation (test) set</a:t>
          </a:r>
          <a:endParaRPr lang="en-US"/>
        </a:p>
      </dgm:t>
    </dgm:pt>
    <dgm:pt modelId="{5F316CAA-5E8C-4DC4-9A53-EC9694876012}" type="parTrans" cxnId="{1A668B47-CB47-4061-826B-74707E0640D2}">
      <dgm:prSet/>
      <dgm:spPr/>
      <dgm:t>
        <a:bodyPr/>
        <a:lstStyle/>
        <a:p>
          <a:endParaRPr lang="en-US"/>
        </a:p>
      </dgm:t>
    </dgm:pt>
    <dgm:pt modelId="{FD6D4B8E-2455-4095-A53B-BE600FC90B18}" type="sibTrans" cxnId="{1A668B47-CB47-4061-826B-74707E0640D2}">
      <dgm:prSet/>
      <dgm:spPr/>
      <dgm:t>
        <a:bodyPr/>
        <a:lstStyle/>
        <a:p>
          <a:endParaRPr lang="en-US"/>
        </a:p>
      </dgm:t>
    </dgm:pt>
    <dgm:pt modelId="{698DCFC1-3A6A-45E4-B8B9-37AA817694DD}" type="pres">
      <dgm:prSet presAssocID="{0D0403EC-8A7D-4CB0-8C98-F4F2B33B90C4}" presName="linear" presStyleCnt="0">
        <dgm:presLayoutVars>
          <dgm:animLvl val="lvl"/>
          <dgm:resizeHandles val="exact"/>
        </dgm:presLayoutVars>
      </dgm:prSet>
      <dgm:spPr/>
    </dgm:pt>
    <dgm:pt modelId="{87CD576A-D7CC-4D59-B84D-E401C9BEB61F}" type="pres">
      <dgm:prSet presAssocID="{BF9EA6E2-1E25-46DD-BF94-1AB973353EC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9A7A3BE-09A2-40A4-9013-A47F817C7C14}" type="pres">
      <dgm:prSet presAssocID="{BF9EA6E2-1E25-46DD-BF94-1AB973353ECB}" presName="childText" presStyleLbl="revTx" presStyleIdx="0" presStyleCnt="2">
        <dgm:presLayoutVars>
          <dgm:bulletEnabled val="1"/>
        </dgm:presLayoutVars>
      </dgm:prSet>
      <dgm:spPr/>
    </dgm:pt>
    <dgm:pt modelId="{6E90D88F-4B32-4104-898F-5AD148324C57}" type="pres">
      <dgm:prSet presAssocID="{D5577063-4E65-4F3E-AF24-B3C44FBFA7A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101F4A2-7614-45BF-9410-97E799355F54}" type="pres">
      <dgm:prSet presAssocID="{D5577063-4E65-4F3E-AF24-B3C44FBFA7AB}" presName="childText" presStyleLbl="revTx" presStyleIdx="1" presStyleCnt="2">
        <dgm:presLayoutVars>
          <dgm:bulletEnabled val="1"/>
        </dgm:presLayoutVars>
      </dgm:prSet>
      <dgm:spPr/>
    </dgm:pt>
    <dgm:pt modelId="{E28D3A59-DA61-4C6C-BF2C-EF1E22498F90}" type="pres">
      <dgm:prSet presAssocID="{BFAE7145-95AE-4455-A524-F726FB5B7DD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8D35205-267F-4FA1-994F-47446A1F2C70}" srcId="{2C30A1AF-C579-4E68-A65A-E426A7D6A42F}" destId="{97E98AB2-2869-4971-9EBB-5B9A12D8C897}" srcOrd="2" destOrd="0" parTransId="{5F61F02D-D744-4BCB-B045-B0B47B6C8597}" sibTransId="{19E72375-DAF5-4989-ACB0-9B51D4821B01}"/>
    <dgm:cxn modelId="{223FA30D-48FB-4E9D-A12F-8C26D2A9BD1A}" type="presOf" srcId="{79957AB3-6B44-42F2-AC2E-9099382479CB}" destId="{A101F4A2-7614-45BF-9410-97E799355F54}" srcOrd="0" destOrd="4" presId="urn:microsoft.com/office/officeart/2005/8/layout/vList2"/>
    <dgm:cxn modelId="{4D260218-9B13-445E-B6BD-B7C040BDAFEA}" type="presOf" srcId="{78F4C270-AF57-4281-860D-0E282706E3E5}" destId="{A101F4A2-7614-45BF-9410-97E799355F54}" srcOrd="0" destOrd="2" presId="urn:microsoft.com/office/officeart/2005/8/layout/vList2"/>
    <dgm:cxn modelId="{B7B20E18-DBFC-4821-8588-053AB9E10E66}" srcId="{BF9EA6E2-1E25-46DD-BF94-1AB973353ECB}" destId="{3BC847FB-B919-427C-98A6-A6FE449B1E56}" srcOrd="1" destOrd="0" parTransId="{9BCD71E1-7F39-45C2-91E0-2A4D38AFBDC2}" sibTransId="{98BB5F1D-6351-4874-935A-65456EA9001D}"/>
    <dgm:cxn modelId="{4A1FAF19-C5DE-4B46-B433-94D7D7366C51}" type="presOf" srcId="{2C30A1AF-C579-4E68-A65A-E426A7D6A42F}" destId="{A101F4A2-7614-45BF-9410-97E799355F54}" srcOrd="0" destOrd="0" presId="urn:microsoft.com/office/officeart/2005/8/layout/vList2"/>
    <dgm:cxn modelId="{7DF4921A-2E95-4B58-AF97-2353EE4948D0}" srcId="{BF9EA6E2-1E25-46DD-BF94-1AB973353ECB}" destId="{8B00A307-4F3C-4536-B227-1CFCACA9A969}" srcOrd="2" destOrd="0" parTransId="{8F11C1E5-41D5-4AB8-B363-AAE9A5841770}" sibTransId="{D0C7A312-14F2-4025-9D75-CF161B1853A8}"/>
    <dgm:cxn modelId="{3747F81B-B957-45A5-9150-499B71575B8B}" srcId="{2C30A1AF-C579-4E68-A65A-E426A7D6A42F}" destId="{DF1F14B7-02FC-4E82-A003-4ABA1FDA0784}" srcOrd="0" destOrd="0" parTransId="{1431A23F-F474-4694-9F6A-6839D9E0E9B0}" sibTransId="{6485FC73-462D-4F54-BB72-074AA4FAF04C}"/>
    <dgm:cxn modelId="{F4B0A223-8DB7-4FEE-9EEE-8E2C68A23B5F}" srcId="{BF9EA6E2-1E25-46DD-BF94-1AB973353ECB}" destId="{52854C14-5B29-47AA-851B-60E1D29E3E4E}" srcOrd="0" destOrd="0" parTransId="{7CD7C1E5-BB02-4AFE-84F2-2FCCC07CDAD1}" sibTransId="{FFAE2EA8-8F03-4E55-AA43-FF29070D3ED8}"/>
    <dgm:cxn modelId="{FAAA7D5B-B3AB-4602-9CE7-6AFC6D60D343}" srcId="{0D0403EC-8A7D-4CB0-8C98-F4F2B33B90C4}" destId="{D5577063-4E65-4F3E-AF24-B3C44FBFA7AB}" srcOrd="1" destOrd="0" parTransId="{787E6EA2-ECB6-4C52-A6DA-1543F74D81DC}" sibTransId="{ADAE0B33-7D60-485C-9054-E3C845DC01F0}"/>
    <dgm:cxn modelId="{D6133B5C-EB1D-45ED-8398-5581AC555AAB}" type="presOf" srcId="{0D0403EC-8A7D-4CB0-8C98-F4F2B33B90C4}" destId="{698DCFC1-3A6A-45E4-B8B9-37AA817694DD}" srcOrd="0" destOrd="0" presId="urn:microsoft.com/office/officeart/2005/8/layout/vList2"/>
    <dgm:cxn modelId="{8673F962-1578-4099-B252-2C18C2C6ACFE}" srcId="{D5577063-4E65-4F3E-AF24-B3C44FBFA7AB}" destId="{2C30A1AF-C579-4E68-A65A-E426A7D6A42F}" srcOrd="0" destOrd="0" parTransId="{0F1E3025-E361-4678-A6F8-0081CE9EB2E1}" sibTransId="{76E8FB3A-0319-44A0-84E2-6E952BCF2F30}"/>
    <dgm:cxn modelId="{1A668B47-CB47-4061-826B-74707E0640D2}" srcId="{0D0403EC-8A7D-4CB0-8C98-F4F2B33B90C4}" destId="{BFAE7145-95AE-4455-A524-F726FB5B7DDD}" srcOrd="2" destOrd="0" parTransId="{5F316CAA-5E8C-4DC4-9A53-EC9694876012}" sibTransId="{FD6D4B8E-2455-4095-A53B-BE600FC90B18}"/>
    <dgm:cxn modelId="{CD351C4A-104F-4672-ABBB-2A79ECEEAA80}" type="presOf" srcId="{D5577063-4E65-4F3E-AF24-B3C44FBFA7AB}" destId="{6E90D88F-4B32-4104-898F-5AD148324C57}" srcOrd="0" destOrd="0" presId="urn:microsoft.com/office/officeart/2005/8/layout/vList2"/>
    <dgm:cxn modelId="{9EFDE44A-A71D-46C8-873B-0471795D2AFD}" srcId="{D5577063-4E65-4F3E-AF24-B3C44FBFA7AB}" destId="{79957AB3-6B44-42F2-AC2E-9099382479CB}" srcOrd="1" destOrd="0" parTransId="{B5F847D0-FE22-44D2-9013-BF9314F0C563}" sibTransId="{7BC27A7E-01D2-4ECC-A801-BBD6F92BC88F}"/>
    <dgm:cxn modelId="{F5AF2071-4561-4D29-9936-D286CB754E06}" type="presOf" srcId="{8B00A307-4F3C-4536-B227-1CFCACA9A969}" destId="{79A7A3BE-09A2-40A4-9013-A47F817C7C14}" srcOrd="0" destOrd="2" presId="urn:microsoft.com/office/officeart/2005/8/layout/vList2"/>
    <dgm:cxn modelId="{550D9E72-7A68-459D-AA36-AE6E5960DAD5}" type="presOf" srcId="{BF9EA6E2-1E25-46DD-BF94-1AB973353ECB}" destId="{87CD576A-D7CC-4D59-B84D-E401C9BEB61F}" srcOrd="0" destOrd="0" presId="urn:microsoft.com/office/officeart/2005/8/layout/vList2"/>
    <dgm:cxn modelId="{3F975C7B-326D-4A4A-B385-D025C3A97716}" type="presOf" srcId="{BFAE7145-95AE-4455-A524-F726FB5B7DDD}" destId="{E28D3A59-DA61-4C6C-BF2C-EF1E22498F90}" srcOrd="0" destOrd="0" presId="urn:microsoft.com/office/officeart/2005/8/layout/vList2"/>
    <dgm:cxn modelId="{AAAE1D85-EE62-4E0D-A4DB-4113CA952EAD}" srcId="{0D0403EC-8A7D-4CB0-8C98-F4F2B33B90C4}" destId="{BF9EA6E2-1E25-46DD-BF94-1AB973353ECB}" srcOrd="0" destOrd="0" parTransId="{83002A3F-421D-40B6-9C35-C961D5953A4C}" sibTransId="{B8E9F32B-3CAC-4A95-BA06-CCF01A1E42DC}"/>
    <dgm:cxn modelId="{B1BE0388-4CE2-439A-936D-ECB691682E20}" type="presOf" srcId="{3BC847FB-B919-427C-98A6-A6FE449B1E56}" destId="{79A7A3BE-09A2-40A4-9013-A47F817C7C14}" srcOrd="0" destOrd="1" presId="urn:microsoft.com/office/officeart/2005/8/layout/vList2"/>
    <dgm:cxn modelId="{AA176E8D-ED3C-4753-817F-AF0005DDDD46}" type="presOf" srcId="{97E98AB2-2869-4971-9EBB-5B9A12D8C897}" destId="{A101F4A2-7614-45BF-9410-97E799355F54}" srcOrd="0" destOrd="3" presId="urn:microsoft.com/office/officeart/2005/8/layout/vList2"/>
    <dgm:cxn modelId="{5FAE119C-C021-497B-8101-FDFCA2A4D2FA}" srcId="{2C30A1AF-C579-4E68-A65A-E426A7D6A42F}" destId="{78F4C270-AF57-4281-860D-0E282706E3E5}" srcOrd="1" destOrd="0" parTransId="{862C2440-9468-44CF-82B0-603594343C1B}" sibTransId="{1D0E6F56-4888-4010-B868-3E4A1B7C9B73}"/>
    <dgm:cxn modelId="{771BCFCB-D258-4BEC-9FFA-1BCFFB5A4DA4}" type="presOf" srcId="{DF1F14B7-02FC-4E82-A003-4ABA1FDA0784}" destId="{A101F4A2-7614-45BF-9410-97E799355F54}" srcOrd="0" destOrd="1" presId="urn:microsoft.com/office/officeart/2005/8/layout/vList2"/>
    <dgm:cxn modelId="{CF3FD7E4-4DB4-4761-B3BF-4E159344F262}" type="presOf" srcId="{52854C14-5B29-47AA-851B-60E1D29E3E4E}" destId="{79A7A3BE-09A2-40A4-9013-A47F817C7C14}" srcOrd="0" destOrd="0" presId="urn:microsoft.com/office/officeart/2005/8/layout/vList2"/>
    <dgm:cxn modelId="{468785AD-51C5-4765-8A90-C7C393007C57}" type="presParOf" srcId="{698DCFC1-3A6A-45E4-B8B9-37AA817694DD}" destId="{87CD576A-D7CC-4D59-B84D-E401C9BEB61F}" srcOrd="0" destOrd="0" presId="urn:microsoft.com/office/officeart/2005/8/layout/vList2"/>
    <dgm:cxn modelId="{7DFE12F7-29B2-4E94-8BA8-A0ABE2160B1A}" type="presParOf" srcId="{698DCFC1-3A6A-45E4-B8B9-37AA817694DD}" destId="{79A7A3BE-09A2-40A4-9013-A47F817C7C14}" srcOrd="1" destOrd="0" presId="urn:microsoft.com/office/officeart/2005/8/layout/vList2"/>
    <dgm:cxn modelId="{CB8402D5-55CB-4D7E-8117-0E968C58D46D}" type="presParOf" srcId="{698DCFC1-3A6A-45E4-B8B9-37AA817694DD}" destId="{6E90D88F-4B32-4104-898F-5AD148324C57}" srcOrd="2" destOrd="0" presId="urn:microsoft.com/office/officeart/2005/8/layout/vList2"/>
    <dgm:cxn modelId="{AA759906-D7BC-42B4-8F39-AB03B9B901F9}" type="presParOf" srcId="{698DCFC1-3A6A-45E4-B8B9-37AA817694DD}" destId="{A101F4A2-7614-45BF-9410-97E799355F54}" srcOrd="3" destOrd="0" presId="urn:microsoft.com/office/officeart/2005/8/layout/vList2"/>
    <dgm:cxn modelId="{57E1FA17-CFE4-43FC-B69B-2C27A58DFDF2}" type="presParOf" srcId="{698DCFC1-3A6A-45E4-B8B9-37AA817694DD}" destId="{E28D3A59-DA61-4C6C-BF2C-EF1E22498F9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4B8C36-2035-4BBF-A2C9-AA5CB32A7827}">
      <dsp:nvSpPr>
        <dsp:cNvPr id="0" name=""/>
        <dsp:cNvSpPr/>
      </dsp:nvSpPr>
      <dsp:spPr>
        <a:xfrm>
          <a:off x="0" y="618210"/>
          <a:ext cx="10945215" cy="188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49470" tIns="541528" rIns="849470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Supervision: The training data (observations, measurements, etc.) are accompanied by </a:t>
          </a:r>
          <a:r>
            <a:rPr lang="en-US" sz="2600" b="1" kern="1200" dirty="0"/>
            <a:t>labels</a:t>
          </a:r>
          <a:r>
            <a:rPr lang="en-US" sz="2600" kern="1200" dirty="0"/>
            <a:t> indicating the class of the observations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New data is classified based on the training set</a:t>
          </a:r>
        </a:p>
      </dsp:txBody>
      <dsp:txXfrm>
        <a:off x="0" y="618210"/>
        <a:ext cx="10945215" cy="1883700"/>
      </dsp:txXfrm>
    </dsp:sp>
    <dsp:sp modelId="{D0DD04E0-EC6A-41E2-8AEA-DBDFA9E8F4F8}">
      <dsp:nvSpPr>
        <dsp:cNvPr id="0" name=""/>
        <dsp:cNvSpPr/>
      </dsp:nvSpPr>
      <dsp:spPr>
        <a:xfrm>
          <a:off x="547260" y="234450"/>
          <a:ext cx="7661650" cy="7675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89592" tIns="0" rIns="289592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Supervised learning (classification)</a:t>
          </a:r>
          <a:endParaRPr lang="en-US" sz="2600" kern="1200"/>
        </a:p>
      </dsp:txBody>
      <dsp:txXfrm>
        <a:off x="584727" y="271917"/>
        <a:ext cx="7586716" cy="692586"/>
      </dsp:txXfrm>
    </dsp:sp>
    <dsp:sp modelId="{568FDFB9-7AAF-4B00-AA6A-294F261DD61C}">
      <dsp:nvSpPr>
        <dsp:cNvPr id="0" name=""/>
        <dsp:cNvSpPr/>
      </dsp:nvSpPr>
      <dsp:spPr>
        <a:xfrm>
          <a:off x="0" y="3026071"/>
          <a:ext cx="10945215" cy="188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49470" tIns="541528" rIns="849470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The class labels of training data is unknown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Given a set of measurements, observations, etc. with the aim of establishing the existence of classes or clusters in the data</a:t>
          </a:r>
        </a:p>
      </dsp:txBody>
      <dsp:txXfrm>
        <a:off x="0" y="3026071"/>
        <a:ext cx="10945215" cy="1883700"/>
      </dsp:txXfrm>
    </dsp:sp>
    <dsp:sp modelId="{15CB55C0-2EF9-4B0A-ABB6-3162BCA98905}">
      <dsp:nvSpPr>
        <dsp:cNvPr id="0" name=""/>
        <dsp:cNvSpPr/>
      </dsp:nvSpPr>
      <dsp:spPr>
        <a:xfrm>
          <a:off x="547260" y="2642311"/>
          <a:ext cx="7661650" cy="7675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89592" tIns="0" rIns="289592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/>
            <a:t>Unsupervised learning (clustering)</a:t>
          </a:r>
          <a:endParaRPr lang="en-US" sz="2600" kern="1200"/>
        </a:p>
      </dsp:txBody>
      <dsp:txXfrm>
        <a:off x="584727" y="2679778"/>
        <a:ext cx="7586716" cy="6925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B888C-B449-45D0-B5FB-6978D6AF71AB}">
      <dsp:nvSpPr>
        <dsp:cNvPr id="0" name=""/>
        <dsp:cNvSpPr/>
      </dsp:nvSpPr>
      <dsp:spPr>
        <a:xfrm>
          <a:off x="0" y="357801"/>
          <a:ext cx="11017223" cy="144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059" tIns="416560" rIns="855059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predicts categorical class labels (discrete or nominal)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classifies data (constructs a model) based on the training set and the values (class labels) in a classifying attribute and uses it in classifying new data</a:t>
          </a:r>
        </a:p>
      </dsp:txBody>
      <dsp:txXfrm>
        <a:off x="0" y="357801"/>
        <a:ext cx="11017223" cy="1449000"/>
      </dsp:txXfrm>
    </dsp:sp>
    <dsp:sp modelId="{2487CDA5-FDA7-4263-92C3-9927C58C565A}">
      <dsp:nvSpPr>
        <dsp:cNvPr id="0" name=""/>
        <dsp:cNvSpPr/>
      </dsp:nvSpPr>
      <dsp:spPr>
        <a:xfrm>
          <a:off x="550861" y="62601"/>
          <a:ext cx="7712056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497" tIns="0" rIns="29149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Classification  </a:t>
          </a:r>
          <a:endParaRPr lang="en-US" sz="2000" kern="1200"/>
        </a:p>
      </dsp:txBody>
      <dsp:txXfrm>
        <a:off x="579682" y="91422"/>
        <a:ext cx="7654414" cy="532758"/>
      </dsp:txXfrm>
    </dsp:sp>
    <dsp:sp modelId="{2FB6D537-8619-4CDB-A6D7-0444A559FBE3}">
      <dsp:nvSpPr>
        <dsp:cNvPr id="0" name=""/>
        <dsp:cNvSpPr/>
      </dsp:nvSpPr>
      <dsp:spPr>
        <a:xfrm>
          <a:off x="0" y="2210001"/>
          <a:ext cx="11017223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059" tIns="416560" rIns="855059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models continuous-valued functions, i.e., predicts unknown or missing values </a:t>
          </a:r>
        </a:p>
      </dsp:txBody>
      <dsp:txXfrm>
        <a:off x="0" y="2210001"/>
        <a:ext cx="11017223" cy="850500"/>
      </dsp:txXfrm>
    </dsp:sp>
    <dsp:sp modelId="{38C2B239-4E2C-414D-9B4A-9EA1E9DFA70A}">
      <dsp:nvSpPr>
        <dsp:cNvPr id="0" name=""/>
        <dsp:cNvSpPr/>
      </dsp:nvSpPr>
      <dsp:spPr>
        <a:xfrm>
          <a:off x="550861" y="1914801"/>
          <a:ext cx="7712056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497" tIns="0" rIns="29149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Numeric Prediction  </a:t>
          </a:r>
          <a:endParaRPr lang="en-US" sz="2000" kern="1200"/>
        </a:p>
      </dsp:txBody>
      <dsp:txXfrm>
        <a:off x="579682" y="1943622"/>
        <a:ext cx="7654414" cy="532758"/>
      </dsp:txXfrm>
    </dsp:sp>
    <dsp:sp modelId="{90C364B2-23CC-499C-97E9-761E2DA24F88}">
      <dsp:nvSpPr>
        <dsp:cNvPr id="0" name=""/>
        <dsp:cNvSpPr/>
      </dsp:nvSpPr>
      <dsp:spPr>
        <a:xfrm>
          <a:off x="0" y="3463702"/>
          <a:ext cx="11017223" cy="182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5059" tIns="416560" rIns="855059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Credit/loan approval: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Medical diagnosis: if a tumor is cancerous or benign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Fraud detection: if a transaction is fraudulent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Web page categorization: which category it is</a:t>
          </a:r>
        </a:p>
      </dsp:txBody>
      <dsp:txXfrm>
        <a:off x="0" y="3463702"/>
        <a:ext cx="11017223" cy="1827000"/>
      </dsp:txXfrm>
    </dsp:sp>
    <dsp:sp modelId="{F23D79D4-12BD-4B89-B8B0-ED46C15F148B}">
      <dsp:nvSpPr>
        <dsp:cNvPr id="0" name=""/>
        <dsp:cNvSpPr/>
      </dsp:nvSpPr>
      <dsp:spPr>
        <a:xfrm>
          <a:off x="550861" y="3168501"/>
          <a:ext cx="7712056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497" tIns="0" rIns="29149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Classification: Typical applications</a:t>
          </a:r>
          <a:endParaRPr lang="en-US" sz="2000" kern="1200" dirty="0"/>
        </a:p>
      </dsp:txBody>
      <dsp:txXfrm>
        <a:off x="579682" y="3197322"/>
        <a:ext cx="7654414" cy="532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D576A-D7CC-4D59-B84D-E401C9BEB61F}">
      <dsp:nvSpPr>
        <dsp:cNvPr id="0" name=""/>
        <dsp:cNvSpPr/>
      </dsp:nvSpPr>
      <dsp:spPr>
        <a:xfrm>
          <a:off x="0" y="228114"/>
          <a:ext cx="11521280" cy="6715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Model construction: describing a set of predetermined classes</a:t>
          </a:r>
          <a:endParaRPr lang="en-US" sz="2800" kern="1200"/>
        </a:p>
      </dsp:txBody>
      <dsp:txXfrm>
        <a:off x="32784" y="260898"/>
        <a:ext cx="11455712" cy="606012"/>
      </dsp:txXfrm>
    </dsp:sp>
    <dsp:sp modelId="{79A7A3BE-09A2-40A4-9013-A47F817C7C14}">
      <dsp:nvSpPr>
        <dsp:cNvPr id="0" name=""/>
        <dsp:cNvSpPr/>
      </dsp:nvSpPr>
      <dsp:spPr>
        <a:xfrm>
          <a:off x="0" y="899694"/>
          <a:ext cx="11521280" cy="1449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5801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Each tuple/sample is assumed to belong to a predefined class, as determined by the class label attribute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The set of tuples used for model construction is training set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The model is represented as classification rules, decision trees, or mathematical formulae</a:t>
          </a:r>
        </a:p>
      </dsp:txBody>
      <dsp:txXfrm>
        <a:off x="0" y="899694"/>
        <a:ext cx="11521280" cy="1449000"/>
      </dsp:txXfrm>
    </dsp:sp>
    <dsp:sp modelId="{6E90D88F-4B32-4104-898F-5AD148324C57}">
      <dsp:nvSpPr>
        <dsp:cNvPr id="0" name=""/>
        <dsp:cNvSpPr/>
      </dsp:nvSpPr>
      <dsp:spPr>
        <a:xfrm>
          <a:off x="0" y="2348694"/>
          <a:ext cx="11521280" cy="6715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Model usage: for classifying future or unknown objects</a:t>
          </a:r>
          <a:endParaRPr lang="en-US" sz="2800" kern="1200"/>
        </a:p>
      </dsp:txBody>
      <dsp:txXfrm>
        <a:off x="32784" y="2381478"/>
        <a:ext cx="11455712" cy="606012"/>
      </dsp:txXfrm>
    </dsp:sp>
    <dsp:sp modelId="{A101F4A2-7614-45BF-9410-97E799355F54}">
      <dsp:nvSpPr>
        <dsp:cNvPr id="0" name=""/>
        <dsp:cNvSpPr/>
      </dsp:nvSpPr>
      <dsp:spPr>
        <a:xfrm>
          <a:off x="0" y="3020274"/>
          <a:ext cx="11521280" cy="1912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5801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Estimate accuracy of the model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The known label of test sample is compared with the classified result from the model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Accuracy rate is the percentage of test set samples that are correctly classified by the model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Test set is independent of training set (otherwise overfitting)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If the accuracy is acceptable, use the model to classify new data</a:t>
          </a:r>
        </a:p>
      </dsp:txBody>
      <dsp:txXfrm>
        <a:off x="0" y="3020274"/>
        <a:ext cx="11521280" cy="1912680"/>
      </dsp:txXfrm>
    </dsp:sp>
    <dsp:sp modelId="{E28D3A59-DA61-4C6C-BF2C-EF1E22498F90}">
      <dsp:nvSpPr>
        <dsp:cNvPr id="0" name=""/>
        <dsp:cNvSpPr/>
      </dsp:nvSpPr>
      <dsp:spPr>
        <a:xfrm>
          <a:off x="0" y="4932954"/>
          <a:ext cx="11521280" cy="6715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/>
            <a:t>Note: If </a:t>
          </a:r>
          <a:r>
            <a:rPr lang="en-US" sz="2800" b="0" i="1" kern="1200"/>
            <a:t>the test set </a:t>
          </a:r>
          <a:r>
            <a:rPr lang="en-US" sz="2800" b="0" i="0" kern="1200"/>
            <a:t>is used to select models, it is called validation (test) set</a:t>
          </a:r>
          <a:endParaRPr lang="en-US" sz="2800" kern="1200"/>
        </a:p>
      </dsp:txBody>
      <dsp:txXfrm>
        <a:off x="32784" y="4965738"/>
        <a:ext cx="11455712" cy="606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1FE55-EA6D-4533-85F2-7090FD4D95FB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4D785-B9E3-4EBA-A95A-1E9848914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671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7A972853-C44D-31DB-19EB-21CEEF5834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BFD1371-1E80-422C-B1DA-428A883B3EA2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7B6C225-D27D-D567-3F4C-60BBE47AFA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0C0A1F5-1737-CA79-8B7F-FB8528D7B3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28759CE5-2A81-1103-69BC-49D6EC9EDB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40E71FE-B6C4-41F8-8279-BB650F28C7C4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0B5F2F0-3323-E4C2-16C8-847210402F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EAAD80C2-3D5A-9CF6-DF5E-30E63B9AE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AB2388FF-C674-39E2-3D63-9C2E9BEDC0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2BBFA4D-02F6-4079-A399-9D313C3796A1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D611EAF-09AE-9117-6B01-FD35F952D3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14CD0375-A3E5-6B4F-0028-D8F0CE3F1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B6C7281A-84F8-94BA-3D6F-11BD806E5C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09E71D9-A234-49AA-91BA-D886D1575863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7108F51-BEC0-3398-8651-A6BF3FC02E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688BF22-F2A9-64F3-E63A-D7B44DF3EA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D37E0C6-AF48-7579-E9A5-9CD951FEFE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AEBD7C6-3838-488B-84F3-3D26ADE7A823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4AAFF21-DA1A-37FD-65BD-409B7214B5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E22D3730-2E3D-7055-D90F-F6FA81FCFD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9636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9636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9636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343" y="70103"/>
            <a:ext cx="12017587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04867" y="339598"/>
            <a:ext cx="338226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69636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5133" y="2508250"/>
            <a:ext cx="107950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4.wmf"/><Relationship Id="rId7" Type="http://schemas.openxmlformats.org/officeDocument/2006/relationships/image" Target="../media/image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lyticsvidhya.com/blog/2021/06/hypothesis-testing-parametric-and-non-parametric-tests-in-statistics/?utm_source=Backlink&amp;utm_medium=SEO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E4D6F2-689C-4A0A-9248-A063B60F6223}"/>
              </a:ext>
            </a:extLst>
          </p:cNvPr>
          <p:cNvSpPr txBox="1"/>
          <p:nvPr/>
        </p:nvSpPr>
        <p:spPr>
          <a:xfrm>
            <a:off x="2791884" y="1828800"/>
            <a:ext cx="686790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Data Sciences</a:t>
            </a:r>
          </a:p>
          <a:p>
            <a:pPr algn="ctr"/>
            <a:r>
              <a:rPr lang="en-GB" sz="4400" dirty="0"/>
              <a:t>Unit-IV</a:t>
            </a:r>
          </a:p>
          <a:p>
            <a:pPr algn="ctr"/>
            <a:r>
              <a:rPr lang="en-US" sz="4400" spc="-5" dirty="0"/>
              <a:t>Classification Basic concepts,</a:t>
            </a:r>
          </a:p>
          <a:p>
            <a:pPr algn="ctr"/>
            <a:r>
              <a:rPr lang="en-US" sz="4400" spc="-5" dirty="0"/>
              <a:t>K-Nearest</a:t>
            </a:r>
            <a:r>
              <a:rPr lang="en-US" sz="4400" spc="15" dirty="0"/>
              <a:t> </a:t>
            </a:r>
            <a:r>
              <a:rPr lang="en-US" sz="4400" spc="-5" dirty="0"/>
              <a:t>Neighbor</a:t>
            </a:r>
            <a:r>
              <a:rPr lang="en-US" sz="4400" spc="30" dirty="0"/>
              <a:t> </a:t>
            </a:r>
            <a:r>
              <a:rPr lang="en-US" sz="4400" spc="-5" dirty="0"/>
              <a:t>Classifier</a:t>
            </a:r>
            <a:endParaRPr lang="en-US" sz="4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3276600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85F5654F-C63B-1B34-C0BB-D5A368D8F4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5400" y="339598"/>
            <a:ext cx="7091731" cy="635000"/>
          </a:xfrm>
        </p:spPr>
        <p:txBody>
          <a:bodyPr wrap="square" lIns="92075" tIns="46038" rIns="92075" bIns="46038"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900" b="1" dirty="0"/>
              <a:t>Supervised vs. Unsupervised Learning</a:t>
            </a:r>
          </a:p>
        </p:txBody>
      </p:sp>
      <p:sp>
        <p:nvSpPr>
          <p:cNvPr id="9218" name="Slide Number Placeholder 5" hidden="1">
            <a:extLst>
              <a:ext uri="{FF2B5EF4-FFF2-40B4-BE49-F238E27FC236}">
                <a16:creationId xmlns:a16="http://schemas.microsoft.com/office/drawing/2014/main" id="{C0E7F1AE-3B72-849D-AFC4-65A62B4DE20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85EE4344-B141-4980-B7D6-E36E2AF3E4B1}" type="slidenum">
              <a:rPr lang="en-US" altLang="en-US" smtClean="0"/>
              <a:pPr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t>2</a:t>
            </a:fld>
            <a:endParaRPr lang="en-US" altLang="en-US">
              <a:latin typeface="Tahoma" panose="020B0604030504040204" pitchFamily="34" charset="0"/>
            </a:endParaRPr>
          </a:p>
        </p:txBody>
      </p:sp>
      <p:graphicFrame>
        <p:nvGraphicFramePr>
          <p:cNvPr id="9222" name="Rectangle 3">
            <a:extLst>
              <a:ext uri="{FF2B5EF4-FFF2-40B4-BE49-F238E27FC236}">
                <a16:creationId xmlns:a16="http://schemas.microsoft.com/office/drawing/2014/main" id="{7F3EFC64-57D2-F46D-9CE3-2738B2AFBD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9651182"/>
              </p:ext>
            </p:extLst>
          </p:nvPr>
        </p:nvGraphicFramePr>
        <p:xfrm>
          <a:off x="695400" y="1165098"/>
          <a:ext cx="10945215" cy="5144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>
            <a:extLst>
              <a:ext uri="{FF2B5EF4-FFF2-40B4-BE49-F238E27FC236}">
                <a16:creationId xmlns:a16="http://schemas.microsoft.com/office/drawing/2014/main" id="{7DB2645E-E848-9B6E-F9FD-90CEB102F7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3392" y="339598"/>
            <a:ext cx="7163739" cy="635000"/>
          </a:xfrm>
        </p:spPr>
        <p:txBody>
          <a:bodyPr wrap="square" lIns="92075" tIns="46038" rIns="92075" bIns="46038"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600" b="1" dirty="0"/>
              <a:t>Prediction Problems: Classification vs. Numeric Prediction</a:t>
            </a:r>
          </a:p>
        </p:txBody>
      </p:sp>
      <p:sp>
        <p:nvSpPr>
          <p:cNvPr id="11266" name="Slide Number Placeholder 5" hidden="1">
            <a:extLst>
              <a:ext uri="{FF2B5EF4-FFF2-40B4-BE49-F238E27FC236}">
                <a16:creationId xmlns:a16="http://schemas.microsoft.com/office/drawing/2014/main" id="{F96E30D4-AF27-CBD1-6A21-A3E8845490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85EE4344-B141-4980-B7D6-E36E2AF3E4B1}" type="slidenum">
              <a:rPr lang="en-US" altLang="en-US" smtClean="0"/>
              <a:pPr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t>3</a:t>
            </a:fld>
            <a:endParaRPr lang="en-US" altLang="en-US">
              <a:latin typeface="Tahoma" panose="020B0604030504040204" pitchFamily="34" charset="0"/>
            </a:endParaRPr>
          </a:p>
        </p:txBody>
      </p:sp>
      <p:graphicFrame>
        <p:nvGraphicFramePr>
          <p:cNvPr id="11270" name="Rectangle 2">
            <a:extLst>
              <a:ext uri="{FF2B5EF4-FFF2-40B4-BE49-F238E27FC236}">
                <a16:creationId xmlns:a16="http://schemas.microsoft.com/office/drawing/2014/main" id="{302FAA93-45A1-124B-9CF2-150BF6D0FE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98036"/>
              </p:ext>
            </p:extLst>
          </p:nvPr>
        </p:nvGraphicFramePr>
        <p:xfrm>
          <a:off x="623392" y="1165098"/>
          <a:ext cx="11017223" cy="5353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3DB7-40E2-568A-4ED5-039548D4E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404664"/>
            <a:ext cx="3382264" cy="635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2200" b="1" i="0" dirty="0">
                <a:effectLst/>
              </a:rPr>
              <a:t>Classification Algorithm</a:t>
            </a:r>
            <a:br>
              <a:rPr lang="en-IN" sz="2200" b="1" i="0" dirty="0">
                <a:effectLst/>
              </a:rPr>
            </a:br>
            <a:endParaRPr lang="en-IN" sz="2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3EBC2-3F0B-B7EE-6133-B1304AAB70AB}"/>
              </a:ext>
            </a:extLst>
          </p:cNvPr>
          <p:cNvSpPr txBox="1"/>
          <p:nvPr/>
        </p:nvSpPr>
        <p:spPr>
          <a:xfrm>
            <a:off x="839416" y="1628800"/>
            <a:ext cx="10513168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The Classification algorithms are a Supervised Learning Algorithms.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It is used to identify the category of new observations on the basis of training data. 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Classes can be called as targets/labels or categories.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In classification algorithm, a discrete output function(y) is mapped to input variable(x).</a:t>
            </a:r>
          </a:p>
        </p:txBody>
      </p:sp>
    </p:spTree>
    <p:extLst>
      <p:ext uri="{BB962C8B-B14F-4D97-AF65-F5344CB8AC3E}">
        <p14:creationId xmlns:p14="http://schemas.microsoft.com/office/powerpoint/2010/main" val="662195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76E49766-356F-97CD-6DA6-482B2558F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6435" y="201712"/>
            <a:ext cx="5579565" cy="635000"/>
          </a:xfrm>
        </p:spPr>
        <p:txBody>
          <a:bodyPr wrap="square" anchor="ctr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Classification—A Two-Step Process </a:t>
            </a:r>
          </a:p>
        </p:txBody>
      </p:sp>
      <p:sp>
        <p:nvSpPr>
          <p:cNvPr id="13314" name="Slide Number Placeholder 5" hidden="1">
            <a:extLst>
              <a:ext uri="{FF2B5EF4-FFF2-40B4-BE49-F238E27FC236}">
                <a16:creationId xmlns:a16="http://schemas.microsoft.com/office/drawing/2014/main" id="{4DD8D988-B646-D5F7-C3A3-E74C3D2858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fld id="{85EE4344-B141-4980-B7D6-E36E2AF3E4B1}" type="slidenum">
              <a:rPr lang="en-US" altLang="en-US" smtClean="0"/>
              <a:pPr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t>5</a:t>
            </a:fld>
            <a:endParaRPr lang="en-US" altLang="en-US">
              <a:latin typeface="Tahoma" panose="020B0604030504040204" pitchFamily="34" charset="0"/>
            </a:endParaRPr>
          </a:p>
        </p:txBody>
      </p:sp>
      <p:graphicFrame>
        <p:nvGraphicFramePr>
          <p:cNvPr id="13318" name="Rectangle 3">
            <a:extLst>
              <a:ext uri="{FF2B5EF4-FFF2-40B4-BE49-F238E27FC236}">
                <a16:creationId xmlns:a16="http://schemas.microsoft.com/office/drawing/2014/main" id="{8E7F8D0F-FEAC-C2F9-FE4C-65DAD8FDF7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8918546"/>
              </p:ext>
            </p:extLst>
          </p:nvPr>
        </p:nvGraphicFramePr>
        <p:xfrm>
          <a:off x="335360" y="692696"/>
          <a:ext cx="11521280" cy="5832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7B934AF1-F053-7C4F-BDC6-40741FE7E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85EE4344-B141-4980-B7D6-E36E2AF3E4B1}" type="slidenum">
              <a:rPr lang="en-US" altLang="en-US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6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F37A72DA-E5EE-29BF-459B-F92061F5B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600"/>
            <a:ext cx="8077200" cy="708528"/>
          </a:xfrm>
          <a:noFill/>
        </p:spPr>
        <p:txBody>
          <a:bodyPr wrap="square" lIns="92075" tIns="46038" rIns="92075" bIns="46038">
            <a:spAutoFit/>
          </a:bodyPr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Process (1): Model Construction</a:t>
            </a:r>
          </a:p>
        </p:txBody>
      </p:sp>
      <p:grpSp>
        <p:nvGrpSpPr>
          <p:cNvPr id="15364" name="Group 3">
            <a:extLst>
              <a:ext uri="{FF2B5EF4-FFF2-40B4-BE49-F238E27FC236}">
                <a16:creationId xmlns:a16="http://schemas.microsoft.com/office/drawing/2014/main" id="{44F45CA8-E80C-D71B-2E24-1C60927F497B}"/>
              </a:ext>
            </a:extLst>
          </p:cNvPr>
          <p:cNvGrpSpPr>
            <a:grpSpLocks/>
          </p:cNvGrpSpPr>
          <p:nvPr/>
        </p:nvGrpSpPr>
        <p:grpSpPr bwMode="auto">
          <a:xfrm>
            <a:off x="3560764" y="1774825"/>
            <a:ext cx="1698625" cy="1506538"/>
            <a:chOff x="1283" y="1118"/>
            <a:chExt cx="1070" cy="949"/>
          </a:xfrm>
        </p:grpSpPr>
        <p:pic>
          <p:nvPicPr>
            <p:cNvPr id="15377" name="Picture 4">
              <a:extLst>
                <a:ext uri="{FF2B5EF4-FFF2-40B4-BE49-F238E27FC236}">
                  <a16:creationId xmlns:a16="http://schemas.microsoft.com/office/drawing/2014/main" id="{3CD1023B-0C04-7651-3502-84E76D15070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8" name="Rectangle 5">
              <a:extLst>
                <a:ext uri="{FF2B5EF4-FFF2-40B4-BE49-F238E27FC236}">
                  <a16:creationId xmlns:a16="http://schemas.microsoft.com/office/drawing/2014/main" id="{D931A405-AAA9-52A1-5011-AE0766782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395"/>
              <a:ext cx="93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Training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Data</a:t>
              </a:r>
            </a:p>
          </p:txBody>
        </p:sp>
      </p:grpSp>
      <p:graphicFrame>
        <p:nvGraphicFramePr>
          <p:cNvPr id="15365" name="Object 0">
            <a:extLst>
              <a:ext uri="{FF2B5EF4-FFF2-40B4-BE49-F238E27FC236}">
                <a16:creationId xmlns:a16="http://schemas.microsoft.com/office/drawing/2014/main" id="{E7A190B6-3AB5-B2E2-EFEE-9F51C55AF2C4}"/>
              </a:ext>
            </a:extLst>
          </p:cNvPr>
          <p:cNvGraphicFramePr>
            <a:graphicFrameLocks/>
          </p:cNvGraphicFramePr>
          <p:nvPr/>
        </p:nvGraphicFramePr>
        <p:xfrm>
          <a:off x="1812925" y="3825875"/>
          <a:ext cx="5437188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437188" imgH="2495550" progId="Excel.Sheet.8">
                  <p:embed/>
                </p:oleObj>
              </mc:Choice>
              <mc:Fallback>
                <p:oleObj name="Worksheet" r:id="rId4" imgW="5437188" imgH="2495550" progId="Excel.Sheet.8">
                  <p:embed/>
                  <p:pic>
                    <p:nvPicPr>
                      <p:cNvPr id="15365" name="Object 0">
                        <a:extLst>
                          <a:ext uri="{FF2B5EF4-FFF2-40B4-BE49-F238E27FC236}">
                            <a16:creationId xmlns:a16="http://schemas.microsoft.com/office/drawing/2014/main" id="{E7A190B6-3AB5-B2E2-EFEE-9F51C55AF2C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3825875"/>
                        <a:ext cx="5437188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Line 7">
            <a:extLst>
              <a:ext uri="{FF2B5EF4-FFF2-40B4-BE49-F238E27FC236}">
                <a16:creationId xmlns:a16="http://schemas.microsoft.com/office/drawing/2014/main" id="{59A33DBD-558D-D133-ECD7-A5E26A326B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0388" y="3111500"/>
            <a:ext cx="1644650" cy="700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67" name="Line 8">
            <a:extLst>
              <a:ext uri="{FF2B5EF4-FFF2-40B4-BE49-F238E27FC236}">
                <a16:creationId xmlns:a16="http://schemas.microsoft.com/office/drawing/2014/main" id="{BCD19A91-0DF2-6CC4-5226-FF4ABB859C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0975" y="3111500"/>
            <a:ext cx="2025650" cy="700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68" name="Rectangle 9">
            <a:extLst>
              <a:ext uri="{FF2B5EF4-FFF2-40B4-BE49-F238E27FC236}">
                <a16:creationId xmlns:a16="http://schemas.microsoft.com/office/drawing/2014/main" id="{EBE312B1-0A3C-71F6-1848-4AD76A9F2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764" y="1622426"/>
            <a:ext cx="1870075" cy="835025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Classification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Algorithms</a:t>
            </a:r>
          </a:p>
        </p:txBody>
      </p:sp>
      <p:sp>
        <p:nvSpPr>
          <p:cNvPr id="15369" name="AutoShape 10">
            <a:extLst>
              <a:ext uri="{FF2B5EF4-FFF2-40B4-BE49-F238E27FC236}">
                <a16:creationId xmlns:a16="http://schemas.microsoft.com/office/drawing/2014/main" id="{FBAE0EDD-6A4D-51BC-253C-931B36AAFF5D}"/>
              </a:ext>
            </a:extLst>
          </p:cNvPr>
          <p:cNvSpPr>
            <a:spLocks noChangeArrowheads="1"/>
          </p:cNvSpPr>
          <p:nvPr/>
        </p:nvSpPr>
        <p:spPr bwMode="auto">
          <a:xfrm rot="20460000">
            <a:off x="5759450" y="2074864"/>
            <a:ext cx="1657350" cy="484187"/>
          </a:xfrm>
          <a:prstGeom prst="rightArrow">
            <a:avLst>
              <a:gd name="adj1" fmla="val 50000"/>
              <a:gd name="adj2" fmla="val 85606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5370" name="Rectangle 11">
            <a:extLst>
              <a:ext uri="{FF2B5EF4-FFF2-40B4-BE49-F238E27FC236}">
                <a16:creationId xmlns:a16="http://schemas.microsoft.com/office/drawing/2014/main" id="{868B1A76-30F0-01DC-020D-A2C4B02D9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363" y="5311775"/>
            <a:ext cx="3008312" cy="120015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IF rank = ‘professor’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OR years &gt; 6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THEN tenured = ‘yes’ </a:t>
            </a:r>
          </a:p>
        </p:txBody>
      </p:sp>
      <p:grpSp>
        <p:nvGrpSpPr>
          <p:cNvPr id="15371" name="Group 12">
            <a:extLst>
              <a:ext uri="{FF2B5EF4-FFF2-40B4-BE49-F238E27FC236}">
                <a16:creationId xmlns:a16="http://schemas.microsoft.com/office/drawing/2014/main" id="{AFD82664-E3D4-03D9-D226-B5226E8E54B5}"/>
              </a:ext>
            </a:extLst>
          </p:cNvPr>
          <p:cNvGrpSpPr>
            <a:grpSpLocks/>
          </p:cNvGrpSpPr>
          <p:nvPr/>
        </p:nvGrpSpPr>
        <p:grpSpPr bwMode="auto">
          <a:xfrm>
            <a:off x="8002589" y="3216275"/>
            <a:ext cx="1889125" cy="1506538"/>
            <a:chOff x="4081" y="2026"/>
            <a:chExt cx="1190" cy="949"/>
          </a:xfrm>
        </p:grpSpPr>
        <p:pic>
          <p:nvPicPr>
            <p:cNvPr id="15375" name="Picture 13">
              <a:extLst>
                <a:ext uri="{FF2B5EF4-FFF2-40B4-BE49-F238E27FC236}">
                  <a16:creationId xmlns:a16="http://schemas.microsoft.com/office/drawing/2014/main" id="{9CC60B0E-8B6C-6794-BC39-60BB5AF44B0D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1" y="2026"/>
              <a:ext cx="119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6" name="Rectangle 14">
              <a:extLst>
                <a:ext uri="{FF2B5EF4-FFF2-40B4-BE49-F238E27FC236}">
                  <a16:creationId xmlns:a16="http://schemas.microsoft.com/office/drawing/2014/main" id="{889DEDC7-C50F-97F3-BB68-730D64FB9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2303"/>
              <a:ext cx="859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Classifier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(Model)</a:t>
              </a:r>
            </a:p>
          </p:txBody>
        </p:sp>
      </p:grpSp>
      <p:sp>
        <p:nvSpPr>
          <p:cNvPr id="15372" name="Line 15">
            <a:extLst>
              <a:ext uri="{FF2B5EF4-FFF2-40B4-BE49-F238E27FC236}">
                <a16:creationId xmlns:a16="http://schemas.microsoft.com/office/drawing/2014/main" id="{B30C156E-C9A8-A731-64B5-8E76D4CFB4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70776" y="4621214"/>
            <a:ext cx="531813" cy="714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3" name="Line 16">
            <a:extLst>
              <a:ext uri="{FF2B5EF4-FFF2-40B4-BE49-F238E27FC236}">
                <a16:creationId xmlns:a16="http://schemas.microsoft.com/office/drawing/2014/main" id="{3F299F03-6F0B-537A-08F9-C1C78EE72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9893300" y="4543426"/>
            <a:ext cx="577850" cy="790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4" name="AutoShape 17">
            <a:extLst>
              <a:ext uri="{FF2B5EF4-FFF2-40B4-BE49-F238E27FC236}">
                <a16:creationId xmlns:a16="http://schemas.microsoft.com/office/drawing/2014/main" id="{A6FA59B0-1837-FE9A-1DFC-72FACEEF2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0" y="2576514"/>
            <a:ext cx="546100" cy="592137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56FF43A2-5F13-2C22-C645-0DAAC9EFC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85EE4344-B141-4980-B7D6-E36E2AF3E4B1}" type="slidenum">
              <a:rPr lang="en-US" altLang="en-US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D7F04B3A-940C-FED7-6015-EF5875A9B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344" y="228600"/>
            <a:ext cx="10476656" cy="708528"/>
          </a:xfrm>
          <a:noFill/>
        </p:spPr>
        <p:txBody>
          <a:bodyPr wrap="square" lIns="92075" tIns="46038" rIns="92075" bIns="46038">
            <a:spAutoFit/>
          </a:bodyPr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Process (2): Using the Model in Prediction </a:t>
            </a:r>
          </a:p>
        </p:txBody>
      </p:sp>
      <p:grpSp>
        <p:nvGrpSpPr>
          <p:cNvPr id="17412" name="Group 3">
            <a:extLst>
              <a:ext uri="{FF2B5EF4-FFF2-40B4-BE49-F238E27FC236}">
                <a16:creationId xmlns:a16="http://schemas.microsoft.com/office/drawing/2014/main" id="{B7010F42-1BCE-DD70-872E-46E5BD3C2204}"/>
              </a:ext>
            </a:extLst>
          </p:cNvPr>
          <p:cNvGrpSpPr>
            <a:grpSpLocks/>
          </p:cNvGrpSpPr>
          <p:nvPr/>
        </p:nvGrpSpPr>
        <p:grpSpPr bwMode="auto">
          <a:xfrm>
            <a:off x="5969001" y="1570039"/>
            <a:ext cx="1889125" cy="1506537"/>
            <a:chOff x="2800" y="989"/>
            <a:chExt cx="1190" cy="949"/>
          </a:xfrm>
        </p:grpSpPr>
        <p:pic>
          <p:nvPicPr>
            <p:cNvPr id="17430" name="Picture 4">
              <a:extLst>
                <a:ext uri="{FF2B5EF4-FFF2-40B4-BE49-F238E27FC236}">
                  <a16:creationId xmlns:a16="http://schemas.microsoft.com/office/drawing/2014/main" id="{B0EDD370-56B5-B555-E795-BEFDB6C71CAA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0" y="989"/>
              <a:ext cx="119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31" name="Rectangle 5">
              <a:extLst>
                <a:ext uri="{FF2B5EF4-FFF2-40B4-BE49-F238E27FC236}">
                  <a16:creationId xmlns:a16="http://schemas.microsoft.com/office/drawing/2014/main" id="{5366DE37-5A6D-1A02-4423-C33B55548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" y="1382"/>
              <a:ext cx="85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Classifier</a:t>
              </a:r>
            </a:p>
          </p:txBody>
        </p:sp>
      </p:grpSp>
      <p:grpSp>
        <p:nvGrpSpPr>
          <p:cNvPr id="17413" name="Group 6">
            <a:extLst>
              <a:ext uri="{FF2B5EF4-FFF2-40B4-BE49-F238E27FC236}">
                <a16:creationId xmlns:a16="http://schemas.microsoft.com/office/drawing/2014/main" id="{8885D47F-D05A-D775-2635-DF0EA85D35DC}"/>
              </a:ext>
            </a:extLst>
          </p:cNvPr>
          <p:cNvGrpSpPr>
            <a:grpSpLocks/>
          </p:cNvGrpSpPr>
          <p:nvPr/>
        </p:nvGrpSpPr>
        <p:grpSpPr bwMode="auto">
          <a:xfrm>
            <a:off x="3681414" y="2735264"/>
            <a:ext cx="1698625" cy="1506537"/>
            <a:chOff x="1359" y="1723"/>
            <a:chExt cx="1070" cy="949"/>
          </a:xfrm>
        </p:grpSpPr>
        <p:pic>
          <p:nvPicPr>
            <p:cNvPr id="17428" name="Picture 7">
              <a:extLst>
                <a:ext uri="{FF2B5EF4-FFF2-40B4-BE49-F238E27FC236}">
                  <a16:creationId xmlns:a16="http://schemas.microsoft.com/office/drawing/2014/main" id="{3461E6E0-1026-AB84-BBBC-83B547D25DA6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9" y="1723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9" name="Rectangle 8">
              <a:extLst>
                <a:ext uri="{FF2B5EF4-FFF2-40B4-BE49-F238E27FC236}">
                  <a16:creationId xmlns:a16="http://schemas.microsoft.com/office/drawing/2014/main" id="{B525792E-9DDD-063B-DD56-74DA986F4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3" y="2000"/>
              <a:ext cx="93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Testing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Data</a:t>
              </a:r>
            </a:p>
          </p:txBody>
        </p:sp>
      </p:grpSp>
      <p:graphicFrame>
        <p:nvGraphicFramePr>
          <p:cNvPr id="17414" name="Object 1024">
            <a:extLst>
              <a:ext uri="{FF2B5EF4-FFF2-40B4-BE49-F238E27FC236}">
                <a16:creationId xmlns:a16="http://schemas.microsoft.com/office/drawing/2014/main" id="{EFB25295-BB7B-46A4-E63A-970A7FD8F0D3}"/>
              </a:ext>
            </a:extLst>
          </p:cNvPr>
          <p:cNvGraphicFramePr>
            <a:graphicFrameLocks/>
          </p:cNvGraphicFramePr>
          <p:nvPr/>
        </p:nvGraphicFramePr>
        <p:xfrm>
          <a:off x="1981201" y="4800600"/>
          <a:ext cx="5438775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5438775" imgH="1765300" progId="Excel.Sheet.8">
                  <p:embed/>
                </p:oleObj>
              </mc:Choice>
              <mc:Fallback>
                <p:oleObj name="Worksheet" r:id="rId5" imgW="5438775" imgH="1765300" progId="Excel.Sheet.8">
                  <p:embed/>
                  <p:pic>
                    <p:nvPicPr>
                      <p:cNvPr id="17414" name="Object 1024">
                        <a:extLst>
                          <a:ext uri="{FF2B5EF4-FFF2-40B4-BE49-F238E27FC236}">
                            <a16:creationId xmlns:a16="http://schemas.microsoft.com/office/drawing/2014/main" id="{EFB25295-BB7B-46A4-E63A-970A7FD8F0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4800600"/>
                        <a:ext cx="5438775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Line 10">
            <a:extLst>
              <a:ext uri="{FF2B5EF4-FFF2-40B4-BE49-F238E27FC236}">
                <a16:creationId xmlns:a16="http://schemas.microsoft.com/office/drawing/2014/main" id="{2315A43C-9B9A-CDC7-8787-8EADE8B095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1038" y="4071939"/>
            <a:ext cx="1644650" cy="7000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16" name="Line 11">
            <a:extLst>
              <a:ext uri="{FF2B5EF4-FFF2-40B4-BE49-F238E27FC236}">
                <a16:creationId xmlns:a16="http://schemas.microsoft.com/office/drawing/2014/main" id="{C66CCBF8-26A1-4DC1-451D-3394D62CA4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1625" y="4071939"/>
            <a:ext cx="2025650" cy="7000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17" name="AutoShape 12">
            <a:extLst>
              <a:ext uri="{FF2B5EF4-FFF2-40B4-BE49-F238E27FC236}">
                <a16:creationId xmlns:a16="http://schemas.microsoft.com/office/drawing/2014/main" id="{BA6D56D2-3C5A-CED7-4045-FC9DA2607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7038" y="5000625"/>
            <a:ext cx="546100" cy="592138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7418" name="Freeform 13">
            <a:extLst>
              <a:ext uri="{FF2B5EF4-FFF2-40B4-BE49-F238E27FC236}">
                <a16:creationId xmlns:a16="http://schemas.microsoft.com/office/drawing/2014/main" id="{B4990188-2EA7-E18B-E929-35A0FB4CEFE5}"/>
              </a:ext>
            </a:extLst>
          </p:cNvPr>
          <p:cNvSpPr>
            <a:spLocks/>
          </p:cNvSpPr>
          <p:nvPr/>
        </p:nvSpPr>
        <p:spPr bwMode="auto">
          <a:xfrm>
            <a:off x="8047039" y="2173288"/>
            <a:ext cx="941387" cy="766762"/>
          </a:xfrm>
          <a:custGeom>
            <a:avLst/>
            <a:gdLst>
              <a:gd name="T0" fmla="*/ 0 w 593"/>
              <a:gd name="T1" fmla="*/ 2147483646 h 483"/>
              <a:gd name="T2" fmla="*/ 2147483646 w 593"/>
              <a:gd name="T3" fmla="*/ 0 h 483"/>
              <a:gd name="T4" fmla="*/ 2147483646 w 593"/>
              <a:gd name="T5" fmla="*/ 2147483646 h 483"/>
              <a:gd name="T6" fmla="*/ 2147483646 w 593"/>
              <a:gd name="T7" fmla="*/ 2147483646 h 483"/>
              <a:gd name="T8" fmla="*/ 2147483646 w 593"/>
              <a:gd name="T9" fmla="*/ 2147483646 h 483"/>
              <a:gd name="T10" fmla="*/ 2147483646 w 593"/>
              <a:gd name="T11" fmla="*/ 2147483646 h 483"/>
              <a:gd name="T12" fmla="*/ 2147483646 w 593"/>
              <a:gd name="T13" fmla="*/ 2147483646 h 483"/>
              <a:gd name="T14" fmla="*/ 2147483646 w 593"/>
              <a:gd name="T15" fmla="*/ 2147483646 h 483"/>
              <a:gd name="T16" fmla="*/ 2147483646 w 593"/>
              <a:gd name="T17" fmla="*/ 2147483646 h 483"/>
              <a:gd name="T18" fmla="*/ 2147483646 w 593"/>
              <a:gd name="T19" fmla="*/ 2147483646 h 483"/>
              <a:gd name="T20" fmla="*/ 0 w 593"/>
              <a:gd name="T21" fmla="*/ 2147483646 h 48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3"/>
              <a:gd name="T34" fmla="*/ 0 h 483"/>
              <a:gd name="T35" fmla="*/ 593 w 593"/>
              <a:gd name="T36" fmla="*/ 483 h 48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3" h="483">
                <a:moveTo>
                  <a:pt x="0" y="34"/>
                </a:moveTo>
                <a:lnTo>
                  <a:pt x="200" y="0"/>
                </a:lnTo>
                <a:lnTo>
                  <a:pt x="159" y="58"/>
                </a:lnTo>
                <a:lnTo>
                  <a:pt x="515" y="306"/>
                </a:lnTo>
                <a:lnTo>
                  <a:pt x="555" y="248"/>
                </a:lnTo>
                <a:lnTo>
                  <a:pt x="592" y="448"/>
                </a:lnTo>
                <a:lnTo>
                  <a:pt x="392" y="482"/>
                </a:lnTo>
                <a:lnTo>
                  <a:pt x="433" y="424"/>
                </a:lnTo>
                <a:lnTo>
                  <a:pt x="77" y="176"/>
                </a:lnTo>
                <a:lnTo>
                  <a:pt x="37" y="234"/>
                </a:lnTo>
                <a:lnTo>
                  <a:pt x="0" y="34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17419" name="Group 14">
            <a:extLst>
              <a:ext uri="{FF2B5EF4-FFF2-40B4-BE49-F238E27FC236}">
                <a16:creationId xmlns:a16="http://schemas.microsoft.com/office/drawing/2014/main" id="{47E0107E-D442-90AE-9420-3594C749A214}"/>
              </a:ext>
            </a:extLst>
          </p:cNvPr>
          <p:cNvGrpSpPr>
            <a:grpSpLocks/>
          </p:cNvGrpSpPr>
          <p:nvPr/>
        </p:nvGrpSpPr>
        <p:grpSpPr bwMode="auto">
          <a:xfrm>
            <a:off x="8170864" y="3187701"/>
            <a:ext cx="1781175" cy="815975"/>
            <a:chOff x="4187" y="2008"/>
            <a:chExt cx="1122" cy="514"/>
          </a:xfrm>
        </p:grpSpPr>
        <p:pic>
          <p:nvPicPr>
            <p:cNvPr id="17426" name="Picture 15">
              <a:extLst>
                <a:ext uri="{FF2B5EF4-FFF2-40B4-BE49-F238E27FC236}">
                  <a16:creationId xmlns:a16="http://schemas.microsoft.com/office/drawing/2014/main" id="{C6B039AD-F53A-7317-9623-CFEA6A6FA84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7" y="2008"/>
              <a:ext cx="1122" cy="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7" name="Rectangle 16">
              <a:extLst>
                <a:ext uri="{FF2B5EF4-FFF2-40B4-BE49-F238E27FC236}">
                  <a16:creationId xmlns:a16="http://schemas.microsoft.com/office/drawing/2014/main" id="{EE85CAD8-AD5A-D47F-99AE-99076A3D3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2149"/>
              <a:ext cx="11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Unseen Data</a:t>
              </a:r>
            </a:p>
          </p:txBody>
        </p:sp>
      </p:grpSp>
      <p:sp>
        <p:nvSpPr>
          <p:cNvPr id="17420" name="Rectangle 17">
            <a:extLst>
              <a:ext uri="{FF2B5EF4-FFF2-40B4-BE49-F238E27FC236}">
                <a16:creationId xmlns:a16="http://schemas.microsoft.com/office/drawing/2014/main" id="{DE284480-8C48-0F36-879D-94291B47A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6512" y="4262439"/>
            <a:ext cx="2460353" cy="46230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(Jeff, Professor, 4)</a:t>
            </a:r>
          </a:p>
        </p:txBody>
      </p:sp>
      <p:sp>
        <p:nvSpPr>
          <p:cNvPr id="17421" name="Line 18">
            <a:extLst>
              <a:ext uri="{FF2B5EF4-FFF2-40B4-BE49-F238E27FC236}">
                <a16:creationId xmlns:a16="http://schemas.microsoft.com/office/drawing/2014/main" id="{C197A00C-A54C-1591-E36F-5CB3148FF3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1439" y="3903663"/>
            <a:ext cx="471487" cy="393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22" name="Line 19">
            <a:extLst>
              <a:ext uri="{FF2B5EF4-FFF2-40B4-BE49-F238E27FC236}">
                <a16:creationId xmlns:a16="http://schemas.microsoft.com/office/drawing/2014/main" id="{40A1C1FF-CD8A-8D73-C2C4-77E8F624F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72675" y="3903663"/>
            <a:ext cx="363538" cy="3492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23" name="Freeform 20">
            <a:extLst>
              <a:ext uri="{FF2B5EF4-FFF2-40B4-BE49-F238E27FC236}">
                <a16:creationId xmlns:a16="http://schemas.microsoft.com/office/drawing/2014/main" id="{F31D772C-339E-D001-39A2-D76D7B0358B5}"/>
              </a:ext>
            </a:extLst>
          </p:cNvPr>
          <p:cNvSpPr>
            <a:spLocks/>
          </p:cNvSpPr>
          <p:nvPr/>
        </p:nvSpPr>
        <p:spPr bwMode="auto">
          <a:xfrm>
            <a:off x="4884738" y="2032001"/>
            <a:ext cx="901700" cy="593725"/>
          </a:xfrm>
          <a:custGeom>
            <a:avLst/>
            <a:gdLst>
              <a:gd name="T0" fmla="*/ 2147483646 w 568"/>
              <a:gd name="T1" fmla="*/ 2147483646 h 374"/>
              <a:gd name="T2" fmla="*/ 2147483646 w 568"/>
              <a:gd name="T3" fmla="*/ 2147483646 h 374"/>
              <a:gd name="T4" fmla="*/ 2147483646 w 568"/>
              <a:gd name="T5" fmla="*/ 2147483646 h 374"/>
              <a:gd name="T6" fmla="*/ 2147483646 w 568"/>
              <a:gd name="T7" fmla="*/ 2147483646 h 374"/>
              <a:gd name="T8" fmla="*/ 2147483646 w 568"/>
              <a:gd name="T9" fmla="*/ 2147483646 h 374"/>
              <a:gd name="T10" fmla="*/ 0 w 568"/>
              <a:gd name="T11" fmla="*/ 2147483646 h 374"/>
              <a:gd name="T12" fmla="*/ 2147483646 w 568"/>
              <a:gd name="T13" fmla="*/ 2147483646 h 374"/>
              <a:gd name="T14" fmla="*/ 2147483646 w 568"/>
              <a:gd name="T15" fmla="*/ 2147483646 h 374"/>
              <a:gd name="T16" fmla="*/ 2147483646 w 568"/>
              <a:gd name="T17" fmla="*/ 2147483646 h 374"/>
              <a:gd name="T18" fmla="*/ 2147483646 w 568"/>
              <a:gd name="T19" fmla="*/ 0 h 374"/>
              <a:gd name="T20" fmla="*/ 2147483646 w 568"/>
              <a:gd name="T21" fmla="*/ 2147483646 h 37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68"/>
              <a:gd name="T34" fmla="*/ 0 h 374"/>
              <a:gd name="T35" fmla="*/ 568 w 568"/>
              <a:gd name="T36" fmla="*/ 374 h 37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68" h="374">
                <a:moveTo>
                  <a:pt x="567" y="59"/>
                </a:moveTo>
                <a:lnTo>
                  <a:pt x="503" y="220"/>
                </a:lnTo>
                <a:lnTo>
                  <a:pt x="478" y="165"/>
                </a:lnTo>
                <a:lnTo>
                  <a:pt x="138" y="318"/>
                </a:lnTo>
                <a:lnTo>
                  <a:pt x="163" y="373"/>
                </a:lnTo>
                <a:lnTo>
                  <a:pt x="0" y="314"/>
                </a:lnTo>
                <a:lnTo>
                  <a:pt x="64" y="153"/>
                </a:lnTo>
                <a:lnTo>
                  <a:pt x="89" y="208"/>
                </a:lnTo>
                <a:lnTo>
                  <a:pt x="429" y="55"/>
                </a:lnTo>
                <a:lnTo>
                  <a:pt x="404" y="0"/>
                </a:lnTo>
                <a:lnTo>
                  <a:pt x="567" y="59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pic>
        <p:nvPicPr>
          <p:cNvPr id="17424" name="Picture 21">
            <a:extLst>
              <a:ext uri="{FF2B5EF4-FFF2-40B4-BE49-F238E27FC236}">
                <a16:creationId xmlns:a16="http://schemas.microsoft.com/office/drawing/2014/main" id="{253869C5-99F3-4524-6A15-E721DFE58481}"/>
              </a:ext>
            </a:extLst>
          </p:cNvPr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014" y="5738813"/>
            <a:ext cx="7207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25" name="Rectangle 22">
            <a:extLst>
              <a:ext uri="{FF2B5EF4-FFF2-40B4-BE49-F238E27FC236}">
                <a16:creationId xmlns:a16="http://schemas.microsoft.com/office/drawing/2014/main" id="{76305C70-F133-E848-12B6-0A992660C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5414" y="4959351"/>
            <a:ext cx="1525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Tenured?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FED0-3555-2943-E75C-BCF62B61C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39598"/>
            <a:ext cx="7451771" cy="615553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Types of Classifications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4927F-FB52-C60A-03FE-721742AEF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500" y="969746"/>
            <a:ext cx="10795000" cy="276999"/>
          </a:xfrm>
        </p:spPr>
        <p:txBody>
          <a:bodyPr/>
          <a:lstStyle/>
          <a:p>
            <a:r>
              <a:rPr lang="en-GB" b="0" i="0" dirty="0">
                <a:solidFill>
                  <a:srgbClr val="2B2A29"/>
                </a:solidFill>
                <a:effectLst/>
                <a:latin typeface="montserrat" panose="00000500000000000000" pitchFamily="2" charset="0"/>
              </a:rPr>
              <a:t>There are two types of Classifications: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7241A-47D7-517D-4345-A7E7ECF3FB95}"/>
              </a:ext>
            </a:extLst>
          </p:cNvPr>
          <p:cNvSpPr txBox="1"/>
          <p:nvPr/>
        </p:nvSpPr>
        <p:spPr>
          <a:xfrm>
            <a:off x="1415480" y="1412777"/>
            <a:ext cx="10009112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1. </a:t>
            </a:r>
            <a:r>
              <a:rPr lang="en-GB" sz="2000" b="1" dirty="0"/>
              <a:t>Binary Classifier</a:t>
            </a:r>
            <a:r>
              <a:rPr lang="en-GB" sz="2000" dirty="0"/>
              <a:t>: If the classification problem has only two possible outcomes, then it is called as Binary Classifier.</a:t>
            </a:r>
          </a:p>
          <a:p>
            <a:pPr algn="just"/>
            <a:r>
              <a:rPr lang="en-GB" sz="2000" dirty="0"/>
              <a:t>Examples: YES or NO, MALE or FEMALE, SPAM or NOT SPAM, CAT or DOG, etc.</a:t>
            </a:r>
          </a:p>
          <a:p>
            <a:pPr algn="just"/>
            <a:endParaRPr lang="en-GB" sz="2000" dirty="0"/>
          </a:p>
          <a:p>
            <a:pPr algn="just"/>
            <a:r>
              <a:rPr lang="en-GB" sz="2000" dirty="0"/>
              <a:t>2. </a:t>
            </a:r>
            <a:r>
              <a:rPr lang="en-GB" sz="2000" b="1" dirty="0"/>
              <a:t>Multi-class Classifier</a:t>
            </a:r>
            <a:r>
              <a:rPr lang="en-GB" sz="2000" dirty="0"/>
              <a:t>: If a classification problem has more than two outcomes, then it is called as Multi-class Classifier.</a:t>
            </a:r>
          </a:p>
          <a:p>
            <a:pPr algn="just"/>
            <a:r>
              <a:rPr lang="en-GB" sz="2000" dirty="0"/>
              <a:t>Example: Classifications of types of crops, Classification of types of music.</a:t>
            </a:r>
          </a:p>
          <a:p>
            <a:pPr algn="just"/>
            <a:r>
              <a:rPr lang="en-GB" sz="2000" b="1" dirty="0"/>
              <a:t>Types of Models: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montserrat" panose="00000500000000000000" pitchFamily="2" charset="0"/>
              </a:rPr>
              <a:t>Linear Models</a:t>
            </a:r>
            <a:endParaRPr lang="en-IN" b="0" i="0" dirty="0">
              <a:effectLst/>
              <a:latin typeface="montserrat" panose="00000500000000000000" pitchFamily="2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montserrat" panose="00000500000000000000" pitchFamily="2" charset="0"/>
              </a:rPr>
              <a:t>Logistic Regression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montserrat" panose="00000500000000000000" pitchFamily="2" charset="0"/>
              </a:rPr>
              <a:t>Support Vector Machines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montserrat" panose="00000500000000000000" pitchFamily="2" charset="0"/>
              </a:rPr>
              <a:t>Non-linear Models</a:t>
            </a:r>
            <a:endParaRPr lang="en-IN" b="0" i="0" dirty="0">
              <a:effectLst/>
              <a:latin typeface="montserrat" panose="00000500000000000000" pitchFamily="2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montserrat" panose="00000500000000000000" pitchFamily="2" charset="0"/>
              </a:rPr>
              <a:t>K-Nearest Neighbours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montserrat" panose="00000500000000000000" pitchFamily="2" charset="0"/>
              </a:rPr>
              <a:t>Kernel SVM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montserrat" panose="00000500000000000000" pitchFamily="2" charset="0"/>
              </a:rPr>
              <a:t>Naive Bayes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montserrat" panose="00000500000000000000" pitchFamily="2" charset="0"/>
              </a:rPr>
              <a:t>Decision Tree Classification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montserrat" panose="00000500000000000000" pitchFamily="2" charset="0"/>
              </a:rPr>
              <a:t>Random Forest Classification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01221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314F-5322-4C8F-87E0-777BE2E7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6661"/>
            <a:ext cx="4270648" cy="1846659"/>
          </a:xfrm>
        </p:spPr>
        <p:txBody>
          <a:bodyPr/>
          <a:lstStyle/>
          <a:p>
            <a:pPr algn="just"/>
            <a:r>
              <a:rPr lang="en-GB" sz="4000" dirty="0">
                <a:solidFill>
                  <a:schemeClr val="tx1"/>
                </a:solidFill>
              </a:rPr>
              <a:t>Types of Learners</a:t>
            </a:r>
            <a:br>
              <a:rPr lang="en-GB" sz="4000" dirty="0">
                <a:solidFill>
                  <a:schemeClr val="tx1"/>
                </a:solidFill>
              </a:rPr>
            </a:br>
            <a:r>
              <a:rPr lang="en-GB" sz="4000" dirty="0">
                <a:solidFill>
                  <a:schemeClr val="tx1"/>
                </a:solidFill>
              </a:rPr>
              <a:t> </a:t>
            </a:r>
            <a:br>
              <a:rPr lang="en-GB" sz="4000" dirty="0">
                <a:solidFill>
                  <a:schemeClr val="tx1"/>
                </a:solidFill>
              </a:rPr>
            </a:b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493EB-D4B2-435C-B10A-CE80AF5BF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424" y="1712372"/>
            <a:ext cx="10657184" cy="3693319"/>
          </a:xfrm>
        </p:spPr>
        <p:txBody>
          <a:bodyPr/>
          <a:lstStyle/>
          <a:p>
            <a:pPr algn="just"/>
            <a:r>
              <a:rPr lang="en-GB" sz="2000" b="1" dirty="0"/>
              <a:t>Lazy Learners : 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GB" sz="2000" dirty="0"/>
              <a:t>Lazy learners simply store the training data and wait until a testing data appears. 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GB" sz="2000" dirty="0"/>
              <a:t>The classification is done using the most related data in the stored training data. 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GB" sz="2000" dirty="0"/>
              <a:t>They take more predicting time compared to eager learners. </a:t>
            </a:r>
          </a:p>
          <a:p>
            <a:pPr algn="just"/>
            <a:r>
              <a:rPr lang="en-GB" sz="2000" dirty="0"/>
              <a:t>	</a:t>
            </a:r>
            <a:r>
              <a:rPr lang="en-GB" sz="2000" dirty="0" err="1"/>
              <a:t>Eg</a:t>
            </a:r>
            <a:r>
              <a:rPr lang="en-GB" sz="2000" dirty="0"/>
              <a:t> – k-nearest neighbour, case-based reasoning. </a:t>
            </a:r>
          </a:p>
          <a:p>
            <a:pPr marL="400050" indent="-400050" algn="just">
              <a:buFont typeface="+mj-lt"/>
              <a:buAutoNum type="romanLcPeriod"/>
            </a:pPr>
            <a:endParaRPr lang="en-GB" sz="2000" dirty="0"/>
          </a:p>
          <a:p>
            <a:pPr algn="just"/>
            <a:r>
              <a:rPr lang="en-GB" sz="2000" b="1" dirty="0"/>
              <a:t>Eager Learners : 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GB" sz="2000" dirty="0"/>
              <a:t>Eager learners construct a classification model based on the given training data before getting data for predictions. 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GB" sz="2000" dirty="0"/>
              <a:t>It must be able to commit to a single hypothesis that will work for the entire space. </a:t>
            </a:r>
          </a:p>
          <a:p>
            <a:pPr marL="400050" indent="-400050" algn="just">
              <a:buFont typeface="+mj-lt"/>
              <a:buAutoNum type="romanLcPeriod"/>
            </a:pPr>
            <a:r>
              <a:rPr lang="en-GB" sz="2000" dirty="0"/>
              <a:t>Due to this, they take a lot of time in training and less time for a prediction. </a:t>
            </a:r>
          </a:p>
          <a:p>
            <a:pPr algn="just"/>
            <a:r>
              <a:rPr lang="en-GB" sz="2000" dirty="0"/>
              <a:t>	</a:t>
            </a:r>
            <a:r>
              <a:rPr lang="en-GB" sz="2000" dirty="0" err="1"/>
              <a:t>Eg</a:t>
            </a:r>
            <a:r>
              <a:rPr lang="en-GB" sz="2000" dirty="0"/>
              <a:t>– Decision Tree, Naive Bayes, Artificial Neural Networks.</a:t>
            </a: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125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EE9D5-7333-261B-00E8-D8F743BA0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0A82-2CFA-D246-5655-BE6FC69D2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" y="248935"/>
            <a:ext cx="10041430" cy="747364"/>
          </a:xfrm>
        </p:spPr>
        <p:txBody>
          <a:bodyPr/>
          <a:lstStyle/>
          <a:p>
            <a:pPr algn="just"/>
            <a:r>
              <a:rPr lang="en-GB" sz="4000" dirty="0">
                <a:solidFill>
                  <a:schemeClr val="tx1"/>
                </a:solidFill>
              </a:rPr>
              <a:t>Machine learning Algorithms: Parameters</a:t>
            </a:r>
            <a:br>
              <a:rPr lang="en-GB" sz="4000" dirty="0">
                <a:solidFill>
                  <a:schemeClr val="tx1"/>
                </a:solidFill>
              </a:rPr>
            </a:b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448EBF-0B3D-472E-81F3-8219AB5CE21B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FD1EC0-D255-7878-3E23-0BDA014ED1EF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38CA047-7B6A-105D-B6AA-3116EC7BA35E}"/>
              </a:ext>
            </a:extLst>
          </p:cNvPr>
          <p:cNvSpPr txBox="1"/>
          <p:nvPr/>
        </p:nvSpPr>
        <p:spPr>
          <a:xfrm>
            <a:off x="1199456" y="1499117"/>
            <a:ext cx="1036915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42424"/>
                </a:solidFill>
                <a:effectLst/>
                <a:latin typeface="source-serif-pro"/>
              </a:rPr>
              <a:t>Machine learning algorithms are classified into two distinct groups: </a:t>
            </a:r>
          </a:p>
          <a:p>
            <a:r>
              <a:rPr lang="en-GB" b="1" i="0" u="sng" dirty="0">
                <a:effectLst/>
                <a:latin typeface="source-serif-pro"/>
                <a:hlinkClick r:id="rId2"/>
              </a:rPr>
              <a:t>parametric </a:t>
            </a:r>
            <a:r>
              <a:rPr lang="en-GB" b="0" i="0" u="sng" dirty="0">
                <a:effectLst/>
                <a:latin typeface="source-serif-pro"/>
                <a:hlinkClick r:id="rId2"/>
              </a:rPr>
              <a:t>and</a:t>
            </a:r>
            <a:r>
              <a:rPr lang="en-GB" b="1" i="0" u="sng" dirty="0">
                <a:effectLst/>
                <a:latin typeface="source-serif-pro"/>
                <a:hlinkClick r:id="rId2"/>
              </a:rPr>
              <a:t> </a:t>
            </a:r>
          </a:p>
          <a:p>
            <a:r>
              <a:rPr lang="en-GB" b="1" i="0" u="sng" dirty="0">
                <a:effectLst/>
                <a:latin typeface="source-serif-pro"/>
                <a:hlinkClick r:id="rId2"/>
              </a:rPr>
              <a:t>nonparametric models.</a:t>
            </a:r>
            <a:endParaRPr lang="en-GB" b="1" i="0" u="sng" dirty="0">
              <a:effectLst/>
              <a:latin typeface="source-serif-pro"/>
            </a:endParaRPr>
          </a:p>
          <a:p>
            <a:endParaRPr lang="en-GB" b="1" u="sng" dirty="0">
              <a:latin typeface="source-serif-pro"/>
            </a:endParaRPr>
          </a:p>
          <a:p>
            <a:r>
              <a:rPr lang="en-GB" b="1" dirty="0"/>
              <a:t>Parametric: </a:t>
            </a:r>
            <a:r>
              <a:rPr lang="en-GB" dirty="0"/>
              <a:t>A learning model that summarizes data with a set of fixed-size parameters. Ex: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Linear Discriminant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Perceptron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Naive Bayes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Simple Neural Networks</a:t>
            </a:r>
          </a:p>
          <a:p>
            <a:endParaRPr lang="en-GB" dirty="0"/>
          </a:p>
          <a:p>
            <a:r>
              <a:rPr lang="en-GB" b="1" dirty="0"/>
              <a:t>Non- Parametric: </a:t>
            </a:r>
            <a:r>
              <a:rPr lang="en-GB" dirty="0"/>
              <a:t>Nonparametric machine learning algorithms are those which do not make specific assumptions about the type of the mapping function.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k-Nearest </a:t>
            </a:r>
            <a:r>
              <a:rPr lang="en-GB" dirty="0" err="1"/>
              <a:t>Neighbors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Decision Trees like CART and C4.5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Support Vector Machines</a:t>
            </a: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5657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A829D3-BD7A-FAEF-AA63-A0DE73AD797D}"/>
              </a:ext>
            </a:extLst>
          </p:cNvPr>
          <p:cNvSpPr txBox="1"/>
          <p:nvPr/>
        </p:nvSpPr>
        <p:spPr>
          <a:xfrm>
            <a:off x="1487488" y="2060848"/>
            <a:ext cx="92170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i="0" dirty="0">
                <a:solidFill>
                  <a:srgbClr val="242424"/>
                </a:solidFill>
                <a:effectLst/>
                <a:latin typeface="source-serif-pro"/>
              </a:rPr>
              <a:t>In 1951, Evelyn Fix and Joseph Hodges developed a non-parametric method for pattern classification, which was later expanded by Thomas Cover. Later on, this came to be known as the K-Nearest </a:t>
            </a:r>
            <a:r>
              <a:rPr lang="en-GB" sz="2400" b="1" i="0" dirty="0" err="1">
                <a:solidFill>
                  <a:srgbClr val="242424"/>
                </a:solidFill>
                <a:effectLst/>
                <a:latin typeface="source-serif-pro"/>
              </a:rPr>
              <a:t>Neighbor</a:t>
            </a:r>
            <a:r>
              <a:rPr lang="en-GB" sz="2400" b="1" i="0" dirty="0">
                <a:solidFill>
                  <a:srgbClr val="242424"/>
                </a:solidFill>
                <a:effectLst/>
                <a:latin typeface="source-serif-pro"/>
              </a:rPr>
              <a:t> algorithm. It is one of the simplest supervised machine learning algorithms used for classification and regression.</a:t>
            </a:r>
            <a:endParaRPr lang="en-IN" sz="24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7316EF-6757-4619-094F-0813E039B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76" y="416150"/>
            <a:ext cx="9217023" cy="492443"/>
          </a:xfrm>
        </p:spPr>
        <p:txBody>
          <a:bodyPr/>
          <a:lstStyle/>
          <a:p>
            <a:r>
              <a:rPr lang="en-GB" sz="3200" b="1" i="0" dirty="0">
                <a:solidFill>
                  <a:srgbClr val="242424"/>
                </a:solidFill>
                <a:effectLst/>
                <a:latin typeface="source-serif-pro"/>
              </a:rPr>
              <a:t>K-Nearest </a:t>
            </a:r>
            <a:r>
              <a:rPr lang="en-GB" sz="3200" b="1" i="0" dirty="0" err="1">
                <a:solidFill>
                  <a:srgbClr val="242424"/>
                </a:solidFill>
                <a:effectLst/>
                <a:latin typeface="source-serif-pro"/>
              </a:rPr>
              <a:t>Neighbor</a:t>
            </a:r>
            <a:r>
              <a:rPr lang="en-GB" sz="3200" b="1" dirty="0">
                <a:solidFill>
                  <a:schemeClr val="tx1"/>
                </a:solidFill>
              </a:rPr>
              <a:t> Classifier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61116-9B37-26A2-5D37-F043CB30F07F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D3729CA-B6C5-F09A-C308-4C862886991F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213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26F6-60A5-46C1-B168-380642E53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77" y="416150"/>
            <a:ext cx="5611748" cy="615553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K-NN Classifier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EBFE9-1CB4-4C78-B695-FF033BF28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9225" y="1736541"/>
            <a:ext cx="10801200" cy="4062651"/>
          </a:xfrm>
        </p:spPr>
        <p:txBody>
          <a:bodyPr/>
          <a:lstStyle/>
          <a:p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K-nearest neighbours (KNN) algorithm is a type of supervised ML algorithm.</a:t>
            </a:r>
          </a:p>
          <a:p>
            <a:pPr algn="just"/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It is used for both classification as well as regression predictive problems.</a:t>
            </a:r>
          </a:p>
          <a:p>
            <a:endParaRPr lang="en-GB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KNN is a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0000"/>
                </a:solidFill>
                <a:latin typeface="Arial" panose="020B0604020202020204" pitchFamily="34" charset="0"/>
              </a:rPr>
              <a:t>Lazy learning algorithm</a:t>
            </a:r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 − KNN is a lazy learning algorithm because it does not have a specialized training phase and uses all the data for training while classification.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0000"/>
                </a:solidFill>
                <a:latin typeface="Arial" panose="020B0604020202020204" pitchFamily="34" charset="0"/>
              </a:rPr>
              <a:t>Non-parametric learning algorithm</a:t>
            </a:r>
            <a:r>
              <a:rPr lang="en-GB" sz="2400" dirty="0">
                <a:solidFill>
                  <a:srgbClr val="000000"/>
                </a:solidFill>
                <a:latin typeface="Arial" panose="020B0604020202020204" pitchFamily="34" charset="0"/>
              </a:rPr>
              <a:t> − KNN is also a non-parametric learning algorithm because it doesn’t assume anything about the underlying data.</a:t>
            </a:r>
          </a:p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156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304800"/>
            <a:ext cx="37223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What is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k-</a:t>
            </a:r>
            <a:r>
              <a:rPr spc="-20" dirty="0">
                <a:solidFill>
                  <a:schemeClr val="tx1"/>
                </a:solidFill>
              </a:rPr>
              <a:t> </a:t>
            </a:r>
            <a:r>
              <a:rPr spc="-10" dirty="0">
                <a:solidFill>
                  <a:schemeClr val="tx1"/>
                </a:solidFill>
              </a:rPr>
              <a:t>NN??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384" y="1555615"/>
            <a:ext cx="6552728" cy="43685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Nearest-neighbor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classifiers</a:t>
            </a:r>
            <a:r>
              <a:rPr sz="2600" dirty="0">
                <a:latin typeface="Arial MT"/>
                <a:cs typeface="Arial MT"/>
              </a:rPr>
              <a:t> are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based</a:t>
            </a:r>
            <a:r>
              <a:rPr sz="2600" spc="7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on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learning by comparing a given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test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tuple</a:t>
            </a:r>
            <a:r>
              <a:rPr sz="2600" spc="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with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training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tuples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that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are similar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to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it.</a:t>
            </a:r>
            <a:endParaRPr sz="2600" dirty="0">
              <a:latin typeface="Arial MT"/>
              <a:cs typeface="Arial MT"/>
            </a:endParaRPr>
          </a:p>
          <a:p>
            <a:pPr>
              <a:spcBef>
                <a:spcPts val="5"/>
              </a:spcBef>
              <a:buClr>
                <a:srgbClr val="D24717"/>
              </a:buClr>
              <a:buFont typeface="Segoe UI Symbol"/>
              <a:buChar char="⚫"/>
            </a:pPr>
            <a:endParaRPr sz="3750" dirty="0">
              <a:latin typeface="Arial MT"/>
              <a:cs typeface="Arial MT"/>
            </a:endParaRPr>
          </a:p>
          <a:p>
            <a:pPr marL="286385" indent="-274320">
              <a:spcBef>
                <a:spcPts val="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training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tuples are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described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by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attributes.</a:t>
            </a:r>
          </a:p>
          <a:p>
            <a:pPr>
              <a:spcBef>
                <a:spcPts val="5"/>
              </a:spcBef>
              <a:buClr>
                <a:srgbClr val="D24717"/>
              </a:buClr>
              <a:buFont typeface="Segoe UI Symbol"/>
              <a:buChar char="⚫"/>
            </a:pPr>
            <a:endParaRPr sz="3750" dirty="0">
              <a:latin typeface="Arial MT"/>
              <a:cs typeface="Arial MT"/>
            </a:endParaRPr>
          </a:p>
          <a:p>
            <a:pPr marL="286385" marR="6985" indent="-274320" algn="just">
              <a:spcBef>
                <a:spcPts val="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When k = 1, the unknown </a:t>
            </a:r>
            <a:r>
              <a:rPr sz="2600" spc="-5" dirty="0">
                <a:latin typeface="Arial MT"/>
                <a:cs typeface="Arial MT"/>
              </a:rPr>
              <a:t>tuple is </a:t>
            </a:r>
            <a:r>
              <a:rPr sz="2600" dirty="0">
                <a:latin typeface="Arial MT"/>
                <a:cs typeface="Arial MT"/>
              </a:rPr>
              <a:t>assigned the 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class of the training tuple that </a:t>
            </a:r>
            <a:r>
              <a:rPr sz="2600" spc="-5" dirty="0">
                <a:latin typeface="Arial MT"/>
                <a:cs typeface="Arial MT"/>
              </a:rPr>
              <a:t>is </a:t>
            </a:r>
            <a:r>
              <a:rPr sz="2600" dirty="0">
                <a:latin typeface="Arial MT"/>
                <a:cs typeface="Arial MT"/>
              </a:rPr>
              <a:t>closest </a:t>
            </a:r>
            <a:r>
              <a:rPr sz="2600" spc="-5" dirty="0">
                <a:latin typeface="Arial MT"/>
                <a:cs typeface="Arial MT"/>
              </a:rPr>
              <a:t>to </a:t>
            </a:r>
            <a:r>
              <a:rPr sz="2600" dirty="0">
                <a:latin typeface="Arial MT"/>
                <a:cs typeface="Arial MT"/>
              </a:rPr>
              <a:t>it </a:t>
            </a:r>
            <a:r>
              <a:rPr sz="2600" spc="-5" dirty="0">
                <a:latin typeface="Arial MT"/>
                <a:cs typeface="Arial MT"/>
              </a:rPr>
              <a:t>in </a:t>
            </a:r>
            <a:r>
              <a:rPr sz="2600" dirty="0">
                <a:latin typeface="Arial MT"/>
                <a:cs typeface="Arial MT"/>
              </a:rPr>
              <a:t> pattern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5" dirty="0">
                <a:latin typeface="Arial MT"/>
                <a:cs typeface="Arial MT"/>
              </a:rPr>
              <a:t>space.</a:t>
            </a:r>
            <a:endParaRPr sz="2600" dirty="0">
              <a:latin typeface="Arial MT"/>
              <a:cs typeface="Arial M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4232" y="1916832"/>
            <a:ext cx="3630167" cy="4572000"/>
          </a:xfrm>
          <a:prstGeom prst="rect">
            <a:avLst/>
          </a:prstGeom>
        </p:spPr>
      </p:pic>
      <p:sp>
        <p:nvSpPr>
          <p:cNvPr id="7" name="object 2"/>
          <p:cNvSpPr txBox="1">
            <a:spLocks/>
          </p:cNvSpPr>
          <p:nvPr/>
        </p:nvSpPr>
        <p:spPr>
          <a:xfrm>
            <a:off x="7384976" y="1238115"/>
            <a:ext cx="44589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4000" b="0" i="0">
                <a:solidFill>
                  <a:srgbClr val="696363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GB" kern="0" spc="-5">
                <a:solidFill>
                  <a:schemeClr val="tx1"/>
                </a:solidFill>
              </a:rPr>
              <a:t>When</a:t>
            </a:r>
            <a:r>
              <a:rPr lang="en-GB" kern="0" spc="-10">
                <a:solidFill>
                  <a:schemeClr val="tx1"/>
                </a:solidFill>
              </a:rPr>
              <a:t> </a:t>
            </a:r>
            <a:r>
              <a:rPr lang="en-GB" kern="0" spc="-5">
                <a:solidFill>
                  <a:schemeClr val="tx1"/>
                </a:solidFill>
              </a:rPr>
              <a:t>k=3</a:t>
            </a:r>
            <a:r>
              <a:rPr lang="en-GB" kern="0" spc="-25">
                <a:solidFill>
                  <a:schemeClr val="tx1"/>
                </a:solidFill>
              </a:rPr>
              <a:t> </a:t>
            </a:r>
            <a:r>
              <a:rPr lang="en-GB" kern="0" spc="-5">
                <a:solidFill>
                  <a:schemeClr val="tx1"/>
                </a:solidFill>
              </a:rPr>
              <a:t>or k=5??</a:t>
            </a:r>
            <a:endParaRPr lang="en-GB" kern="0" spc="-5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368" y="392470"/>
            <a:ext cx="43719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Distance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Measures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2340" y="4354449"/>
            <a:ext cx="74237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Which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distance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measure</a:t>
            </a:r>
            <a:r>
              <a:rPr sz="24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use?</a:t>
            </a:r>
            <a:endParaRPr sz="2400">
              <a:latin typeface="Arial"/>
              <a:cs typeface="Arial"/>
            </a:endParaRPr>
          </a:p>
          <a:p>
            <a:pPr marL="12700" marR="5080"/>
            <a:r>
              <a:rPr sz="2400" spc="-25" dirty="0">
                <a:latin typeface="Arial MT"/>
                <a:cs typeface="Arial MT"/>
              </a:rPr>
              <a:t>We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Euclidean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Distance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treats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each </a:t>
            </a:r>
            <a:r>
              <a:rPr sz="2400" dirty="0">
                <a:latin typeface="Arial MT"/>
                <a:cs typeface="Arial MT"/>
              </a:rPr>
              <a:t>feature </a:t>
            </a:r>
            <a:r>
              <a:rPr sz="2400" spc="-10" dirty="0">
                <a:latin typeface="Arial MT"/>
                <a:cs typeface="Arial MT"/>
              </a:rPr>
              <a:t>as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equally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69991" y="1638554"/>
            <a:ext cx="497205" cy="212090"/>
          </a:xfrm>
          <a:custGeom>
            <a:avLst/>
            <a:gdLst/>
            <a:ahLst/>
            <a:cxnLst/>
            <a:rect l="l" t="t" r="r" b="b"/>
            <a:pathLst>
              <a:path w="497204" h="212089">
                <a:moveTo>
                  <a:pt x="429133" y="0"/>
                </a:moveTo>
                <a:lnTo>
                  <a:pt x="426085" y="8636"/>
                </a:lnTo>
                <a:lnTo>
                  <a:pt x="438370" y="13946"/>
                </a:lnTo>
                <a:lnTo>
                  <a:pt x="448929" y="21304"/>
                </a:lnTo>
                <a:lnTo>
                  <a:pt x="470320" y="55429"/>
                </a:lnTo>
                <a:lnTo>
                  <a:pt x="477393" y="104775"/>
                </a:lnTo>
                <a:lnTo>
                  <a:pt x="476607" y="123444"/>
                </a:lnTo>
                <a:lnTo>
                  <a:pt x="464820" y="169163"/>
                </a:lnTo>
                <a:lnTo>
                  <a:pt x="438513" y="197792"/>
                </a:lnTo>
                <a:lnTo>
                  <a:pt x="426465" y="203200"/>
                </a:lnTo>
                <a:lnTo>
                  <a:pt x="429133" y="211709"/>
                </a:lnTo>
                <a:lnTo>
                  <a:pt x="469602" y="187705"/>
                </a:lnTo>
                <a:lnTo>
                  <a:pt x="492331" y="143335"/>
                </a:lnTo>
                <a:lnTo>
                  <a:pt x="496697" y="105918"/>
                </a:lnTo>
                <a:lnTo>
                  <a:pt x="495601" y="86536"/>
                </a:lnTo>
                <a:lnTo>
                  <a:pt x="479171" y="37084"/>
                </a:lnTo>
                <a:lnTo>
                  <a:pt x="444488" y="5544"/>
                </a:lnTo>
                <a:lnTo>
                  <a:pt x="429133" y="0"/>
                </a:lnTo>
                <a:close/>
              </a:path>
              <a:path w="497204" h="212089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200"/>
                </a:lnTo>
                <a:lnTo>
                  <a:pt x="58183" y="197792"/>
                </a:lnTo>
                <a:lnTo>
                  <a:pt x="47767" y="190325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946"/>
                </a:lnTo>
                <a:lnTo>
                  <a:pt x="70612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85946" y="1567941"/>
            <a:ext cx="2814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Cambria Math"/>
                <a:cs typeface="Cambria Math"/>
              </a:rPr>
              <a:t>𝐸𝑢𝑐𝑙𝑖𝑑𝑒𝑎𝑛</a:t>
            </a:r>
            <a:r>
              <a:rPr spc="25" dirty="0">
                <a:latin typeface="Cambria Math"/>
                <a:cs typeface="Cambria Math"/>
              </a:rPr>
              <a:t> </a:t>
            </a:r>
            <a:r>
              <a:rPr spc="-5" dirty="0">
                <a:latin typeface="Cambria Math"/>
                <a:cs typeface="Cambria Math"/>
              </a:rPr>
              <a:t>𝑑𝑖𝑠𝑡𝑎𝑛𝑐𝑒</a:t>
            </a:r>
            <a:r>
              <a:rPr spc="13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∶</a:t>
            </a:r>
            <a:r>
              <a:rPr spc="50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𝑑</a:t>
            </a:r>
            <a:r>
              <a:rPr spc="385" dirty="0">
                <a:latin typeface="Cambria Math"/>
                <a:cs typeface="Cambria Math"/>
              </a:rPr>
              <a:t> </a:t>
            </a:r>
            <a:r>
              <a:rPr spc="30" dirty="0">
                <a:latin typeface="Cambria Math"/>
                <a:cs typeface="Cambria Math"/>
              </a:rPr>
              <a:t>𝑥,</a:t>
            </a:r>
            <a:r>
              <a:rPr spc="-10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𝑦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39305" y="1388237"/>
            <a:ext cx="1457960" cy="762635"/>
          </a:xfrm>
          <a:custGeom>
            <a:avLst/>
            <a:gdLst/>
            <a:ahLst/>
            <a:cxnLst/>
            <a:rect l="l" t="t" r="r" b="b"/>
            <a:pathLst>
              <a:path w="1457959" h="762635">
                <a:moveTo>
                  <a:pt x="565277" y="258953"/>
                </a:moveTo>
                <a:lnTo>
                  <a:pt x="562229" y="250317"/>
                </a:lnTo>
                <a:lnTo>
                  <a:pt x="546862" y="255866"/>
                </a:lnTo>
                <a:lnTo>
                  <a:pt x="533400" y="263906"/>
                </a:lnTo>
                <a:lnTo>
                  <a:pt x="504520" y="302425"/>
                </a:lnTo>
                <a:lnTo>
                  <a:pt x="494665" y="356235"/>
                </a:lnTo>
                <a:lnTo>
                  <a:pt x="495757" y="375691"/>
                </a:lnTo>
                <a:lnTo>
                  <a:pt x="512064" y="425069"/>
                </a:lnTo>
                <a:lnTo>
                  <a:pt x="546811" y="456501"/>
                </a:lnTo>
                <a:lnTo>
                  <a:pt x="562229" y="462026"/>
                </a:lnTo>
                <a:lnTo>
                  <a:pt x="564896" y="453517"/>
                </a:lnTo>
                <a:lnTo>
                  <a:pt x="552843" y="448119"/>
                </a:lnTo>
                <a:lnTo>
                  <a:pt x="542429" y="440651"/>
                </a:lnTo>
                <a:lnTo>
                  <a:pt x="521030" y="405955"/>
                </a:lnTo>
                <a:lnTo>
                  <a:pt x="513969" y="355092"/>
                </a:lnTo>
                <a:lnTo>
                  <a:pt x="514743" y="337045"/>
                </a:lnTo>
                <a:lnTo>
                  <a:pt x="526542" y="292481"/>
                </a:lnTo>
                <a:lnTo>
                  <a:pt x="553059" y="264274"/>
                </a:lnTo>
                <a:lnTo>
                  <a:pt x="565277" y="258953"/>
                </a:lnTo>
                <a:close/>
              </a:path>
              <a:path w="1457959" h="762635">
                <a:moveTo>
                  <a:pt x="1354074" y="356235"/>
                </a:moveTo>
                <a:lnTo>
                  <a:pt x="1344206" y="302425"/>
                </a:lnTo>
                <a:lnTo>
                  <a:pt x="1315339" y="263918"/>
                </a:lnTo>
                <a:lnTo>
                  <a:pt x="1286510" y="250317"/>
                </a:lnTo>
                <a:lnTo>
                  <a:pt x="1283462" y="258953"/>
                </a:lnTo>
                <a:lnTo>
                  <a:pt x="1295742" y="264274"/>
                </a:lnTo>
                <a:lnTo>
                  <a:pt x="1306296" y="271627"/>
                </a:lnTo>
                <a:lnTo>
                  <a:pt x="1327696" y="305752"/>
                </a:lnTo>
                <a:lnTo>
                  <a:pt x="1334770" y="355092"/>
                </a:lnTo>
                <a:lnTo>
                  <a:pt x="1333982" y="373761"/>
                </a:lnTo>
                <a:lnTo>
                  <a:pt x="1322197" y="419481"/>
                </a:lnTo>
                <a:lnTo>
                  <a:pt x="1295882" y="448119"/>
                </a:lnTo>
                <a:lnTo>
                  <a:pt x="1283843" y="453517"/>
                </a:lnTo>
                <a:lnTo>
                  <a:pt x="1286510" y="462026"/>
                </a:lnTo>
                <a:lnTo>
                  <a:pt x="1326972" y="438023"/>
                </a:lnTo>
                <a:lnTo>
                  <a:pt x="1349705" y="393661"/>
                </a:lnTo>
                <a:lnTo>
                  <a:pt x="1352969" y="375691"/>
                </a:lnTo>
                <a:lnTo>
                  <a:pt x="1354074" y="356235"/>
                </a:lnTo>
                <a:close/>
              </a:path>
              <a:path w="1457959" h="762635">
                <a:moveTo>
                  <a:pt x="1457579" y="127"/>
                </a:moveTo>
                <a:lnTo>
                  <a:pt x="144399" y="0"/>
                </a:lnTo>
                <a:lnTo>
                  <a:pt x="97028" y="718439"/>
                </a:lnTo>
                <a:lnTo>
                  <a:pt x="40132" y="613029"/>
                </a:lnTo>
                <a:lnTo>
                  <a:pt x="0" y="634365"/>
                </a:lnTo>
                <a:lnTo>
                  <a:pt x="4318" y="642366"/>
                </a:lnTo>
                <a:lnTo>
                  <a:pt x="25400" y="631063"/>
                </a:lnTo>
                <a:lnTo>
                  <a:pt x="96647" y="762254"/>
                </a:lnTo>
                <a:lnTo>
                  <a:pt x="107061" y="762254"/>
                </a:lnTo>
                <a:lnTo>
                  <a:pt x="156972" y="14859"/>
                </a:lnTo>
                <a:lnTo>
                  <a:pt x="171323" y="14859"/>
                </a:lnTo>
                <a:lnTo>
                  <a:pt x="171323" y="15367"/>
                </a:lnTo>
                <a:lnTo>
                  <a:pt x="1457579" y="15367"/>
                </a:lnTo>
                <a:lnTo>
                  <a:pt x="1457579" y="1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13170" y="1567941"/>
            <a:ext cx="1649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497840" algn="l"/>
              </a:tabLst>
            </a:pPr>
            <a:r>
              <a:rPr dirty="0">
                <a:latin typeface="Cambria Math"/>
                <a:cs typeface="Cambria Math"/>
              </a:rPr>
              <a:t>=	</a:t>
            </a:r>
            <a:r>
              <a:rPr spc="1110" dirty="0">
                <a:latin typeface="Cambria Math"/>
                <a:cs typeface="Cambria Math"/>
              </a:rPr>
              <a:t>∑</a:t>
            </a:r>
            <a:r>
              <a:rPr spc="31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𝑥</a:t>
            </a:r>
            <a:r>
              <a:rPr baseline="-20833" dirty="0">
                <a:latin typeface="Cambria Math"/>
                <a:cs typeface="Cambria Math"/>
              </a:rPr>
              <a:t>𝑖</a:t>
            </a:r>
            <a:r>
              <a:rPr spc="442" baseline="-20833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−</a:t>
            </a:r>
            <a:r>
              <a:rPr spc="-1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𝑦𝑖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01254" y="1575561"/>
            <a:ext cx="1098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2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37859" y="2467355"/>
            <a:ext cx="497205" cy="212090"/>
          </a:xfrm>
          <a:custGeom>
            <a:avLst/>
            <a:gdLst/>
            <a:ahLst/>
            <a:cxnLst/>
            <a:rect l="l" t="t" r="r" b="b"/>
            <a:pathLst>
              <a:path w="497204" h="212089">
                <a:moveTo>
                  <a:pt x="429132" y="0"/>
                </a:moveTo>
                <a:lnTo>
                  <a:pt x="426084" y="8509"/>
                </a:lnTo>
                <a:lnTo>
                  <a:pt x="438370" y="13819"/>
                </a:lnTo>
                <a:lnTo>
                  <a:pt x="448929" y="21177"/>
                </a:lnTo>
                <a:lnTo>
                  <a:pt x="470320" y="55322"/>
                </a:lnTo>
                <a:lnTo>
                  <a:pt x="477392" y="104775"/>
                </a:lnTo>
                <a:lnTo>
                  <a:pt x="476607" y="123444"/>
                </a:lnTo>
                <a:lnTo>
                  <a:pt x="464819" y="169164"/>
                </a:lnTo>
                <a:lnTo>
                  <a:pt x="438513" y="197738"/>
                </a:lnTo>
                <a:lnTo>
                  <a:pt x="426465" y="203073"/>
                </a:lnTo>
                <a:lnTo>
                  <a:pt x="429132" y="211709"/>
                </a:lnTo>
                <a:lnTo>
                  <a:pt x="469602" y="187706"/>
                </a:lnTo>
                <a:lnTo>
                  <a:pt x="492331" y="143287"/>
                </a:lnTo>
                <a:lnTo>
                  <a:pt x="496696" y="105918"/>
                </a:lnTo>
                <a:lnTo>
                  <a:pt x="495601" y="86483"/>
                </a:lnTo>
                <a:lnTo>
                  <a:pt x="479170" y="37084"/>
                </a:lnTo>
                <a:lnTo>
                  <a:pt x="444488" y="5526"/>
                </a:lnTo>
                <a:lnTo>
                  <a:pt x="429132" y="0"/>
                </a:lnTo>
                <a:close/>
              </a:path>
              <a:path w="497204" h="212089">
                <a:moveTo>
                  <a:pt x="67563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0" y="105918"/>
                </a:lnTo>
                <a:lnTo>
                  <a:pt x="1093" y="125352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03"/>
                </a:lnTo>
                <a:lnTo>
                  <a:pt x="31876" y="42037"/>
                </a:lnTo>
                <a:lnTo>
                  <a:pt x="58398" y="13819"/>
                </a:lnTo>
                <a:lnTo>
                  <a:pt x="70612" y="8509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39414" y="2396997"/>
            <a:ext cx="37293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Cambria Math"/>
                <a:cs typeface="Cambria Math"/>
              </a:rPr>
              <a:t>𝑆𝑞𝑢𝑎𝑟𝑒𝑑</a:t>
            </a:r>
            <a:r>
              <a:rPr spc="55" dirty="0">
                <a:latin typeface="Cambria Math"/>
                <a:cs typeface="Cambria Math"/>
              </a:rPr>
              <a:t> </a:t>
            </a:r>
            <a:r>
              <a:rPr spc="-5" dirty="0">
                <a:latin typeface="Cambria Math"/>
                <a:cs typeface="Cambria Math"/>
              </a:rPr>
              <a:t>𝐸𝑢𝑐𝑙𝑖𝑑𝑒𝑎𝑛</a:t>
            </a:r>
            <a:r>
              <a:rPr spc="25" dirty="0">
                <a:latin typeface="Cambria Math"/>
                <a:cs typeface="Cambria Math"/>
              </a:rPr>
              <a:t> </a:t>
            </a:r>
            <a:r>
              <a:rPr spc="-5" dirty="0">
                <a:latin typeface="Cambria Math"/>
                <a:cs typeface="Cambria Math"/>
              </a:rPr>
              <a:t>𝑑𝑖𝑠𝑡𝑎𝑛𝑐𝑒</a:t>
            </a:r>
            <a:r>
              <a:rPr spc="13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∶</a:t>
            </a:r>
            <a:r>
              <a:rPr spc="49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𝑑</a:t>
            </a:r>
            <a:r>
              <a:rPr spc="390" dirty="0">
                <a:latin typeface="Cambria Math"/>
                <a:cs typeface="Cambria Math"/>
              </a:rPr>
              <a:t> </a:t>
            </a:r>
            <a:r>
              <a:rPr spc="30" dirty="0">
                <a:latin typeface="Cambria Math"/>
                <a:cs typeface="Cambria Math"/>
              </a:rPr>
              <a:t>𝑥,</a:t>
            </a:r>
            <a:r>
              <a:rPr spc="-10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𝑦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26578" y="2467355"/>
            <a:ext cx="859790" cy="212090"/>
          </a:xfrm>
          <a:custGeom>
            <a:avLst/>
            <a:gdLst/>
            <a:ahLst/>
            <a:cxnLst/>
            <a:rect l="l" t="t" r="r" b="b"/>
            <a:pathLst>
              <a:path w="859790" h="212089">
                <a:moveTo>
                  <a:pt x="791845" y="0"/>
                </a:moveTo>
                <a:lnTo>
                  <a:pt x="788797" y="8509"/>
                </a:lnTo>
                <a:lnTo>
                  <a:pt x="801082" y="13819"/>
                </a:lnTo>
                <a:lnTo>
                  <a:pt x="811641" y="21177"/>
                </a:lnTo>
                <a:lnTo>
                  <a:pt x="833032" y="55322"/>
                </a:lnTo>
                <a:lnTo>
                  <a:pt x="840104" y="104775"/>
                </a:lnTo>
                <a:lnTo>
                  <a:pt x="839319" y="123444"/>
                </a:lnTo>
                <a:lnTo>
                  <a:pt x="827531" y="169164"/>
                </a:lnTo>
                <a:lnTo>
                  <a:pt x="801225" y="197738"/>
                </a:lnTo>
                <a:lnTo>
                  <a:pt x="789177" y="203073"/>
                </a:lnTo>
                <a:lnTo>
                  <a:pt x="791845" y="211709"/>
                </a:lnTo>
                <a:lnTo>
                  <a:pt x="832314" y="187706"/>
                </a:lnTo>
                <a:lnTo>
                  <a:pt x="855043" y="143287"/>
                </a:lnTo>
                <a:lnTo>
                  <a:pt x="859408" y="105918"/>
                </a:lnTo>
                <a:lnTo>
                  <a:pt x="858313" y="86483"/>
                </a:lnTo>
                <a:lnTo>
                  <a:pt x="841882" y="37084"/>
                </a:lnTo>
                <a:lnTo>
                  <a:pt x="807200" y="5526"/>
                </a:lnTo>
                <a:lnTo>
                  <a:pt x="791845" y="0"/>
                </a:lnTo>
                <a:close/>
              </a:path>
              <a:path w="859790" h="212089">
                <a:moveTo>
                  <a:pt x="67563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0" y="105918"/>
                </a:lnTo>
                <a:lnTo>
                  <a:pt x="1093" y="125352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1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03"/>
                </a:lnTo>
                <a:lnTo>
                  <a:pt x="31876" y="42037"/>
                </a:lnTo>
                <a:lnTo>
                  <a:pt x="58398" y="13819"/>
                </a:lnTo>
                <a:lnTo>
                  <a:pt x="70612" y="8509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81037" y="2396997"/>
            <a:ext cx="1461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dirty="0">
                <a:latin typeface="Cambria Math"/>
                <a:cs typeface="Cambria Math"/>
              </a:rPr>
              <a:t>=</a:t>
            </a:r>
            <a:r>
              <a:rPr spc="470" dirty="0">
                <a:latin typeface="Cambria Math"/>
                <a:cs typeface="Cambria Math"/>
              </a:rPr>
              <a:t> </a:t>
            </a:r>
            <a:r>
              <a:rPr spc="1110" dirty="0">
                <a:latin typeface="Cambria Math"/>
                <a:cs typeface="Cambria Math"/>
              </a:rPr>
              <a:t>∑</a:t>
            </a:r>
            <a:r>
              <a:rPr spc="32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𝑥</a:t>
            </a:r>
            <a:r>
              <a:rPr baseline="-20833" dirty="0">
                <a:latin typeface="Cambria Math"/>
                <a:cs typeface="Cambria Math"/>
              </a:rPr>
              <a:t>𝑖  </a:t>
            </a:r>
            <a:r>
              <a:rPr spc="52" baseline="-20833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−</a:t>
            </a:r>
            <a:r>
              <a:rPr spc="-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𝑦𝑖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95767" y="2404617"/>
            <a:ext cx="10985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latin typeface="Cambria Math"/>
                <a:cs typeface="Cambria Math"/>
              </a:rPr>
              <a:t>2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27318" y="3249167"/>
            <a:ext cx="497205" cy="212090"/>
          </a:xfrm>
          <a:custGeom>
            <a:avLst/>
            <a:gdLst/>
            <a:ahLst/>
            <a:cxnLst/>
            <a:rect l="l" t="t" r="r" b="b"/>
            <a:pathLst>
              <a:path w="497204" h="212089">
                <a:moveTo>
                  <a:pt x="429133" y="0"/>
                </a:moveTo>
                <a:lnTo>
                  <a:pt x="426085" y="8636"/>
                </a:lnTo>
                <a:lnTo>
                  <a:pt x="438370" y="13946"/>
                </a:lnTo>
                <a:lnTo>
                  <a:pt x="448929" y="21304"/>
                </a:lnTo>
                <a:lnTo>
                  <a:pt x="470320" y="55429"/>
                </a:lnTo>
                <a:lnTo>
                  <a:pt x="477393" y="104775"/>
                </a:lnTo>
                <a:lnTo>
                  <a:pt x="476607" y="123517"/>
                </a:lnTo>
                <a:lnTo>
                  <a:pt x="464820" y="169291"/>
                </a:lnTo>
                <a:lnTo>
                  <a:pt x="438513" y="197865"/>
                </a:lnTo>
                <a:lnTo>
                  <a:pt x="426466" y="203200"/>
                </a:lnTo>
                <a:lnTo>
                  <a:pt x="429133" y="211709"/>
                </a:lnTo>
                <a:lnTo>
                  <a:pt x="469602" y="187706"/>
                </a:lnTo>
                <a:lnTo>
                  <a:pt x="492331" y="143335"/>
                </a:lnTo>
                <a:lnTo>
                  <a:pt x="496697" y="105918"/>
                </a:lnTo>
                <a:lnTo>
                  <a:pt x="495601" y="86536"/>
                </a:lnTo>
                <a:lnTo>
                  <a:pt x="479171" y="37084"/>
                </a:lnTo>
                <a:lnTo>
                  <a:pt x="444488" y="5544"/>
                </a:lnTo>
                <a:lnTo>
                  <a:pt x="429133" y="0"/>
                </a:lnTo>
                <a:close/>
              </a:path>
              <a:path w="497204" h="212089">
                <a:moveTo>
                  <a:pt x="67564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2"/>
                </a:lnTo>
                <a:lnTo>
                  <a:pt x="52153" y="206184"/>
                </a:lnTo>
                <a:lnTo>
                  <a:pt x="67564" y="211709"/>
                </a:lnTo>
                <a:lnTo>
                  <a:pt x="70231" y="203200"/>
                </a:lnTo>
                <a:lnTo>
                  <a:pt x="58183" y="197865"/>
                </a:lnTo>
                <a:lnTo>
                  <a:pt x="47767" y="190436"/>
                </a:lnTo>
                <a:lnTo>
                  <a:pt x="26376" y="155763"/>
                </a:lnTo>
                <a:lnTo>
                  <a:pt x="19304" y="104775"/>
                </a:lnTo>
                <a:lnTo>
                  <a:pt x="20089" y="86723"/>
                </a:lnTo>
                <a:lnTo>
                  <a:pt x="31877" y="42164"/>
                </a:lnTo>
                <a:lnTo>
                  <a:pt x="58398" y="13946"/>
                </a:lnTo>
                <a:lnTo>
                  <a:pt x="70612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22878" y="3178506"/>
            <a:ext cx="2935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Cambria Math"/>
                <a:cs typeface="Cambria Math"/>
              </a:rPr>
              <a:t>𝑀</a:t>
            </a:r>
            <a:r>
              <a:rPr dirty="0">
                <a:latin typeface="Cambria Math"/>
                <a:cs typeface="Cambria Math"/>
              </a:rPr>
              <a:t>𝑎𝑛</a:t>
            </a:r>
            <a:r>
              <a:rPr spc="-10" dirty="0">
                <a:latin typeface="Cambria Math"/>
                <a:cs typeface="Cambria Math"/>
              </a:rPr>
              <a:t>ℎ</a:t>
            </a:r>
            <a:r>
              <a:rPr spc="-5" dirty="0">
                <a:latin typeface="Cambria Math"/>
                <a:cs typeface="Cambria Math"/>
              </a:rPr>
              <a:t>𝑎𝑡𝑡𝑎</a:t>
            </a:r>
            <a:r>
              <a:rPr dirty="0">
                <a:latin typeface="Cambria Math"/>
                <a:cs typeface="Cambria Math"/>
              </a:rPr>
              <a:t>𝑛</a:t>
            </a:r>
            <a:r>
              <a:rPr spc="4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𝑑𝑖𝑠</a:t>
            </a:r>
            <a:r>
              <a:rPr spc="-5" dirty="0">
                <a:latin typeface="Cambria Math"/>
                <a:cs typeface="Cambria Math"/>
              </a:rPr>
              <a:t>𝑡𝑎𝑛𝑐</a:t>
            </a:r>
            <a:r>
              <a:rPr dirty="0">
                <a:latin typeface="Cambria Math"/>
                <a:cs typeface="Cambria Math"/>
              </a:rPr>
              <a:t>𝑒</a:t>
            </a:r>
            <a:r>
              <a:rPr spc="13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∶ </a:t>
            </a:r>
            <a:r>
              <a:rPr spc="11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𝑑 </a:t>
            </a:r>
            <a:r>
              <a:rPr spc="-5" dirty="0">
                <a:latin typeface="Cambria Math"/>
                <a:cs typeface="Cambria Math"/>
              </a:rPr>
              <a:t> </a:t>
            </a:r>
            <a:r>
              <a:rPr spc="60" dirty="0">
                <a:latin typeface="Cambria Math"/>
                <a:cs typeface="Cambria Math"/>
              </a:rPr>
              <a:t>𝑥</a:t>
            </a:r>
            <a:r>
              <a:rPr dirty="0">
                <a:latin typeface="Cambria Math"/>
                <a:cs typeface="Cambria Math"/>
              </a:rPr>
              <a:t>,</a:t>
            </a:r>
            <a:r>
              <a:rPr spc="-95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𝑦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795897" y="3178506"/>
            <a:ext cx="167258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Cambria Math"/>
                <a:cs typeface="Cambria Math"/>
              </a:rPr>
              <a:t>= </a:t>
            </a:r>
            <a:r>
              <a:rPr spc="114" dirty="0">
                <a:latin typeface="Cambria Math"/>
                <a:cs typeface="Cambria Math"/>
              </a:rPr>
              <a:t> </a:t>
            </a:r>
            <a:r>
              <a:rPr spc="1110" dirty="0">
                <a:latin typeface="Cambria Math"/>
                <a:cs typeface="Cambria Math"/>
              </a:rPr>
              <a:t>∑</a:t>
            </a:r>
            <a:r>
              <a:rPr spc="-110" dirty="0">
                <a:latin typeface="Cambria Math"/>
                <a:cs typeface="Cambria Math"/>
              </a:rPr>
              <a:t> </a:t>
            </a:r>
            <a:r>
              <a:rPr spc="5" dirty="0">
                <a:latin typeface="Cambria Math"/>
                <a:cs typeface="Cambria Math"/>
              </a:rPr>
              <a:t>|(</a:t>
            </a:r>
            <a:r>
              <a:rPr dirty="0">
                <a:latin typeface="Cambria Math"/>
                <a:cs typeface="Cambria Math"/>
              </a:rPr>
              <a:t>𝑥𝑖</a:t>
            </a:r>
            <a:r>
              <a:rPr spc="60" dirty="0">
                <a:latin typeface="Cambria Math"/>
                <a:cs typeface="Cambria Math"/>
              </a:rPr>
              <a:t> </a:t>
            </a:r>
            <a:r>
              <a:rPr dirty="0">
                <a:latin typeface="Cambria Math"/>
                <a:cs typeface="Cambria Math"/>
              </a:rPr>
              <a:t>−</a:t>
            </a:r>
            <a:r>
              <a:rPr spc="5" dirty="0">
                <a:latin typeface="Cambria Math"/>
                <a:cs typeface="Cambria Math"/>
              </a:rPr>
              <a:t> </a:t>
            </a:r>
            <a:r>
              <a:rPr spc="-5" dirty="0">
                <a:latin typeface="Cambria Math"/>
                <a:cs typeface="Cambria Math"/>
              </a:rPr>
              <a:t>𝑦</a:t>
            </a:r>
            <a:r>
              <a:rPr spc="60" dirty="0">
                <a:latin typeface="Cambria Math"/>
                <a:cs typeface="Cambria Math"/>
              </a:rPr>
              <a:t>𝑖</a:t>
            </a:r>
            <a:r>
              <a:rPr spc="-5" dirty="0">
                <a:latin typeface="Cambria Math"/>
                <a:cs typeface="Cambria Math"/>
              </a:rPr>
              <a:t>)</a:t>
            </a:r>
            <a:r>
              <a:rPr dirty="0">
                <a:latin typeface="Cambria Math"/>
                <a:cs typeface="Cambria Math"/>
              </a:rPr>
              <a:t>|</a:t>
            </a:r>
            <a:endParaRPr>
              <a:latin typeface="Cambria Math"/>
              <a:cs typeface="Cambria Math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360" y="380242"/>
            <a:ext cx="41471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How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to</a:t>
            </a:r>
            <a:r>
              <a:rPr spc="-25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choose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spc="-5" dirty="0">
                <a:solidFill>
                  <a:schemeClr val="tx1"/>
                </a:solidFill>
              </a:rPr>
              <a:t>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7444" y="1471930"/>
            <a:ext cx="7415530" cy="1687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Arial MT"/>
                <a:cs typeface="Arial MT"/>
              </a:rPr>
              <a:t>If </a:t>
            </a:r>
            <a:r>
              <a:rPr sz="2600" dirty="0">
                <a:latin typeface="Arial MT"/>
                <a:cs typeface="Arial MT"/>
              </a:rPr>
              <a:t>infinite number of samples available, the larger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k, </a:t>
            </a:r>
            <a:r>
              <a:rPr sz="2600" spc="-5" dirty="0">
                <a:latin typeface="Arial MT"/>
                <a:cs typeface="Arial MT"/>
              </a:rPr>
              <a:t>the</a:t>
            </a:r>
            <a:r>
              <a:rPr sz="2600" dirty="0">
                <a:latin typeface="Arial MT"/>
                <a:cs typeface="Arial MT"/>
              </a:rPr>
              <a:t> better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is classification.</a:t>
            </a:r>
            <a:endParaRPr sz="2600">
              <a:latin typeface="Arial MT"/>
              <a:cs typeface="Arial MT"/>
            </a:endParaRPr>
          </a:p>
          <a:p>
            <a:pPr marL="286385" marR="121285" indent="-274320"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k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=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1 is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often</a:t>
            </a:r>
            <a:r>
              <a:rPr sz="2600" spc="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for </a:t>
            </a:r>
            <a:r>
              <a:rPr sz="2600" spc="-20" dirty="0">
                <a:latin typeface="Arial MT"/>
                <a:cs typeface="Arial MT"/>
              </a:rPr>
              <a:t>efficiency,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but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sensitive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 </a:t>
            </a:r>
            <a:r>
              <a:rPr sz="2600" spc="-70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“noise”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2"/>
          <p:cNvSpPr txBox="1"/>
          <p:nvPr/>
        </p:nvSpPr>
        <p:spPr>
          <a:xfrm>
            <a:off x="2517444" y="3383982"/>
            <a:ext cx="8035925" cy="2689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 algn="just">
              <a:spcBef>
                <a:spcPts val="95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Larger k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gives smoother boundaries, better for generalization,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but only if locality is preserved. Locality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 not preserved if end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up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looking at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samples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too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far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40" dirty="0">
                <a:latin typeface="Arial MT"/>
                <a:cs typeface="Arial MT"/>
              </a:rPr>
              <a:t>away,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from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dirty="0">
                <a:latin typeface="Arial MT"/>
                <a:cs typeface="Arial MT"/>
              </a:rPr>
              <a:t> same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class.</a:t>
            </a:r>
          </a:p>
          <a:p>
            <a:pPr marL="286385" marR="810260" indent="-274320" algn="just">
              <a:spcBef>
                <a:spcPts val="60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Interesting relation to find k for large sample data :</a:t>
            </a:r>
            <a:endParaRPr lang="en-GB" sz="2200" spc="-5" dirty="0">
              <a:latin typeface="Arial MT"/>
              <a:cs typeface="Arial MT"/>
            </a:endParaRPr>
          </a:p>
          <a:p>
            <a:pPr marL="12065" marR="810260" algn="just">
              <a:spcBef>
                <a:spcPts val="600"/>
              </a:spcBef>
              <a:buClr>
                <a:srgbClr val="D24717"/>
              </a:buClr>
              <a:buSzPct val="84090"/>
              <a:tabLst>
                <a:tab pos="287020" algn="l"/>
              </a:tabLst>
            </a:pPr>
            <a:endParaRPr lang="en-IN" sz="2200" spc="-5" dirty="0">
              <a:latin typeface="Arial MT"/>
              <a:cs typeface="Arial MT"/>
            </a:endParaRPr>
          </a:p>
          <a:p>
            <a:pPr marL="286385" marR="810260" indent="-274320" algn="just">
              <a:spcBef>
                <a:spcPts val="60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</a:tabLst>
            </a:pPr>
            <a:r>
              <a:rPr sz="2200" dirty="0">
                <a:latin typeface="Arial MT"/>
                <a:cs typeface="Arial MT"/>
              </a:rPr>
              <a:t> </a:t>
            </a:r>
            <a:r>
              <a:rPr sz="2200" b="1" spc="-5" dirty="0">
                <a:latin typeface="Arial"/>
                <a:cs typeface="Arial"/>
              </a:rPr>
              <a:t>k = </a:t>
            </a:r>
            <a:r>
              <a:rPr sz="2200" b="1" spc="-600" dirty="0">
                <a:latin typeface="Arial"/>
                <a:cs typeface="Arial"/>
              </a:rPr>
              <a:t> </a:t>
            </a:r>
            <a:r>
              <a:rPr sz="2200" b="1" spc="-5" dirty="0">
                <a:latin typeface="Arial"/>
                <a:cs typeface="Arial"/>
              </a:rPr>
              <a:t>sqrt(n)/2</a:t>
            </a:r>
            <a:r>
              <a:rPr sz="2200" b="1" spc="40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where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 </a:t>
            </a:r>
            <a:r>
              <a:rPr lang="en-GB" sz="2200" spc="-5" dirty="0">
                <a:latin typeface="Arial MT"/>
                <a:cs typeface="Arial MT"/>
              </a:rPr>
              <a:t>number</a:t>
            </a:r>
            <a:r>
              <a:rPr sz="2200" spc="-5" dirty="0">
                <a:latin typeface="Arial MT"/>
                <a:cs typeface="Arial MT"/>
              </a:rPr>
              <a:t> of examples</a:t>
            </a:r>
            <a:endParaRPr sz="2200" dirty="0">
              <a:latin typeface="Arial MT"/>
              <a:cs typeface="Arial MT"/>
            </a:endParaRPr>
          </a:p>
          <a:p>
            <a:pPr marL="287020" indent="-274320" algn="just">
              <a:spcBef>
                <a:spcPts val="600"/>
              </a:spcBef>
              <a:buClr>
                <a:srgbClr val="D24717"/>
              </a:buClr>
              <a:buSzPct val="84090"/>
              <a:buFont typeface="Segoe UI Symbol"/>
              <a:buChar char="⚫"/>
              <a:tabLst>
                <a:tab pos="287020" algn="l"/>
              </a:tabLst>
            </a:pPr>
            <a:r>
              <a:rPr sz="2200" spc="-5" dirty="0">
                <a:latin typeface="Arial MT"/>
                <a:cs typeface="Arial MT"/>
              </a:rPr>
              <a:t>Can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choose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k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through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cross-validation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979C-41D1-4224-8C13-0C7F954A8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152400"/>
            <a:ext cx="5078348" cy="6350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K-NN Algorithm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D4029-F7E2-4CCE-B227-8F0EC9AED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1449317"/>
            <a:ext cx="7776864" cy="4893647"/>
          </a:xfrm>
        </p:spPr>
        <p:txBody>
          <a:bodyPr/>
          <a:lstStyle/>
          <a:p>
            <a:pPr algn="just"/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KNN working with the help of following steps : </a:t>
            </a:r>
          </a:p>
          <a:p>
            <a:pPr algn="just"/>
            <a:endParaRPr lang="en-GB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Step 1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 − Load the training as well as test data.</a:t>
            </a:r>
          </a:p>
          <a:p>
            <a:pPr algn="just"/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Step 2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 − Choose the value of K i.e. the nearest data points. K can be any integer.</a:t>
            </a:r>
          </a:p>
          <a:p>
            <a:pPr algn="just"/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Step 3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 − For each point in the test data do the following −</a:t>
            </a:r>
          </a:p>
          <a:p>
            <a:pPr lvl="1" algn="just"/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3.1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 − Calculate the distance between test data and each row of training data with the help of any of the method namely: Euclidean, Manhattan or Hamming distance. The most commonly used method to calculate distance is Euclidean.</a:t>
            </a:r>
          </a:p>
          <a:p>
            <a:pPr lvl="1" algn="just"/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3.2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 − Now, based on the distance value, sort them in ascending order.</a:t>
            </a:r>
          </a:p>
          <a:p>
            <a:pPr lvl="1" algn="just"/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3.3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 − Next, it will choose the top K rows from the sorted array.</a:t>
            </a:r>
          </a:p>
          <a:p>
            <a:pPr lvl="1" algn="just"/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3.4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 − Now, it will assign a class to the test point based on most frequent class of these rows.</a:t>
            </a:r>
          </a:p>
          <a:p>
            <a:pPr algn="just"/>
            <a:r>
              <a:rPr lang="en-GB" sz="2000" b="1" dirty="0">
                <a:solidFill>
                  <a:srgbClr val="000000"/>
                </a:solidFill>
                <a:latin typeface="Arial" panose="020B0604020202020204" pitchFamily="34" charset="0"/>
              </a:rPr>
              <a:t>Step 4</a:t>
            </a:r>
            <a:r>
              <a:rPr lang="en-GB" sz="2000" dirty="0">
                <a:solidFill>
                  <a:srgbClr val="000000"/>
                </a:solidFill>
                <a:latin typeface="Arial" panose="020B0604020202020204" pitchFamily="34" charset="0"/>
              </a:rPr>
              <a:t> − End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22C2171-44B5-79D8-3E03-A2A55E66B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280" y="1449316"/>
            <a:ext cx="3240360" cy="484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773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6EEBDB-C164-4E1B-9339-991B9F0312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9" t="1526" r="4003"/>
          <a:stretch>
            <a:fillRect/>
          </a:stretch>
        </p:blipFill>
        <p:spPr>
          <a:xfrm>
            <a:off x="2423592" y="436132"/>
            <a:ext cx="8424936" cy="60780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07C2AE-CCC9-46D8-A8C4-09B5D6AE2D62}"/>
              </a:ext>
            </a:extLst>
          </p:cNvPr>
          <p:cNvSpPr txBox="1"/>
          <p:nvPr/>
        </p:nvSpPr>
        <p:spPr>
          <a:xfrm>
            <a:off x="439070" y="436132"/>
            <a:ext cx="190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+mj-lt"/>
              </a:rPr>
              <a:t>Example</a:t>
            </a:r>
            <a:endParaRPr lang="en-US" sz="2800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943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3C0684-E937-BCD2-DEED-0901AC0C8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71" y="862012"/>
            <a:ext cx="3743325" cy="5133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1C0D5F-7025-AB49-9F54-648BB6DA6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204" y="908720"/>
            <a:ext cx="713422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4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1E8CCA-E59D-1328-8D12-346304407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7"/>
          <a:stretch>
            <a:fillRect/>
          </a:stretch>
        </p:blipFill>
        <p:spPr>
          <a:xfrm>
            <a:off x="581025" y="908720"/>
            <a:ext cx="1102995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1530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6C63A9-ED6C-755B-1FED-5C1317F87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332656"/>
            <a:ext cx="6953250" cy="5124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E9F9C2-1A05-01FA-2BCF-7A8A1EC97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60" y="980728"/>
            <a:ext cx="3933825" cy="1181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161071-615E-DDAC-6E31-E83E322F5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6280" y="2780928"/>
            <a:ext cx="245745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00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464" y="714356"/>
            <a:ext cx="10358510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1026" y="428604"/>
            <a:ext cx="10644262" cy="5929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1026" y="571480"/>
            <a:ext cx="10572823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464" y="642918"/>
            <a:ext cx="9929882" cy="5357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27737"/>
            <a:ext cx="25336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>
                <a:solidFill>
                  <a:schemeClr val="tx1"/>
                </a:solidFill>
              </a:rPr>
              <a:t>Com</a:t>
            </a:r>
            <a:r>
              <a:rPr spc="-20" dirty="0">
                <a:solidFill>
                  <a:schemeClr val="tx1"/>
                </a:solidFill>
              </a:rPr>
              <a:t>p</a:t>
            </a:r>
            <a:r>
              <a:rPr spc="-5" dirty="0">
                <a:solidFill>
                  <a:schemeClr val="tx1"/>
                </a:solidFill>
              </a:rPr>
              <a:t>lexity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3472" y="1395959"/>
            <a:ext cx="10153128" cy="287514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 indent="-274320"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dirty="0">
                <a:latin typeface="Arial"/>
                <a:cs typeface="Arial"/>
              </a:rPr>
              <a:t>O(d)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compute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distance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one examples</a:t>
            </a:r>
          </a:p>
          <a:p>
            <a:pPr marL="286385" indent="-274320"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dirty="0">
                <a:latin typeface="Arial"/>
                <a:cs typeface="Arial"/>
              </a:rPr>
              <a:t>O(nd)</a:t>
            </a:r>
            <a:r>
              <a:rPr sz="2600" b="1" spc="-35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computed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distances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all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examples</a:t>
            </a:r>
          </a:p>
          <a:p>
            <a:pPr marL="286385" indent="-274320"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Plus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b="1" dirty="0">
                <a:latin typeface="Arial"/>
                <a:cs typeface="Arial"/>
              </a:rPr>
              <a:t>O(nk)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dirty="0">
                <a:latin typeface="Arial MT"/>
                <a:cs typeface="Arial MT"/>
              </a:rPr>
              <a:t>time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find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k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closest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5" dirty="0">
                <a:latin typeface="Arial MT"/>
                <a:cs typeface="Arial MT"/>
              </a:rPr>
              <a:t>examples</a:t>
            </a:r>
            <a:endParaRPr sz="2600" dirty="0">
              <a:latin typeface="Arial MT"/>
              <a:cs typeface="Arial MT"/>
            </a:endParaRPr>
          </a:p>
          <a:p>
            <a:pPr marL="286385" indent="-274320"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  <a:tab pos="2070100" algn="l"/>
              </a:tabLst>
            </a:pPr>
            <a:r>
              <a:rPr sz="2600" spc="-60" dirty="0">
                <a:latin typeface="Arial MT"/>
                <a:cs typeface="Arial MT"/>
              </a:rPr>
              <a:t>Total</a:t>
            </a:r>
            <a:r>
              <a:rPr sz="2600" spc="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time:	</a:t>
            </a:r>
            <a:r>
              <a:rPr sz="2600" b="1" dirty="0">
                <a:latin typeface="Arial"/>
                <a:cs typeface="Arial"/>
              </a:rPr>
              <a:t>O(nk+nd)</a:t>
            </a:r>
            <a:endParaRPr sz="2600" dirty="0">
              <a:latin typeface="Arial"/>
              <a:cs typeface="Arial"/>
            </a:endParaRPr>
          </a:p>
          <a:p>
            <a:pPr marL="286385" indent="-274320"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spc="-35" dirty="0">
                <a:latin typeface="Arial MT"/>
                <a:cs typeface="Arial MT"/>
              </a:rPr>
              <a:t>Very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expensive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for a large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number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samples</a:t>
            </a:r>
          </a:p>
          <a:p>
            <a:pPr marL="286385" marR="133350" indent="-274320"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But we need a large number of samples for kNN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 </a:t>
            </a:r>
            <a:r>
              <a:rPr sz="2600" spc="-5" dirty="0">
                <a:latin typeface="Arial MT"/>
                <a:cs typeface="Arial MT"/>
              </a:rPr>
              <a:t>to</a:t>
            </a:r>
            <a:r>
              <a:rPr sz="2600" dirty="0">
                <a:latin typeface="Arial MT"/>
                <a:cs typeface="Arial MT"/>
              </a:rPr>
              <a:t> work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well!!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1200" y="1295400"/>
            <a:ext cx="9803432" cy="474360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87020" indent="-274320" algn="just">
              <a:spcBef>
                <a:spcPts val="45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Advantages</a:t>
            </a:r>
            <a:r>
              <a:rPr sz="26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6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KNN</a:t>
            </a:r>
            <a:r>
              <a:rPr sz="26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classifier</a:t>
            </a:r>
            <a:r>
              <a:rPr sz="26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354965" marR="680720" indent="-342900" algn="just">
              <a:lnSpc>
                <a:spcPts val="2590"/>
              </a:lnSpc>
              <a:spcBef>
                <a:spcPts val="645"/>
              </a:spcBef>
              <a:buClr>
                <a:srgbClr val="D24717"/>
              </a:buClr>
              <a:buSzPct val="85416"/>
              <a:buFont typeface="Arial" panose="020B0604020202020204" pitchFamily="34" charset="0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applied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 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dirty="0">
                <a:latin typeface="Arial MT"/>
                <a:cs typeface="Arial MT"/>
              </a:rPr>
              <a:t> 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distribution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 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example,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does</a:t>
            </a:r>
            <a:r>
              <a:rPr sz="2400" dirty="0">
                <a:latin typeface="Arial MT"/>
                <a:cs typeface="Arial MT"/>
              </a:rPr>
              <a:t> not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have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separable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linear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boundary</a:t>
            </a:r>
            <a:endParaRPr sz="2400" dirty="0">
              <a:latin typeface="Arial MT"/>
              <a:cs typeface="Arial MT"/>
            </a:endParaRPr>
          </a:p>
          <a:p>
            <a:pPr marL="355600" indent="-342900" algn="just">
              <a:spcBef>
                <a:spcPts val="284"/>
              </a:spcBef>
              <a:buClr>
                <a:srgbClr val="D24717"/>
              </a:buClr>
              <a:buSzPct val="85416"/>
              <a:buFont typeface="Arial" panose="020B0604020202020204" pitchFamily="34" charset="0"/>
              <a:buChar char="•"/>
              <a:tabLst>
                <a:tab pos="286385" algn="l"/>
                <a:tab pos="287020" algn="l"/>
              </a:tabLst>
            </a:pPr>
            <a:r>
              <a:rPr sz="2400" spc="-40" dirty="0">
                <a:latin typeface="Arial MT"/>
                <a:cs typeface="Arial MT"/>
              </a:rPr>
              <a:t>Very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simple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intuitive</a:t>
            </a:r>
            <a:endParaRPr sz="2400" dirty="0">
              <a:latin typeface="Arial MT"/>
              <a:cs typeface="Arial MT"/>
            </a:endParaRPr>
          </a:p>
          <a:p>
            <a:pPr marL="354965" marR="615950" indent="-342900" algn="just">
              <a:lnSpc>
                <a:spcPts val="2590"/>
              </a:lnSpc>
              <a:spcBef>
                <a:spcPts val="640"/>
              </a:spcBef>
              <a:buClr>
                <a:srgbClr val="D24717"/>
              </a:buClr>
              <a:buSzPct val="85416"/>
              <a:buFont typeface="Arial" panose="020B0604020202020204" pitchFamily="34" charset="0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Arial MT"/>
                <a:cs typeface="Arial MT"/>
              </a:rPr>
              <a:t>Good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classification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samples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large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enough</a:t>
            </a:r>
            <a:endParaRPr sz="2400" dirty="0">
              <a:latin typeface="Arial MT"/>
              <a:cs typeface="Arial MT"/>
            </a:endParaRPr>
          </a:p>
          <a:p>
            <a:pPr algn="just">
              <a:spcBef>
                <a:spcPts val="15"/>
              </a:spcBef>
            </a:pPr>
            <a:endParaRPr sz="2300" dirty="0">
              <a:latin typeface="Arial MT"/>
              <a:cs typeface="Arial MT"/>
            </a:endParaRPr>
          </a:p>
          <a:p>
            <a:pPr marL="287020" indent="-274320" algn="just">
              <a:buClr>
                <a:srgbClr val="D24717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Disadvantages</a:t>
            </a:r>
            <a:r>
              <a:rPr sz="26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6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KNN</a:t>
            </a:r>
            <a:r>
              <a:rPr sz="26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F0000"/>
                </a:solidFill>
                <a:latin typeface="Arial"/>
                <a:cs typeface="Arial"/>
              </a:rPr>
              <a:t>classifier</a:t>
            </a:r>
            <a:r>
              <a:rPr sz="260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469900" indent="-457200" algn="just">
              <a:spcBef>
                <a:spcPts val="320"/>
              </a:spcBef>
              <a:buClr>
                <a:srgbClr val="D24717"/>
              </a:buClr>
              <a:buSzPct val="85416"/>
              <a:buFont typeface="Arial" panose="020B0604020202020204" pitchFamily="34" charset="0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Arial MT"/>
                <a:cs typeface="Arial MT"/>
              </a:rPr>
              <a:t>Choosing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may</a:t>
            </a:r>
            <a:r>
              <a:rPr sz="2400" spc="-5" dirty="0">
                <a:latin typeface="Arial MT"/>
                <a:cs typeface="Arial MT"/>
              </a:rPr>
              <a:t> be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tricky</a:t>
            </a:r>
          </a:p>
          <a:p>
            <a:pPr marL="469900" indent="-457200" algn="just">
              <a:spcBef>
                <a:spcPts val="310"/>
              </a:spcBef>
              <a:buClr>
                <a:srgbClr val="D24717"/>
              </a:buClr>
              <a:buSzPct val="85416"/>
              <a:buFont typeface="Arial" panose="020B0604020202020204" pitchFamily="34" charset="0"/>
              <a:buChar char="•"/>
              <a:tabLst>
                <a:tab pos="286385" algn="l"/>
                <a:tab pos="287020" algn="l"/>
              </a:tabLst>
            </a:pPr>
            <a:r>
              <a:rPr sz="2400" spc="-70" dirty="0">
                <a:latin typeface="Arial MT"/>
                <a:cs typeface="Arial MT"/>
              </a:rPr>
              <a:t>Test</a:t>
            </a:r>
            <a:r>
              <a:rPr sz="2400" spc="-5" dirty="0">
                <a:latin typeface="Arial MT"/>
                <a:cs typeface="Arial MT"/>
              </a:rPr>
              <a:t> stage 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computationally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expensive</a:t>
            </a:r>
            <a:endParaRPr sz="2400" dirty="0">
              <a:latin typeface="Arial MT"/>
              <a:cs typeface="Arial MT"/>
            </a:endParaRPr>
          </a:p>
          <a:p>
            <a:pPr marL="469265" marR="561340" indent="-457200" algn="just">
              <a:lnSpc>
                <a:spcPts val="2590"/>
              </a:lnSpc>
              <a:spcBef>
                <a:spcPts val="645"/>
              </a:spcBef>
              <a:buClr>
                <a:srgbClr val="D24717"/>
              </a:buClr>
              <a:buSzPct val="85416"/>
              <a:buFont typeface="Arial" panose="020B0604020202020204" pitchFamily="34" charset="0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Arial MT"/>
                <a:cs typeface="Arial MT"/>
              </a:rPr>
              <a:t>No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training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all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work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done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during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test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stage</a:t>
            </a:r>
            <a:endParaRPr sz="2400" dirty="0">
              <a:latin typeface="Arial MT"/>
              <a:cs typeface="Arial MT"/>
            </a:endParaRPr>
          </a:p>
          <a:p>
            <a:pPr marL="469265" marR="5080" indent="-457200" algn="just">
              <a:lnSpc>
                <a:spcPts val="259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Arial" panose="020B0604020202020204" pitchFamily="34" charset="0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actually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opposite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what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 </a:t>
            </a:r>
            <a:r>
              <a:rPr sz="2400" dirty="0">
                <a:latin typeface="Arial MT"/>
                <a:cs typeface="Arial MT"/>
              </a:rPr>
              <a:t>want. </a:t>
            </a:r>
            <a:r>
              <a:rPr sz="2400" spc="-5" dirty="0">
                <a:latin typeface="Arial MT"/>
                <a:cs typeface="Arial MT"/>
              </a:rPr>
              <a:t>Usually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 </a:t>
            </a:r>
            <a:r>
              <a:rPr sz="2400" spc="-10" dirty="0">
                <a:latin typeface="Arial MT"/>
                <a:cs typeface="Arial MT"/>
              </a:rPr>
              <a:t>afford </a:t>
            </a:r>
            <a:r>
              <a:rPr sz="2400" spc="-5" dirty="0">
                <a:latin typeface="Arial MT"/>
                <a:cs typeface="Arial MT"/>
              </a:rPr>
              <a:t>training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 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but </a:t>
            </a:r>
            <a:r>
              <a:rPr sz="2400" spc="-10" dirty="0">
                <a:latin typeface="Arial MT"/>
                <a:cs typeface="Arial MT"/>
              </a:rPr>
              <a:t>we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want </a:t>
            </a:r>
            <a:r>
              <a:rPr sz="2400" dirty="0">
                <a:latin typeface="Arial MT"/>
                <a:cs typeface="Arial MT"/>
              </a:rPr>
              <a:t> fast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test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1066800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380242"/>
            <a:ext cx="67691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" dirty="0"/>
              <a:t>Applications</a:t>
            </a:r>
            <a:r>
              <a:rPr spc="10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spc="-5" dirty="0"/>
              <a:t>KNN</a:t>
            </a:r>
            <a:r>
              <a:rPr spc="-10" dirty="0"/>
              <a:t> </a:t>
            </a:r>
            <a:r>
              <a:rPr spc="-5" dirty="0"/>
              <a:t>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51584" y="1762125"/>
            <a:ext cx="6571813" cy="33337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69265" indent="-457200">
              <a:spcBef>
                <a:spcPts val="700"/>
              </a:spcBef>
              <a:buClr>
                <a:srgbClr val="D24717"/>
              </a:buClr>
              <a:buSzPct val="84615"/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classification</a:t>
            </a:r>
          </a:p>
          <a:p>
            <a:pPr marL="469265" indent="-457200">
              <a:spcBef>
                <a:spcPts val="605"/>
              </a:spcBef>
              <a:buClr>
                <a:srgbClr val="D24717"/>
              </a:buClr>
              <a:buSzPct val="84615"/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get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missing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values</a:t>
            </a:r>
          </a:p>
          <a:p>
            <a:pPr marL="469265" indent="-457200">
              <a:spcBef>
                <a:spcPts val="600"/>
              </a:spcBef>
              <a:buClr>
                <a:srgbClr val="D24717"/>
              </a:buClr>
              <a:buSzPct val="84615"/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pattern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recognition</a:t>
            </a:r>
          </a:p>
          <a:p>
            <a:pPr marL="469265" indent="-457200">
              <a:spcBef>
                <a:spcPts val="600"/>
              </a:spcBef>
              <a:buClr>
                <a:srgbClr val="D24717"/>
              </a:buClr>
              <a:buSzPct val="84615"/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gene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expression</a:t>
            </a:r>
          </a:p>
          <a:p>
            <a:pPr marL="469265" indent="-457200">
              <a:spcBef>
                <a:spcPts val="600"/>
              </a:spcBef>
              <a:buClr>
                <a:srgbClr val="D24717"/>
              </a:buClr>
              <a:buSzPct val="84615"/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protein-protein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prediction</a:t>
            </a:r>
          </a:p>
          <a:p>
            <a:pPr marL="469265" indent="-457200">
              <a:spcBef>
                <a:spcPts val="600"/>
              </a:spcBef>
              <a:buClr>
                <a:srgbClr val="D24717"/>
              </a:buClr>
              <a:buSzPct val="84615"/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get 3D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structure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protein</a:t>
            </a:r>
          </a:p>
          <a:p>
            <a:pPr marL="469265" indent="-457200">
              <a:spcBef>
                <a:spcPts val="600"/>
              </a:spcBef>
              <a:buClr>
                <a:srgbClr val="D24717"/>
              </a:buClr>
              <a:buSzPct val="84615"/>
              <a:buFont typeface="Arial" panose="020B0604020202020204" pitchFamily="34" charset="0"/>
              <a:buChar char="•"/>
              <a:tabLst>
                <a:tab pos="287020" algn="l"/>
              </a:tabLst>
            </a:pP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measure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document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similarity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6F443-EE66-4E37-B716-C5C9EE074259}"/>
              </a:ext>
            </a:extLst>
          </p:cNvPr>
          <p:cNvSpPr/>
          <p:nvPr/>
        </p:nvSpPr>
        <p:spPr>
          <a:xfrm>
            <a:off x="159026" y="147776"/>
            <a:ext cx="11873948" cy="6562449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6C7164-9F19-455A-952F-33B355652145}"/>
              </a:ext>
            </a:extLst>
          </p:cNvPr>
          <p:cNvCxnSpPr/>
          <p:nvPr/>
        </p:nvCxnSpPr>
        <p:spPr>
          <a:xfrm>
            <a:off x="159026" y="1247707"/>
            <a:ext cx="1187394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</TotalTime>
  <Words>1520</Words>
  <Application>Microsoft Office PowerPoint</Application>
  <PresentationFormat>Widescreen</PresentationFormat>
  <Paragraphs>186</Paragraphs>
  <Slides>27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Aptos</vt:lpstr>
      <vt:lpstr>Arial</vt:lpstr>
      <vt:lpstr>Arial MT</vt:lpstr>
      <vt:lpstr>Calibri</vt:lpstr>
      <vt:lpstr>Cambria Math</vt:lpstr>
      <vt:lpstr>montserrat</vt:lpstr>
      <vt:lpstr>Segoe UI Symbol</vt:lpstr>
      <vt:lpstr>source-serif-pro</vt:lpstr>
      <vt:lpstr>Tahoma</vt:lpstr>
      <vt:lpstr>Times New Roman</vt:lpstr>
      <vt:lpstr>Office Theme</vt:lpstr>
      <vt:lpstr>Worksheet</vt:lpstr>
      <vt:lpstr>PowerPoint Presentation</vt:lpstr>
      <vt:lpstr>Supervised vs. Unsupervised Learning</vt:lpstr>
      <vt:lpstr>Prediction Problems: Classification vs. Numeric Prediction</vt:lpstr>
      <vt:lpstr>Classification Algorithm </vt:lpstr>
      <vt:lpstr>Classification—A Two-Step Process </vt:lpstr>
      <vt:lpstr>Process (1): Model Construction</vt:lpstr>
      <vt:lpstr>Process (2): Using the Model in Prediction </vt:lpstr>
      <vt:lpstr>Types of Classifications</vt:lpstr>
      <vt:lpstr>Types of Learners   </vt:lpstr>
      <vt:lpstr>Machine learning Algorithms: Parameters </vt:lpstr>
      <vt:lpstr>K-Nearest Neighbor Classifier</vt:lpstr>
      <vt:lpstr>K-NN Classifier</vt:lpstr>
      <vt:lpstr>What is k- NN??</vt:lpstr>
      <vt:lpstr>Distance Measures</vt:lpstr>
      <vt:lpstr>How to choose K?</vt:lpstr>
      <vt:lpstr>K-NN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Complexity</vt:lpstr>
      <vt:lpstr>PowerPoint Presentation</vt:lpstr>
      <vt:lpstr>Applications of KNN Classifier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 Nearest Neighbour Classifier</dc:title>
  <dc:creator>prof.subhash</dc:creator>
  <cp:lastModifiedBy>Subhash Chandra N</cp:lastModifiedBy>
  <cp:revision>40</cp:revision>
  <dcterms:created xsi:type="dcterms:W3CDTF">2021-03-27T14:35:11Z</dcterms:created>
  <dcterms:modified xsi:type="dcterms:W3CDTF">2025-09-10T03:56:47Z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2017-04-05T00:00:00Z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2021-03-27T00:00:00Z</vt:filetime>
  </property>
</Properties>
</file>