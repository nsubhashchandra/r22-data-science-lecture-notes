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notesMasterIdLst>
    <p:notesMasterId r:id="rId24"/>
  </p:notesMasterIdLst>
  <p:sldIdLst>
    <p:sldId id="256" r:id="rId2"/>
    <p:sldId id="307" r:id="rId3"/>
    <p:sldId id="362" r:id="rId4"/>
    <p:sldId id="381" r:id="rId5"/>
    <p:sldId id="262" r:id="rId6"/>
    <p:sldId id="269" r:id="rId7"/>
    <p:sldId id="382" r:id="rId8"/>
    <p:sldId id="374" r:id="rId9"/>
    <p:sldId id="378" r:id="rId10"/>
    <p:sldId id="377" r:id="rId11"/>
    <p:sldId id="376" r:id="rId12"/>
    <p:sldId id="380" r:id="rId13"/>
    <p:sldId id="364" r:id="rId14"/>
    <p:sldId id="365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73" r:id="rId23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1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9015A-4468-43E0-8A9F-14ADBE38FA4A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3BB13-0C93-4EA1-953A-311921C87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1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3FA8-A029-4ADA-A01D-E05F1EDCF28F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9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393A7-7F9C-43FC-B94B-ED0B33E5C727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E5D-3A44-4311-93C1-226A8CEC5621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3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84DB-8C46-4C18-A16B-6350D67BD214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0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BD84-6435-4355-9EB4-3AC93F97ADC6}" type="datetime1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05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5AA-CEA4-434D-8B8B-71357780AF1E}" type="datetime1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17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8D47-AA9B-472A-A9BC-AEEFF2C6D0D3}" type="datetime1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8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1945D-F54E-41C3-86AF-C65BC0AC7138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5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6F96-E3C0-44DE-AFAA-F918B69B6CE0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0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D5ED-BEB5-47A4-9F8B-28EE002FECB0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1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262E-2C71-48B6-94A4-324DAD673433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3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3E864-F682-4FC5-80C8-28B9E6E90E11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spcBef>
                <a:spcPts val="85"/>
              </a:spcBef>
            </a:pPr>
            <a:r>
              <a:rPr lang="en-GB" sz="1800" baseline="4629">
                <a:latin typeface="Book Antiqua"/>
                <a:cs typeface="Book Antiqua"/>
              </a:rPr>
              <a:t>© </a:t>
            </a:r>
            <a:r>
              <a:rPr lang="en-GB" sz="1200" spc="-5"/>
              <a:t>The</a:t>
            </a:r>
            <a:r>
              <a:rPr lang="en-GB" sz="1200"/>
              <a:t> </a:t>
            </a:r>
            <a:r>
              <a:rPr lang="en-GB" sz="1200" spc="-5"/>
              <a:t>McGraw-Hill</a:t>
            </a:r>
            <a:r>
              <a:rPr lang="en-GB" sz="1200" spc="-10"/>
              <a:t> </a:t>
            </a:r>
            <a:r>
              <a:rPr lang="en-GB" sz="1200" spc="-5"/>
              <a:t>Companies,</a:t>
            </a:r>
            <a:r>
              <a:rPr lang="en-GB" sz="1200" spc="5"/>
              <a:t> </a:t>
            </a:r>
            <a:r>
              <a:rPr lang="en-GB" sz="1200" spc="-5"/>
              <a:t>Inc.,</a:t>
            </a:r>
            <a:r>
              <a:rPr lang="en-GB" sz="1200" spc="10"/>
              <a:t> </a:t>
            </a:r>
            <a:r>
              <a:rPr lang="en-GB" sz="1200" spc="-5">
                <a:latin typeface="Times New Roman"/>
                <a:cs typeface="Times New Roman"/>
              </a:rPr>
              <a:t>2000</a:t>
            </a: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5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questions/what-is-a-type-i-error-in-hypothesis-testing/" TargetMode="External"/><Relationship Id="rId2" Type="http://schemas.openxmlformats.org/officeDocument/2006/relationships/hyperlink" Target="https://www.geeksforgeeks.org/data-science/alpha-and-beta-test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geeksforgeeks.org/r-language/type-ii-error-in-two-tailed-test-of-population-mean-with-known-variance-in-r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0800" y="1219200"/>
            <a:ext cx="7696200" cy="349069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5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</a:t>
            </a:r>
            <a:br>
              <a:rPr lang="en-GB" sz="5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5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UNIT-II</a:t>
            </a:r>
            <a:br>
              <a:rPr lang="en-GB" sz="5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</a:t>
            </a:r>
            <a:br>
              <a:rPr lang="en-US" sz="5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A2F71-B34E-4E5D-9F71-4970D43B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D5D9-C944-CF42-B4D8-FBB4113F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"/>
            <a:ext cx="7886700" cy="1325563"/>
          </a:xfrm>
        </p:spPr>
        <p:txBody>
          <a:bodyPr/>
          <a:lstStyle/>
          <a:p>
            <a:pPr algn="l"/>
            <a:r>
              <a:rPr lang="en-US" b="1" dirty="0"/>
              <a:t>Hypothesis Testing: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F2795-D5C5-468E-8840-808E6D42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475E27-1B6D-20D2-B1AA-6E51F6AFE48E}"/>
              </a:ext>
            </a:extLst>
          </p:cNvPr>
          <p:cNvSpPr txBox="1"/>
          <p:nvPr/>
        </p:nvSpPr>
        <p:spPr>
          <a:xfrm>
            <a:off x="990600" y="1259476"/>
            <a:ext cx="1021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Definition: </a:t>
            </a:r>
          </a:p>
          <a:p>
            <a:r>
              <a:rPr lang="en-IN" dirty="0"/>
              <a:t>Hypothesis testing is the process of evaluating two competing hypotheses using sample data to decide whether the observed results are statistically significant.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BB317D-015E-DEAF-9EA9-3268B04B6038}"/>
              </a:ext>
            </a:extLst>
          </p:cNvPr>
          <p:cNvSpPr txBox="1"/>
          <p:nvPr/>
        </p:nvSpPr>
        <p:spPr>
          <a:xfrm>
            <a:off x="1600200" y="2195247"/>
            <a:ext cx="8610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Terminology</a:t>
            </a:r>
          </a:p>
          <a:p>
            <a:pPr>
              <a:buNone/>
            </a:pPr>
            <a:r>
              <a:rPr lang="en-IN" b="1" dirty="0"/>
              <a:t>1. Null Hypothesis (H₀)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null hypothesis states that there is </a:t>
            </a:r>
            <a:r>
              <a:rPr lang="en-IN" b="1" dirty="0"/>
              <a:t>no effect, no difference, or no relationship</a:t>
            </a:r>
            <a:r>
              <a:rPr lang="en-IN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It is assumed to be true until evidence suggests otherwise. </a:t>
            </a:r>
          </a:p>
          <a:p>
            <a:pPr>
              <a:buNone/>
            </a:pPr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                            H₀: The average blood glucose level of diabetic patients is 120 mg/dL.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2. Alternative Hypothesis (H₁ or Ha)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alternative hypothesis represents the claim the researcher wants to prove.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It indicates an effect, difference, or relationship exists. </a:t>
            </a:r>
          </a:p>
          <a:p>
            <a:pPr>
              <a:buNone/>
            </a:pPr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                           H₁: The average blood glucose level is not 120 mg/dL.</a:t>
            </a:r>
          </a:p>
        </p:txBody>
      </p:sp>
    </p:spTree>
    <p:extLst>
      <p:ext uri="{BB962C8B-B14F-4D97-AF65-F5344CB8AC3E}">
        <p14:creationId xmlns:p14="http://schemas.microsoft.com/office/powerpoint/2010/main" val="1151069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DD5ADF-D26E-93BA-0F76-BCDF7B0EA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3600" y="914400"/>
            <a:ext cx="5715000" cy="50292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F174E-2704-18FC-62DD-3AA8019E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0B1E9B-2A78-3BE8-9348-DE442F7CE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00175"/>
            <a:ext cx="53340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70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1725-7470-EA7F-CFC6-040308B29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04800"/>
            <a:ext cx="10515600" cy="838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Types of Hypotheses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52129-B27A-BE11-D4A6-775842BD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E7441-C728-B1C6-3A06-2C9AD50AC019}"/>
              </a:ext>
            </a:extLst>
          </p:cNvPr>
          <p:cNvSpPr txBox="1"/>
          <p:nvPr/>
        </p:nvSpPr>
        <p:spPr>
          <a:xfrm>
            <a:off x="609600" y="1001038"/>
            <a:ext cx="892084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Two-Tailed Hypothesis</a:t>
            </a:r>
          </a:p>
          <a:p>
            <a:pPr>
              <a:buNone/>
            </a:pPr>
            <a:r>
              <a:rPr lang="en-IN" dirty="0"/>
              <a:t>Tests whether the parameter is </a:t>
            </a:r>
            <a:r>
              <a:rPr lang="en-IN" b="1" dirty="0"/>
              <a:t>different</a:t>
            </a:r>
            <a:r>
              <a:rPr lang="en-IN" dirty="0"/>
              <a:t> from a specified value.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H₀: μ = 50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H₁: μ ≠ 50 </a:t>
            </a:r>
          </a:p>
          <a:p>
            <a:pPr>
              <a:buNone/>
            </a:pPr>
            <a:r>
              <a:rPr lang="en-IN" dirty="0"/>
              <a:t>Both tails of the distribution are considered.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2. Left-Tailed Hypothesis</a:t>
            </a:r>
          </a:p>
          <a:p>
            <a:pPr>
              <a:buNone/>
            </a:pPr>
            <a:r>
              <a:rPr lang="en-IN" dirty="0"/>
              <a:t>Tests whether the parameter is </a:t>
            </a:r>
            <a:r>
              <a:rPr lang="en-IN" b="1" dirty="0"/>
              <a:t>less than</a:t>
            </a:r>
            <a:r>
              <a:rPr lang="en-IN" dirty="0"/>
              <a:t> a specified value.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H₀: μ ≥ 50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H₁: μ &lt; 50 </a:t>
            </a:r>
          </a:p>
          <a:p>
            <a:pPr>
              <a:buNone/>
            </a:pPr>
            <a:r>
              <a:rPr lang="en-IN" dirty="0"/>
              <a:t>Only the left tail is considered.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3. Right-Tailed Hypothesis</a:t>
            </a:r>
          </a:p>
          <a:p>
            <a:pPr>
              <a:buNone/>
            </a:pPr>
            <a:r>
              <a:rPr lang="en-IN" dirty="0"/>
              <a:t>Tests whether the parameter is </a:t>
            </a:r>
            <a:r>
              <a:rPr lang="en-IN" b="1" dirty="0"/>
              <a:t>greater than</a:t>
            </a:r>
            <a:r>
              <a:rPr lang="en-IN" dirty="0"/>
              <a:t> a specified value.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H₀: μ ≤ 50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H₁: μ &gt; 50 </a:t>
            </a:r>
          </a:p>
          <a:p>
            <a:pPr>
              <a:buNone/>
            </a:pPr>
            <a:r>
              <a:rPr lang="en-IN" dirty="0"/>
              <a:t>Only the right tail is considered.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8F94C1-6058-0EA9-BE60-31A73CC4C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620" y="1649576"/>
            <a:ext cx="5937380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4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4800" y="171812"/>
            <a:ext cx="69183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942340" algn="l"/>
              </a:tabLst>
            </a:pPr>
            <a:r>
              <a:rPr sz="4000" b="1" spc="-5" dirty="0">
                <a:latin typeface="Times New Roman"/>
                <a:cs typeface="Times New Roman"/>
              </a:rPr>
              <a:t>Steps</a:t>
            </a:r>
            <a:r>
              <a:rPr sz="4000" b="1" spc="-3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in</a:t>
            </a:r>
            <a:r>
              <a:rPr sz="4000" b="1" spc="-2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Hypothesis</a:t>
            </a:r>
            <a:r>
              <a:rPr sz="4000" b="1" spc="-3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Testing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AB5CB2-C127-4473-AD8C-1857D288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EC4645-A519-004B-8C4A-5B7CA35E8FE3}"/>
              </a:ext>
            </a:extLst>
          </p:cNvPr>
          <p:cNvSpPr txBox="1"/>
          <p:nvPr/>
        </p:nvSpPr>
        <p:spPr>
          <a:xfrm>
            <a:off x="2209800" y="990600"/>
            <a:ext cx="6097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1: State the Hypotheses</a:t>
            </a:r>
          </a:p>
          <a:p>
            <a:pPr>
              <a:buNone/>
            </a:pPr>
            <a:r>
              <a:rPr lang="en-IN" dirty="0"/>
              <a:t>	Formulate H₀ and H₁.</a:t>
            </a:r>
          </a:p>
          <a:p>
            <a:pPr>
              <a:buNone/>
            </a:pPr>
            <a:r>
              <a:rPr lang="en-IN" b="1" dirty="0"/>
              <a:t>Step 2: Choose the Significance Level (α)</a:t>
            </a:r>
          </a:p>
          <a:p>
            <a:pPr>
              <a:buNone/>
            </a:pPr>
            <a:r>
              <a:rPr lang="en-IN" dirty="0"/>
              <a:t>Common values: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IN" dirty="0"/>
              <a:t>α = 0.05 (95% confidence) 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IN" dirty="0"/>
              <a:t>α = 0.01 (99% confidence) 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IN" dirty="0"/>
              <a:t>α = 0.10 (90% confidence)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464216A-68AD-40AD-5741-4591BAE50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544967"/>
              </p:ext>
            </p:extLst>
          </p:nvPr>
        </p:nvGraphicFramePr>
        <p:xfrm>
          <a:off x="5645020" y="3433665"/>
          <a:ext cx="4337180" cy="3354610"/>
        </p:xfrm>
        <a:graphic>
          <a:graphicData uri="http://schemas.openxmlformats.org/drawingml/2006/table">
            <a:tbl>
              <a:tblPr/>
              <a:tblGrid>
                <a:gridCol w="2168590">
                  <a:extLst>
                    <a:ext uri="{9D8B030D-6E8A-4147-A177-3AD203B41FA5}">
                      <a16:colId xmlns:a16="http://schemas.microsoft.com/office/drawing/2014/main" val="1691569587"/>
                    </a:ext>
                  </a:extLst>
                </a:gridCol>
                <a:gridCol w="2168590">
                  <a:extLst>
                    <a:ext uri="{9D8B030D-6E8A-4147-A177-3AD203B41FA5}">
                      <a16:colId xmlns:a16="http://schemas.microsoft.com/office/drawing/2014/main" val="3888625184"/>
                    </a:ext>
                  </a:extLst>
                </a:gridCol>
              </a:tblGrid>
              <a:tr h="335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Statistical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12730"/>
                  </a:ext>
                </a:extLst>
              </a:tr>
              <a:tr h="335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Mean (one sample)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One-sample t-test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762384"/>
                  </a:ext>
                </a:extLst>
              </a:tr>
              <a:tr h="335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Two independent means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Independent t-test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876019"/>
                  </a:ext>
                </a:extLst>
              </a:tr>
              <a:tr h="335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Paired observations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Paired t-test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741463"/>
                  </a:ext>
                </a:extLst>
              </a:tr>
              <a:tr h="335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More than two means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ANOVA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882903"/>
                  </a:ext>
                </a:extLst>
              </a:tr>
              <a:tr h="335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F-test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780993"/>
                  </a:ext>
                </a:extLst>
              </a:tr>
              <a:tr h="335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Categorical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Chi-square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932601"/>
                  </a:ext>
                </a:extLst>
              </a:tr>
              <a:tr h="335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Correlation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Pearson correlation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358978"/>
                  </a:ext>
                </a:extLst>
              </a:tr>
              <a:tr h="335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Regression coefficients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t-test/F-test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914358"/>
                  </a:ext>
                </a:extLst>
              </a:tr>
              <a:tr h="335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Large sample 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Z-test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979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AADCDF3-83AF-C803-4D1B-A67F8D6763CA}"/>
              </a:ext>
            </a:extLst>
          </p:cNvPr>
          <p:cNvSpPr txBox="1"/>
          <p:nvPr/>
        </p:nvSpPr>
        <p:spPr>
          <a:xfrm>
            <a:off x="2209800" y="289222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3: Select the Appropriate Statistical Test</a:t>
            </a:r>
          </a:p>
          <a:p>
            <a:pPr>
              <a:buNone/>
            </a:pPr>
            <a:r>
              <a:rPr lang="en-IN" dirty="0"/>
              <a:t>Examples:</a:t>
            </a:r>
          </a:p>
        </p:txBody>
      </p:sp>
    </p:spTree>
    <p:extLst>
      <p:ext uri="{BB962C8B-B14F-4D97-AF65-F5344CB8AC3E}">
        <p14:creationId xmlns:p14="http://schemas.microsoft.com/office/powerpoint/2010/main" val="3443811630"/>
      </p:ext>
    </p:extLst>
  </p:cSld>
  <p:clrMapOvr>
    <a:masterClrMapping/>
  </p:clrMapOvr>
  <p:transition>
    <p:zoom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228600"/>
            <a:ext cx="6918325" cy="63500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2340" algn="l"/>
              </a:tabLst>
            </a:pPr>
            <a:r>
              <a:rPr sz="4000" b="1" spc="-5" dirty="0"/>
              <a:t>Steps</a:t>
            </a:r>
            <a:r>
              <a:rPr sz="4000" b="1" spc="-30" dirty="0"/>
              <a:t> </a:t>
            </a:r>
            <a:r>
              <a:rPr sz="4000" b="1" spc="-5" dirty="0"/>
              <a:t>in</a:t>
            </a:r>
            <a:r>
              <a:rPr sz="4000" b="1" spc="-25" dirty="0"/>
              <a:t> </a:t>
            </a:r>
            <a:r>
              <a:rPr sz="4000" b="1" spc="-5" dirty="0"/>
              <a:t>Hypothesis</a:t>
            </a:r>
            <a:r>
              <a:rPr sz="4000" b="1" spc="-30" dirty="0"/>
              <a:t> </a:t>
            </a:r>
            <a:r>
              <a:rPr sz="4000" b="1" spc="-5" dirty="0"/>
              <a:t>Testing</a:t>
            </a:r>
            <a:endParaRPr sz="40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98B54-BD42-4078-AABA-4533A704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2CF9A-837D-742E-9883-CB0F8845ED86}"/>
              </a:ext>
            </a:extLst>
          </p:cNvPr>
          <p:cNvSpPr txBox="1"/>
          <p:nvPr/>
        </p:nvSpPr>
        <p:spPr>
          <a:xfrm>
            <a:off x="3048778" y="125420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4: Calculate the Test Statistic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20457-93DE-FBC7-E5C1-48480EE17ED6}"/>
              </a:ext>
            </a:extLst>
          </p:cNvPr>
          <p:cNvSpPr txBox="1"/>
          <p:nvPr/>
        </p:nvSpPr>
        <p:spPr>
          <a:xfrm>
            <a:off x="3045668" y="1589767"/>
            <a:ext cx="77724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5: Determine the Critical Value from statistical table  or p-value</a:t>
            </a:r>
          </a:p>
          <a:p>
            <a:r>
              <a:rPr lang="en-IN" dirty="0"/>
              <a:t>             Compare: Test statistic with the critical value, or p-value with α.</a:t>
            </a:r>
          </a:p>
          <a:p>
            <a:pPr marL="514350" indent="-28575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pc="12" dirty="0">
                <a:latin typeface="Nunito" pitchFamily="2" charset="0"/>
              </a:rPr>
              <a:t>If test statistic &gt; critical value → reject H</a:t>
            </a:r>
            <a:r>
              <a:rPr lang="en-IN" sz="1200" spc="12" baseline="-25000" dirty="0">
                <a:latin typeface="Nunito" pitchFamily="2" charset="0"/>
              </a:rPr>
              <a:t>0</a:t>
            </a:r>
            <a:r>
              <a:rPr lang="en-IN" spc="12" dirty="0">
                <a:latin typeface="Nunito" pitchFamily="2" charset="0"/>
              </a:rPr>
              <a:t>​.</a:t>
            </a:r>
          </a:p>
          <a:p>
            <a:pPr marL="514350" indent="-28575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pc="12" dirty="0">
                <a:latin typeface="Nunito" pitchFamily="2" charset="0"/>
              </a:rPr>
              <a:t>If test statistic ≤ critical value → fail to reject H</a:t>
            </a:r>
            <a:r>
              <a:rPr lang="en-IN" sz="1200" spc="12" baseline="-25000" dirty="0">
                <a:latin typeface="Nunito" pitchFamily="2" charset="0"/>
              </a:rPr>
              <a:t>0</a:t>
            </a:r>
            <a:r>
              <a:rPr lang="en-IN" spc="12" dirty="0">
                <a:latin typeface="Nunito" pitchFamily="2" charset="0"/>
              </a:rPr>
              <a:t>​.</a:t>
            </a:r>
            <a:endParaRPr lang="en-IN" spc="10" dirty="0">
              <a:latin typeface="Nunito" pitchFamily="2" charset="0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A3816-FF58-F88D-DD0D-6974A3FDB6F1}"/>
              </a:ext>
            </a:extLst>
          </p:cNvPr>
          <p:cNvSpPr txBox="1"/>
          <p:nvPr/>
        </p:nvSpPr>
        <p:spPr>
          <a:xfrm>
            <a:off x="2951584" y="3010835"/>
            <a:ext cx="87832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6: Make the Decision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IN" dirty="0"/>
              <a:t>If </a:t>
            </a:r>
            <a:r>
              <a:rPr lang="en-IN" b="1" dirty="0"/>
              <a:t>p-value ≤ α</a:t>
            </a:r>
            <a:r>
              <a:rPr lang="en-IN" dirty="0"/>
              <a:t>, reject H₀. 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IN" dirty="0"/>
              <a:t>If </a:t>
            </a:r>
            <a:r>
              <a:rPr lang="en-IN" b="1" dirty="0"/>
              <a:t>p-value &gt; α</a:t>
            </a:r>
            <a:r>
              <a:rPr lang="en-IN" dirty="0"/>
              <a:t>, </a:t>
            </a:r>
            <a:r>
              <a:rPr lang="en-IN" spc="12" dirty="0">
                <a:solidFill>
                  <a:srgbClr val="273239"/>
                </a:solidFill>
                <a:latin typeface="Nunito" pitchFamily="2" charset="0"/>
              </a:rPr>
              <a:t>insufficient evidence to reject H</a:t>
            </a:r>
            <a:r>
              <a:rPr lang="en-IN" sz="1200" spc="12" baseline="-25000" dirty="0">
                <a:solidFill>
                  <a:srgbClr val="273239"/>
                </a:solidFill>
                <a:latin typeface="Nunito" pitchFamily="2" charset="0"/>
              </a:rPr>
              <a:t>0</a:t>
            </a:r>
            <a:r>
              <a:rPr lang="en-IN" spc="12" dirty="0">
                <a:solidFill>
                  <a:srgbClr val="273239"/>
                </a:solidFill>
                <a:latin typeface="Nunito" pitchFamily="2" charset="0"/>
              </a:rPr>
              <a:t>​, not proof that H</a:t>
            </a:r>
            <a:r>
              <a:rPr lang="en-IN" sz="1200" spc="12" baseline="-25000" dirty="0">
                <a:solidFill>
                  <a:srgbClr val="273239"/>
                </a:solidFill>
                <a:latin typeface="Nunito" pitchFamily="2" charset="0"/>
              </a:rPr>
              <a:t>0</a:t>
            </a:r>
            <a:r>
              <a:rPr lang="en-IN" spc="12" dirty="0">
                <a:solidFill>
                  <a:srgbClr val="273239"/>
                </a:solidFill>
                <a:latin typeface="Nunito" pitchFamily="2" charset="0"/>
              </a:rPr>
              <a:t>​ is true.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F6FED-D5B3-5F9F-4F82-C94F50BC1032}"/>
              </a:ext>
            </a:extLst>
          </p:cNvPr>
          <p:cNvSpPr txBox="1"/>
          <p:nvPr/>
        </p:nvSpPr>
        <p:spPr>
          <a:xfrm>
            <a:off x="1600200" y="3953589"/>
            <a:ext cx="60975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Applications of Hypothesis Testing</a:t>
            </a:r>
          </a:p>
          <a:p>
            <a:pPr>
              <a:buNone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Medical and clinical trials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Machine learning model evaluation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Business decision-making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Quality control in manufacturing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Marketing and A/B testing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Social science research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Financial and economic analysis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Engineering and industrial experiments</a:t>
            </a:r>
          </a:p>
        </p:txBody>
      </p:sp>
    </p:spTree>
  </p:cSld>
  <p:clrMapOvr>
    <a:masterClrMapping/>
  </p:clrMapOvr>
  <p:transition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3AC3-C4D8-E87A-547D-CD7831E1F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1" y="152076"/>
            <a:ext cx="11811000" cy="1325563"/>
          </a:xfrm>
        </p:spPr>
        <p:txBody>
          <a:bodyPr>
            <a:normAutofit fontScale="90000"/>
          </a:bodyPr>
          <a:lstStyle/>
          <a:p>
            <a:r>
              <a:rPr lang="en-IN" b="1" spc="12" dirty="0">
                <a:solidFill>
                  <a:srgbClr val="273239"/>
                </a:solidFill>
                <a:latin typeface="Nunito" pitchFamily="2" charset="0"/>
              </a:rPr>
              <a:t>Type 1 and Type 2 errors in Hypothesis Testing</a:t>
            </a:r>
            <a:br>
              <a:rPr lang="en-IN" b="1" dirty="0">
                <a:solidFill>
                  <a:srgbClr val="273239"/>
                </a:solidFill>
                <a:latin typeface="Nunito" pitchFamily="2" charset="0"/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88AC1-37CC-3A81-E603-F28B8E7FE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5619B6-7722-BF24-243F-0B413A151EC5}"/>
                  </a:ext>
                </a:extLst>
              </p:cNvPr>
              <p:cNvSpPr txBox="1"/>
              <p:nvPr/>
            </p:nvSpPr>
            <p:spPr>
              <a:xfrm>
                <a:off x="1358770" y="1143000"/>
                <a:ext cx="9474459" cy="2641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just" rtl="0" fontAlgn="base">
                  <a:spcAft>
                    <a:spcPts val="750"/>
                  </a:spcAft>
                  <a:buNone/>
                </a:pPr>
                <a:r>
                  <a:rPr lang="en-IN" b="0" i="0" spc="12" dirty="0">
                    <a:solidFill>
                      <a:schemeClr val="tx1"/>
                    </a:solidFill>
                    <a:effectLst/>
                    <a:latin typeface="Nunito" pitchFamily="2" charset="0"/>
                  </a:rPr>
                  <a:t>In hypothesis testing</a:t>
                </a:r>
                <a:r>
                  <a:rPr lang="en-IN" b="0" i="0" u="sng" spc="12" dirty="0">
                    <a:solidFill>
                      <a:schemeClr val="tx1"/>
                    </a:solidFill>
                    <a:effectLst/>
                    <a:latin typeface="Nunito" pitchFamily="2" charset="0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 Type I and Type II errors </a:t>
                </a:r>
                <a:r>
                  <a:rPr lang="en-IN" b="0" i="0" spc="12" dirty="0">
                    <a:solidFill>
                      <a:schemeClr val="tx1"/>
                    </a:solidFill>
                    <a:effectLst/>
                    <a:latin typeface="Nunito" pitchFamily="2" charset="0"/>
                  </a:rPr>
                  <a:t>are two possible errors that can happen when we are finding conclusions about a population based on a sample of data. These errors are associated with the decisions we made regarding the null hypothesis and the alternative hypothesis.</a:t>
                </a:r>
                <a:endParaRPr lang="en-IN" b="0" i="0" spc="10" dirty="0">
                  <a:solidFill>
                    <a:schemeClr val="tx1"/>
                  </a:solidFill>
                  <a:effectLst/>
                  <a:latin typeface="Nunito" pitchFamily="2" charset="0"/>
                </a:endParaRPr>
              </a:p>
              <a:p>
                <a:pPr marL="514350" marR="0" indent="-285750" algn="just" fontAlgn="base">
                  <a:spcAft>
                    <a:spcPts val="1800"/>
                  </a:spcAft>
                  <a:buFont typeface="Wingdings" panose="05000000000000000000" pitchFamily="2" charset="2"/>
                  <a:buChar char="q"/>
                </a:pPr>
                <a:r>
                  <a:rPr lang="en-IN" b="1" i="0" u="sng" spc="10" dirty="0">
                    <a:solidFill>
                      <a:schemeClr val="tx1"/>
                    </a:solidFill>
                    <a:effectLst/>
                    <a:latin typeface="Nunito" pitchFamily="2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Type I error:</a:t>
                </a:r>
                <a:r>
                  <a:rPr lang="en-IN" b="0" i="0" spc="12" dirty="0">
                    <a:solidFill>
                      <a:schemeClr val="tx1"/>
                    </a:solidFill>
                    <a:effectLst/>
                    <a:latin typeface="Nunito" pitchFamily="2" charset="0"/>
                  </a:rPr>
                  <a:t> When we reject the null hypothesis although that hypothesis was true. Type I error is denoted by alpha(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b="0" i="0" spc="12" dirty="0">
                    <a:solidFill>
                      <a:schemeClr val="tx1"/>
                    </a:solidFill>
                    <a:effectLst/>
                    <a:latin typeface="Nunito" pitchFamily="2" charset="0"/>
                  </a:rPr>
                  <a:t>).</a:t>
                </a:r>
                <a:endParaRPr lang="en-IN" b="0" i="0" spc="10" dirty="0">
                  <a:solidFill>
                    <a:schemeClr val="tx1"/>
                  </a:solidFill>
                  <a:effectLst/>
                  <a:latin typeface="Nunito" pitchFamily="2" charset="0"/>
                </a:endParaRPr>
              </a:p>
              <a:p>
                <a:pPr marL="514350" marR="0" indent="-285750" algn="just" fontAlgn="base">
                  <a:spcAft>
                    <a:spcPts val="1800"/>
                  </a:spcAft>
                  <a:buFont typeface="Wingdings" panose="05000000000000000000" pitchFamily="2" charset="2"/>
                  <a:buChar char="q"/>
                </a:pPr>
                <a:r>
                  <a:rPr lang="en-IN" b="1" i="0" u="sng" spc="10" dirty="0">
                    <a:solidFill>
                      <a:schemeClr val="tx1"/>
                    </a:solidFill>
                    <a:effectLst/>
                    <a:latin typeface="Nunito" pitchFamily="2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Type II errors</a:t>
                </a:r>
                <a:r>
                  <a:rPr lang="en-IN" b="1" i="0" spc="10" dirty="0">
                    <a:solidFill>
                      <a:schemeClr val="tx1"/>
                    </a:solidFill>
                    <a:effectLst/>
                    <a:latin typeface="Nunito" pitchFamily="2" charset="0"/>
                  </a:rPr>
                  <a:t>:</a:t>
                </a:r>
                <a:r>
                  <a:rPr lang="en-IN" b="0" i="0" spc="12" dirty="0">
                    <a:solidFill>
                      <a:schemeClr val="tx1"/>
                    </a:solidFill>
                    <a:effectLst/>
                    <a:latin typeface="Nunito" pitchFamily="2" charset="0"/>
                  </a:rPr>
                  <a:t> When we fail to reject the null hypothesis even though it is false, Type II errors are denoted by beta(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IN" b="0" i="0" spc="12" dirty="0">
                    <a:solidFill>
                      <a:schemeClr val="tx1"/>
                    </a:solidFill>
                    <a:effectLst/>
                    <a:latin typeface="Nunito" pitchFamily="2" charset="0"/>
                  </a:rPr>
                  <a:t>).</a:t>
                </a:r>
                <a:endParaRPr lang="en-IN" b="0" i="0" spc="10" dirty="0">
                  <a:solidFill>
                    <a:schemeClr val="tx1"/>
                  </a:solidFill>
                  <a:effectLst/>
                  <a:latin typeface="Nunito" pitchFamily="2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5619B6-7722-BF24-243F-0B413A151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770" y="1143000"/>
                <a:ext cx="9474459" cy="2641749"/>
              </a:xfrm>
              <a:prstGeom prst="rect">
                <a:avLst/>
              </a:prstGeom>
              <a:blipFill>
                <a:blip r:embed="rId5"/>
                <a:stretch>
                  <a:fillRect l="-579" t="-1386" r="-515" b="-27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B85D2C8-D894-560D-BD08-C8A07AB7ED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00" y="3916720"/>
            <a:ext cx="6782388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14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DF162A-C0BF-E7D3-71BE-F21DE9CD4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0" y="609600"/>
            <a:ext cx="9220200" cy="57467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DF03D-1A8B-7EC9-0A5E-42AE8F0D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41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2C2E5B-55A4-DEE1-A2B4-463C24D34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43000"/>
            <a:ext cx="5634942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48DA8-9EA4-A712-8231-6528038D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BC21AA-583D-C4E7-4509-339BEB739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143000"/>
            <a:ext cx="62674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58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AF4CE-16D5-FB45-7882-208681BA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C7DA91-7597-AE37-C4F7-986C4C15B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7" y="304800"/>
            <a:ext cx="5822413" cy="5448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49147E-5FD1-7B0C-B348-A4E98936A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52612"/>
            <a:ext cx="59912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39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35A8EC-053C-A93A-7E8C-EA8304EDE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533400"/>
            <a:ext cx="7010399" cy="56435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7E001-4DB9-B1A3-D607-7B348405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25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88B607-8DF2-2BCF-41BD-D2199924E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304800"/>
            <a:ext cx="5791200" cy="5638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82DA7-A865-74C7-86A5-5B21E362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D540B5-B070-4365-12E2-ED186E25E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981200"/>
            <a:ext cx="5400675" cy="285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39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FA9EF89-27E1-BEDC-EF1D-6E944D4D7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1" y="990601"/>
            <a:ext cx="10439400" cy="495855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ADEA3-0136-CB1E-8517-AC980581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77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EA55AF-DF79-59C5-6D5C-C58E2922D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1" y="914400"/>
            <a:ext cx="10363200" cy="496808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A9051-5061-4076-241A-DD0416CF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71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9EA3B-FBEF-DF05-7F1D-B1A4A4B9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A4671F8-1592-3C51-9DE6-28D0195C3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762000"/>
            <a:ext cx="10134600" cy="5414963"/>
          </a:xfrm>
        </p:spPr>
      </p:pic>
    </p:spTree>
    <p:extLst>
      <p:ext uri="{BB962C8B-B14F-4D97-AF65-F5344CB8AC3E}">
        <p14:creationId xmlns:p14="http://schemas.microsoft.com/office/powerpoint/2010/main" val="2017013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43C9AB-005B-6A22-F993-65A231170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762000"/>
            <a:ext cx="10515600" cy="5414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6E7FD-4B25-7F3E-E17F-BBC09F17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88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397A57-B80C-36BE-179C-8CCBB58F7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66800"/>
            <a:ext cx="10668000" cy="481568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2344E-B90D-68A3-1817-C9EEA6C02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97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BABC0B-24AB-2218-5300-E482B5AA3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838201"/>
            <a:ext cx="10668000" cy="503475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32376-349A-D305-D537-57A993DC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03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7065B1-CB2C-830F-8948-C2B160EC2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978297"/>
            <a:ext cx="10515600" cy="490140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8402A-97CE-6076-4299-8835C6D1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56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8C8D40-0559-033B-42E4-00A45C57B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066800"/>
            <a:ext cx="10744200" cy="48728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97D14-96D8-EE76-E86D-F683EBC2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70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4745E9-2A21-0C71-5B48-AFC9A1EE3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838200"/>
            <a:ext cx="10210800" cy="53387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AD4D7-9C05-4046-0AC2-E6CD7C7D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86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05A66F-D0DA-7793-D00B-A8832675E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371600"/>
            <a:ext cx="10363200" cy="405844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C770E-4B83-7C8C-8C25-1B7D23954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4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360</TotalTime>
  <Words>632</Words>
  <Application>Microsoft Office PowerPoint</Application>
  <PresentationFormat>Widescreen</PresentationFormat>
  <Paragraphs>109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Book Antiqua</vt:lpstr>
      <vt:lpstr>Calibri</vt:lpstr>
      <vt:lpstr>Calibri Light</vt:lpstr>
      <vt:lpstr>Cambria Math</vt:lpstr>
      <vt:lpstr>Nunito</vt:lpstr>
      <vt:lpstr>Times New Roman</vt:lpstr>
      <vt:lpstr>Wingdings</vt:lpstr>
      <vt:lpstr>Office Theme</vt:lpstr>
      <vt:lpstr>Data Science  UNIT-II Hypothesis Testing   </vt:lpstr>
      <vt:lpstr>Hypothesis Testing:</vt:lpstr>
      <vt:lpstr>PowerPoint Presentation</vt:lpstr>
      <vt:lpstr>Types of Hypotheses </vt:lpstr>
      <vt:lpstr>PowerPoint Presentation</vt:lpstr>
      <vt:lpstr>Steps in Hypothesis Testing</vt:lpstr>
      <vt:lpstr>Type 1 and Type 2 errors in Hypothesis Testing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</dc:title>
  <cp:lastModifiedBy>Subhash Chandra N</cp:lastModifiedBy>
  <cp:revision>45</cp:revision>
  <dcterms:created xsi:type="dcterms:W3CDTF">2021-03-08T14:04:57Z</dcterms:created>
  <dcterms:modified xsi:type="dcterms:W3CDTF">2026-07-18T07:48:32Z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2013-04-03T00:00:00Z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2021-03-08T00:00:00Z</vt:filetime>
  </property>
</Properties>
</file>