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1201" r:id="rId3"/>
    <p:sldId id="263" r:id="rId4"/>
    <p:sldId id="277" r:id="rId5"/>
    <p:sldId id="433" r:id="rId6"/>
    <p:sldId id="260" r:id="rId7"/>
    <p:sldId id="449" r:id="rId8"/>
    <p:sldId id="1186" r:id="rId9"/>
    <p:sldId id="1187" r:id="rId10"/>
    <p:sldId id="1192" r:id="rId11"/>
    <p:sldId id="1193" r:id="rId12"/>
    <p:sldId id="450" r:id="rId13"/>
    <p:sldId id="451" r:id="rId14"/>
    <p:sldId id="1188" r:id="rId15"/>
    <p:sldId id="1189" r:id="rId16"/>
    <p:sldId id="1190" r:id="rId17"/>
    <p:sldId id="1181" r:id="rId18"/>
    <p:sldId id="1191" r:id="rId19"/>
    <p:sldId id="447" r:id="rId20"/>
    <p:sldId id="452" r:id="rId21"/>
    <p:sldId id="453" r:id="rId22"/>
    <p:sldId id="258" r:id="rId23"/>
    <p:sldId id="1194" r:id="rId24"/>
    <p:sldId id="1196" r:id="rId25"/>
    <p:sldId id="1195" r:id="rId26"/>
    <p:sldId id="280" r:id="rId27"/>
    <p:sldId id="278" r:id="rId28"/>
    <p:sldId id="1202" r:id="rId29"/>
    <p:sldId id="1203" r:id="rId30"/>
    <p:sldId id="1204" r:id="rId31"/>
    <p:sldId id="276" r:id="rId32"/>
    <p:sldId id="267" r:id="rId33"/>
    <p:sldId id="119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8F0F7-492D-4CEB-A24C-300C5C302A5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6B053-55A6-4F9A-A818-60916A85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25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A2C9-A5CB-44B5-87A5-1346708A6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E3B45E-3B7A-46FE-BB68-8DD85DAD4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16DB0-21CB-4AE4-AFB3-49B9F8B16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17665-0979-4320-B395-5B50AB546E74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CCA50-9E62-46BC-B0DC-FFE4FFE94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51CC3-E341-4196-BF21-317B02B5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68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E1DE-4655-4356-A60A-CBE3AA63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7BB18-EDF6-48DE-86A8-C65CC66E8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C2510-B231-49DC-BC13-E6FE6684A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83B0-FFDB-4487-959F-F10CC8B2A547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CA4BC-4839-4C79-974E-11C9CFAF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B04DA-8052-4AE0-B0EB-F04A0297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0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73083-AF18-41B0-86D4-58FC6F74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97CA6-A09F-4D4E-87F9-7E8975219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35D9E-0676-48CE-9A23-FE8366AC4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22141-E6CB-4E41-A023-25594E2F0916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9BF8C-982F-4619-ABFD-B7C6A30B2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A5B38-EBBA-4E9B-A414-B28DB1127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1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B7F7-0A6D-4025-8144-46A784FC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EC312-F120-4F12-9535-DECD2D287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20A7B-756C-4409-A95D-FE2D9AFEB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0849-4AFC-4307-8877-EFD683B1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7FE-E5CC-4B11-89D8-0C7B568098DB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2D0E4-6EA4-485C-9631-C057FD70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83E58-4366-4287-98A1-389B50F9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12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2A02-3956-482B-8205-6B88AE872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11188-FA6E-4821-ACBA-419739E89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3908F-CDCA-414D-A10E-681222A04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7C4199-8B3F-4230-B535-332F221DD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FE438-0959-4F50-961F-22BBAA530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F8DEB-8E59-4897-BD10-BFF45B85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DB3AA-91FE-4B69-B2CC-4E9C94E8D834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809D7B-CC5C-4D54-9D99-8658D322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8FBBF-4738-4269-9B07-A4E060FC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1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D86A-FD96-474C-BDE5-FC1C5A58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4C7C1-2F6A-4BB6-A4D4-AFA93C7B0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96DA-B3A4-4FDD-8536-96EF9C560732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45A8B-9922-4FA3-BD40-BA0A3C8F8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6576BE-9F4C-4DC4-89F4-E2B7BBDAB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68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2D47A-4A89-4A1C-9712-F251776C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E72B-39EB-4972-BED2-1FC6D6EDE6AE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60731A-D20C-46C8-9605-62F82CB9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8CF3A-B663-4B31-A264-4B7922F4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75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4805-E532-4A74-A2D6-4F6307CBF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EA439-FB30-4BA6-A3C4-08239322F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1844E-5D2F-44EB-8C3C-093AE6127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ED116-F9BC-4391-A486-DF7FCD33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F3923-5A4E-449E-AB80-CB9559BB4E69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192CF-FAEE-4068-B59A-1321C4CEC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FC4AB-1C1A-49A7-AABF-7B09972D7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3676-B665-4A9F-8132-9334CDD7C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0C70C-60FD-4C31-AFBC-1DA0945483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655EF-F5FD-4A01-864B-29761BC6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CCD6F-BCAE-4547-8510-E4C259029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79C5-5175-464C-8B93-4EBA3ADBFD67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66B69-F25C-46D1-BE0E-D73D3A3BF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B3BE0-6E7B-4B16-A04D-5260D3FC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4313-DA30-4577-B973-B25EC2494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D24EF-5DAF-4BC6-A0CB-A64286E24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5459D-F1E3-4FC4-B97B-E62EC0FA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77E0-136B-4A48-9305-DB5AD09E2CEB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211A6-4288-4D70-BA7C-02C0B34A8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0223C-3FAD-4E3E-A323-4BFAE724C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2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9076B-303F-4781-BE1D-8721916F1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AF2F26-2439-40AD-8ABA-70E8BA0C3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FE1A5-11FF-4C56-A5EC-C3EA40F8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D3C0-0A9E-4FCD-8FB5-92EEA219EF14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636C7-9BFC-49F0-B938-7EF4C277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D6454-7B97-4533-9B8A-CEB7FAB4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3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C5126-8818-4651-B3AD-AAEBBA1B9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1DBF5-169F-48DD-BD44-7D086E853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7D2B4-4F04-4C4E-8E19-B100F35EF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C9350-6297-4ABF-9021-05692816DCE4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9869E-D9ED-4D2C-9861-4F47FEBC7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569CA-86EB-4882-A749-FB281B9A9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EE27-9383-412E-8B53-6A8E5AB6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93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8BEFC-544C-4423-B26C-98375D878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27415"/>
            <a:ext cx="9144000" cy="3343615"/>
          </a:xfrm>
        </p:spPr>
        <p:txBody>
          <a:bodyPr/>
          <a:lstStyle/>
          <a:p>
            <a:r>
              <a:rPr lang="en-GB" b="1" dirty="0"/>
              <a:t>Data Science </a:t>
            </a:r>
            <a:br>
              <a:rPr lang="en-GB" b="1" dirty="0"/>
            </a:br>
            <a:r>
              <a:rPr lang="en-GB" b="1" dirty="0"/>
              <a:t>Unit-II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8CE59-51D4-4567-B03F-C3FDA16A03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Multivariate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5AE5A1-FE70-4CE9-9AE9-2669345FBD9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3201FC-2C50-434C-BF51-302048EE58E5}"/>
              </a:ext>
            </a:extLst>
          </p:cNvPr>
          <p:cNvCxnSpPr/>
          <p:nvPr/>
        </p:nvCxnSpPr>
        <p:spPr>
          <a:xfrm>
            <a:off x="166467" y="3429000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1D01F-2623-4532-AEBF-086F4EBD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8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B419-BB10-4DC3-95CD-71B26B766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355" y="-33476"/>
            <a:ext cx="7722705" cy="1325563"/>
          </a:xfrm>
        </p:spPr>
        <p:txBody>
          <a:bodyPr/>
          <a:lstStyle/>
          <a:p>
            <a:r>
              <a:rPr lang="en-GB" b="1" dirty="0"/>
              <a:t>Multivariant Data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5AE5A1-FE70-4CE9-9AE9-2669345FBD9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3201FC-2C50-434C-BF51-302048EE58E5}"/>
              </a:ext>
            </a:extLst>
          </p:cNvPr>
          <p:cNvCxnSpPr/>
          <p:nvPr/>
        </p:nvCxnSpPr>
        <p:spPr>
          <a:xfrm>
            <a:off x="164123" y="997429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C65F6-8C13-41A4-AF06-99D99623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35D342-E389-E550-F25D-8A4CF1020F4E}"/>
              </a:ext>
            </a:extLst>
          </p:cNvPr>
          <p:cNvSpPr txBox="1"/>
          <p:nvPr/>
        </p:nvSpPr>
        <p:spPr>
          <a:xfrm>
            <a:off x="1417882" y="1433605"/>
            <a:ext cx="965045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Multivariate data refers to data that involves multiple variables or measurements. Each observation in the dataset has values for multiple attributes. </a:t>
            </a:r>
            <a:r>
              <a:rPr lang="en-GB" sz="2400" dirty="0" err="1"/>
              <a:t>Analyzing</a:t>
            </a:r>
            <a:r>
              <a:rPr lang="en-GB" sz="2400" dirty="0"/>
              <a:t> multivariate data is essential in many fields, including statistics, data science, machine learning, and various scientific disciplines.</a:t>
            </a:r>
          </a:p>
          <a:p>
            <a:pPr algn="just"/>
            <a:r>
              <a:rPr lang="en-GB" sz="2400" b="1" dirty="0"/>
              <a:t>Characteristics of Multivariate Data</a:t>
            </a:r>
          </a:p>
          <a:p>
            <a:pPr algn="just">
              <a:buFont typeface="+mj-lt"/>
              <a:buAutoNum type="arabicPeriod"/>
            </a:pPr>
            <a:r>
              <a:rPr lang="en-GB" sz="2400" b="1" dirty="0"/>
              <a:t>Multiple Variables</a:t>
            </a:r>
            <a:r>
              <a:rPr lang="en-GB" sz="2400" dirty="0"/>
              <a:t>: Multivariate data contains more than one variable or attribute per observation.</a:t>
            </a:r>
          </a:p>
          <a:p>
            <a:pPr algn="just">
              <a:buFont typeface="+mj-lt"/>
              <a:buAutoNum type="arabicPeriod"/>
            </a:pPr>
            <a:r>
              <a:rPr lang="en-GB" sz="2400" b="1" dirty="0"/>
              <a:t>Complexity</a:t>
            </a:r>
            <a:r>
              <a:rPr lang="en-GB" sz="2400" dirty="0"/>
              <a:t>: The relationships between variables can be complex, requiring sophisticated statistical and computational methods for analysis.</a:t>
            </a:r>
          </a:p>
          <a:p>
            <a:pPr algn="just">
              <a:buFont typeface="+mj-lt"/>
              <a:buAutoNum type="arabicPeriod"/>
            </a:pPr>
            <a:r>
              <a:rPr lang="en-GB" sz="2400" b="1" dirty="0"/>
              <a:t>Higher Dimensionality</a:t>
            </a:r>
            <a:r>
              <a:rPr lang="en-GB" sz="2400" dirty="0"/>
              <a:t>: With more variables, the data becomes high-dimensional, which can lead to challenges in visualization and interpretation.</a:t>
            </a:r>
          </a:p>
          <a:p>
            <a:pPr algn="just"/>
            <a:r>
              <a:rPr lang="en-GB" sz="2400" dirty="0"/>
              <a:t>Example: Healthcare, Financial, Environment</a:t>
            </a:r>
          </a:p>
        </p:txBody>
      </p:sp>
    </p:spTree>
    <p:extLst>
      <p:ext uri="{BB962C8B-B14F-4D97-AF65-F5344CB8AC3E}">
        <p14:creationId xmlns:p14="http://schemas.microsoft.com/office/powerpoint/2010/main" val="2651685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B419-BB10-4DC3-95CD-71B26B766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355" y="-33476"/>
            <a:ext cx="7722705" cy="1325563"/>
          </a:xfrm>
        </p:spPr>
        <p:txBody>
          <a:bodyPr/>
          <a:lstStyle/>
          <a:p>
            <a:r>
              <a:rPr lang="en-GB" b="1" dirty="0"/>
              <a:t>Multivariant Analysis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5AE5A1-FE70-4CE9-9AE9-2669345FBD9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3201FC-2C50-434C-BF51-302048EE58E5}"/>
              </a:ext>
            </a:extLst>
          </p:cNvPr>
          <p:cNvCxnSpPr/>
          <p:nvPr/>
        </p:nvCxnSpPr>
        <p:spPr>
          <a:xfrm>
            <a:off x="164123" y="997429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B89C50-60BE-469F-94FC-3911B382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217" y="1189167"/>
            <a:ext cx="10515600" cy="48273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>
                <a:latin typeface="TradeGothic"/>
              </a:rPr>
              <a:t>M</a:t>
            </a:r>
            <a:r>
              <a:rPr lang="en-GB" b="0" i="0" dirty="0">
                <a:effectLst/>
                <a:latin typeface="TradeGothic"/>
              </a:rPr>
              <a:t>ultivariate analysis encompasses all statistical techniques that are used to </a:t>
            </a:r>
            <a:r>
              <a:rPr lang="en-GB" b="0" i="0" dirty="0" err="1">
                <a:effectLst/>
                <a:latin typeface="TradeGothic"/>
              </a:rPr>
              <a:t>analyze</a:t>
            </a:r>
            <a:r>
              <a:rPr lang="en-GB" b="0" i="0" dirty="0">
                <a:effectLst/>
                <a:latin typeface="TradeGothic"/>
              </a:rPr>
              <a:t> </a:t>
            </a:r>
            <a:r>
              <a:rPr lang="en-GB" b="1" i="0" dirty="0">
                <a:effectLst/>
                <a:latin typeface="TradeGothic"/>
              </a:rPr>
              <a:t>more than two variables at once</a:t>
            </a:r>
            <a:r>
              <a:rPr lang="en-GB" b="0" i="0" dirty="0">
                <a:effectLst/>
                <a:latin typeface="TradeGothic"/>
              </a:rPr>
              <a:t>. </a:t>
            </a:r>
          </a:p>
          <a:p>
            <a:pPr algn="just"/>
            <a:r>
              <a:rPr lang="en-GB" b="0" i="0" dirty="0">
                <a:effectLst/>
                <a:latin typeface="TradeGothic"/>
              </a:rPr>
              <a:t>The aim is to find patterns and correlations between several variables simultaneously—allowing for a much deeper, more complex understanding of a given scenario than you’ll get with bivariate analysis.</a:t>
            </a:r>
          </a:p>
          <a:p>
            <a:pPr marL="0" indent="0" algn="just">
              <a:buNone/>
            </a:pPr>
            <a:r>
              <a:rPr lang="en-GB" b="0" i="0" dirty="0">
                <a:effectLst/>
                <a:latin typeface="TradeGothic"/>
              </a:rPr>
              <a:t>There are three categories of analysis to be aware of: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TradeGothic"/>
              </a:rPr>
              <a:t>Univariate analysis</a:t>
            </a:r>
            <a:r>
              <a:rPr lang="en-GB" b="0" i="0" dirty="0">
                <a:effectLst/>
                <a:latin typeface="TradeGothic"/>
              </a:rPr>
              <a:t>, which looks at just one variable:  Bar charts, Pie charts, Histograms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TradeGothic"/>
              </a:rPr>
              <a:t>Bivariate analysis</a:t>
            </a:r>
            <a:r>
              <a:rPr lang="en-GB" b="0" i="0" dirty="0">
                <a:effectLst/>
                <a:latin typeface="TradeGothic"/>
              </a:rPr>
              <a:t>, which </a:t>
            </a:r>
            <a:r>
              <a:rPr lang="en-GB" b="0" i="0" dirty="0" err="1">
                <a:effectLst/>
                <a:latin typeface="TradeGothic"/>
              </a:rPr>
              <a:t>analyzes</a:t>
            </a:r>
            <a:r>
              <a:rPr lang="en-GB" b="0" i="0" dirty="0">
                <a:effectLst/>
                <a:latin typeface="TradeGothic"/>
              </a:rPr>
              <a:t> two variables, Ex: Scatter plot, Regression and Correlation </a:t>
            </a:r>
            <a:r>
              <a:rPr lang="en-GB" b="0" i="0" dirty="0" err="1">
                <a:effectLst/>
                <a:latin typeface="TradeGothic"/>
              </a:rPr>
              <a:t>anlysis</a:t>
            </a:r>
            <a:endParaRPr lang="en-GB" b="0" i="0" dirty="0">
              <a:effectLst/>
              <a:latin typeface="TradeGothic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TradeGothic"/>
              </a:rPr>
              <a:t>Multivariate analysis</a:t>
            </a:r>
            <a:r>
              <a:rPr lang="en-GB" b="0" i="0" dirty="0">
                <a:effectLst/>
                <a:latin typeface="TradeGothic"/>
              </a:rPr>
              <a:t>, which looks at more than two variables Ex: Clustering etc</a:t>
            </a:r>
          </a:p>
          <a:p>
            <a:pPr algn="just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C65F6-8C13-41A4-AF06-99D99623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38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2323F-8E75-4C6C-88D6-94E27C733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31" y="95868"/>
            <a:ext cx="10515600" cy="1325563"/>
          </a:xfrm>
        </p:spPr>
        <p:txBody>
          <a:bodyPr/>
          <a:lstStyle/>
          <a:p>
            <a:r>
              <a:rPr lang="en-US" b="1" dirty="0"/>
              <a:t>Univariate, Bivariate &amp; Multivariate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5AE5A1-FE70-4CE9-9AE9-2669345FBD9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3201FC-2C50-434C-BF51-302048EE58E5}"/>
              </a:ext>
            </a:extLst>
          </p:cNvPr>
          <p:cNvCxnSpPr/>
          <p:nvPr/>
        </p:nvCxnSpPr>
        <p:spPr>
          <a:xfrm>
            <a:off x="166467" y="115217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00EB441-62F6-42FA-B82E-4D6A4B1D0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00" y="1214567"/>
            <a:ext cx="5238750" cy="2533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86EB23-E304-4F55-9089-1452E2DED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00" y="3842238"/>
            <a:ext cx="5238750" cy="27175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574FDE-49CF-4646-BC06-5164A3C47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152" y="1337715"/>
            <a:ext cx="4904154" cy="28574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D1C728-5C25-4EB1-B8BE-C175DBD2EF75}"/>
              </a:ext>
            </a:extLst>
          </p:cNvPr>
          <p:cNvSpPr txBox="1"/>
          <p:nvPr/>
        </p:nvSpPr>
        <p:spPr>
          <a:xfrm>
            <a:off x="6488152" y="4691270"/>
            <a:ext cx="477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Used Seaborn</a:t>
            </a:r>
          </a:p>
          <a:p>
            <a:r>
              <a:rPr lang="en-GB" dirty="0"/>
              <a:t>Correlation plays major role =  +</a:t>
            </a:r>
            <a:r>
              <a:rPr lang="en-GB" dirty="0" err="1"/>
              <a:t>ve</a:t>
            </a:r>
            <a:r>
              <a:rPr lang="en-GB" dirty="0"/>
              <a:t>, -</a:t>
            </a:r>
            <a:r>
              <a:rPr lang="en-GB" dirty="0" err="1"/>
              <a:t>ve</a:t>
            </a:r>
            <a:r>
              <a:rPr lang="en-GB" dirty="0"/>
              <a:t>, 0  values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08E13E-5C03-41B7-914B-53C6CA79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25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A6CC65C5-3335-4280-A9B3-797DE8B8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87" y="-61913"/>
            <a:ext cx="10515600" cy="1325563"/>
          </a:xfrm>
        </p:spPr>
        <p:txBody>
          <a:bodyPr/>
          <a:lstStyle/>
          <a:p>
            <a:r>
              <a:rPr lang="en-US" altLang="en-US" sz="4400" b="1" dirty="0"/>
              <a:t>Mean Vector: Definition</a:t>
            </a: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D1301-DE40-4620-B91C-CF4137BFC77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381000" y="1600200"/>
            <a:ext cx="10998200" cy="4419600"/>
          </a:xfrm>
          <a:blipFill rotWithShape="0">
            <a:blip r:embed="rId2"/>
            <a:stretch>
              <a:fillRect l="-665" t="-1517" r="-1109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2D8132-7A85-43BE-9B3B-3AC391837B8C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67BAB-D5DA-4D96-9FCA-7DA121F2170B}"/>
              </a:ext>
            </a:extLst>
          </p:cNvPr>
          <p:cNvCxnSpPr/>
          <p:nvPr/>
        </p:nvCxnSpPr>
        <p:spPr>
          <a:xfrm>
            <a:off x="164123" y="997429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ECE9F-2835-466F-971B-A99C86F12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12" y="0"/>
            <a:ext cx="10515600" cy="1325563"/>
          </a:xfrm>
        </p:spPr>
        <p:txBody>
          <a:bodyPr/>
          <a:lstStyle/>
          <a:p>
            <a:r>
              <a:rPr lang="en-US" b="1" dirty="0"/>
              <a:t>Mean vector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353AF5-15F4-4EFF-A849-BED42E460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358" y="1748321"/>
            <a:ext cx="6016486" cy="140017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5AE5A1-FE70-4CE9-9AE9-2669345FBD9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3201FC-2C50-434C-BF51-302048EE58E5}"/>
              </a:ext>
            </a:extLst>
          </p:cNvPr>
          <p:cNvCxnSpPr/>
          <p:nvPr/>
        </p:nvCxnSpPr>
        <p:spPr>
          <a:xfrm>
            <a:off x="164123" y="997429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6B9CA84-30FC-46FD-9D81-AEBBB0CA3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756" y="3428999"/>
            <a:ext cx="4956313" cy="19911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4FD364-531A-4C61-9E3A-6A95F71C6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814" y="3922644"/>
            <a:ext cx="4081256" cy="112788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5CCFF9-AB39-426D-89FB-289C15BC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4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C9EB48A-01B7-81F8-456B-F3C51C186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14" y="886418"/>
            <a:ext cx="9718066" cy="15092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BA7A7B-0AC3-19FD-D886-491AD0528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134" y="2690373"/>
            <a:ext cx="9718066" cy="3677770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6B6FC2B-94D5-C7BB-0E61-5B2CF2C63781}"/>
              </a:ext>
            </a:extLst>
          </p:cNvPr>
          <p:cNvSpPr txBox="1">
            <a:spLocks noChangeArrowheads="1"/>
          </p:cNvSpPr>
          <p:nvPr/>
        </p:nvSpPr>
        <p:spPr>
          <a:xfrm>
            <a:off x="-122389" y="277551"/>
            <a:ext cx="10168128" cy="4246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1">
              <a:defRPr/>
            </a:pPr>
            <a:r>
              <a:rPr lang="en-US" sz="3600" b="1" kern="0" dirty="0">
                <a:solidFill>
                  <a:sysClr val="windowText" lastClr="000000"/>
                </a:solidFill>
              </a:rPr>
              <a:t>Covariance and Correlation </a:t>
            </a:r>
          </a:p>
        </p:txBody>
      </p:sp>
    </p:spTree>
    <p:extLst>
      <p:ext uri="{BB962C8B-B14F-4D97-AF65-F5344CB8AC3E}">
        <p14:creationId xmlns:p14="http://schemas.microsoft.com/office/powerpoint/2010/main" val="365833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515165-F537-E540-B3E7-955BB17B0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773" y="3817110"/>
            <a:ext cx="9253711" cy="2387747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02ADF6-8446-D45E-B953-0915AEAFA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772" y="653143"/>
            <a:ext cx="4445228" cy="24336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3EBC4A-26D3-2480-76B9-21AE6C996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172" y="945357"/>
            <a:ext cx="3396343" cy="184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536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137313-E0CB-6442-2084-6523B4D35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1" y="762000"/>
            <a:ext cx="10156370" cy="5280924"/>
          </a:xfrm>
        </p:spPr>
      </p:pic>
    </p:spTree>
    <p:extLst>
      <p:ext uri="{BB962C8B-B14F-4D97-AF65-F5344CB8AC3E}">
        <p14:creationId xmlns:p14="http://schemas.microsoft.com/office/powerpoint/2010/main" val="1069532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4CCF3-2000-4342-8525-92B779DD0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5884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6DA586-4373-A84C-945C-C98F401D5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209" t="13328" r="44208" b="11990"/>
          <a:stretch/>
        </p:blipFill>
        <p:spPr>
          <a:xfrm>
            <a:off x="942535" y="1041010"/>
            <a:ext cx="10411265" cy="55585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1220B-B06E-DD4F-BE25-6C883E7AF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03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8D4CA8-0EF8-4542-9B62-90351EE001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411" t="11712" r="44006" b="14254"/>
          <a:stretch/>
        </p:blipFill>
        <p:spPr>
          <a:xfrm>
            <a:off x="998806" y="590844"/>
            <a:ext cx="10354994" cy="63726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9AB08-D1C0-A846-8908-591CCC0C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52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A23473-15BD-6348-9683-74B76F2C6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412" t="10096" r="44409" b="12636"/>
          <a:stretch/>
        </p:blipFill>
        <p:spPr>
          <a:xfrm>
            <a:off x="1589648" y="478303"/>
            <a:ext cx="9764151" cy="60631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D2C17-516B-074A-B2C5-8A87D681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82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4951A7-DBEB-DC44-ACFB-D46232C32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412" t="9125" r="44409" b="14901"/>
          <a:stretch/>
        </p:blipFill>
        <p:spPr>
          <a:xfrm>
            <a:off x="1266092" y="858129"/>
            <a:ext cx="9523828" cy="549822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14F16-24B3-AD4B-A570-2D6295D5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09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641" y="114238"/>
            <a:ext cx="10686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0627" y="934245"/>
            <a:ext cx="10672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Correlation analysis is a method of statistical evaluation used to study the strength of a relationship between two, numerically measured, continuous variables.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73456" y="1627001"/>
            <a:ext cx="48586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Computed as Correlation co-efficient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Value ranges between – (-1) to (+1)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Positively Correlated, Negatively correlated, Not correlated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strength of a correlation indicates how strong the relationship is between the two variables. The strength is determined by the numerical value of the correlation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861" y="2116824"/>
            <a:ext cx="5350137" cy="2095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06" y="4467344"/>
            <a:ext cx="3176030" cy="1456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D4A122-C00A-914C-1C32-E5447D176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652" y="4341484"/>
            <a:ext cx="7254348" cy="251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75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BB4B46-605E-5760-DF7D-1E716E5F7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7943" y="664029"/>
            <a:ext cx="10678886" cy="4800600"/>
          </a:xfrm>
        </p:spPr>
      </p:pic>
    </p:spTree>
    <p:extLst>
      <p:ext uri="{BB962C8B-B14F-4D97-AF65-F5344CB8AC3E}">
        <p14:creationId xmlns:p14="http://schemas.microsoft.com/office/powerpoint/2010/main" val="4014702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6FED9C-5D51-75C8-D79A-5A203ABED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28" y="411709"/>
            <a:ext cx="7837715" cy="5782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CBBCE-CF7B-4917-EA44-67FB7AC31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620" y="2166257"/>
            <a:ext cx="3886380" cy="193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01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CEAF619-D5CC-464E-AAF6-0279638F22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9686" y="1994049"/>
          <a:ext cx="8081322" cy="2918746"/>
        </p:xfrm>
        <a:graphic>
          <a:graphicData uri="http://schemas.openxmlformats.org/drawingml/2006/table">
            <a:tbl>
              <a:tblPr/>
              <a:tblGrid>
                <a:gridCol w="1346887">
                  <a:extLst>
                    <a:ext uri="{9D8B030D-6E8A-4147-A177-3AD203B41FA5}">
                      <a16:colId xmlns:a16="http://schemas.microsoft.com/office/drawing/2014/main" val="3166496807"/>
                    </a:ext>
                  </a:extLst>
                </a:gridCol>
                <a:gridCol w="1346887">
                  <a:extLst>
                    <a:ext uri="{9D8B030D-6E8A-4147-A177-3AD203B41FA5}">
                      <a16:colId xmlns:a16="http://schemas.microsoft.com/office/drawing/2014/main" val="1923572089"/>
                    </a:ext>
                  </a:extLst>
                </a:gridCol>
                <a:gridCol w="1346887">
                  <a:extLst>
                    <a:ext uri="{9D8B030D-6E8A-4147-A177-3AD203B41FA5}">
                      <a16:colId xmlns:a16="http://schemas.microsoft.com/office/drawing/2014/main" val="1835977514"/>
                    </a:ext>
                  </a:extLst>
                </a:gridCol>
                <a:gridCol w="1346887">
                  <a:extLst>
                    <a:ext uri="{9D8B030D-6E8A-4147-A177-3AD203B41FA5}">
                      <a16:colId xmlns:a16="http://schemas.microsoft.com/office/drawing/2014/main" val="3524325872"/>
                    </a:ext>
                  </a:extLst>
                </a:gridCol>
                <a:gridCol w="1346887">
                  <a:extLst>
                    <a:ext uri="{9D8B030D-6E8A-4147-A177-3AD203B41FA5}">
                      <a16:colId xmlns:a16="http://schemas.microsoft.com/office/drawing/2014/main" val="2873368370"/>
                    </a:ext>
                  </a:extLst>
                </a:gridCol>
                <a:gridCol w="1346887">
                  <a:extLst>
                    <a:ext uri="{9D8B030D-6E8A-4147-A177-3AD203B41FA5}">
                      <a16:colId xmlns:a16="http://schemas.microsoft.com/office/drawing/2014/main" val="1657683892"/>
                    </a:ext>
                  </a:extLst>
                </a:gridCol>
              </a:tblGrid>
              <a:tr h="55595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cap="all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SUBJECT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cap="all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AGE 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cap="all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GLUCOSE LEVEL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cap="all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XY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cap="all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X</a:t>
                      </a:r>
                      <a:r>
                        <a:rPr lang="en-IN" sz="1400" b="1" cap="all" baseline="3000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2</a:t>
                      </a:r>
                      <a:endParaRPr lang="en-IN" sz="1400" b="1" cap="all">
                        <a:solidFill>
                          <a:srgbClr val="666666"/>
                        </a:solidFill>
                        <a:effectLst/>
                        <a:latin typeface="inheri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cap="all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Y</a:t>
                      </a:r>
                      <a:r>
                        <a:rPr lang="en-IN" sz="1400" b="1" cap="all" baseline="3000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2</a:t>
                      </a:r>
                      <a:endParaRPr lang="en-IN" sz="1400" b="1" cap="all">
                        <a:solidFill>
                          <a:srgbClr val="666666"/>
                        </a:solidFill>
                        <a:effectLst/>
                        <a:latin typeface="inheri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7930829"/>
                  </a:ext>
                </a:extLst>
              </a:tr>
              <a:tr h="33754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1</a:t>
                      </a:r>
                    </a:p>
                  </a:txBody>
                  <a:tcPr marR="952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dirty="0">
                          <a:effectLst/>
                          <a:latin typeface="inherit"/>
                        </a:rPr>
                        <a:t>43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dirty="0">
                          <a:effectLst/>
                          <a:latin typeface="inherit"/>
                        </a:rPr>
                        <a:t>99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4257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1849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9801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25323"/>
                  </a:ext>
                </a:extLst>
              </a:tr>
              <a:tr h="33754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2</a:t>
                      </a:r>
                    </a:p>
                  </a:txBody>
                  <a:tcPr marR="952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21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65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dirty="0">
                          <a:effectLst/>
                          <a:latin typeface="inherit"/>
                        </a:rPr>
                        <a:t>1365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441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4225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836144"/>
                  </a:ext>
                </a:extLst>
              </a:tr>
              <a:tr h="33754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dirty="0">
                          <a:effectLst/>
                          <a:latin typeface="inherit"/>
                        </a:rPr>
                        <a:t>3</a:t>
                      </a:r>
                    </a:p>
                  </a:txBody>
                  <a:tcPr marR="952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79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1975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625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dirty="0">
                          <a:effectLst/>
                          <a:latin typeface="inherit"/>
                        </a:rPr>
                        <a:t>6241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40723"/>
                  </a:ext>
                </a:extLst>
              </a:tr>
              <a:tr h="33754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4</a:t>
                      </a:r>
                    </a:p>
                  </a:txBody>
                  <a:tcPr marR="952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42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75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3150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dirty="0">
                          <a:effectLst/>
                          <a:latin typeface="inherit"/>
                        </a:rPr>
                        <a:t>1764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dirty="0">
                          <a:effectLst/>
                          <a:latin typeface="inherit"/>
                        </a:rPr>
                        <a:t>5625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760459"/>
                  </a:ext>
                </a:extLst>
              </a:tr>
              <a:tr h="33754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5</a:t>
                      </a:r>
                    </a:p>
                  </a:txBody>
                  <a:tcPr marR="952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dirty="0">
                          <a:effectLst/>
                          <a:latin typeface="inherit"/>
                        </a:rPr>
                        <a:t>57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87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dirty="0">
                          <a:effectLst/>
                          <a:latin typeface="inherit"/>
                        </a:rPr>
                        <a:t>4959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dirty="0">
                          <a:effectLst/>
                          <a:latin typeface="inherit"/>
                        </a:rPr>
                        <a:t>3249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7569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843134"/>
                  </a:ext>
                </a:extLst>
              </a:tr>
              <a:tr h="33754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6</a:t>
                      </a:r>
                    </a:p>
                  </a:txBody>
                  <a:tcPr marR="952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59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81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dirty="0">
                          <a:effectLst/>
                          <a:latin typeface="inherit"/>
                        </a:rPr>
                        <a:t>4779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3481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6561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156035"/>
                  </a:ext>
                </a:extLst>
              </a:tr>
              <a:tr h="337542">
                <a:tc>
                  <a:txBody>
                    <a:bodyPr/>
                    <a:lstStyle/>
                    <a:p>
                      <a:pPr algn="l" fontAlgn="base"/>
                      <a:r>
                        <a:rPr lang="el-GR" sz="1400" b="1">
                          <a:effectLst/>
                          <a:latin typeface="inherit"/>
                        </a:rPr>
                        <a:t>Σ</a:t>
                      </a:r>
                    </a:p>
                  </a:txBody>
                  <a:tcPr marR="952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247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486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20485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>
                          <a:effectLst/>
                          <a:latin typeface="inherit"/>
                        </a:rPr>
                        <a:t>11409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dirty="0">
                          <a:effectLst/>
                          <a:latin typeface="inherit"/>
                        </a:rPr>
                        <a:t>40022</a:t>
                      </a:r>
                    </a:p>
                  </a:txBody>
                  <a:tcPr marR="95250" marT="57150" marB="571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68849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A66921-D928-48E0-A1DA-0E82C98F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17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069857-6AC2-1F48-9C27-4B8678C8F77A}"/>
              </a:ext>
            </a:extLst>
          </p:cNvPr>
          <p:cNvSpPr txBox="1"/>
          <p:nvPr/>
        </p:nvSpPr>
        <p:spPr>
          <a:xfrm>
            <a:off x="556055" y="5136752"/>
            <a:ext cx="114794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N" dirty="0"/>
              <a:t>The correlation coefficient =</a:t>
            </a:r>
          </a:p>
          <a:p>
            <a:pPr fontAlgn="base"/>
            <a:r>
              <a:rPr lang="en-IN" dirty="0"/>
              <a:t>6(20,485) – (247 × 486) / [√[[6(11,409) – (247</a:t>
            </a:r>
            <a:r>
              <a:rPr lang="en-IN" baseline="30000" dirty="0"/>
              <a:t>2</a:t>
            </a:r>
            <a:r>
              <a:rPr lang="en-IN" dirty="0"/>
              <a:t>)] × [6(40,022) – 486</a:t>
            </a:r>
            <a:r>
              <a:rPr lang="en-IN" baseline="30000" dirty="0"/>
              <a:t>2</a:t>
            </a:r>
            <a:r>
              <a:rPr lang="en-IN" dirty="0"/>
              <a:t>]]].    = </a:t>
            </a:r>
            <a:r>
              <a:rPr lang="en-IN" dirty="0">
                <a:solidFill>
                  <a:srgbClr val="C00000"/>
                </a:solidFill>
              </a:rPr>
              <a:t>0.5298      (strength and direction)</a:t>
            </a:r>
          </a:p>
          <a:p>
            <a:pPr fontAlgn="base"/>
            <a:r>
              <a:rPr lang="en-IN" dirty="0"/>
              <a:t>The range of the correlation coefficient is from -1 to 1. </a:t>
            </a:r>
          </a:p>
          <a:p>
            <a:pPr fontAlgn="base"/>
            <a:r>
              <a:rPr lang="en-IN" dirty="0"/>
              <a:t>here result is 0.5298 or 52.98%, which means the variables have a moderate positive correlation( some what more ). We cant infer with 52.98% correlation that age has impact on rise in glucose levels. </a:t>
            </a:r>
            <a:r>
              <a:rPr lang="en-IN" b="1" dirty="0">
                <a:solidFill>
                  <a:srgbClr val="C00000"/>
                </a:solidFill>
              </a:rPr>
              <a:t>We need more data to </a:t>
            </a:r>
            <a:r>
              <a:rPr lang="en-IN" b="1" dirty="0" err="1">
                <a:solidFill>
                  <a:srgbClr val="C00000"/>
                </a:solidFill>
              </a:rPr>
              <a:t>analyze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974CAC-EFFC-2E49-B257-B3C29FE8C909}"/>
              </a:ext>
            </a:extLst>
          </p:cNvPr>
          <p:cNvSpPr txBox="1"/>
          <p:nvPr/>
        </p:nvSpPr>
        <p:spPr>
          <a:xfrm>
            <a:off x="9564129" y="2055813"/>
            <a:ext cx="20985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N" dirty="0"/>
              <a:t>From our table:</a:t>
            </a:r>
          </a:p>
          <a:p>
            <a:pPr fontAlgn="base"/>
            <a:r>
              <a:rPr lang="el-GR" dirty="0"/>
              <a:t>Σ</a:t>
            </a:r>
            <a:r>
              <a:rPr lang="en-IN" dirty="0"/>
              <a:t>x = 247</a:t>
            </a:r>
          </a:p>
          <a:p>
            <a:pPr fontAlgn="base"/>
            <a:r>
              <a:rPr lang="el-GR" dirty="0"/>
              <a:t>Σ</a:t>
            </a:r>
            <a:r>
              <a:rPr lang="en-IN" dirty="0"/>
              <a:t>y = 486</a:t>
            </a:r>
          </a:p>
          <a:p>
            <a:pPr fontAlgn="base"/>
            <a:r>
              <a:rPr lang="el-GR" dirty="0"/>
              <a:t>Σ</a:t>
            </a:r>
            <a:r>
              <a:rPr lang="en-IN" dirty="0" err="1"/>
              <a:t>xy</a:t>
            </a:r>
            <a:r>
              <a:rPr lang="en-IN" dirty="0"/>
              <a:t> = 20,485</a:t>
            </a:r>
          </a:p>
          <a:p>
            <a:pPr fontAlgn="base"/>
            <a:r>
              <a:rPr lang="el-GR" dirty="0"/>
              <a:t>Σ</a:t>
            </a:r>
            <a:r>
              <a:rPr lang="en-IN" dirty="0"/>
              <a:t>x</a:t>
            </a:r>
            <a:r>
              <a:rPr lang="en-IN" baseline="30000" dirty="0"/>
              <a:t>2</a:t>
            </a:r>
            <a:r>
              <a:rPr lang="en-IN" dirty="0"/>
              <a:t> = 11,409</a:t>
            </a:r>
          </a:p>
          <a:p>
            <a:pPr fontAlgn="base"/>
            <a:r>
              <a:rPr lang="el-GR" dirty="0"/>
              <a:t>Σ</a:t>
            </a:r>
            <a:r>
              <a:rPr lang="en-IN" dirty="0"/>
              <a:t>y</a:t>
            </a:r>
            <a:r>
              <a:rPr lang="en-IN" baseline="30000" dirty="0"/>
              <a:t>2</a:t>
            </a:r>
            <a:r>
              <a:rPr lang="en-IN" dirty="0"/>
              <a:t> = 40,022</a:t>
            </a:r>
          </a:p>
          <a:p>
            <a:pPr fontAlgn="base"/>
            <a:r>
              <a:rPr lang="en-IN" dirty="0"/>
              <a:t>n is the sample size=6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FFE143-2518-BA40-A174-B9593179ECD0}"/>
              </a:ext>
            </a:extLst>
          </p:cNvPr>
          <p:cNvSpPr txBox="1"/>
          <p:nvPr/>
        </p:nvSpPr>
        <p:spPr>
          <a:xfrm>
            <a:off x="469556" y="248464"/>
            <a:ext cx="2826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Example problem: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4ADAF0-12F4-5147-8A3F-A96B05278353}"/>
              </a:ext>
            </a:extLst>
          </p:cNvPr>
          <p:cNvSpPr txBox="1"/>
          <p:nvPr/>
        </p:nvSpPr>
        <p:spPr>
          <a:xfrm>
            <a:off x="685800" y="739705"/>
            <a:ext cx="6843713" cy="923330"/>
          </a:xfrm>
          <a:prstGeom prst="rect">
            <a:avLst/>
          </a:prstGeom>
          <a:solidFill>
            <a:srgbClr val="92D050"/>
          </a:solidFill>
          <a:ln w="3810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b="1" dirty="0"/>
              <a:t>Business problem: The healthcare industry want to develop a </a:t>
            </a:r>
          </a:p>
          <a:p>
            <a:r>
              <a:rPr lang="en-US" b="1" dirty="0"/>
              <a:t>medication to control glucose levels. For this it want to study does age</a:t>
            </a:r>
          </a:p>
          <a:p>
            <a:r>
              <a:rPr lang="en-US" b="1" dirty="0"/>
              <a:t>have impact on raise in glucose levels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02696B5E-D09F-0C4E-9E3E-87E69438A4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8" t="19187" r="5348" b="21437"/>
          <a:stretch/>
        </p:blipFill>
        <p:spPr bwMode="auto">
          <a:xfrm>
            <a:off x="7858124" y="375136"/>
            <a:ext cx="4029075" cy="108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6C69B7-1CA4-4B9E-A09C-EE3EE5A8EF29}"/>
              </a:ext>
            </a:extLst>
          </p:cNvPr>
          <p:cNvSpPr/>
          <p:nvPr/>
        </p:nvSpPr>
        <p:spPr>
          <a:xfrm>
            <a:off x="152400" y="167092"/>
            <a:ext cx="11887200" cy="658495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085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EF5800-3FC6-E048-1FFA-2A122F307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9862" y="136526"/>
            <a:ext cx="6692348" cy="65849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C1869-D968-5C64-0147-29203FA6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14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CCB7E-E22A-4E68-8036-F248DAD0B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65" y="18255"/>
            <a:ext cx="10515600" cy="1325563"/>
          </a:xfrm>
        </p:spPr>
        <p:txBody>
          <a:bodyPr/>
          <a:lstStyle/>
          <a:p>
            <a:r>
              <a:rPr lang="en-GB" b="1" dirty="0"/>
              <a:t>Covariance vs Correlation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5AE5A1-FE70-4CE9-9AE9-2669345FBD9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3201FC-2C50-434C-BF51-302048EE58E5}"/>
              </a:ext>
            </a:extLst>
          </p:cNvPr>
          <p:cNvCxnSpPr/>
          <p:nvPr/>
        </p:nvCxnSpPr>
        <p:spPr>
          <a:xfrm>
            <a:off x="164123" y="997429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28EC85-8E69-4AAF-A388-EBCA4EDC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19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B3755C-2E06-4E7D-92A4-6849A717C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696278"/>
            <a:ext cx="9382539" cy="416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97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AA38-AF84-0F4A-A32F-73AD19ED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55" y="136525"/>
            <a:ext cx="10515600" cy="1325563"/>
          </a:xfrm>
        </p:spPr>
        <p:txBody>
          <a:bodyPr/>
          <a:lstStyle/>
          <a:p>
            <a:r>
              <a:rPr lang="en-US" b="1" dirty="0"/>
              <a:t>Precision Matrix: More generally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D4E57-96D4-1147-B664-99726E7F2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587"/>
            <a:ext cx="10515600" cy="4351338"/>
          </a:xfrm>
        </p:spPr>
        <p:txBody>
          <a:bodyPr/>
          <a:lstStyle/>
          <a:p>
            <a:r>
              <a:rPr lang="en-IN" dirty="0"/>
              <a:t>The precision matrix of a random vector is the inverse of its covariance matrix.</a:t>
            </a:r>
          </a:p>
          <a:p>
            <a:r>
              <a:rPr lang="en-IN" dirty="0"/>
              <a:t>If A is the covariance matrix the precision matrix is given by                                                                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P=A</a:t>
            </a:r>
            <a:r>
              <a:rPr lang="en-IN" baseline="30000" dirty="0"/>
              <a:t>-1 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3A3A3A"/>
                </a:solidFill>
                <a:latin typeface="Verdana" panose="020B0604030504040204" pitchFamily="34" charset="0"/>
              </a:rPr>
              <a:t>Find the inverse of the 2×2 covariance matrix below A, if it exists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64FE4-0D57-184F-AFDB-0FB421F2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71C99CD-7C41-FC42-A0E8-D681F8A82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40852"/>
            <a:ext cx="2704587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A3A3A"/>
                </a:solidFill>
                <a:effectLst/>
                <a:latin typeface="Verdana" panose="020B0604030504040204" pitchFamily="34" charset="0"/>
              </a:rPr>
              <a:t>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A3A3A"/>
                </a:solidFill>
                <a:effectLst/>
                <a:latin typeface="Verdana" panose="020B0604030504040204" pitchFamily="34" charset="0"/>
              </a:rPr>
              <a:t>  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rgbClr val="3A3A3A"/>
                </a:solidFill>
                <a:effectLst/>
                <a:latin typeface="Verdana" panose="020B0604030504040204" pitchFamily="34" charset="0"/>
              </a:rPr>
              <a:t>  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Matrix A is a 2x2 matrix with entries 5 and 2 on the first row, and entries -7 and -3 on the second row. Therefore, A = [5,2;-7,-3].">
            <a:extLst>
              <a:ext uri="{FF2B5EF4-FFF2-40B4-BE49-F238E27FC236}">
                <a16:creationId xmlns:a16="http://schemas.microsoft.com/office/drawing/2014/main" id="{756B7E49-5326-C542-862E-F089F49BB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605" y="4278312"/>
            <a:ext cx="2070100" cy="105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1760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8762-992C-2E49-B058-43CD68D50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400">
                <a:solidFill>
                  <a:srgbClr val="3A3A3A"/>
                </a:solidFill>
                <a:latin typeface="Verdana" panose="020B0604030504040204" pitchFamily="34" charset="0"/>
              </a:rPr>
              <a:t>Its inverse is calculated using the formula</a:t>
            </a:r>
            <a:br>
              <a:rPr lang="en-US" altLang="en-US" sz="2400"/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3B5BB-52A7-204B-8580-8E691F3D6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466" y="1825625"/>
            <a:ext cx="10515600" cy="4351338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CD872-57A6-1A40-A0A4-415256C3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21</a:t>
            </a:fld>
            <a:endParaRPr lang="en-US"/>
          </a:p>
        </p:txBody>
      </p:sp>
      <p:pic>
        <p:nvPicPr>
          <p:cNvPr id="2050" name="Picture 2" descr="The formula to find the inverse of an invertible matrix A involves by first calculating the determinant of matrix A and rearranging matrix A from [a,b;c,d] to [d,-b;-c,a]. Now use the scalar value of 1 over determinant of matrix to multiply the rearranged elements of matrix A which is [d,-b;-c,a]. In compact form, the inverse of matrix A or A^-1 = (1/det A) [d,-b;-c,a].">
            <a:extLst>
              <a:ext uri="{FF2B5EF4-FFF2-40B4-BE49-F238E27FC236}">
                <a16:creationId xmlns:a16="http://schemas.microsoft.com/office/drawing/2014/main" id="{A6B6BE31-E0D6-1D45-9B05-26BBF3A6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37" y="1723232"/>
            <a:ext cx="3403600" cy="109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ere's the step by step solution to find the determinant of a 2 by 2 square matrix A with elements 5 and 2 on its first row, and elements -7 and -3 on its second row. det A = det [5,2;-7,-3] = (5)(-3) - (2)(-7) = -15 + 14 = -1. Therefore the determinant of matrix A is negative 1.">
            <a:extLst>
              <a:ext uri="{FF2B5EF4-FFF2-40B4-BE49-F238E27FC236}">
                <a16:creationId xmlns:a16="http://schemas.microsoft.com/office/drawing/2014/main" id="{4C7B5239-938A-ED4F-BABA-926534A09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789" y="3429000"/>
            <a:ext cx="5448300" cy="241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^-1 = (1/-1) times [-3,-2; 7,5] = (-1) times  = [3,2;-7,-5]. So the inverse of matrix A has entries 3 and 2 on the first row and entries -7 and -5 on the second row.">
            <a:extLst>
              <a:ext uri="{FF2B5EF4-FFF2-40B4-BE49-F238E27FC236}">
                <a16:creationId xmlns:a16="http://schemas.microsoft.com/office/drawing/2014/main" id="{ECD254A8-0B8A-959F-5796-CE2C873F1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0717" y="1780278"/>
            <a:ext cx="3178349" cy="418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628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367B-B35B-4FEB-8FD2-6647C02E7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3" y="18495"/>
            <a:ext cx="10515600" cy="1325563"/>
          </a:xfrm>
        </p:spPr>
        <p:txBody>
          <a:bodyPr/>
          <a:lstStyle/>
          <a:p>
            <a:r>
              <a:rPr lang="en-US" b="1" dirty="0" err="1"/>
              <a:t>Mahalanobis</a:t>
            </a:r>
            <a:r>
              <a:rPr lang="en-US" b="1" dirty="0"/>
              <a:t> distance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5AE5A1-FE70-4CE9-9AE9-2669345FBD9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3201FC-2C50-434C-BF51-302048EE58E5}"/>
              </a:ext>
            </a:extLst>
          </p:cNvPr>
          <p:cNvCxnSpPr/>
          <p:nvPr/>
        </p:nvCxnSpPr>
        <p:spPr>
          <a:xfrm>
            <a:off x="164123" y="997429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9441AC-0409-42E7-BB00-DED414B97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B7785-2437-C27D-147B-A7FBCB762E79}"/>
              </a:ext>
            </a:extLst>
          </p:cNvPr>
          <p:cNvSpPr txBox="1"/>
          <p:nvPr/>
        </p:nvSpPr>
        <p:spPr>
          <a:xfrm>
            <a:off x="662609" y="997429"/>
            <a:ext cx="106911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0" dirty="0" err="1">
                <a:solidFill>
                  <a:srgbClr val="292929"/>
                </a:solidFill>
                <a:effectLst/>
              </a:rPr>
              <a:t>Mahalanobis</a:t>
            </a:r>
            <a:r>
              <a:rPr lang="en-GB" sz="2000" b="0" dirty="0">
                <a:solidFill>
                  <a:srgbClr val="292929"/>
                </a:solidFill>
                <a:effectLst/>
              </a:rPr>
              <a:t> distance is an effective multivariate distance metric that measures the distance between a point and a distribution. It is an extremely useful metric having, excellent applications in multivariate anomaly detection, classification on highly imbalanced datasets and one-class classification.</a:t>
            </a:r>
            <a:endParaRPr lang="en-IN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6C3787-2C44-B2DE-D38D-4FC0580E0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675" y="2417222"/>
            <a:ext cx="9636368" cy="329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36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F16C1-BCCB-D23C-0185-1EE11BC0C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365125"/>
            <a:ext cx="11953461" cy="880580"/>
          </a:xfrm>
        </p:spPr>
        <p:txBody>
          <a:bodyPr>
            <a:normAutofit fontScale="90000"/>
          </a:bodyPr>
          <a:lstStyle/>
          <a:p>
            <a:r>
              <a:rPr lang="en-GB" b="1" i="0" dirty="0">
                <a:solidFill>
                  <a:srgbClr val="051E50"/>
                </a:solidFill>
                <a:effectLst/>
              </a:rPr>
              <a:t>What’s wrong with using Euclidean Distance for Multivariate data?</a:t>
            </a:r>
            <a:br>
              <a:rPr lang="en-GB" b="1" i="0" dirty="0">
                <a:solidFill>
                  <a:srgbClr val="051E50"/>
                </a:solidFill>
                <a:effectLst/>
              </a:rPr>
            </a:b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11A74C-0056-79D0-ECDC-508EF9566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536" y="1245705"/>
            <a:ext cx="10213144" cy="49300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5A0A6-A566-1965-23D8-F8253A7E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92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873F-2247-58F3-6546-824B9CF03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63" y="178093"/>
            <a:ext cx="10515600" cy="1325563"/>
          </a:xfrm>
        </p:spPr>
        <p:txBody>
          <a:bodyPr/>
          <a:lstStyle/>
          <a:p>
            <a:r>
              <a:rPr lang="en-GB" dirty="0"/>
              <a:t>Problem 1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E1EF4-7F35-B264-2F72-CEE4B7023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15D73D-16E5-8600-AC24-FD39D8D29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01" y="1503656"/>
            <a:ext cx="10016197" cy="463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14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64C2-1E81-2667-41C3-CE9B1883F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718"/>
            <a:ext cx="10515600" cy="609640"/>
          </a:xfrm>
        </p:spPr>
        <p:txBody>
          <a:bodyPr>
            <a:normAutofit fontScale="90000"/>
          </a:bodyPr>
          <a:lstStyle/>
          <a:p>
            <a:r>
              <a:rPr lang="en-GB" dirty="0"/>
              <a:t>Problem 2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91F7F0-50DC-ECA6-88FB-321EEE037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1545" y="540282"/>
            <a:ext cx="9748910" cy="422278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2D697-6908-1BCF-E1EB-0357E475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25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564ED-541F-E857-03B3-FA94E98F28CB}"/>
              </a:ext>
            </a:extLst>
          </p:cNvPr>
          <p:cNvSpPr txBox="1"/>
          <p:nvPr/>
        </p:nvSpPr>
        <p:spPr>
          <a:xfrm>
            <a:off x="838200" y="4967149"/>
            <a:ext cx="10515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daily life, when we talk about distance, we use the term "distance between point A and point B". It is used interchangeably with "length".</a:t>
            </a:r>
          </a:p>
          <a:p>
            <a:endParaRPr lang="en-GB" dirty="0"/>
          </a:p>
          <a:p>
            <a:r>
              <a:rPr lang="en-GB" dirty="0"/>
              <a:t>Both </a:t>
            </a:r>
            <a:r>
              <a:rPr lang="en-GB" dirty="0" err="1"/>
              <a:t>Mahalanobis</a:t>
            </a:r>
            <a:r>
              <a:rPr lang="en-GB" dirty="0"/>
              <a:t> distance and Euclidean distance are </a:t>
            </a:r>
            <a:r>
              <a:rPr lang="en-GB" dirty="0" err="1"/>
              <a:t>labeled</a:t>
            </a:r>
            <a:r>
              <a:rPr lang="en-GB" dirty="0"/>
              <a:t> as "distance", but they can also be used for things that are not "length". In Data Science , distance is sometimes used as an indicator of "A and B are similar".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6153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B4F51D7-D585-4262-B038-E1EFFDEFCB3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A3AFF7-4D51-4C58-91CB-24F891F8A2EA}"/>
              </a:ext>
            </a:extLst>
          </p:cNvPr>
          <p:cNvCxnSpPr/>
          <p:nvPr/>
        </p:nvCxnSpPr>
        <p:spPr>
          <a:xfrm>
            <a:off x="164123" y="997429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A2CE6CB0-2A02-4382-A319-6450465B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8875"/>
            <a:ext cx="8721918" cy="1078406"/>
          </a:xfrm>
        </p:spPr>
        <p:txBody>
          <a:bodyPr>
            <a:normAutofit/>
          </a:bodyPr>
          <a:lstStyle/>
          <a:p>
            <a:r>
              <a:rPr lang="en-US" dirty="0" err="1"/>
              <a:t>Mahalanobis</a:t>
            </a:r>
            <a:r>
              <a:rPr lang="en-US" dirty="0"/>
              <a:t> distance: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B9830C-A227-4387-8433-FCDE1163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26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814964-AB1E-4B48-ABEE-9CD3F95D8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70" y="1351722"/>
            <a:ext cx="10707756" cy="490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729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B4F51D7-D585-4262-B038-E1EFFDEFCB3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A3AFF7-4D51-4C58-91CB-24F891F8A2EA}"/>
              </a:ext>
            </a:extLst>
          </p:cNvPr>
          <p:cNvCxnSpPr/>
          <p:nvPr/>
        </p:nvCxnSpPr>
        <p:spPr>
          <a:xfrm>
            <a:off x="164123" y="997429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A2CE6CB0-2A02-4382-A319-6450465B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59" y="18875"/>
            <a:ext cx="9570057" cy="1078406"/>
          </a:xfrm>
        </p:spPr>
        <p:txBody>
          <a:bodyPr>
            <a:normAutofit/>
          </a:bodyPr>
          <a:lstStyle/>
          <a:p>
            <a:r>
              <a:rPr lang="en-US" dirty="0" err="1"/>
              <a:t>Mahalanobis</a:t>
            </a:r>
            <a:r>
              <a:rPr lang="en-US" dirty="0"/>
              <a:t> distance: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B9830C-A227-4387-8433-FCDE1163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27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7CBD48-1DB8-4E51-A7EC-7A149D02F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53" y="1518894"/>
            <a:ext cx="10002077" cy="431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629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B4F51D7-D585-4262-B038-E1EFFDEFCB3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A3AFF7-4D51-4C58-91CB-24F891F8A2EA}"/>
              </a:ext>
            </a:extLst>
          </p:cNvPr>
          <p:cNvCxnSpPr/>
          <p:nvPr/>
        </p:nvCxnSpPr>
        <p:spPr>
          <a:xfrm>
            <a:off x="164123" y="997429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A2CE6CB0-2A02-4382-A319-6450465B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59" y="18875"/>
            <a:ext cx="9570057" cy="1078406"/>
          </a:xfrm>
        </p:spPr>
        <p:txBody>
          <a:bodyPr>
            <a:normAutofit/>
          </a:bodyPr>
          <a:lstStyle/>
          <a:p>
            <a:r>
              <a:rPr lang="en-US" dirty="0"/>
              <a:t>Parameter estimation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B9830C-A227-4387-8433-FCDE1163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28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72E0AFE-8E2F-B704-3284-A4A0DB10D2B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5823" y="1333794"/>
            <a:ext cx="1101566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 estimation involves determining the values of parameters (e.g., mean, variance) that characterize a statistical model. It makes inferences about the population from sample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of Parameter Estimation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 Likelihood Estimation (MLE)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Estimates parameters by maximizing the likelihood function, which measures how likely the observed data is given the parameters.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Widely used due to its desirable properties, such as consistency and asymptotic normality.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 of Moments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Estimates parameters by equating sample moments (e.g., sample mean, sample variance) to population moments.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Simpler than MLE but less efficient in some cases.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Bayesian Estimation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Incorporates prior information about parameters into the estimation process, updating beliefs with observed data using Bayes' theorem.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Useful when prior information is available and when dealing with complex models.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313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B4F51D7-D585-4262-B038-E1EFFDEFCB3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A3AFF7-4D51-4C58-91CB-24F891F8A2EA}"/>
              </a:ext>
            </a:extLst>
          </p:cNvPr>
          <p:cNvCxnSpPr/>
          <p:nvPr/>
        </p:nvCxnSpPr>
        <p:spPr>
          <a:xfrm>
            <a:off x="164123" y="997429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B9830C-A227-4387-8433-FCDE1163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29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6EB757-D628-314E-D66E-D4D7E7C68C06}"/>
              </a:ext>
            </a:extLst>
          </p:cNvPr>
          <p:cNvSpPr txBox="1">
            <a:spLocks/>
          </p:cNvSpPr>
          <p:nvPr/>
        </p:nvSpPr>
        <p:spPr>
          <a:xfrm>
            <a:off x="289559" y="18875"/>
            <a:ext cx="9570057" cy="1078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Parameter estimation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9FC9F-252A-1E99-855F-164247DCA0A5}"/>
              </a:ext>
            </a:extLst>
          </p:cNvPr>
          <p:cNvSpPr txBox="1"/>
          <p:nvPr/>
        </p:nvSpPr>
        <p:spPr>
          <a:xfrm>
            <a:off x="1982783" y="1723408"/>
            <a:ext cx="82217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Examples of Parameter Estimation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Mean Vector Estimation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Covariance Matrix Estimation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764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B4F51D7-D585-4262-B038-E1EFFDEFCB3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A3AFF7-4D51-4C58-91CB-24F891F8A2EA}"/>
              </a:ext>
            </a:extLst>
          </p:cNvPr>
          <p:cNvCxnSpPr/>
          <p:nvPr/>
        </p:nvCxnSpPr>
        <p:spPr>
          <a:xfrm>
            <a:off x="164123" y="997429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A2CE6CB0-2A02-4382-A319-6450465B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59" y="18875"/>
            <a:ext cx="11369041" cy="1078406"/>
          </a:xfrm>
        </p:spPr>
        <p:txBody>
          <a:bodyPr>
            <a:normAutofit fontScale="90000"/>
          </a:bodyPr>
          <a:lstStyle/>
          <a:p>
            <a:r>
              <a:rPr lang="en-GB" dirty="0"/>
              <a:t>Estimation of Missing Values in Multivariate Analysis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B9830C-A227-4387-8433-FCDE1163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30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BA2006-7B4C-921A-1E7B-3E285035F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976330"/>
            <a:ext cx="10544175" cy="960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occur when no data value is stored for a variable in an observation.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Missing values can bias the results and reduce the statistical power of the analysis.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98790-F729-8207-EE13-4DA2F1864C65}"/>
              </a:ext>
            </a:extLst>
          </p:cNvPr>
          <p:cNvSpPr txBox="1"/>
          <p:nvPr/>
        </p:nvSpPr>
        <p:spPr>
          <a:xfrm>
            <a:off x="1063339" y="2188351"/>
            <a:ext cx="1029046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/>
              <a:t>Common Techniques for Estimating Missing Values</a:t>
            </a:r>
            <a:r>
              <a:rPr lang="en-GB" dirty="0"/>
              <a:t>:</a:t>
            </a:r>
          </a:p>
          <a:p>
            <a:pPr algn="just"/>
            <a:r>
              <a:rPr lang="en-GB" b="1" dirty="0"/>
              <a:t>Mean/Median Imputation</a:t>
            </a:r>
            <a:r>
              <a:rPr lang="en-GB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Explanation</a:t>
            </a:r>
            <a:r>
              <a:rPr lang="en-GB" dirty="0"/>
              <a:t>: Replace missing values with the mean or median of the variable.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Pros/Cons</a:t>
            </a:r>
            <a:r>
              <a:rPr lang="en-GB" dirty="0"/>
              <a:t>: Simple but can reduce variability and introduce bias.</a:t>
            </a:r>
          </a:p>
          <a:p>
            <a:pPr algn="just"/>
            <a:r>
              <a:rPr lang="en-GB" b="1" dirty="0"/>
              <a:t>Regression Imputation</a:t>
            </a:r>
            <a:r>
              <a:rPr lang="en-GB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Explanation</a:t>
            </a:r>
            <a:r>
              <a:rPr lang="en-GB" dirty="0"/>
              <a:t>: Predict missing values using regression models based on other variables.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Pros/Cons</a:t>
            </a:r>
            <a:r>
              <a:rPr lang="en-GB" dirty="0"/>
              <a:t>: More accurate than mean/median imputation but can be complex.</a:t>
            </a:r>
          </a:p>
          <a:p>
            <a:pPr algn="just"/>
            <a:r>
              <a:rPr lang="en-GB" b="1" dirty="0"/>
              <a:t>Multiple Imputation</a:t>
            </a:r>
            <a:r>
              <a:rPr lang="en-GB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Explanation</a:t>
            </a:r>
            <a:r>
              <a:rPr lang="en-GB" dirty="0"/>
              <a:t>: Create multiple datasets with different imputed values and combine results.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Pros/Cons</a:t>
            </a:r>
            <a:r>
              <a:rPr lang="en-GB" dirty="0"/>
              <a:t>: Accounts for uncertainty but is computationally intensive.</a:t>
            </a:r>
          </a:p>
          <a:p>
            <a:pPr algn="just"/>
            <a:r>
              <a:rPr lang="en-GB" b="1" dirty="0"/>
              <a:t>K-Nearest </a:t>
            </a:r>
            <a:r>
              <a:rPr lang="en-GB" b="1" dirty="0" err="1"/>
              <a:t>Neighbors</a:t>
            </a:r>
            <a:r>
              <a:rPr lang="en-GB" b="1" dirty="0"/>
              <a:t> (KNN) Imputation</a:t>
            </a:r>
            <a:r>
              <a:rPr lang="en-GB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Explanation</a:t>
            </a:r>
            <a:r>
              <a:rPr lang="en-GB" dirty="0"/>
              <a:t>: Impute missing values based on the values of the nearest </a:t>
            </a:r>
            <a:r>
              <a:rPr lang="en-GB" dirty="0" err="1"/>
              <a:t>neighbors</a:t>
            </a:r>
            <a:r>
              <a:rPr lang="en-GB" dirty="0"/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Pros/Cons</a:t>
            </a:r>
            <a:r>
              <a:rPr lang="en-GB" dirty="0"/>
              <a:t>: Effective for small datasets but can be slow for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298565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2323F-8E75-4C6C-88D6-94E27C733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31" y="95868"/>
            <a:ext cx="10693230" cy="1325563"/>
          </a:xfrm>
        </p:spPr>
        <p:txBody>
          <a:bodyPr/>
          <a:lstStyle/>
          <a:p>
            <a:r>
              <a:rPr lang="en-US" b="1" dirty="0"/>
              <a:t>Multivariate normal distribution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5AE5A1-FE70-4CE9-9AE9-2669345FBD9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3201FC-2C50-434C-BF51-302048EE58E5}"/>
              </a:ext>
            </a:extLst>
          </p:cNvPr>
          <p:cNvCxnSpPr/>
          <p:nvPr/>
        </p:nvCxnSpPr>
        <p:spPr>
          <a:xfrm>
            <a:off x="166467" y="115217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F1B9FA-A7C0-411C-B668-F6AC3353F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091" y="1231325"/>
            <a:ext cx="10895325" cy="2863597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The multivariate normal distribution is useful in </a:t>
            </a:r>
            <a:r>
              <a:rPr lang="en-GB" sz="2400" dirty="0" err="1"/>
              <a:t>analyzing</a:t>
            </a:r>
            <a:r>
              <a:rPr lang="en-GB" sz="2400" dirty="0"/>
              <a:t> the relationship between multiple normally distributed variables, and thus has heavy application to biology and economics where the relationship between approximately-normal variables is of great interest. 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A generalization of the univariate normal distribution to multiple variables.</a:t>
            </a:r>
            <a:endParaRPr lang="en-GB" sz="3600" b="0" i="0" dirty="0">
              <a:effectLst/>
            </a:endParaRPr>
          </a:p>
          <a:p>
            <a:pPr algn="just"/>
            <a:endParaRPr lang="en-US" sz="2400" dirty="0"/>
          </a:p>
          <a:p>
            <a:pPr algn="just"/>
            <a:endParaRPr lang="en-GB" sz="2400" b="0" i="0" dirty="0"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27F56E-4B41-489E-9752-BD82E3817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330" y="3515558"/>
            <a:ext cx="3690730" cy="2983395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AA862C-27DF-4BDF-9F5A-CD19CCB1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97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2323F-8E75-4C6C-88D6-94E27C733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31" y="95868"/>
            <a:ext cx="10515600" cy="1325563"/>
          </a:xfrm>
        </p:spPr>
        <p:txBody>
          <a:bodyPr/>
          <a:lstStyle/>
          <a:p>
            <a:r>
              <a:rPr lang="en-US" b="1" dirty="0"/>
              <a:t>Multivariate normal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247D56-D2D4-4814-8315-99C1D668D1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0669"/>
          <a:stretch/>
        </p:blipFill>
        <p:spPr>
          <a:xfrm>
            <a:off x="1552237" y="1102613"/>
            <a:ext cx="9488557" cy="1223477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5AE5A1-FE70-4CE9-9AE9-2669345FBD9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3201FC-2C50-434C-BF51-302048EE58E5}"/>
              </a:ext>
            </a:extLst>
          </p:cNvPr>
          <p:cNvCxnSpPr/>
          <p:nvPr/>
        </p:nvCxnSpPr>
        <p:spPr>
          <a:xfrm>
            <a:off x="166467" y="115217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A455CD-521C-4C5F-9675-B9914D74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32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42E4F8-021C-D8D2-7D87-F1949E987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930" y="2246957"/>
            <a:ext cx="7129670" cy="418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17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745A-6AED-5A33-3E62-7B179D6B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8255"/>
            <a:ext cx="10515600" cy="1325563"/>
          </a:xfrm>
        </p:spPr>
        <p:txBody>
          <a:bodyPr/>
          <a:lstStyle/>
          <a:p>
            <a:r>
              <a:rPr lang="en-GB" b="1" dirty="0"/>
              <a:t>Example: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4E288-F809-A44A-C05B-965336D54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549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en-GB" sz="2000" b="0" i="0" dirty="0">
                <a:effectLst/>
              </a:rPr>
              <a:t>Imagine you want to measure two variables: your heart rate at 9:00am, and your heart rate at 9:05am in beats per minute (bpm). There is likely correlation between these two variables, i.e., your heart rate at 9:05am is probably pretty similar to your heart rate at 9:00am. You measure this data for 7 days, and you get the following data: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A2210-32B0-5254-0238-F12379E23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EE27-9383-412E-8B53-6A8E5AB6D644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ECAD1B-0FDB-5006-41FD-7C3A125D2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8" y="2606990"/>
            <a:ext cx="1200150" cy="2990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01B89F-E265-4900-6B70-FC9D4084E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508" y="2811439"/>
            <a:ext cx="4935781" cy="29446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6027B0-C232-99F4-96EF-358677CD5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138" y="2380112"/>
            <a:ext cx="4439028" cy="420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1265</Words>
  <Application>Microsoft Office PowerPoint</Application>
  <PresentationFormat>Widescreen</PresentationFormat>
  <Paragraphs>183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Calibri Light</vt:lpstr>
      <vt:lpstr>inherit</vt:lpstr>
      <vt:lpstr>Poppins</vt:lpstr>
      <vt:lpstr>TradeGothic</vt:lpstr>
      <vt:lpstr>Verdana</vt:lpstr>
      <vt:lpstr>Wingdings</vt:lpstr>
      <vt:lpstr>Office Theme</vt:lpstr>
      <vt:lpstr>Data Science  Unit-II</vt:lpstr>
      <vt:lpstr>Multivariant Data</vt:lpstr>
      <vt:lpstr>Multivariant Analysis</vt:lpstr>
      <vt:lpstr>Univariate, Bivariate &amp; Multivariate Analysis</vt:lpstr>
      <vt:lpstr>Mean Vector: Definition</vt:lpstr>
      <vt:lpstr>Mean vector</vt:lpstr>
      <vt:lpstr>PowerPoint Presentation</vt:lpstr>
      <vt:lpstr>PowerPoint Presentation</vt:lpstr>
      <vt:lpstr>PowerPoint Presentation</vt:lpstr>
      <vt:lpstr>Example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Covariance vs Correlation</vt:lpstr>
      <vt:lpstr>Precision Matrix: More generally</vt:lpstr>
      <vt:lpstr>Its inverse is calculated using the formula </vt:lpstr>
      <vt:lpstr>Mahalanobis distance</vt:lpstr>
      <vt:lpstr>What’s wrong with using Euclidean Distance for Multivariate data? </vt:lpstr>
      <vt:lpstr>Problem 1</vt:lpstr>
      <vt:lpstr>Problem 2</vt:lpstr>
      <vt:lpstr>Mahalanobis distance: Example</vt:lpstr>
      <vt:lpstr>Mahalanobis distance: Example</vt:lpstr>
      <vt:lpstr>Parameter estimation</vt:lpstr>
      <vt:lpstr>PowerPoint Presentation</vt:lpstr>
      <vt:lpstr>Estimation of Missing Values in Multivariate Analysis</vt:lpstr>
      <vt:lpstr>Multivariate normal distribution</vt:lpstr>
      <vt:lpstr>Multivariate normal distribution</vt:lpstr>
      <vt:lpstr>Example: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Subhash Chandra N</dc:creator>
  <cp:lastModifiedBy>Subhash Chandra N</cp:lastModifiedBy>
  <cp:revision>60</cp:revision>
  <dcterms:created xsi:type="dcterms:W3CDTF">2021-03-27T15:13:54Z</dcterms:created>
  <dcterms:modified xsi:type="dcterms:W3CDTF">2025-10-15T03:44:20Z</dcterms:modified>
</cp:coreProperties>
</file>