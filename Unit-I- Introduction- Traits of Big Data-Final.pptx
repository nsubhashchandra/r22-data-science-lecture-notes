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8"/>
  </p:notesMasterIdLst>
  <p:sldIdLst>
    <p:sldId id="256" r:id="rId2"/>
    <p:sldId id="265" r:id="rId3"/>
    <p:sldId id="1076" r:id="rId4"/>
    <p:sldId id="1075" r:id="rId5"/>
    <p:sldId id="261" r:id="rId6"/>
    <p:sldId id="418" r:id="rId7"/>
    <p:sldId id="268" r:id="rId8"/>
    <p:sldId id="271" r:id="rId9"/>
    <p:sldId id="273" r:id="rId10"/>
    <p:sldId id="274" r:id="rId11"/>
    <p:sldId id="275" r:id="rId12"/>
    <p:sldId id="276" r:id="rId13"/>
    <p:sldId id="279" r:id="rId14"/>
    <p:sldId id="407" r:id="rId15"/>
    <p:sldId id="414" r:id="rId16"/>
    <p:sldId id="425" r:id="rId17"/>
    <p:sldId id="1073" r:id="rId18"/>
    <p:sldId id="426" r:id="rId19"/>
    <p:sldId id="444" r:id="rId20"/>
    <p:sldId id="427" r:id="rId21"/>
    <p:sldId id="445" r:id="rId22"/>
    <p:sldId id="447" r:id="rId23"/>
    <p:sldId id="446" r:id="rId24"/>
    <p:sldId id="448" r:id="rId25"/>
    <p:sldId id="449" r:id="rId26"/>
    <p:sldId id="428" r:id="rId27"/>
    <p:sldId id="429" r:id="rId28"/>
    <p:sldId id="430" r:id="rId29"/>
    <p:sldId id="458" r:id="rId30"/>
    <p:sldId id="459" r:id="rId31"/>
    <p:sldId id="431" r:id="rId32"/>
    <p:sldId id="432" r:id="rId33"/>
    <p:sldId id="433" r:id="rId34"/>
    <p:sldId id="434" r:id="rId35"/>
    <p:sldId id="435" r:id="rId36"/>
    <p:sldId id="272" r:id="rId37"/>
    <p:sldId id="438" r:id="rId38"/>
    <p:sldId id="439" r:id="rId39"/>
    <p:sldId id="440" r:id="rId40"/>
    <p:sldId id="1023" r:id="rId41"/>
    <p:sldId id="1068" r:id="rId42"/>
    <p:sldId id="1067" r:id="rId43"/>
    <p:sldId id="1070" r:id="rId44"/>
    <p:sldId id="1072" r:id="rId45"/>
    <p:sldId id="1074" r:id="rId46"/>
    <p:sldId id="441" r:id="rId47"/>
    <p:sldId id="436" r:id="rId48"/>
    <p:sldId id="437" r:id="rId49"/>
    <p:sldId id="442" r:id="rId50"/>
    <p:sldId id="450" r:id="rId51"/>
    <p:sldId id="451" r:id="rId52"/>
    <p:sldId id="452" r:id="rId53"/>
    <p:sldId id="453" r:id="rId54"/>
    <p:sldId id="454" r:id="rId55"/>
    <p:sldId id="455" r:id="rId56"/>
    <p:sldId id="456"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83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868"/>
    <p:restoredTop sz="94836"/>
  </p:normalViewPr>
  <p:slideViewPr>
    <p:cSldViewPr snapToGrid="0" snapToObjects="1">
      <p:cViewPr varScale="1">
        <p:scale>
          <a:sx n="78" d="100"/>
          <a:sy n="78" d="100"/>
        </p:scale>
        <p:origin x="427"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5A86C7-4926-2D4F-9F3E-F416BC61271F}" type="datetimeFigureOut">
              <a:rPr lang="en-US" smtClean="0"/>
              <a:t>6/25/2026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44329A-7713-F041-A93F-087C1FEEC335}" type="slidenum">
              <a:rPr lang="en-US" smtClean="0"/>
              <a:t>‹#›</a:t>
            </a:fld>
            <a:endParaRPr lang="en-US"/>
          </a:p>
        </p:txBody>
      </p:sp>
    </p:spTree>
    <p:extLst>
      <p:ext uri="{BB962C8B-B14F-4D97-AF65-F5344CB8AC3E}">
        <p14:creationId xmlns:p14="http://schemas.microsoft.com/office/powerpoint/2010/main" val="2768739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44329A-7713-F041-A93F-087C1FEEC335}" type="slidenum">
              <a:rPr lang="en-US" smtClean="0"/>
              <a:t>7</a:t>
            </a:fld>
            <a:endParaRPr lang="en-US"/>
          </a:p>
        </p:txBody>
      </p:sp>
    </p:spTree>
    <p:extLst>
      <p:ext uri="{BB962C8B-B14F-4D97-AF65-F5344CB8AC3E}">
        <p14:creationId xmlns:p14="http://schemas.microsoft.com/office/powerpoint/2010/main" val="905931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63100885-6316-D613-24BC-D253F0020C0C}"/>
              </a:ext>
            </a:extLst>
          </p:cNvPr>
          <p:cNvSpPr>
            <a:spLocks noGrp="1" noRot="1" noChangeAspect="1" noChangeArrowheads="1" noTextEdit="1"/>
          </p:cNvSpPr>
          <p:nvPr>
            <p:ph type="sldImg"/>
          </p:nvPr>
        </p:nvSpPr>
        <p:spPr>
          <a:ln/>
        </p:spPr>
      </p:sp>
      <p:sp>
        <p:nvSpPr>
          <p:cNvPr id="18435" name="Notes Placeholder 2">
            <a:extLst>
              <a:ext uri="{FF2B5EF4-FFF2-40B4-BE49-F238E27FC236}">
                <a16:creationId xmlns:a16="http://schemas.microsoft.com/office/drawing/2014/main" id="{681B7142-5188-07E2-63BF-32B37571650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8436" name="Slide Number Placeholder 3">
            <a:extLst>
              <a:ext uri="{FF2B5EF4-FFF2-40B4-BE49-F238E27FC236}">
                <a16:creationId xmlns:a16="http://schemas.microsoft.com/office/drawing/2014/main" id="{77AEB294-9419-8E98-49AC-8E47EB432DE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Calibri" panose="020F0502020204030204" pitchFamily="34" charset="0"/>
              </a:defRPr>
            </a:lvl1pPr>
            <a:lvl2pPr marL="742950" indent="-285750" defTabSz="931863">
              <a:defRPr>
                <a:solidFill>
                  <a:schemeClr val="tx1"/>
                </a:solidFill>
                <a:latin typeface="Calibri" panose="020F0502020204030204" pitchFamily="34" charset="0"/>
              </a:defRPr>
            </a:lvl2pPr>
            <a:lvl3pPr marL="1143000" indent="-228600" defTabSz="931863">
              <a:defRPr>
                <a:solidFill>
                  <a:schemeClr val="tx1"/>
                </a:solidFill>
                <a:latin typeface="Calibri" panose="020F0502020204030204" pitchFamily="34" charset="0"/>
              </a:defRPr>
            </a:lvl3pPr>
            <a:lvl4pPr marL="1600200" indent="-228600" defTabSz="931863">
              <a:defRPr>
                <a:solidFill>
                  <a:schemeClr val="tx1"/>
                </a:solidFill>
                <a:latin typeface="Calibri" panose="020F0502020204030204" pitchFamily="34" charset="0"/>
              </a:defRPr>
            </a:lvl4pPr>
            <a:lvl5pPr marL="2057400" indent="-228600" defTabSz="931863">
              <a:defRPr>
                <a:solidFill>
                  <a:schemeClr val="tx1"/>
                </a:solidFill>
                <a:latin typeface="Calibri" panose="020F0502020204030204" pitchFamily="34" charset="0"/>
              </a:defRPr>
            </a:lvl5pPr>
            <a:lvl6pPr marL="2514600" indent="-228600" defTabSz="931863" eaLnBrk="0" fontAlgn="base" hangingPunct="0">
              <a:spcBef>
                <a:spcPct val="0"/>
              </a:spcBef>
              <a:spcAft>
                <a:spcPct val="0"/>
              </a:spcAft>
              <a:defRPr>
                <a:solidFill>
                  <a:schemeClr val="tx1"/>
                </a:solidFill>
                <a:latin typeface="Calibri" panose="020F0502020204030204" pitchFamily="34" charset="0"/>
              </a:defRPr>
            </a:lvl6pPr>
            <a:lvl7pPr marL="2971800" indent="-228600" defTabSz="931863" eaLnBrk="0" fontAlgn="base" hangingPunct="0">
              <a:spcBef>
                <a:spcPct val="0"/>
              </a:spcBef>
              <a:spcAft>
                <a:spcPct val="0"/>
              </a:spcAft>
              <a:defRPr>
                <a:solidFill>
                  <a:schemeClr val="tx1"/>
                </a:solidFill>
                <a:latin typeface="Calibri" panose="020F0502020204030204" pitchFamily="34" charset="0"/>
              </a:defRPr>
            </a:lvl7pPr>
            <a:lvl8pPr marL="3429000" indent="-228600" defTabSz="931863" eaLnBrk="0" fontAlgn="base" hangingPunct="0">
              <a:spcBef>
                <a:spcPct val="0"/>
              </a:spcBef>
              <a:spcAft>
                <a:spcPct val="0"/>
              </a:spcAft>
              <a:defRPr>
                <a:solidFill>
                  <a:schemeClr val="tx1"/>
                </a:solidFill>
                <a:latin typeface="Calibri" panose="020F0502020204030204" pitchFamily="34" charset="0"/>
              </a:defRPr>
            </a:lvl8pPr>
            <a:lvl9pPr marL="3886200" indent="-228600" defTabSz="931863" eaLnBrk="0" fontAlgn="base" hangingPunct="0">
              <a:spcBef>
                <a:spcPct val="0"/>
              </a:spcBef>
              <a:spcAft>
                <a:spcPct val="0"/>
              </a:spcAft>
              <a:defRPr>
                <a:solidFill>
                  <a:schemeClr val="tx1"/>
                </a:solidFill>
                <a:latin typeface="Calibri" panose="020F0502020204030204" pitchFamily="34" charset="0"/>
              </a:defRPr>
            </a:lvl9pPr>
          </a:lstStyle>
          <a:p>
            <a:fld id="{FCCC9D1D-8765-41D4-B5B6-305EC682C0DF}" type="slidenum">
              <a:rPr lang="en-US" altLang="en-US">
                <a:latin typeface="Times New Roman" panose="02020603050405020304" pitchFamily="18" charset="0"/>
              </a:rPr>
              <a:pPr/>
              <a:t>40</a:t>
            </a:fld>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79B53-250A-2C4A-ABCF-5F39F29F610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5AD33D2-7940-3441-B9E3-6A7E629DAE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19B1878-52C9-F94C-8AD7-ACD655E7A29F}"/>
              </a:ext>
            </a:extLst>
          </p:cNvPr>
          <p:cNvSpPr>
            <a:spLocks noGrp="1"/>
          </p:cNvSpPr>
          <p:nvPr>
            <p:ph type="dt" sz="half" idx="10"/>
          </p:nvPr>
        </p:nvSpPr>
        <p:spPr/>
        <p:txBody>
          <a:bodyPr/>
          <a:lstStyle/>
          <a:p>
            <a:fld id="{4B89E684-998E-4E48-ACC2-834CBDF35D4D}" type="datetimeFigureOut">
              <a:rPr lang="en-US" smtClean="0"/>
              <a:t>6/25/2026</a:t>
            </a:fld>
            <a:endParaRPr lang="en-US"/>
          </a:p>
        </p:txBody>
      </p:sp>
      <p:sp>
        <p:nvSpPr>
          <p:cNvPr id="5" name="Footer Placeholder 4">
            <a:extLst>
              <a:ext uri="{FF2B5EF4-FFF2-40B4-BE49-F238E27FC236}">
                <a16:creationId xmlns:a16="http://schemas.microsoft.com/office/drawing/2014/main" id="{2FB826C5-FD54-774D-A7B4-92001188AA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62B387-D73A-5948-B3C0-3F07C02F2AA3}"/>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435641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0556F-00AF-B84E-85D1-1370AF4BC76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F50D0D1-EF0C-AA4B-8190-BF8A7FDE959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CC5C290-47D2-2D40-A583-783D37E622E7}"/>
              </a:ext>
            </a:extLst>
          </p:cNvPr>
          <p:cNvSpPr>
            <a:spLocks noGrp="1"/>
          </p:cNvSpPr>
          <p:nvPr>
            <p:ph type="dt" sz="half" idx="10"/>
          </p:nvPr>
        </p:nvSpPr>
        <p:spPr/>
        <p:txBody>
          <a:bodyPr/>
          <a:lstStyle/>
          <a:p>
            <a:fld id="{4B89E684-998E-4E48-ACC2-834CBDF35D4D}" type="datetimeFigureOut">
              <a:rPr lang="en-US" smtClean="0"/>
              <a:t>6/25/2026</a:t>
            </a:fld>
            <a:endParaRPr lang="en-US"/>
          </a:p>
        </p:txBody>
      </p:sp>
      <p:sp>
        <p:nvSpPr>
          <p:cNvPr id="5" name="Footer Placeholder 4">
            <a:extLst>
              <a:ext uri="{FF2B5EF4-FFF2-40B4-BE49-F238E27FC236}">
                <a16:creationId xmlns:a16="http://schemas.microsoft.com/office/drawing/2014/main" id="{BA3B5923-BB6F-014D-951E-8134B9B28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4B0337-A493-3F41-880F-C62BDEA5A025}"/>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2390337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97322-7418-4C45-B308-67CF2965BEC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6B16860-F6A0-B347-A088-B47493FFBA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C468213-927E-4C42-887F-6F971F556CD5}"/>
              </a:ext>
            </a:extLst>
          </p:cNvPr>
          <p:cNvSpPr>
            <a:spLocks noGrp="1"/>
          </p:cNvSpPr>
          <p:nvPr>
            <p:ph type="dt" sz="half" idx="10"/>
          </p:nvPr>
        </p:nvSpPr>
        <p:spPr/>
        <p:txBody>
          <a:bodyPr/>
          <a:lstStyle/>
          <a:p>
            <a:fld id="{4B89E684-998E-4E48-ACC2-834CBDF35D4D}" type="datetimeFigureOut">
              <a:rPr lang="en-US" smtClean="0"/>
              <a:t>6/25/2026</a:t>
            </a:fld>
            <a:endParaRPr lang="en-US"/>
          </a:p>
        </p:txBody>
      </p:sp>
      <p:sp>
        <p:nvSpPr>
          <p:cNvPr id="5" name="Footer Placeholder 4">
            <a:extLst>
              <a:ext uri="{FF2B5EF4-FFF2-40B4-BE49-F238E27FC236}">
                <a16:creationId xmlns:a16="http://schemas.microsoft.com/office/drawing/2014/main" id="{239B8C16-865C-C44B-AB5B-C7833F7C78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397F15-04A6-B947-AA25-EB980A218259}"/>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1493607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C0E05-68CB-114A-9B52-22943B2B596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0C4839E-81E4-634A-9EB4-435306FB199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CCD899C-F35F-8C49-995A-F9EC7A1347D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AE6ACAB-5524-CF42-9604-2D5261BCFC91}"/>
              </a:ext>
            </a:extLst>
          </p:cNvPr>
          <p:cNvSpPr>
            <a:spLocks noGrp="1"/>
          </p:cNvSpPr>
          <p:nvPr>
            <p:ph type="dt" sz="half" idx="10"/>
          </p:nvPr>
        </p:nvSpPr>
        <p:spPr/>
        <p:txBody>
          <a:bodyPr/>
          <a:lstStyle/>
          <a:p>
            <a:fld id="{4B89E684-998E-4E48-ACC2-834CBDF35D4D}" type="datetimeFigureOut">
              <a:rPr lang="en-US" smtClean="0"/>
              <a:t>6/25/2026</a:t>
            </a:fld>
            <a:endParaRPr lang="en-US"/>
          </a:p>
        </p:txBody>
      </p:sp>
      <p:sp>
        <p:nvSpPr>
          <p:cNvPr id="6" name="Footer Placeholder 5">
            <a:extLst>
              <a:ext uri="{FF2B5EF4-FFF2-40B4-BE49-F238E27FC236}">
                <a16:creationId xmlns:a16="http://schemas.microsoft.com/office/drawing/2014/main" id="{5A43A2F9-6382-C041-9552-93E96E8A56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89ED67-D229-CE43-80A6-1C66275BBFB3}"/>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2843973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BE657-73E9-0842-8854-C408FEED639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1629323-C90A-0048-B631-3BDCAF5B33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2FBE551-B7C3-D046-9833-F396C7520DC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D061ECE-A234-1D44-BCDF-9C23BBD87B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C39A1B0-543D-494B-99BE-7DE8B0BD558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5773B88-CC79-3148-BE4B-00963280D6F4}"/>
              </a:ext>
            </a:extLst>
          </p:cNvPr>
          <p:cNvSpPr>
            <a:spLocks noGrp="1"/>
          </p:cNvSpPr>
          <p:nvPr>
            <p:ph type="dt" sz="half" idx="10"/>
          </p:nvPr>
        </p:nvSpPr>
        <p:spPr/>
        <p:txBody>
          <a:bodyPr/>
          <a:lstStyle/>
          <a:p>
            <a:fld id="{4B89E684-998E-4E48-ACC2-834CBDF35D4D}" type="datetimeFigureOut">
              <a:rPr lang="en-US" smtClean="0"/>
              <a:t>6/25/2026</a:t>
            </a:fld>
            <a:endParaRPr lang="en-US"/>
          </a:p>
        </p:txBody>
      </p:sp>
      <p:sp>
        <p:nvSpPr>
          <p:cNvPr id="8" name="Footer Placeholder 7">
            <a:extLst>
              <a:ext uri="{FF2B5EF4-FFF2-40B4-BE49-F238E27FC236}">
                <a16:creationId xmlns:a16="http://schemas.microsoft.com/office/drawing/2014/main" id="{5233C0A8-9580-E143-BC67-7332A66EF3C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1E9C1C7-E2D4-7443-8BB1-ADC5B4F139B5}"/>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2826367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1D30E-4EDA-AF43-A976-238A023957A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5B945B4-E1B2-A84D-BD83-7F431150DC2B}"/>
              </a:ext>
            </a:extLst>
          </p:cNvPr>
          <p:cNvSpPr>
            <a:spLocks noGrp="1"/>
          </p:cNvSpPr>
          <p:nvPr>
            <p:ph type="dt" sz="half" idx="10"/>
          </p:nvPr>
        </p:nvSpPr>
        <p:spPr/>
        <p:txBody>
          <a:bodyPr/>
          <a:lstStyle/>
          <a:p>
            <a:fld id="{4B89E684-998E-4E48-ACC2-834CBDF35D4D}" type="datetimeFigureOut">
              <a:rPr lang="en-US" smtClean="0"/>
              <a:t>6/25/2026</a:t>
            </a:fld>
            <a:endParaRPr lang="en-US"/>
          </a:p>
        </p:txBody>
      </p:sp>
      <p:sp>
        <p:nvSpPr>
          <p:cNvPr id="4" name="Footer Placeholder 3">
            <a:extLst>
              <a:ext uri="{FF2B5EF4-FFF2-40B4-BE49-F238E27FC236}">
                <a16:creationId xmlns:a16="http://schemas.microsoft.com/office/drawing/2014/main" id="{B0CB54A8-00E5-8646-AFCE-A77E2A470B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2269BD-8E1D-5941-8B6D-7EF43A83365D}"/>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483475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52252D-736E-1D41-AEB0-5DAF3A633EA6}"/>
              </a:ext>
            </a:extLst>
          </p:cNvPr>
          <p:cNvSpPr>
            <a:spLocks noGrp="1"/>
          </p:cNvSpPr>
          <p:nvPr>
            <p:ph type="dt" sz="half" idx="10"/>
          </p:nvPr>
        </p:nvSpPr>
        <p:spPr/>
        <p:txBody>
          <a:bodyPr/>
          <a:lstStyle/>
          <a:p>
            <a:fld id="{4B89E684-998E-4E48-ACC2-834CBDF35D4D}" type="datetimeFigureOut">
              <a:rPr lang="en-US" smtClean="0"/>
              <a:t>6/25/2026</a:t>
            </a:fld>
            <a:endParaRPr lang="en-US"/>
          </a:p>
        </p:txBody>
      </p:sp>
      <p:sp>
        <p:nvSpPr>
          <p:cNvPr id="3" name="Footer Placeholder 2">
            <a:extLst>
              <a:ext uri="{FF2B5EF4-FFF2-40B4-BE49-F238E27FC236}">
                <a16:creationId xmlns:a16="http://schemas.microsoft.com/office/drawing/2014/main" id="{BDB9A2AC-9AE6-CC49-97CA-C76F4DD946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70D02B-52E7-B04C-8F41-03A14507DBCB}"/>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2903815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551C4-14A7-1B41-96D7-B1ED58044F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707CBCB-523D-0E46-9D89-92E3237681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5BF77DC-7B8E-B642-B644-6405F601F4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4B9E05F-BC35-B147-84F6-95FC8859534B}"/>
              </a:ext>
            </a:extLst>
          </p:cNvPr>
          <p:cNvSpPr>
            <a:spLocks noGrp="1"/>
          </p:cNvSpPr>
          <p:nvPr>
            <p:ph type="dt" sz="half" idx="10"/>
          </p:nvPr>
        </p:nvSpPr>
        <p:spPr/>
        <p:txBody>
          <a:bodyPr/>
          <a:lstStyle/>
          <a:p>
            <a:fld id="{4B89E684-998E-4E48-ACC2-834CBDF35D4D}" type="datetimeFigureOut">
              <a:rPr lang="en-US" smtClean="0"/>
              <a:t>6/25/2026</a:t>
            </a:fld>
            <a:endParaRPr lang="en-US"/>
          </a:p>
        </p:txBody>
      </p:sp>
      <p:sp>
        <p:nvSpPr>
          <p:cNvPr id="6" name="Footer Placeholder 5">
            <a:extLst>
              <a:ext uri="{FF2B5EF4-FFF2-40B4-BE49-F238E27FC236}">
                <a16:creationId xmlns:a16="http://schemas.microsoft.com/office/drawing/2014/main" id="{B0766A53-9028-E04C-A3E9-30BD0CFE2B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0FC4DB-D7EF-C548-858D-D654B6DBF88F}"/>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802336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5B3DA-EBD2-3A44-9B39-059BCB1DE17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420C907-1EE1-1B43-B12C-2C54DA41DC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E08835-5BE6-854E-8AE8-A37892FB27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5C4EFC3-BFD9-7843-8A94-C6BD664602B8}"/>
              </a:ext>
            </a:extLst>
          </p:cNvPr>
          <p:cNvSpPr>
            <a:spLocks noGrp="1"/>
          </p:cNvSpPr>
          <p:nvPr>
            <p:ph type="dt" sz="half" idx="10"/>
          </p:nvPr>
        </p:nvSpPr>
        <p:spPr/>
        <p:txBody>
          <a:bodyPr/>
          <a:lstStyle/>
          <a:p>
            <a:fld id="{4B89E684-998E-4E48-ACC2-834CBDF35D4D}" type="datetimeFigureOut">
              <a:rPr lang="en-US" smtClean="0"/>
              <a:t>6/25/2026</a:t>
            </a:fld>
            <a:endParaRPr lang="en-US"/>
          </a:p>
        </p:txBody>
      </p:sp>
      <p:sp>
        <p:nvSpPr>
          <p:cNvPr id="6" name="Footer Placeholder 5">
            <a:extLst>
              <a:ext uri="{FF2B5EF4-FFF2-40B4-BE49-F238E27FC236}">
                <a16:creationId xmlns:a16="http://schemas.microsoft.com/office/drawing/2014/main" id="{04597A42-DC80-0A44-B10C-E00DA50EAC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CFEC4D-EDEC-1D42-B236-BB7758F67904}"/>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1562553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C8B7E-F434-FA48-A1A8-074386A46B8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39CAA09-A881-D149-BD1D-F1670B866CF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6595C7F-EB61-3F44-88D5-BB0DE6A48C40}"/>
              </a:ext>
            </a:extLst>
          </p:cNvPr>
          <p:cNvSpPr>
            <a:spLocks noGrp="1"/>
          </p:cNvSpPr>
          <p:nvPr>
            <p:ph type="dt" sz="half" idx="10"/>
          </p:nvPr>
        </p:nvSpPr>
        <p:spPr/>
        <p:txBody>
          <a:bodyPr/>
          <a:lstStyle/>
          <a:p>
            <a:fld id="{4B89E684-998E-4E48-ACC2-834CBDF35D4D}" type="datetimeFigureOut">
              <a:rPr lang="en-US" smtClean="0"/>
              <a:t>6/25/2026</a:t>
            </a:fld>
            <a:endParaRPr lang="en-US"/>
          </a:p>
        </p:txBody>
      </p:sp>
      <p:sp>
        <p:nvSpPr>
          <p:cNvPr id="5" name="Footer Placeholder 4">
            <a:extLst>
              <a:ext uri="{FF2B5EF4-FFF2-40B4-BE49-F238E27FC236}">
                <a16:creationId xmlns:a16="http://schemas.microsoft.com/office/drawing/2014/main" id="{A2CC8E8A-CCE0-7C42-82FD-4671B01F3C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F275EF-6A05-DB4F-8733-871025569AFE}"/>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1333549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A112EA-DE54-B04C-88D8-0858AE35721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3B5A9E3-BFF5-FA43-91F9-C6CC88B39BF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3E6F942-8067-2943-A448-4C53FF850794}"/>
              </a:ext>
            </a:extLst>
          </p:cNvPr>
          <p:cNvSpPr>
            <a:spLocks noGrp="1"/>
          </p:cNvSpPr>
          <p:nvPr>
            <p:ph type="dt" sz="half" idx="10"/>
          </p:nvPr>
        </p:nvSpPr>
        <p:spPr/>
        <p:txBody>
          <a:bodyPr/>
          <a:lstStyle/>
          <a:p>
            <a:fld id="{4B89E684-998E-4E48-ACC2-834CBDF35D4D}" type="datetimeFigureOut">
              <a:rPr lang="en-US" smtClean="0"/>
              <a:t>6/25/2026</a:t>
            </a:fld>
            <a:endParaRPr lang="en-US"/>
          </a:p>
        </p:txBody>
      </p:sp>
      <p:sp>
        <p:nvSpPr>
          <p:cNvPr id="5" name="Footer Placeholder 4">
            <a:extLst>
              <a:ext uri="{FF2B5EF4-FFF2-40B4-BE49-F238E27FC236}">
                <a16:creationId xmlns:a16="http://schemas.microsoft.com/office/drawing/2014/main" id="{BEABDD4C-6FC2-FB4B-8372-13D9CEB4BA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D887A9-60D4-6044-9124-93EEDDC9AFCA}"/>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1120398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A9C15-F8B9-9C43-9F8A-574D397593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50EB648-FC92-AC4C-A733-420A43E08B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F88806B-DC71-B748-A0B5-CC4DD17C5E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89E684-998E-4E48-ACC2-834CBDF35D4D}" type="datetimeFigureOut">
              <a:rPr lang="en-US" smtClean="0"/>
              <a:t>6/25/2026</a:t>
            </a:fld>
            <a:endParaRPr lang="en-US"/>
          </a:p>
        </p:txBody>
      </p:sp>
      <p:sp>
        <p:nvSpPr>
          <p:cNvPr id="5" name="Footer Placeholder 4">
            <a:extLst>
              <a:ext uri="{FF2B5EF4-FFF2-40B4-BE49-F238E27FC236}">
                <a16:creationId xmlns:a16="http://schemas.microsoft.com/office/drawing/2014/main" id="{100D8AFE-2BBD-DA48-8F9A-9C6AA44A59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1ABC779-A4C5-E247-AFC5-01BC165697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9E9CF8-411C-534F-ACCE-E5CD2A84B69C}" type="slidenum">
              <a:rPr lang="en-US" smtClean="0"/>
              <a:t>‹#›</a:t>
            </a:fld>
            <a:endParaRPr lang="en-US"/>
          </a:p>
        </p:txBody>
      </p:sp>
    </p:spTree>
    <p:extLst>
      <p:ext uri="{BB962C8B-B14F-4D97-AF65-F5344CB8AC3E}">
        <p14:creationId xmlns:p14="http://schemas.microsoft.com/office/powerpoint/2010/main" val="25705080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file:////var/folders/c3/hywltwwx54j0v3mf83dngrh00000gn/T/com.microsoft.Word/WebArchiveCopyPasteTempFiles/big-data-characteristics.png"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file:////var/folders/c3/hywltwwx54j0v3mf83dngrh00000gn/T/com.microsoft.Word/WebArchiveCopyPasteTempFiles/big-data-characteristics3.png" TargetMode="External"/><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5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5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xfrm>
            <a:off x="1993095" y="495300"/>
            <a:ext cx="7772400" cy="1470025"/>
          </a:xfrm>
        </p:spPr>
        <p:txBody>
          <a:bodyPr/>
          <a:lstStyle/>
          <a:p>
            <a:pPr eaLnBrk="1" hangingPunct="1"/>
            <a:r>
              <a:rPr lang="en-US" altLang="en-US" sz="4400" b="1" dirty="0">
                <a:ea typeface="ＭＳ Ｐゴシック" pitchFamily="34" charset="-128"/>
              </a:rPr>
              <a:t>Introduction to Data Science</a:t>
            </a:r>
          </a:p>
        </p:txBody>
      </p:sp>
      <p:sp>
        <p:nvSpPr>
          <p:cNvPr id="9219" name="Rectangle 3"/>
          <p:cNvSpPr>
            <a:spLocks noGrp="1" noChangeArrowheads="1"/>
          </p:cNvSpPr>
          <p:nvPr>
            <p:ph type="subTitle" idx="1"/>
          </p:nvPr>
        </p:nvSpPr>
        <p:spPr>
          <a:xfrm>
            <a:off x="2246313" y="3226191"/>
            <a:ext cx="6718495" cy="797169"/>
          </a:xfrm>
        </p:spPr>
        <p:txBody>
          <a:bodyPr>
            <a:normAutofit fontScale="92500" lnSpcReduction="10000"/>
          </a:bodyPr>
          <a:lstStyle/>
          <a:p>
            <a:pPr eaLnBrk="1" hangingPunct="1">
              <a:lnSpc>
                <a:spcPct val="80000"/>
              </a:lnSpc>
            </a:pPr>
            <a:r>
              <a:rPr lang="en-GB" altLang="en-US" sz="2800" b="1" dirty="0">
                <a:ea typeface="ＭＳ Ｐゴシック" pitchFamily="34" charset="-128"/>
              </a:rPr>
              <a:t>Dr. N. Subhash Chandra</a:t>
            </a:r>
          </a:p>
          <a:p>
            <a:pPr eaLnBrk="1" hangingPunct="1">
              <a:lnSpc>
                <a:spcPct val="80000"/>
              </a:lnSpc>
            </a:pPr>
            <a:r>
              <a:rPr lang="en-GB" altLang="en-US" sz="2800" b="1" dirty="0">
                <a:ea typeface="ＭＳ Ｐゴシック" pitchFamily="34" charset="-128"/>
              </a:rPr>
              <a:t>Professor CSE</a:t>
            </a:r>
            <a:endParaRPr lang="en-US" altLang="en-US" sz="2800" b="1" dirty="0">
              <a:ea typeface="ＭＳ Ｐゴシック" pitchFamily="34" charset="-128"/>
            </a:endParaRPr>
          </a:p>
        </p:txBody>
      </p:sp>
      <p:sp>
        <p:nvSpPr>
          <p:cNvPr id="11" name="Title 1"/>
          <p:cNvSpPr txBox="1">
            <a:spLocks/>
          </p:cNvSpPr>
          <p:nvPr/>
        </p:nvSpPr>
        <p:spPr bwMode="auto">
          <a:xfrm>
            <a:off x="2895600" y="0"/>
            <a:ext cx="6477000" cy="990600"/>
          </a:xfrm>
          <a:prstGeom prst="rect">
            <a:avLst/>
          </a:prstGeom>
          <a:noFill/>
          <a:ln w="9525">
            <a:noFill/>
            <a:miter lim="800000"/>
            <a:headEnd/>
            <a:tailEnd/>
          </a:ln>
        </p:spPr>
        <p:txBody>
          <a:bodyPr anchor="ctr"/>
          <a:lstStyle/>
          <a:p>
            <a:pPr algn="ctr" eaLnBrk="0" hangingPunct="0">
              <a:defRPr/>
            </a:pPr>
            <a:endParaRPr lang="en-US" sz="3200" b="1" kern="0" dirty="0">
              <a:solidFill>
                <a:srgbClr val="C00000"/>
              </a:solidFill>
              <a:effectLst>
                <a:outerShdw blurRad="38100" dist="38100" dir="2700000" algn="tl">
                  <a:srgbClr val="000000">
                    <a:alpha val="43137"/>
                  </a:srgbClr>
                </a:outerShdw>
              </a:effectLst>
              <a:latin typeface="+mj-lt"/>
              <a:ea typeface="+mj-ea"/>
              <a:cs typeface="+mj-cs"/>
            </a:endParaRPr>
          </a:p>
        </p:txBody>
      </p:sp>
      <p:sp>
        <p:nvSpPr>
          <p:cNvPr id="2" name="Rectangle 1">
            <a:extLst>
              <a:ext uri="{FF2B5EF4-FFF2-40B4-BE49-F238E27FC236}">
                <a16:creationId xmlns:a16="http://schemas.microsoft.com/office/drawing/2014/main" id="{EFAB4C57-58B5-4843-9AD3-FE2AA66392CD}"/>
              </a:ext>
            </a:extLst>
          </p:cNvPr>
          <p:cNvSpPr/>
          <p:nvPr/>
        </p:nvSpPr>
        <p:spPr>
          <a:xfrm>
            <a:off x="126609" y="112542"/>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 name="Straight Connector 3">
            <a:extLst>
              <a:ext uri="{FF2B5EF4-FFF2-40B4-BE49-F238E27FC236}">
                <a16:creationId xmlns:a16="http://schemas.microsoft.com/office/drawing/2014/main" id="{8224F5D3-0145-47C5-BA9A-CD5C83423483}"/>
              </a:ext>
            </a:extLst>
          </p:cNvPr>
          <p:cNvCxnSpPr/>
          <p:nvPr/>
        </p:nvCxnSpPr>
        <p:spPr>
          <a:xfrm>
            <a:off x="126609" y="2616591"/>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EEA6B-10CF-3640-B099-28C0C5C3ED86}"/>
              </a:ext>
            </a:extLst>
          </p:cNvPr>
          <p:cNvSpPr>
            <a:spLocks noGrp="1"/>
          </p:cNvSpPr>
          <p:nvPr>
            <p:ph type="title"/>
          </p:nvPr>
        </p:nvSpPr>
        <p:spPr>
          <a:xfrm>
            <a:off x="709146" y="133959"/>
            <a:ext cx="9603275" cy="1049235"/>
          </a:xfrm>
        </p:spPr>
        <p:txBody>
          <a:bodyPr/>
          <a:lstStyle/>
          <a:p>
            <a:r>
              <a:rPr lang="en-US" b="1" dirty="0"/>
              <a:t>   UNIT-1: Contents</a:t>
            </a:r>
          </a:p>
        </p:txBody>
      </p:sp>
      <p:sp>
        <p:nvSpPr>
          <p:cNvPr id="3" name="Content Placeholder 2">
            <a:extLst>
              <a:ext uri="{FF2B5EF4-FFF2-40B4-BE49-F238E27FC236}">
                <a16:creationId xmlns:a16="http://schemas.microsoft.com/office/drawing/2014/main" id="{AF9615AD-9DD8-2F44-891C-4E87CE3F8E28}"/>
              </a:ext>
            </a:extLst>
          </p:cNvPr>
          <p:cNvSpPr>
            <a:spLocks noGrp="1"/>
          </p:cNvSpPr>
          <p:nvPr>
            <p:ph idx="1"/>
          </p:nvPr>
        </p:nvSpPr>
        <p:spPr>
          <a:xfrm>
            <a:off x="1584610" y="1880197"/>
            <a:ext cx="9476680" cy="2632810"/>
          </a:xfrm>
        </p:spPr>
        <p:txBody>
          <a:bodyPr>
            <a:noAutofit/>
          </a:bodyPr>
          <a:lstStyle/>
          <a:p>
            <a:pPr algn="just"/>
            <a:r>
              <a:rPr lang="en-US" sz="24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UNIT I – Introduction to Data Science</a:t>
            </a:r>
            <a:r>
              <a:rPr lang="en-US" sz="24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IN" sz="2400" dirty="0">
              <a:solidFill>
                <a:srgbClr val="000000"/>
              </a:solidFill>
              <a:effectLst/>
              <a:latin typeface="Calibri" panose="020F0502020204030204" pitchFamily="34" charset="0"/>
              <a:ea typeface="Segoe UI" panose="020B0502040204020203" pitchFamily="34" charset="0"/>
              <a:cs typeface="Tahoma" panose="020B0604030504040204" pitchFamily="34" charset="0"/>
            </a:endParaRPr>
          </a:p>
          <a:p>
            <a:pPr algn="just"/>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Data science, Characteristics of Bigdata, Different steps in Data science process, Types of Data analytics.</a:t>
            </a:r>
            <a:endParaRPr lang="en-IN" sz="2400" dirty="0">
              <a:solidFill>
                <a:srgbClr val="000000"/>
              </a:solidFill>
              <a:effectLst/>
              <a:latin typeface="Times New Roman" panose="02020603050405020304" pitchFamily="18" charset="0"/>
              <a:ea typeface="Segoe UI" panose="020B0502040204020203" pitchFamily="34" charset="0"/>
              <a:cs typeface="Times New Roman" panose="02020603050405020304" pitchFamily="18" charset="0"/>
            </a:endParaRPr>
          </a:p>
          <a:p>
            <a:pPr algn="just"/>
            <a:r>
              <a:rPr lang="en-US" sz="2400" b="1" dirty="0">
                <a:solidFill>
                  <a:srgbClr val="000000"/>
                </a:solidFill>
                <a:effectLst/>
                <a:latin typeface="Times New Roman" panose="02020603050405020304" pitchFamily="18" charset="0"/>
                <a:ea typeface="Segoe UI" panose="020B0502040204020203" pitchFamily="34" charset="0"/>
                <a:cs typeface="Times New Roman" panose="02020603050405020304" pitchFamily="18" charset="0"/>
              </a:rPr>
              <a:t>Descriptive Analysis</a:t>
            </a:r>
            <a:r>
              <a:rPr lang="en-US" sz="2400" dirty="0">
                <a:solidFill>
                  <a:srgbClr val="000000"/>
                </a:solidFill>
                <a:effectLst/>
                <a:latin typeface="Times New Roman" panose="02020603050405020304" pitchFamily="18" charset="0"/>
                <a:ea typeface="Segoe UI" panose="020B0502040204020203" pitchFamily="34" charset="0"/>
                <a:cs typeface="Times New Roman" panose="02020603050405020304" pitchFamily="18" charset="0"/>
              </a:rPr>
              <a:t>: Data Types and Scales, Types of Data Measurement Scales, Measures of Central Tendency, Measures of Variation, S</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imilarity, and dissimilarity measures,</a:t>
            </a:r>
            <a:r>
              <a:rPr lang="en-US" sz="2400" dirty="0">
                <a:solidFill>
                  <a:srgbClr val="000000"/>
                </a:solidFill>
                <a:effectLst/>
                <a:latin typeface="Times New Roman" panose="02020603050405020304" pitchFamily="18" charset="0"/>
                <a:ea typeface="Segoe UI" panose="020B0502040204020203" pitchFamily="34" charset="0"/>
                <a:cs typeface="Times New Roman" panose="02020603050405020304" pitchFamily="18" charset="0"/>
              </a:rPr>
              <a:t> </a:t>
            </a:r>
            <a:endParaRPr lang="en-IN" sz="2400" dirty="0">
              <a:solidFill>
                <a:srgbClr val="000000"/>
              </a:solidFill>
              <a:effectLst/>
              <a:latin typeface="Times New Roman" panose="02020603050405020304" pitchFamily="18" charset="0"/>
              <a:ea typeface="Segoe UI" panose="020B0502040204020203" pitchFamily="34" charset="0"/>
              <a:cs typeface="Times New Roman" panose="02020603050405020304" pitchFamily="18" charset="0"/>
            </a:endParaRPr>
          </a:p>
          <a:p>
            <a:pPr algn="just"/>
            <a:r>
              <a:rPr lang="en-US" sz="2400" b="1" dirty="0">
                <a:solidFill>
                  <a:srgbClr val="000000"/>
                </a:solidFill>
                <a:effectLst/>
                <a:latin typeface="Times New Roman" panose="02020603050405020304" pitchFamily="18" charset="0"/>
                <a:ea typeface="Segoe UI" panose="020B0502040204020203" pitchFamily="34" charset="0"/>
                <a:cs typeface="Times New Roman" panose="02020603050405020304" pitchFamily="18" charset="0"/>
              </a:rPr>
              <a:t>Data preprocessing</a:t>
            </a:r>
            <a:r>
              <a:rPr lang="en-US" sz="2400" dirty="0">
                <a:solidFill>
                  <a:srgbClr val="000000"/>
                </a:solidFill>
                <a:effectLst/>
                <a:latin typeface="Times New Roman" panose="02020603050405020304" pitchFamily="18" charset="0"/>
                <a:ea typeface="Segoe UI" panose="020B0502040204020203" pitchFamily="34" charset="0"/>
                <a:cs typeface="Times New Roman" panose="02020603050405020304" pitchFamily="18" charset="0"/>
              </a:rPr>
              <a:t>: </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Data Cleaning, Data Integration, Data Transformation.</a:t>
            </a:r>
            <a:endParaRPr lang="en-IN" sz="2400" dirty="0">
              <a:solidFill>
                <a:srgbClr val="000000"/>
              </a:solidFill>
              <a:effectLst/>
              <a:latin typeface="Times New Roman" panose="02020603050405020304" pitchFamily="18" charset="0"/>
              <a:ea typeface="Segoe UI" panose="020B0502040204020203" pitchFamily="34" charset="0"/>
              <a:cs typeface="Times New Roman" panose="02020603050405020304" pitchFamily="18" charset="0"/>
            </a:endParaRPr>
          </a:p>
          <a:p>
            <a:pPr algn="just">
              <a:lnSpc>
                <a:spcPct val="100000"/>
              </a:lnSpc>
            </a:pPr>
            <a:endParaRPr lang="en-US" sz="2400" dirty="0"/>
          </a:p>
        </p:txBody>
      </p:sp>
      <p:sp>
        <p:nvSpPr>
          <p:cNvPr id="4" name="Rectangle 3">
            <a:extLst>
              <a:ext uri="{FF2B5EF4-FFF2-40B4-BE49-F238E27FC236}">
                <a16:creationId xmlns:a16="http://schemas.microsoft.com/office/drawing/2014/main" id="{8E882AC3-0BC8-4FB6-A411-E0656630AABE}"/>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id="{812290BB-C335-4476-92BF-6D97BF5A201E}"/>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9125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whiteboard&#10;&#10;Description automatically generated">
            <a:extLst>
              <a:ext uri="{FF2B5EF4-FFF2-40B4-BE49-F238E27FC236}">
                <a16:creationId xmlns:a16="http://schemas.microsoft.com/office/drawing/2014/main" id="{05AA236B-56D9-F5E7-F36A-A52D959FFCBF}"/>
              </a:ext>
            </a:extLst>
          </p:cNvPr>
          <p:cNvPicPr>
            <a:picLocks noChangeAspect="1"/>
          </p:cNvPicPr>
          <p:nvPr/>
        </p:nvPicPr>
        <p:blipFill>
          <a:blip r:embed="rId2"/>
          <a:stretch>
            <a:fillRect/>
          </a:stretch>
        </p:blipFill>
        <p:spPr>
          <a:xfrm>
            <a:off x="994610" y="60158"/>
            <a:ext cx="10812379" cy="6858000"/>
          </a:xfrm>
          <a:prstGeom prst="rect">
            <a:avLst/>
          </a:prstGeom>
        </p:spPr>
      </p:pic>
    </p:spTree>
    <p:extLst>
      <p:ext uri="{BB962C8B-B14F-4D97-AF65-F5344CB8AC3E}">
        <p14:creationId xmlns:p14="http://schemas.microsoft.com/office/powerpoint/2010/main" val="2502563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white paper&#10;&#10;Description automatically generated">
            <a:extLst>
              <a:ext uri="{FF2B5EF4-FFF2-40B4-BE49-F238E27FC236}">
                <a16:creationId xmlns:a16="http://schemas.microsoft.com/office/drawing/2014/main" id="{216645A9-32E7-C288-CA48-84B6FBD826A7}"/>
              </a:ext>
            </a:extLst>
          </p:cNvPr>
          <p:cNvPicPr>
            <a:picLocks noChangeAspect="1"/>
          </p:cNvPicPr>
          <p:nvPr/>
        </p:nvPicPr>
        <p:blipFill>
          <a:blip r:embed="rId2"/>
          <a:stretch>
            <a:fillRect/>
          </a:stretch>
        </p:blipFill>
        <p:spPr>
          <a:xfrm>
            <a:off x="1411704" y="0"/>
            <a:ext cx="9865895" cy="6858000"/>
          </a:xfrm>
          <a:prstGeom prst="rect">
            <a:avLst/>
          </a:prstGeom>
        </p:spPr>
      </p:pic>
    </p:spTree>
    <p:extLst>
      <p:ext uri="{BB962C8B-B14F-4D97-AF65-F5344CB8AC3E}">
        <p14:creationId xmlns:p14="http://schemas.microsoft.com/office/powerpoint/2010/main" val="3339689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59767" y="2129188"/>
            <a:ext cx="4065770" cy="3026309"/>
          </a:xfrm>
          <a:prstGeom prst="rect">
            <a:avLst/>
          </a:prstGeom>
        </p:spPr>
        <p:txBody>
          <a:bodyPr vert="horz" wrap="square" lIns="0" tIns="10001" rIns="0" bIns="0" rtlCol="0">
            <a:spAutoFit/>
          </a:bodyPr>
          <a:lstStyle/>
          <a:p>
            <a:pPr marL="352425" marR="3810" indent="-342900" algn="just">
              <a:spcBef>
                <a:spcPts val="79"/>
              </a:spcBef>
              <a:buFont typeface="Arial"/>
              <a:buChar char="•"/>
              <a:tabLst>
                <a:tab pos="352425" algn="l"/>
                <a:tab pos="2606516" algn="l"/>
              </a:tabLst>
            </a:pPr>
            <a:r>
              <a:rPr lang="en-GB" sz="2800" dirty="0">
                <a:latin typeface="+mj-lt"/>
                <a:cs typeface="Microsoft YaHei UI Light"/>
              </a:rPr>
              <a:t>A</a:t>
            </a:r>
            <a:r>
              <a:rPr sz="2800" dirty="0">
                <a:latin typeface="+mj-lt"/>
                <a:cs typeface="Microsoft YaHei UI Light"/>
              </a:rPr>
              <a:t> </a:t>
            </a:r>
            <a:r>
              <a:rPr sz="2800" spc="8" dirty="0">
                <a:latin typeface="+mj-lt"/>
                <a:cs typeface="Microsoft YaHei UI Light"/>
              </a:rPr>
              <a:t>multi-disciplinary </a:t>
            </a:r>
            <a:r>
              <a:rPr sz="2800" dirty="0">
                <a:latin typeface="+mj-lt"/>
                <a:cs typeface="Microsoft YaHei UI Light"/>
              </a:rPr>
              <a:t>field  that </a:t>
            </a:r>
            <a:r>
              <a:rPr sz="2800" spc="-4" dirty="0">
                <a:latin typeface="+mj-lt"/>
                <a:cs typeface="Microsoft YaHei UI Light"/>
              </a:rPr>
              <a:t>uses scientific  </a:t>
            </a:r>
            <a:r>
              <a:rPr sz="2800" dirty="0">
                <a:latin typeface="+mj-lt"/>
                <a:cs typeface="Microsoft YaHei UI Light"/>
              </a:rPr>
              <a:t>metho</a:t>
            </a:r>
            <a:r>
              <a:rPr sz="2800" spc="-11" dirty="0">
                <a:latin typeface="+mj-lt"/>
                <a:cs typeface="Microsoft YaHei UI Light"/>
              </a:rPr>
              <a:t>d</a:t>
            </a:r>
            <a:r>
              <a:rPr sz="2800" spc="-4" dirty="0">
                <a:latin typeface="+mj-lt"/>
                <a:cs typeface="Microsoft YaHei UI Light"/>
              </a:rPr>
              <a:t>s</a:t>
            </a:r>
            <a:r>
              <a:rPr lang="en-GB" sz="2800" spc="-4" dirty="0">
                <a:latin typeface="+mj-lt"/>
                <a:cs typeface="Microsoft YaHei UI Light"/>
              </a:rPr>
              <a:t>, </a:t>
            </a:r>
            <a:r>
              <a:rPr sz="2800" dirty="0">
                <a:latin typeface="+mj-lt"/>
                <a:cs typeface="Microsoft YaHei UI Light"/>
              </a:rPr>
              <a:t>p</a:t>
            </a:r>
            <a:r>
              <a:rPr sz="2800" spc="-49" dirty="0">
                <a:latin typeface="+mj-lt"/>
                <a:cs typeface="Microsoft YaHei UI Light"/>
              </a:rPr>
              <a:t>r</a:t>
            </a:r>
            <a:r>
              <a:rPr sz="2800" dirty="0">
                <a:latin typeface="+mj-lt"/>
                <a:cs typeface="Microsoft YaHei UI Light"/>
              </a:rPr>
              <a:t>oc</a:t>
            </a:r>
            <a:r>
              <a:rPr sz="2800" spc="8" dirty="0">
                <a:latin typeface="+mj-lt"/>
                <a:cs typeface="Microsoft YaHei UI Light"/>
              </a:rPr>
              <a:t>e</a:t>
            </a:r>
            <a:r>
              <a:rPr sz="2800" spc="-4" dirty="0">
                <a:latin typeface="+mj-lt"/>
                <a:cs typeface="Microsoft YaHei UI Light"/>
              </a:rPr>
              <a:t>sses,  </a:t>
            </a:r>
            <a:r>
              <a:rPr sz="2800" dirty="0">
                <a:latin typeface="+mj-lt"/>
                <a:cs typeface="Microsoft YaHei UI Light"/>
              </a:rPr>
              <a:t>algorithms </a:t>
            </a:r>
            <a:r>
              <a:rPr sz="2800" spc="-4" dirty="0">
                <a:latin typeface="+mj-lt"/>
                <a:cs typeface="Microsoft YaHei UI Light"/>
              </a:rPr>
              <a:t>and systems </a:t>
            </a:r>
            <a:r>
              <a:rPr sz="2800" dirty="0">
                <a:latin typeface="+mj-lt"/>
                <a:cs typeface="Microsoft YaHei UI Light"/>
              </a:rPr>
              <a:t>to  </a:t>
            </a:r>
            <a:r>
              <a:rPr sz="2800" spc="-4" dirty="0">
                <a:latin typeface="+mj-lt"/>
                <a:cs typeface="Microsoft YaHei UI Light"/>
              </a:rPr>
              <a:t>extract knowledge and  </a:t>
            </a:r>
            <a:r>
              <a:rPr sz="2800" dirty="0">
                <a:latin typeface="+mj-lt"/>
                <a:cs typeface="Microsoft YaHei UI Light"/>
              </a:rPr>
              <a:t>insights </a:t>
            </a:r>
            <a:r>
              <a:rPr sz="2800" spc="-15" dirty="0">
                <a:latin typeface="+mj-lt"/>
                <a:cs typeface="Microsoft YaHei UI Light"/>
              </a:rPr>
              <a:t>from </a:t>
            </a:r>
            <a:r>
              <a:rPr sz="2800" spc="-11" dirty="0">
                <a:latin typeface="+mj-lt"/>
                <a:cs typeface="Microsoft YaHei UI Light"/>
              </a:rPr>
              <a:t>structured  </a:t>
            </a:r>
            <a:r>
              <a:rPr sz="2800" spc="-4" dirty="0">
                <a:latin typeface="+mj-lt"/>
                <a:cs typeface="Microsoft YaHei UI Light"/>
              </a:rPr>
              <a:t>and </a:t>
            </a:r>
            <a:r>
              <a:rPr sz="2800" spc="-8" dirty="0">
                <a:latin typeface="+mj-lt"/>
                <a:cs typeface="Microsoft YaHei UI Light"/>
              </a:rPr>
              <a:t>unstructured </a:t>
            </a:r>
            <a:r>
              <a:rPr sz="2800" dirty="0">
                <a:latin typeface="+mj-lt"/>
                <a:cs typeface="Microsoft YaHei UI Light"/>
              </a:rPr>
              <a:t>data.</a:t>
            </a:r>
          </a:p>
        </p:txBody>
      </p:sp>
      <p:sp>
        <p:nvSpPr>
          <p:cNvPr id="5" name="object 5"/>
          <p:cNvSpPr/>
          <p:nvPr/>
        </p:nvSpPr>
        <p:spPr>
          <a:xfrm>
            <a:off x="5824025" y="1401393"/>
            <a:ext cx="6119445" cy="4957203"/>
          </a:xfrm>
          <a:prstGeom prst="rect">
            <a:avLst/>
          </a:prstGeom>
          <a:blipFill>
            <a:blip r:embed="rId2" cstate="print"/>
            <a:stretch>
              <a:fillRect/>
            </a:stretch>
          </a:blipFill>
        </p:spPr>
        <p:txBody>
          <a:bodyPr wrap="square" lIns="0" tIns="0" rIns="0" bIns="0" rtlCol="0"/>
          <a:lstStyle/>
          <a:p>
            <a:endParaRPr/>
          </a:p>
        </p:txBody>
      </p:sp>
      <p:sp>
        <p:nvSpPr>
          <p:cNvPr id="7" name="Title 1">
            <a:extLst>
              <a:ext uri="{FF2B5EF4-FFF2-40B4-BE49-F238E27FC236}">
                <a16:creationId xmlns:a16="http://schemas.microsoft.com/office/drawing/2014/main" id="{DCE98A00-52AD-4F81-8B25-E1362DDEB1D7}"/>
              </a:ext>
            </a:extLst>
          </p:cNvPr>
          <p:cNvSpPr txBox="1">
            <a:spLocks/>
          </p:cNvSpPr>
          <p:nvPr/>
        </p:nvSpPr>
        <p:spPr bwMode="auto">
          <a:xfrm>
            <a:off x="126609" y="235432"/>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ＭＳ Ｐゴシック" charset="0"/>
                <a:cs typeface="+mj-cs"/>
              </a:defRPr>
            </a:lvl1pPr>
            <a:lvl2pPr algn="ctr" rtl="0" eaLnBrk="0" fontAlgn="base" hangingPunct="0">
              <a:spcBef>
                <a:spcPct val="0"/>
              </a:spcBef>
              <a:spcAft>
                <a:spcPct val="0"/>
              </a:spcAft>
              <a:defRPr sz="4400">
                <a:solidFill>
                  <a:schemeClr val="tx1"/>
                </a:solidFill>
                <a:latin typeface="Calibri" pitchFamily="34" charset="0"/>
                <a:ea typeface="ＭＳ Ｐゴシック" charset="0"/>
              </a:defRPr>
            </a:lvl2pPr>
            <a:lvl3pPr algn="ctr" rtl="0" eaLnBrk="0" fontAlgn="base" hangingPunct="0">
              <a:spcBef>
                <a:spcPct val="0"/>
              </a:spcBef>
              <a:spcAft>
                <a:spcPct val="0"/>
              </a:spcAft>
              <a:defRPr sz="4400">
                <a:solidFill>
                  <a:schemeClr val="tx1"/>
                </a:solidFill>
                <a:latin typeface="Calibri" pitchFamily="34" charset="0"/>
                <a:ea typeface="ＭＳ Ｐゴシック" charset="0"/>
              </a:defRPr>
            </a:lvl3pPr>
            <a:lvl4pPr algn="ctr" rtl="0" eaLnBrk="0" fontAlgn="base" hangingPunct="0">
              <a:spcBef>
                <a:spcPct val="0"/>
              </a:spcBef>
              <a:spcAft>
                <a:spcPct val="0"/>
              </a:spcAft>
              <a:defRPr sz="4400">
                <a:solidFill>
                  <a:schemeClr val="tx1"/>
                </a:solidFill>
                <a:latin typeface="Calibri" pitchFamily="34" charset="0"/>
                <a:ea typeface="ＭＳ Ｐゴシック" charset="0"/>
              </a:defRPr>
            </a:lvl4pPr>
            <a:lvl5pPr algn="ctr" rtl="0" eaLnBrk="0" fontAlgn="base" hangingPunct="0">
              <a:spcBef>
                <a:spcPct val="0"/>
              </a:spcBef>
              <a:spcAft>
                <a:spcPct val="0"/>
              </a:spcAft>
              <a:defRPr sz="4400">
                <a:solidFill>
                  <a:schemeClr val="tx1"/>
                </a:solidFill>
                <a:latin typeface="Calibri" pitchFamily="34" charset="0"/>
                <a:ea typeface="ＭＳ Ｐゴシック"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altLang="en-US" b="1" dirty="0">
                <a:ea typeface="ＭＳ Ｐゴシック" pitchFamily="34" charset="-128"/>
              </a:rPr>
              <a:t>What is Data Science?</a:t>
            </a:r>
          </a:p>
        </p:txBody>
      </p:sp>
      <p:sp>
        <p:nvSpPr>
          <p:cNvPr id="6" name="Rectangle 5">
            <a:extLst>
              <a:ext uri="{FF2B5EF4-FFF2-40B4-BE49-F238E27FC236}">
                <a16:creationId xmlns:a16="http://schemas.microsoft.com/office/drawing/2014/main" id="{B21FD798-874F-4384-9434-57FF8E445C00}"/>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a:extLst>
              <a:ext uri="{FF2B5EF4-FFF2-40B4-BE49-F238E27FC236}">
                <a16:creationId xmlns:a16="http://schemas.microsoft.com/office/drawing/2014/main" id="{3AA11055-8EE0-4741-AF04-84C75FA531AC}"/>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3203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81D24-D2D0-4706-9C3F-82CA93509B6A}"/>
              </a:ext>
            </a:extLst>
          </p:cNvPr>
          <p:cNvSpPr>
            <a:spLocks noGrp="1"/>
          </p:cNvSpPr>
          <p:nvPr>
            <p:ph type="title"/>
          </p:nvPr>
        </p:nvSpPr>
        <p:spPr>
          <a:xfrm>
            <a:off x="787791" y="379551"/>
            <a:ext cx="9423009" cy="1143000"/>
          </a:xfrm>
        </p:spPr>
        <p:txBody>
          <a:bodyPr>
            <a:noAutofit/>
          </a:bodyPr>
          <a:lstStyle/>
          <a:p>
            <a:r>
              <a:rPr lang="en-GB" sz="3200" b="1" i="0" dirty="0">
                <a:solidFill>
                  <a:srgbClr val="232C39"/>
                </a:solidFill>
                <a:effectLst/>
                <a:latin typeface="Nunito Sans"/>
              </a:rPr>
              <a:t>Advantages and Disadvantages of Data Science</a:t>
            </a:r>
            <a:br>
              <a:rPr lang="en-GB" sz="3200" b="1" i="0" dirty="0">
                <a:solidFill>
                  <a:srgbClr val="232C39"/>
                </a:solidFill>
                <a:effectLst/>
                <a:latin typeface="Nunito Sans"/>
              </a:rPr>
            </a:br>
            <a:endParaRPr lang="en-US" sz="3200" dirty="0"/>
          </a:p>
        </p:txBody>
      </p:sp>
      <p:sp>
        <p:nvSpPr>
          <p:cNvPr id="5" name="TextBox 4">
            <a:extLst>
              <a:ext uri="{FF2B5EF4-FFF2-40B4-BE49-F238E27FC236}">
                <a16:creationId xmlns:a16="http://schemas.microsoft.com/office/drawing/2014/main" id="{5C07EAB9-7016-4737-BC19-371A80504610}"/>
              </a:ext>
            </a:extLst>
          </p:cNvPr>
          <p:cNvSpPr txBox="1"/>
          <p:nvPr/>
        </p:nvSpPr>
        <p:spPr>
          <a:xfrm>
            <a:off x="1868659" y="1522551"/>
            <a:ext cx="8963464" cy="3416320"/>
          </a:xfrm>
          <a:prstGeom prst="rect">
            <a:avLst/>
          </a:prstGeom>
          <a:noFill/>
        </p:spPr>
        <p:txBody>
          <a:bodyPr wrap="square">
            <a:spAutoFit/>
          </a:bodyPr>
          <a:lstStyle/>
          <a:p>
            <a:pPr algn="just"/>
            <a:r>
              <a:rPr lang="en-GB" b="1" dirty="0"/>
              <a:t>Advantages</a:t>
            </a:r>
          </a:p>
          <a:p>
            <a:pPr algn="just"/>
            <a:endParaRPr lang="en-GB" dirty="0"/>
          </a:p>
          <a:p>
            <a:pPr marL="285750" indent="-285750">
              <a:buFont typeface="Arial" panose="020B0604020202020204" pitchFamily="34" charset="0"/>
              <a:buChar char="•"/>
            </a:pPr>
            <a:r>
              <a:rPr lang="en-GB" dirty="0"/>
              <a:t>Insightful historical data analysis</a:t>
            </a:r>
          </a:p>
          <a:p>
            <a:pPr marL="285750" indent="-285750">
              <a:buFont typeface="Arial" panose="020B0604020202020204" pitchFamily="34" charset="0"/>
              <a:buChar char="•"/>
            </a:pPr>
            <a:r>
              <a:rPr lang="en-GB" dirty="0"/>
              <a:t>Better business decisions</a:t>
            </a:r>
          </a:p>
          <a:p>
            <a:pPr marL="285750" indent="-285750">
              <a:buFont typeface="Arial" panose="020B0604020202020204" pitchFamily="34" charset="0"/>
              <a:buChar char="•"/>
            </a:pPr>
            <a:r>
              <a:rPr lang="en-GB" dirty="0"/>
              <a:t>Product development &amp; marketing</a:t>
            </a:r>
          </a:p>
          <a:p>
            <a:pPr marL="285750" indent="-285750">
              <a:buFont typeface="Arial" panose="020B0604020202020204" pitchFamily="34" charset="0"/>
              <a:buChar char="•"/>
            </a:pPr>
            <a:r>
              <a:rPr lang="en-GB" dirty="0"/>
              <a:t>Personalized recommendations</a:t>
            </a:r>
          </a:p>
          <a:p>
            <a:pPr algn="just"/>
            <a:r>
              <a:rPr lang="en-GB" b="1" dirty="0"/>
              <a:t>Disadvantages</a:t>
            </a:r>
          </a:p>
          <a:p>
            <a:pPr algn="just"/>
            <a:endParaRPr lang="en-GB" dirty="0"/>
          </a:p>
          <a:p>
            <a:pPr marL="285750" indent="-285750">
              <a:buFont typeface="Arial" panose="020B0604020202020204" pitchFamily="34" charset="0"/>
              <a:buChar char="•"/>
            </a:pPr>
            <a:r>
              <a:rPr lang="en-GB" dirty="0"/>
              <a:t>Privacy concerns</a:t>
            </a:r>
          </a:p>
          <a:p>
            <a:pPr marL="285750" indent="-285750">
              <a:buFont typeface="Arial" panose="020B0604020202020204" pitchFamily="34" charset="0"/>
              <a:buChar char="•"/>
            </a:pPr>
            <a:r>
              <a:rPr lang="en-GB" dirty="0"/>
              <a:t>Misuse of customer data</a:t>
            </a:r>
          </a:p>
          <a:p>
            <a:pPr marL="285750" indent="-285750">
              <a:buFont typeface="Arial" panose="020B0604020202020204" pitchFamily="34" charset="0"/>
              <a:buChar char="•"/>
            </a:pPr>
            <a:r>
              <a:rPr lang="en-GB" dirty="0"/>
              <a:t>Profiling risks</a:t>
            </a:r>
          </a:p>
          <a:p>
            <a:pPr marL="285750" indent="-285750">
              <a:buFont typeface="Arial" panose="020B0604020202020204" pitchFamily="34" charset="0"/>
              <a:buChar char="•"/>
            </a:pPr>
            <a:r>
              <a:rPr lang="en-GB" dirty="0"/>
              <a:t>Ethical implications</a:t>
            </a:r>
          </a:p>
        </p:txBody>
      </p:sp>
      <p:sp>
        <p:nvSpPr>
          <p:cNvPr id="4" name="Rectangle 3">
            <a:extLst>
              <a:ext uri="{FF2B5EF4-FFF2-40B4-BE49-F238E27FC236}">
                <a16:creationId xmlns:a16="http://schemas.microsoft.com/office/drawing/2014/main" id="{B2BFE326-90D8-4AF5-99CC-CEFA7A540AF4}"/>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58B9D9C0-39C9-4AE4-A27F-A5E2F74ADD74}"/>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2059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2D821-8E2A-0B43-884A-73192020A2D7}"/>
              </a:ext>
            </a:extLst>
          </p:cNvPr>
          <p:cNvSpPr>
            <a:spLocks noGrp="1"/>
          </p:cNvSpPr>
          <p:nvPr>
            <p:ph type="title"/>
          </p:nvPr>
        </p:nvSpPr>
        <p:spPr>
          <a:xfrm>
            <a:off x="233289" y="154154"/>
            <a:ext cx="10515600" cy="1306443"/>
          </a:xfrm>
        </p:spPr>
        <p:txBody>
          <a:bodyPr>
            <a:normAutofit/>
          </a:bodyPr>
          <a:lstStyle/>
          <a:p>
            <a:r>
              <a:rPr lang="en-US" sz="4000" b="1" dirty="0"/>
              <a:t>What is BIG DATA?</a:t>
            </a:r>
          </a:p>
        </p:txBody>
      </p:sp>
      <p:sp>
        <p:nvSpPr>
          <p:cNvPr id="3" name="Content Placeholder 2">
            <a:extLst>
              <a:ext uri="{FF2B5EF4-FFF2-40B4-BE49-F238E27FC236}">
                <a16:creationId xmlns:a16="http://schemas.microsoft.com/office/drawing/2014/main" id="{52CA2094-B330-1649-A314-440D2B0E6ECD}"/>
              </a:ext>
            </a:extLst>
          </p:cNvPr>
          <p:cNvSpPr>
            <a:spLocks noGrp="1"/>
          </p:cNvSpPr>
          <p:nvPr>
            <p:ph idx="1"/>
          </p:nvPr>
        </p:nvSpPr>
        <p:spPr>
          <a:xfrm>
            <a:off x="838200" y="1825625"/>
            <a:ext cx="5608320" cy="4303464"/>
          </a:xfrm>
        </p:spPr>
        <p:txBody>
          <a:bodyPr>
            <a:normAutofit/>
          </a:bodyPr>
          <a:lstStyle/>
          <a:p>
            <a:pPr algn="just"/>
            <a:r>
              <a:rPr lang="en-IN" sz="2400" b="1" dirty="0"/>
              <a:t>Big Data</a:t>
            </a:r>
            <a:r>
              <a:rPr lang="en-IN" sz="2400" dirty="0"/>
              <a:t> is a collection of data that is huge in volume, Complex,  yet growing exponentially with time. </a:t>
            </a:r>
          </a:p>
          <a:p>
            <a:pPr algn="just"/>
            <a:r>
              <a:rPr lang="en-IN" sz="2400" dirty="0"/>
              <a:t>It can not be handled by traditional data management tools can store it or process it efficiently. </a:t>
            </a:r>
          </a:p>
          <a:p>
            <a:pPr algn="just"/>
            <a:endParaRPr lang="en-IN" sz="2400" dirty="0"/>
          </a:p>
          <a:p>
            <a:pPr algn="just"/>
            <a:r>
              <a:rPr lang="en-IN" sz="2400" dirty="0"/>
              <a:t>Ex: Social media, sensors, logs</a:t>
            </a:r>
          </a:p>
          <a:p>
            <a:pPr algn="just"/>
            <a:endParaRPr lang="en-IN" sz="2400" dirty="0"/>
          </a:p>
          <a:p>
            <a:pPr marL="0" indent="0" algn="just">
              <a:buNone/>
            </a:pPr>
            <a:endParaRPr lang="en-US" sz="2400" dirty="0"/>
          </a:p>
        </p:txBody>
      </p:sp>
      <p:pic>
        <p:nvPicPr>
          <p:cNvPr id="1026" name="Picture 2" descr="Big Data Sources Technologies Ppt Powerpoint Presentation Clipart |  PowerPoint Presentation Pictures | PPT Slide Template | PPT Examples  Professional">
            <a:extLst>
              <a:ext uri="{FF2B5EF4-FFF2-40B4-BE49-F238E27FC236}">
                <a16:creationId xmlns:a16="http://schemas.microsoft.com/office/drawing/2014/main" id="{02A13FE3-DF0D-5D44-8F73-27D7FAF8F06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 b="8708"/>
          <a:stretch/>
        </p:blipFill>
        <p:spPr bwMode="auto">
          <a:xfrm>
            <a:off x="6566170" y="1607433"/>
            <a:ext cx="5205205" cy="422480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4983D6C-9EC7-4239-9167-36160C236B19}"/>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4BE048D8-CF9B-453A-8D51-C510B720E66D}"/>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1700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3F3F4-EFE3-3745-B3AE-CFB79FC4A24E}"/>
              </a:ext>
            </a:extLst>
          </p:cNvPr>
          <p:cNvSpPr>
            <a:spLocks noGrp="1"/>
          </p:cNvSpPr>
          <p:nvPr>
            <p:ph type="title"/>
          </p:nvPr>
        </p:nvSpPr>
        <p:spPr>
          <a:xfrm>
            <a:off x="892679" y="488741"/>
            <a:ext cx="6389437" cy="539847"/>
          </a:xfrm>
        </p:spPr>
        <p:txBody>
          <a:bodyPr anchor="t">
            <a:normAutofit fontScale="90000"/>
          </a:bodyPr>
          <a:lstStyle/>
          <a:p>
            <a:r>
              <a:rPr lang="en-IN" sz="2800" b="1" dirty="0"/>
              <a:t>Traits/Characteristics Of Big Data</a:t>
            </a:r>
            <a:br>
              <a:rPr lang="en-IN" sz="2800" b="1" dirty="0"/>
            </a:br>
            <a:endParaRPr lang="en-US" sz="2800" dirty="0"/>
          </a:p>
        </p:txBody>
      </p:sp>
      <p:sp>
        <p:nvSpPr>
          <p:cNvPr id="3" name="Content Placeholder 2">
            <a:extLst>
              <a:ext uri="{FF2B5EF4-FFF2-40B4-BE49-F238E27FC236}">
                <a16:creationId xmlns:a16="http://schemas.microsoft.com/office/drawing/2014/main" id="{10C49527-A4E7-9F4C-A245-5E52B6F6965C}"/>
              </a:ext>
            </a:extLst>
          </p:cNvPr>
          <p:cNvSpPr>
            <a:spLocks noGrp="1"/>
          </p:cNvSpPr>
          <p:nvPr>
            <p:ph idx="1"/>
          </p:nvPr>
        </p:nvSpPr>
        <p:spPr>
          <a:xfrm>
            <a:off x="1251678" y="1885950"/>
            <a:ext cx="4177572" cy="4244851"/>
          </a:xfrm>
        </p:spPr>
        <p:txBody>
          <a:bodyPr>
            <a:normAutofit/>
          </a:bodyPr>
          <a:lstStyle/>
          <a:p>
            <a:r>
              <a:rPr lang="en-IN" sz="2000" dirty="0">
                <a:solidFill>
                  <a:schemeClr val="tx1">
                    <a:alpha val="60000"/>
                  </a:schemeClr>
                </a:solidFill>
              </a:rPr>
              <a:t>There are five v's of Big Data that explains the characteristics.</a:t>
            </a:r>
          </a:p>
          <a:p>
            <a:r>
              <a:rPr lang="en-IN" sz="2000" b="1" dirty="0">
                <a:solidFill>
                  <a:schemeClr val="tx1">
                    <a:alpha val="60000"/>
                  </a:schemeClr>
                </a:solidFill>
              </a:rPr>
              <a:t>5 V's of Big Data</a:t>
            </a:r>
          </a:p>
          <a:p>
            <a:pPr lvl="1"/>
            <a:r>
              <a:rPr lang="en-IN" sz="2000" b="1" dirty="0">
                <a:solidFill>
                  <a:schemeClr val="tx1">
                    <a:alpha val="60000"/>
                  </a:schemeClr>
                </a:solidFill>
              </a:rPr>
              <a:t>Volume</a:t>
            </a:r>
            <a:endParaRPr lang="en-IN" sz="2000" dirty="0">
              <a:solidFill>
                <a:schemeClr val="tx1">
                  <a:alpha val="60000"/>
                </a:schemeClr>
              </a:solidFill>
            </a:endParaRPr>
          </a:p>
          <a:p>
            <a:pPr lvl="1"/>
            <a:r>
              <a:rPr lang="en-IN" sz="2000" b="1" dirty="0">
                <a:solidFill>
                  <a:schemeClr val="tx1">
                    <a:alpha val="60000"/>
                  </a:schemeClr>
                </a:solidFill>
              </a:rPr>
              <a:t>Variety</a:t>
            </a:r>
          </a:p>
          <a:p>
            <a:pPr lvl="1"/>
            <a:r>
              <a:rPr lang="en-IN" sz="2000" b="1" dirty="0">
                <a:solidFill>
                  <a:schemeClr val="tx1">
                    <a:alpha val="60000"/>
                  </a:schemeClr>
                </a:solidFill>
              </a:rPr>
              <a:t>Veracity</a:t>
            </a:r>
            <a:endParaRPr lang="en-IN" sz="2000" dirty="0">
              <a:solidFill>
                <a:schemeClr val="tx1">
                  <a:alpha val="60000"/>
                </a:schemeClr>
              </a:solidFill>
            </a:endParaRPr>
          </a:p>
          <a:p>
            <a:pPr lvl="1"/>
            <a:r>
              <a:rPr lang="en-IN" sz="2000" b="1" dirty="0">
                <a:solidFill>
                  <a:schemeClr val="tx1">
                    <a:alpha val="60000"/>
                  </a:schemeClr>
                </a:solidFill>
              </a:rPr>
              <a:t>Velocity</a:t>
            </a:r>
          </a:p>
          <a:p>
            <a:pPr lvl="1"/>
            <a:r>
              <a:rPr lang="en-IN" sz="2000" b="1" dirty="0">
                <a:solidFill>
                  <a:schemeClr val="tx1">
                    <a:alpha val="60000"/>
                  </a:schemeClr>
                </a:solidFill>
              </a:rPr>
              <a:t>Value</a:t>
            </a:r>
          </a:p>
          <a:p>
            <a:pPr marL="0" indent="0">
              <a:buNone/>
            </a:pPr>
            <a:endParaRPr lang="en-US" sz="2000" dirty="0">
              <a:solidFill>
                <a:schemeClr val="tx1">
                  <a:alpha val="60000"/>
                </a:schemeClr>
              </a:solidFill>
            </a:endParaRPr>
          </a:p>
        </p:txBody>
      </p:sp>
      <p:pic>
        <p:nvPicPr>
          <p:cNvPr id="4" name="Picture 110" descr="Big Data Characteristics">
            <a:extLst>
              <a:ext uri="{FF2B5EF4-FFF2-40B4-BE49-F238E27FC236}">
                <a16:creationId xmlns:a16="http://schemas.microsoft.com/office/drawing/2014/main" id="{E723BB45-B876-7C48-9AE2-3C60CB740849}"/>
              </a:ext>
            </a:extLst>
          </p:cNvPr>
          <p:cNvPicPr>
            <a:picLocks noChangeAspect="1" noChangeArrowheads="1"/>
          </p:cNvPicPr>
          <p:nvPr/>
        </p:nvPicPr>
        <p:blipFill rotWithShape="1">
          <a:blip r:embed="rId2" r:link="rId3">
            <a:extLst>
              <a:ext uri="{28A0092B-C50C-407E-A947-70E740481C1C}">
                <a14:useLocalDpi xmlns:a14="http://schemas.microsoft.com/office/drawing/2010/main" val="0"/>
              </a:ext>
            </a:extLst>
          </a:blip>
          <a:srcRect r="3205" b="3"/>
          <a:stretch>
            <a:fillRect/>
          </a:stretch>
        </p:blipFill>
        <p:spPr bwMode="auto">
          <a:xfrm>
            <a:off x="5158154" y="643469"/>
            <a:ext cx="6389438" cy="557106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87401EA5-4D01-44D1-8501-4EE0E75FF7FF}"/>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Connector 9">
            <a:extLst>
              <a:ext uri="{FF2B5EF4-FFF2-40B4-BE49-F238E27FC236}">
                <a16:creationId xmlns:a16="http://schemas.microsoft.com/office/drawing/2014/main" id="{81A4D5DE-CF18-4E89-BFD7-A171D03BECC4}"/>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8537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DB425-3265-344B-B831-C97B07C1040D}"/>
              </a:ext>
            </a:extLst>
          </p:cNvPr>
          <p:cNvSpPr>
            <a:spLocks noGrp="1"/>
          </p:cNvSpPr>
          <p:nvPr>
            <p:ph type="title"/>
          </p:nvPr>
        </p:nvSpPr>
        <p:spPr>
          <a:xfrm>
            <a:off x="673279" y="146876"/>
            <a:ext cx="4892040" cy="1303019"/>
          </a:xfrm>
        </p:spPr>
        <p:txBody>
          <a:bodyPr anchor="b">
            <a:normAutofit/>
          </a:bodyPr>
          <a:lstStyle/>
          <a:p>
            <a:r>
              <a:rPr lang="en-IN" sz="4000" b="1" dirty="0"/>
              <a:t>Volume:</a:t>
            </a:r>
            <a:br>
              <a:rPr lang="en-IN" sz="4000" b="1" dirty="0"/>
            </a:br>
            <a:endParaRPr lang="en-US" sz="4000" dirty="0"/>
          </a:p>
        </p:txBody>
      </p:sp>
      <p:sp>
        <p:nvSpPr>
          <p:cNvPr id="3" name="Content Placeholder 2">
            <a:extLst>
              <a:ext uri="{FF2B5EF4-FFF2-40B4-BE49-F238E27FC236}">
                <a16:creationId xmlns:a16="http://schemas.microsoft.com/office/drawing/2014/main" id="{BC1EAB5E-127E-8A4A-8A9D-FCB009938BA6}"/>
              </a:ext>
            </a:extLst>
          </p:cNvPr>
          <p:cNvSpPr>
            <a:spLocks noGrp="1"/>
          </p:cNvSpPr>
          <p:nvPr>
            <p:ph idx="1"/>
          </p:nvPr>
        </p:nvSpPr>
        <p:spPr>
          <a:xfrm>
            <a:off x="673279" y="1300163"/>
            <a:ext cx="4892040" cy="4307967"/>
          </a:xfrm>
        </p:spPr>
        <p:txBody>
          <a:bodyPr anchor="t">
            <a:normAutofit/>
          </a:bodyPr>
          <a:lstStyle/>
          <a:p>
            <a:pPr algn="just"/>
            <a:r>
              <a:rPr lang="en-IN" sz="2000" dirty="0"/>
              <a:t>The name Big Data itself is related to an enormous size. Big Data is a vast 'volumes' of data generated from many sources daily, such as </a:t>
            </a:r>
            <a:r>
              <a:rPr lang="en-IN" sz="2000" b="1" dirty="0"/>
              <a:t>business processes, machines, social media platforms, networks, human interactions,</a:t>
            </a:r>
            <a:r>
              <a:rPr lang="en-IN" sz="2000" dirty="0"/>
              <a:t> and many more.</a:t>
            </a:r>
          </a:p>
          <a:p>
            <a:pPr marL="0" indent="0" algn="just">
              <a:buNone/>
            </a:pPr>
            <a:endParaRPr lang="en-IN" sz="2000" dirty="0"/>
          </a:p>
          <a:p>
            <a:pPr algn="just"/>
            <a:r>
              <a:rPr lang="en-IN" sz="2000" b="1" dirty="0"/>
              <a:t>Facebook</a:t>
            </a:r>
            <a:r>
              <a:rPr lang="en-IN" sz="2000" dirty="0"/>
              <a:t> can generate approximately a </a:t>
            </a:r>
            <a:r>
              <a:rPr lang="en-IN" sz="2000" b="1" dirty="0"/>
              <a:t>billion</a:t>
            </a:r>
            <a:r>
              <a:rPr lang="en-IN" sz="2000" dirty="0"/>
              <a:t> messages, </a:t>
            </a:r>
            <a:r>
              <a:rPr lang="en-IN" sz="2000" b="1" dirty="0"/>
              <a:t>4.5 billion</a:t>
            </a:r>
            <a:r>
              <a:rPr lang="en-IN" sz="2000" dirty="0"/>
              <a:t> times that the "</a:t>
            </a:r>
            <a:r>
              <a:rPr lang="en-IN" sz="2000" b="1" dirty="0"/>
              <a:t>Like</a:t>
            </a:r>
            <a:r>
              <a:rPr lang="en-IN" sz="2000" dirty="0"/>
              <a:t>" button is recorded, and more than </a:t>
            </a:r>
            <a:r>
              <a:rPr lang="en-IN" sz="2000" b="1" dirty="0"/>
              <a:t>350 million</a:t>
            </a:r>
            <a:r>
              <a:rPr lang="en-IN" sz="2000" dirty="0"/>
              <a:t> new posts are uploaded each day. Big data technologies can handle large amounts of data.</a:t>
            </a:r>
          </a:p>
          <a:p>
            <a:endParaRPr lang="en-US" sz="1700" dirty="0"/>
          </a:p>
        </p:txBody>
      </p:sp>
      <p:pic>
        <p:nvPicPr>
          <p:cNvPr id="4" name="Picture 2" descr="Introduction to BIG DATA">
            <a:extLst>
              <a:ext uri="{FF2B5EF4-FFF2-40B4-BE49-F238E27FC236}">
                <a16:creationId xmlns:a16="http://schemas.microsoft.com/office/drawing/2014/main" id="{B99CFC83-780E-8E40-A864-2EA8E2DC154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534616" y="1962615"/>
            <a:ext cx="5319126" cy="364551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440DD85-A9E4-CE4A-9DB0-4C67C1EA1347}"/>
              </a:ext>
            </a:extLst>
          </p:cNvPr>
          <p:cNvSpPr txBox="1"/>
          <p:nvPr/>
        </p:nvSpPr>
        <p:spPr>
          <a:xfrm>
            <a:off x="8475712" y="1449895"/>
            <a:ext cx="1652119" cy="369332"/>
          </a:xfrm>
          <a:prstGeom prst="rect">
            <a:avLst/>
          </a:prstGeom>
          <a:noFill/>
        </p:spPr>
        <p:txBody>
          <a:bodyPr wrap="none" rtlCol="0">
            <a:spAutoFit/>
          </a:bodyPr>
          <a:lstStyle/>
          <a:p>
            <a:r>
              <a:rPr lang="en-US" dirty="0"/>
              <a:t>DATA GROWTH </a:t>
            </a:r>
          </a:p>
        </p:txBody>
      </p:sp>
      <p:sp>
        <p:nvSpPr>
          <p:cNvPr id="8" name="Rectangle 7">
            <a:extLst>
              <a:ext uri="{FF2B5EF4-FFF2-40B4-BE49-F238E27FC236}">
                <a16:creationId xmlns:a16="http://schemas.microsoft.com/office/drawing/2014/main" id="{9446C5AA-D9E6-4F58-9BCA-30A3D5DD3EA8}"/>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Connector 9">
            <a:extLst>
              <a:ext uri="{FF2B5EF4-FFF2-40B4-BE49-F238E27FC236}">
                <a16:creationId xmlns:a16="http://schemas.microsoft.com/office/drawing/2014/main" id="{0EB0150A-210E-4715-9DA8-51F788DF3EAD}"/>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7157684"/>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15BFA-0A4B-3C47-882C-EBB78EE47F5D}"/>
              </a:ext>
            </a:extLst>
          </p:cNvPr>
          <p:cNvSpPr>
            <a:spLocks noGrp="1"/>
          </p:cNvSpPr>
          <p:nvPr>
            <p:ph type="title"/>
          </p:nvPr>
        </p:nvSpPr>
        <p:spPr>
          <a:xfrm>
            <a:off x="838200" y="365125"/>
            <a:ext cx="10515600" cy="1306443"/>
          </a:xfrm>
        </p:spPr>
        <p:txBody>
          <a:bodyPr>
            <a:normAutofit/>
          </a:bodyPr>
          <a:lstStyle/>
          <a:p>
            <a:r>
              <a:rPr lang="en-IN" sz="4000" b="1" dirty="0"/>
              <a:t>Variety:</a:t>
            </a:r>
            <a:br>
              <a:rPr lang="en-IN" sz="4000" b="1" dirty="0"/>
            </a:br>
            <a:endParaRPr lang="en-US" sz="4000" dirty="0"/>
          </a:p>
        </p:txBody>
      </p:sp>
      <p:sp>
        <p:nvSpPr>
          <p:cNvPr id="3" name="Content Placeholder 2">
            <a:extLst>
              <a:ext uri="{FF2B5EF4-FFF2-40B4-BE49-F238E27FC236}">
                <a16:creationId xmlns:a16="http://schemas.microsoft.com/office/drawing/2014/main" id="{D301E852-0E41-254E-9B37-CF1288B1C404}"/>
              </a:ext>
            </a:extLst>
          </p:cNvPr>
          <p:cNvSpPr>
            <a:spLocks noGrp="1"/>
          </p:cNvSpPr>
          <p:nvPr>
            <p:ph idx="1"/>
          </p:nvPr>
        </p:nvSpPr>
        <p:spPr>
          <a:xfrm>
            <a:off x="1048584" y="1315711"/>
            <a:ext cx="3650196" cy="3741951"/>
          </a:xfrm>
        </p:spPr>
        <p:txBody>
          <a:bodyPr>
            <a:noAutofit/>
          </a:bodyPr>
          <a:lstStyle/>
          <a:p>
            <a:r>
              <a:rPr lang="en-IN" sz="2200" dirty="0"/>
              <a:t>Big Data can be </a:t>
            </a:r>
            <a:r>
              <a:rPr lang="en-IN" sz="2200" b="1" dirty="0"/>
              <a:t>structured, unstructured, and semi-structured</a:t>
            </a:r>
            <a:r>
              <a:rPr lang="en-IN" sz="2200" dirty="0"/>
              <a:t> that are being collected from different sources. </a:t>
            </a:r>
          </a:p>
          <a:p>
            <a:r>
              <a:rPr lang="en-IN" sz="2200" dirty="0"/>
              <a:t>in the past, data is only be collected from </a:t>
            </a:r>
            <a:r>
              <a:rPr lang="en-IN" sz="2200" b="1" dirty="0"/>
              <a:t>databases</a:t>
            </a:r>
            <a:r>
              <a:rPr lang="en-IN" sz="2200" dirty="0"/>
              <a:t> and </a:t>
            </a:r>
            <a:r>
              <a:rPr lang="en-IN" sz="2200" b="1" dirty="0"/>
              <a:t>sheets</a:t>
            </a:r>
            <a:r>
              <a:rPr lang="en-IN" sz="2200" dirty="0"/>
              <a:t> </a:t>
            </a:r>
          </a:p>
          <a:p>
            <a:r>
              <a:rPr lang="en-IN" sz="2200" dirty="0"/>
              <a:t>But these days the data will comes in array forms, that are </a:t>
            </a:r>
            <a:r>
              <a:rPr lang="en-IN" sz="2200" b="1" dirty="0"/>
              <a:t>PDFs, Emails, audios, SM posts, photos, videos,</a:t>
            </a:r>
            <a:r>
              <a:rPr lang="en-IN" sz="2200" dirty="0"/>
              <a:t> etc.</a:t>
            </a:r>
          </a:p>
          <a:p>
            <a:endParaRPr lang="en-US" sz="2200" dirty="0"/>
          </a:p>
        </p:txBody>
      </p:sp>
      <p:pic>
        <p:nvPicPr>
          <p:cNvPr id="2050" name="Picture 2" descr="variety-of-big-data – Cloud Data Architect">
            <a:extLst>
              <a:ext uri="{FF2B5EF4-FFF2-40B4-BE49-F238E27FC236}">
                <a16:creationId xmlns:a16="http://schemas.microsoft.com/office/drawing/2014/main" id="{37F632ED-1B66-DF45-8997-76A81A56AAF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29" r="-3" b="2011"/>
          <a:stretch/>
        </p:blipFill>
        <p:spPr bwMode="auto">
          <a:xfrm>
            <a:off x="5536981" y="1315711"/>
            <a:ext cx="5633939" cy="417068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A9B47766-88BB-4432-9800-06B7EF56596A}"/>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id="{C774F4A2-DBED-42F1-AC42-51ABFA2ADA8C}"/>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5973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4DD38-6470-F148-B314-295EC4114431}"/>
              </a:ext>
            </a:extLst>
          </p:cNvPr>
          <p:cNvSpPr>
            <a:spLocks noGrp="1"/>
          </p:cNvSpPr>
          <p:nvPr>
            <p:ph type="title"/>
          </p:nvPr>
        </p:nvSpPr>
        <p:spPr>
          <a:xfrm>
            <a:off x="838200" y="365125"/>
            <a:ext cx="10515600" cy="1306443"/>
          </a:xfrm>
        </p:spPr>
        <p:txBody>
          <a:bodyPr>
            <a:normAutofit/>
          </a:bodyPr>
          <a:lstStyle/>
          <a:p>
            <a:r>
              <a:rPr lang="en-IN" sz="4000" b="1"/>
              <a:t>Veracity:</a:t>
            </a:r>
            <a:br>
              <a:rPr lang="en-IN" sz="4000" b="1"/>
            </a:br>
            <a:endParaRPr lang="en-US" sz="4000"/>
          </a:p>
        </p:txBody>
      </p:sp>
      <p:sp>
        <p:nvSpPr>
          <p:cNvPr id="3" name="Content Placeholder 2">
            <a:extLst>
              <a:ext uri="{FF2B5EF4-FFF2-40B4-BE49-F238E27FC236}">
                <a16:creationId xmlns:a16="http://schemas.microsoft.com/office/drawing/2014/main" id="{ECD49A92-644E-F248-B0E4-F05230FF8CCC}"/>
              </a:ext>
            </a:extLst>
          </p:cNvPr>
          <p:cNvSpPr>
            <a:spLocks noGrp="1"/>
          </p:cNvSpPr>
          <p:nvPr>
            <p:ph idx="1"/>
          </p:nvPr>
        </p:nvSpPr>
        <p:spPr>
          <a:xfrm>
            <a:off x="944880" y="1825625"/>
            <a:ext cx="4046094" cy="4303464"/>
          </a:xfrm>
        </p:spPr>
        <p:txBody>
          <a:bodyPr>
            <a:normAutofit/>
          </a:bodyPr>
          <a:lstStyle/>
          <a:p>
            <a:r>
              <a:rPr lang="en-IN" sz="2000"/>
              <a:t>Veracity means how much the data is reliable. </a:t>
            </a:r>
          </a:p>
          <a:p>
            <a:pPr marL="0" indent="0">
              <a:buNone/>
            </a:pPr>
            <a:r>
              <a:rPr lang="en-IN" sz="2000"/>
              <a:t>     Big Data Veracity refers to the biases, noise and abnormality in data. </a:t>
            </a:r>
          </a:p>
          <a:p>
            <a:r>
              <a:rPr lang="en-IN" sz="2000"/>
              <a:t>Is the data that is being stored, and mined meaningful to the problem being analyzed. </a:t>
            </a:r>
          </a:p>
          <a:p>
            <a:r>
              <a:rPr lang="en-IN" sz="2000"/>
              <a:t>veracity in data analysis is the biggest challenge when compares to things like volume and velocity. </a:t>
            </a:r>
            <a:endParaRPr lang="en-US" sz="2000"/>
          </a:p>
        </p:txBody>
      </p:sp>
      <p:pic>
        <p:nvPicPr>
          <p:cNvPr id="3074" name="Picture 2" descr="Data Veracity: a New Key to Big Data">
            <a:extLst>
              <a:ext uri="{FF2B5EF4-FFF2-40B4-BE49-F238E27FC236}">
                <a16:creationId xmlns:a16="http://schemas.microsoft.com/office/drawing/2014/main" id="{4DA2F687-9C70-6743-BC5F-EB4632C57E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54" b="2"/>
          <a:stretch/>
        </p:blipFill>
        <p:spPr bwMode="auto">
          <a:xfrm>
            <a:off x="5584067" y="1316596"/>
            <a:ext cx="6011791" cy="422480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F709BF4F-8107-4B09-913D-8D671ECA91EB}"/>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id="{EBC48C58-A415-4DE5-86D8-1846B70BE9B7}"/>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256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3CBBF-4B33-2F45-BD63-48D0DD2C36C0}"/>
              </a:ext>
            </a:extLst>
          </p:cNvPr>
          <p:cNvSpPr>
            <a:spLocks noGrp="1"/>
          </p:cNvSpPr>
          <p:nvPr>
            <p:ph type="title"/>
          </p:nvPr>
        </p:nvSpPr>
        <p:spPr>
          <a:xfrm>
            <a:off x="643467" y="321734"/>
            <a:ext cx="10905066" cy="1135737"/>
          </a:xfrm>
        </p:spPr>
        <p:txBody>
          <a:bodyPr>
            <a:normAutofit/>
          </a:bodyPr>
          <a:lstStyle/>
          <a:p>
            <a:r>
              <a:rPr lang="en-US" sz="3600" b="1" dirty="0"/>
              <a:t>Velocity and value:</a:t>
            </a:r>
          </a:p>
        </p:txBody>
      </p:sp>
      <p:sp>
        <p:nvSpPr>
          <p:cNvPr id="3" name="Content Placeholder 2">
            <a:extLst>
              <a:ext uri="{FF2B5EF4-FFF2-40B4-BE49-F238E27FC236}">
                <a16:creationId xmlns:a16="http://schemas.microsoft.com/office/drawing/2014/main" id="{F1B42B85-AC4E-064C-9397-03A2C8258F1C}"/>
              </a:ext>
            </a:extLst>
          </p:cNvPr>
          <p:cNvSpPr>
            <a:spLocks noGrp="1"/>
          </p:cNvSpPr>
          <p:nvPr>
            <p:ph idx="1"/>
          </p:nvPr>
        </p:nvSpPr>
        <p:spPr>
          <a:xfrm>
            <a:off x="643467" y="1368449"/>
            <a:ext cx="4187611" cy="4730787"/>
          </a:xfrm>
        </p:spPr>
        <p:txBody>
          <a:bodyPr>
            <a:noAutofit/>
          </a:bodyPr>
          <a:lstStyle/>
          <a:p>
            <a:pPr algn="just"/>
            <a:r>
              <a:rPr lang="en-IN" sz="1600" b="1" i="1" dirty="0"/>
              <a:t>Velocity –</a:t>
            </a:r>
            <a:r>
              <a:rPr lang="en-IN" sz="1600" dirty="0"/>
              <a:t> The term </a:t>
            </a:r>
            <a:r>
              <a:rPr lang="en-IN" sz="1600" b="1" dirty="0"/>
              <a:t>'velocity'</a:t>
            </a:r>
            <a:r>
              <a:rPr lang="en-IN" sz="1600" dirty="0"/>
              <a:t> refers to the speed of generation of data. How fast the data is generated and processed to meet the demands, determines real potential in the data. </a:t>
            </a:r>
          </a:p>
          <a:p>
            <a:pPr algn="just"/>
            <a:r>
              <a:rPr lang="en-IN" sz="1600" dirty="0"/>
              <a:t>Big Data Velocity deals with the speed at which data flows in from sources like business processes, application logs, networks, and social media sites, sensors, mobile devices, etc. </a:t>
            </a:r>
          </a:p>
          <a:p>
            <a:pPr algn="just"/>
            <a:r>
              <a:rPr lang="en-IN" sz="1600" dirty="0"/>
              <a:t>The flow of data is massive and continuous. </a:t>
            </a:r>
          </a:p>
          <a:p>
            <a:pPr algn="just"/>
            <a:r>
              <a:rPr lang="en-IN" sz="1600" b="1" dirty="0"/>
              <a:t>Value-</a:t>
            </a:r>
            <a:r>
              <a:rPr lang="en-IN" sz="1600" dirty="0"/>
              <a:t> sits at the top of the </a:t>
            </a:r>
            <a:r>
              <a:rPr lang="en-IN" sz="1600" b="1" dirty="0"/>
              <a:t>big data</a:t>
            </a:r>
            <a:r>
              <a:rPr lang="en-IN" sz="1600" dirty="0"/>
              <a:t> pyramid. </a:t>
            </a:r>
          </a:p>
          <a:p>
            <a:pPr algn="just"/>
            <a:r>
              <a:rPr lang="en-IN" sz="1600" dirty="0"/>
              <a:t>This refers to the ability to transform a tsunami of data into business.</a:t>
            </a:r>
          </a:p>
          <a:p>
            <a:pPr algn="just"/>
            <a:r>
              <a:rPr lang="en-IN" sz="1600" dirty="0"/>
              <a:t>it is not the data that we process or store. </a:t>
            </a:r>
          </a:p>
          <a:p>
            <a:pPr algn="just"/>
            <a:r>
              <a:rPr lang="en-IN" sz="1600" dirty="0"/>
              <a:t>It is </a:t>
            </a:r>
            <a:r>
              <a:rPr lang="en-IN" sz="1600" b="1" dirty="0"/>
              <a:t>valuable</a:t>
            </a:r>
            <a:r>
              <a:rPr lang="en-IN" sz="1600" dirty="0"/>
              <a:t> and </a:t>
            </a:r>
            <a:r>
              <a:rPr lang="en-IN" sz="1600" b="1" dirty="0"/>
              <a:t>reliable </a:t>
            </a:r>
            <a:r>
              <a:rPr lang="en-IN" sz="1600" dirty="0"/>
              <a:t>data that we </a:t>
            </a:r>
            <a:r>
              <a:rPr lang="en-IN" sz="1600" b="1" dirty="0"/>
              <a:t>store, process</a:t>
            </a:r>
            <a:r>
              <a:rPr lang="en-IN" sz="1600" dirty="0"/>
              <a:t>, and also </a:t>
            </a:r>
            <a:r>
              <a:rPr lang="en-IN" sz="1600" b="1" dirty="0" err="1"/>
              <a:t>analyze</a:t>
            </a:r>
            <a:r>
              <a:rPr lang="en-IN" sz="1600" dirty="0"/>
              <a:t>.</a:t>
            </a:r>
          </a:p>
          <a:p>
            <a:pPr algn="just"/>
            <a:endParaRPr lang="en-US" sz="1600" dirty="0"/>
          </a:p>
        </p:txBody>
      </p:sp>
      <p:pic>
        <p:nvPicPr>
          <p:cNvPr id="4098" name="Picture 2" descr="What is Big Data and Why do we need Hadoop for Big Data? | SAP Blogs">
            <a:extLst>
              <a:ext uri="{FF2B5EF4-FFF2-40B4-BE49-F238E27FC236}">
                <a16:creationId xmlns:a16="http://schemas.microsoft.com/office/drawing/2014/main" id="{C352AB6E-4E27-C549-A661-88967D30C69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42" r="2" b="2"/>
          <a:stretch/>
        </p:blipFill>
        <p:spPr bwMode="auto">
          <a:xfrm>
            <a:off x="5295320" y="1823145"/>
            <a:ext cx="6532812" cy="3648015"/>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2516F519-7406-4350-9FAD-4B6CCB8AF3EF}"/>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Straight Connector 12">
            <a:extLst>
              <a:ext uri="{FF2B5EF4-FFF2-40B4-BE49-F238E27FC236}">
                <a16:creationId xmlns:a16="http://schemas.microsoft.com/office/drawing/2014/main" id="{0BDEF5B1-8085-41F6-892C-1B0D383768E0}"/>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4032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2771CC-B865-4FEF-97C4-A365A1B17C10}"/>
              </a:ext>
            </a:extLst>
          </p:cNvPr>
          <p:cNvPicPr>
            <a:picLocks noChangeAspect="1"/>
          </p:cNvPicPr>
          <p:nvPr/>
        </p:nvPicPr>
        <p:blipFill>
          <a:blip r:embed="rId2"/>
          <a:stretch>
            <a:fillRect/>
          </a:stretch>
        </p:blipFill>
        <p:spPr>
          <a:xfrm>
            <a:off x="1867712" y="1280159"/>
            <a:ext cx="8219872" cy="5183945"/>
          </a:xfrm>
          <a:prstGeom prst="rect">
            <a:avLst/>
          </a:prstGeom>
        </p:spPr>
      </p:pic>
      <p:sp>
        <p:nvSpPr>
          <p:cNvPr id="3" name="Rectangle 2">
            <a:extLst>
              <a:ext uri="{FF2B5EF4-FFF2-40B4-BE49-F238E27FC236}">
                <a16:creationId xmlns:a16="http://schemas.microsoft.com/office/drawing/2014/main" id="{ECB5EA14-D62C-494E-A67F-8E531009A810}"/>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 name="Straight Connector 3">
            <a:extLst>
              <a:ext uri="{FF2B5EF4-FFF2-40B4-BE49-F238E27FC236}">
                <a16:creationId xmlns:a16="http://schemas.microsoft.com/office/drawing/2014/main" id="{05E97C3D-7D29-4C46-B783-0E3C3C530DB3}"/>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8434F7E-A687-DA9D-E595-F6A88F5E07D5}"/>
              </a:ext>
            </a:extLst>
          </p:cNvPr>
          <p:cNvSpPr>
            <a:spLocks noGrp="1"/>
          </p:cNvSpPr>
          <p:nvPr>
            <p:ph type="title"/>
          </p:nvPr>
        </p:nvSpPr>
        <p:spPr>
          <a:xfrm>
            <a:off x="126609" y="144422"/>
            <a:ext cx="10905066" cy="1135737"/>
          </a:xfrm>
        </p:spPr>
        <p:txBody>
          <a:bodyPr>
            <a:normAutofit/>
          </a:bodyPr>
          <a:lstStyle/>
          <a:p>
            <a:r>
              <a:rPr lang="en-US" sz="3600" b="1" dirty="0"/>
              <a:t>Data Science requirements:</a:t>
            </a:r>
          </a:p>
        </p:txBody>
      </p:sp>
    </p:spTree>
    <p:extLst>
      <p:ext uri="{BB962C8B-B14F-4D97-AF65-F5344CB8AC3E}">
        <p14:creationId xmlns:p14="http://schemas.microsoft.com/office/powerpoint/2010/main" val="3919316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26609" y="112226"/>
            <a:ext cx="10515600" cy="1325563"/>
          </a:xfrm>
        </p:spPr>
        <p:txBody>
          <a:bodyPr/>
          <a:lstStyle/>
          <a:p>
            <a:r>
              <a:rPr lang="en-US" dirty="0"/>
              <a:t>Data Science</a:t>
            </a:r>
            <a:endParaRPr lang="en-US" altLang="en-US" dirty="0">
              <a:ea typeface="ＭＳ Ｐゴシック" panose="020B0600070205080204" pitchFamily="34" charset="-128"/>
            </a:endParaRPr>
          </a:p>
        </p:txBody>
      </p:sp>
      <p:pic>
        <p:nvPicPr>
          <p:cNvPr id="5" name="Picture 2" descr="[image%255B3%255D.png]"/>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830749" y="1624818"/>
            <a:ext cx="6313252" cy="47244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7870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22BE6B7F-0753-4479-97EC-F8886A5B98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4051" y="389106"/>
            <a:ext cx="9630383" cy="610376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E9883B05-091D-49E3-84C4-58E7008FAB0A}"/>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199707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26609" y="112226"/>
            <a:ext cx="10515600" cy="1325563"/>
          </a:xfrm>
        </p:spPr>
        <p:txBody>
          <a:bodyPr/>
          <a:lstStyle/>
          <a:p>
            <a:r>
              <a:rPr lang="en-US" dirty="0"/>
              <a:t>Steps in Data Science Process- six steps</a:t>
            </a:r>
            <a:endParaRPr lang="en-US" altLang="en-US" dirty="0">
              <a:ea typeface="ＭＳ Ｐゴシック" panose="020B0600070205080204" pitchFamily="34" charset="-128"/>
            </a:endParaRPr>
          </a:p>
        </p:txBody>
      </p:sp>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7214233-84BA-DD4B-E12E-870AC1E190FB}"/>
              </a:ext>
            </a:extLst>
          </p:cNvPr>
          <p:cNvSpPr txBox="1"/>
          <p:nvPr/>
        </p:nvSpPr>
        <p:spPr>
          <a:xfrm>
            <a:off x="2625212" y="1946787"/>
            <a:ext cx="5604387" cy="2677656"/>
          </a:xfrm>
          <a:prstGeom prst="rect">
            <a:avLst/>
          </a:prstGeom>
          <a:noFill/>
        </p:spPr>
        <p:txBody>
          <a:bodyPr wrap="square" rtlCol="0">
            <a:spAutoFit/>
          </a:bodyPr>
          <a:lstStyle/>
          <a:p>
            <a:pPr marL="342900" indent="-342900">
              <a:buAutoNum type="arabicPeriod"/>
            </a:pPr>
            <a:r>
              <a:rPr lang="en-GB" sz="2800" dirty="0"/>
              <a:t>Setting research goal</a:t>
            </a:r>
          </a:p>
          <a:p>
            <a:pPr marL="342900" indent="-342900">
              <a:buAutoNum type="arabicPeriod"/>
            </a:pPr>
            <a:r>
              <a:rPr lang="en-GB" sz="2800" dirty="0"/>
              <a:t>Retrieving data</a:t>
            </a:r>
          </a:p>
          <a:p>
            <a:pPr marL="342900" indent="-342900">
              <a:buAutoNum type="arabicPeriod"/>
            </a:pPr>
            <a:r>
              <a:rPr lang="en-GB" sz="2800" dirty="0"/>
              <a:t>Data Preparation</a:t>
            </a:r>
          </a:p>
          <a:p>
            <a:pPr marL="342900" indent="-342900">
              <a:buAutoNum type="arabicPeriod"/>
            </a:pPr>
            <a:r>
              <a:rPr lang="en-GB" sz="2800" dirty="0"/>
              <a:t>Data Exploration</a:t>
            </a:r>
          </a:p>
          <a:p>
            <a:pPr marL="342900" indent="-342900">
              <a:buAutoNum type="arabicPeriod"/>
            </a:pPr>
            <a:r>
              <a:rPr lang="en-GB" sz="2800" dirty="0"/>
              <a:t>Data Modelling</a:t>
            </a:r>
          </a:p>
          <a:p>
            <a:pPr marL="342900" indent="-342900">
              <a:buAutoNum type="arabicPeriod"/>
            </a:pPr>
            <a:r>
              <a:rPr lang="en-GB" sz="2800" dirty="0"/>
              <a:t>Presentation and Automation</a:t>
            </a:r>
            <a:endParaRPr lang="en-IN" sz="2800" dirty="0"/>
          </a:p>
        </p:txBody>
      </p:sp>
    </p:spTree>
    <p:extLst>
      <p:ext uri="{BB962C8B-B14F-4D97-AF65-F5344CB8AC3E}">
        <p14:creationId xmlns:p14="http://schemas.microsoft.com/office/powerpoint/2010/main" val="445818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26609" y="112226"/>
            <a:ext cx="10515600" cy="1325563"/>
          </a:xfrm>
        </p:spPr>
        <p:txBody>
          <a:bodyPr/>
          <a:lstStyle/>
          <a:p>
            <a:r>
              <a:rPr lang="en-US" dirty="0"/>
              <a:t>Steps in Data Science Process- six steps</a:t>
            </a:r>
            <a:endParaRPr lang="en-US" altLang="en-US" dirty="0">
              <a:ea typeface="ＭＳ Ｐゴシック" panose="020B0600070205080204" pitchFamily="34" charset="-128"/>
            </a:endParaRPr>
          </a:p>
        </p:txBody>
      </p:sp>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71B1D62D-4D20-9B3E-ED4E-A41BA7C40E8E}"/>
              </a:ext>
            </a:extLst>
          </p:cNvPr>
          <p:cNvPicPr>
            <a:picLocks noChangeAspect="1"/>
          </p:cNvPicPr>
          <p:nvPr/>
        </p:nvPicPr>
        <p:blipFill rotWithShape="1">
          <a:blip r:embed="rId2"/>
          <a:srcRect b="31905"/>
          <a:stretch/>
        </p:blipFill>
        <p:spPr>
          <a:xfrm>
            <a:off x="250723" y="1117302"/>
            <a:ext cx="6518787" cy="5165511"/>
          </a:xfrm>
          <a:prstGeom prst="rect">
            <a:avLst/>
          </a:prstGeom>
        </p:spPr>
      </p:pic>
      <p:pic>
        <p:nvPicPr>
          <p:cNvPr id="8" name="Picture 7">
            <a:extLst>
              <a:ext uri="{FF2B5EF4-FFF2-40B4-BE49-F238E27FC236}">
                <a16:creationId xmlns:a16="http://schemas.microsoft.com/office/drawing/2014/main" id="{3F4BFFF4-3E45-24C4-9CB5-C6C9E92674C8}"/>
              </a:ext>
            </a:extLst>
          </p:cNvPr>
          <p:cNvPicPr>
            <a:picLocks noChangeAspect="1"/>
          </p:cNvPicPr>
          <p:nvPr/>
        </p:nvPicPr>
        <p:blipFill rotWithShape="1">
          <a:blip r:embed="rId2"/>
          <a:srcRect t="67705"/>
          <a:stretch/>
        </p:blipFill>
        <p:spPr>
          <a:xfrm>
            <a:off x="6096000" y="1740310"/>
            <a:ext cx="5594555" cy="2422445"/>
          </a:xfrm>
          <a:prstGeom prst="rect">
            <a:avLst/>
          </a:prstGeom>
        </p:spPr>
      </p:pic>
    </p:spTree>
    <p:extLst>
      <p:ext uri="{BB962C8B-B14F-4D97-AF65-F5344CB8AC3E}">
        <p14:creationId xmlns:p14="http://schemas.microsoft.com/office/powerpoint/2010/main" val="4194892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BB8676DC-D154-EE27-D6A6-9DE742452FD7}"/>
              </a:ext>
            </a:extLst>
          </p:cNvPr>
          <p:cNvSpPr txBox="1">
            <a:spLocks/>
          </p:cNvSpPr>
          <p:nvPr/>
        </p:nvSpPr>
        <p:spPr>
          <a:xfrm>
            <a:off x="126609" y="112226"/>
            <a:ext cx="1193878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Step 1: Defining Research goal and creating project Charter</a:t>
            </a:r>
            <a:endParaRPr lang="en-US" altLang="en-US" b="1" dirty="0">
              <a:ea typeface="ＭＳ Ｐゴシック" panose="020B0600070205080204" pitchFamily="34" charset="-128"/>
            </a:endParaRPr>
          </a:p>
        </p:txBody>
      </p:sp>
      <p:pic>
        <p:nvPicPr>
          <p:cNvPr id="10" name="Picture 9">
            <a:extLst>
              <a:ext uri="{FF2B5EF4-FFF2-40B4-BE49-F238E27FC236}">
                <a16:creationId xmlns:a16="http://schemas.microsoft.com/office/drawing/2014/main" id="{C502A004-D1F8-B326-94C3-F0A122EBDDA7}"/>
              </a:ext>
            </a:extLst>
          </p:cNvPr>
          <p:cNvPicPr>
            <a:picLocks noChangeAspect="1"/>
          </p:cNvPicPr>
          <p:nvPr/>
        </p:nvPicPr>
        <p:blipFill>
          <a:blip r:embed="rId2"/>
          <a:stretch>
            <a:fillRect/>
          </a:stretch>
        </p:blipFill>
        <p:spPr>
          <a:xfrm>
            <a:off x="7287548" y="1678697"/>
            <a:ext cx="4637076" cy="3569109"/>
          </a:xfrm>
          <a:prstGeom prst="rect">
            <a:avLst/>
          </a:prstGeom>
        </p:spPr>
      </p:pic>
      <p:pic>
        <p:nvPicPr>
          <p:cNvPr id="3" name="Picture 2">
            <a:extLst>
              <a:ext uri="{FF2B5EF4-FFF2-40B4-BE49-F238E27FC236}">
                <a16:creationId xmlns:a16="http://schemas.microsoft.com/office/drawing/2014/main" id="{E056B825-614B-F1C2-A425-211D7FF5C5E3}"/>
              </a:ext>
            </a:extLst>
          </p:cNvPr>
          <p:cNvPicPr>
            <a:picLocks noChangeAspect="1"/>
          </p:cNvPicPr>
          <p:nvPr/>
        </p:nvPicPr>
        <p:blipFill>
          <a:blip r:embed="rId3"/>
          <a:stretch>
            <a:fillRect/>
          </a:stretch>
        </p:blipFill>
        <p:spPr>
          <a:xfrm>
            <a:off x="334298" y="1558172"/>
            <a:ext cx="6953250" cy="2105025"/>
          </a:xfrm>
          <a:prstGeom prst="rect">
            <a:avLst/>
          </a:prstGeom>
        </p:spPr>
      </p:pic>
      <p:pic>
        <p:nvPicPr>
          <p:cNvPr id="8" name="Picture 7">
            <a:extLst>
              <a:ext uri="{FF2B5EF4-FFF2-40B4-BE49-F238E27FC236}">
                <a16:creationId xmlns:a16="http://schemas.microsoft.com/office/drawing/2014/main" id="{B62CFE6D-20C9-2774-CE0B-996EAC86844C}"/>
              </a:ext>
            </a:extLst>
          </p:cNvPr>
          <p:cNvPicPr>
            <a:picLocks noChangeAspect="1"/>
          </p:cNvPicPr>
          <p:nvPr/>
        </p:nvPicPr>
        <p:blipFill>
          <a:blip r:embed="rId4"/>
          <a:stretch>
            <a:fillRect/>
          </a:stretch>
        </p:blipFill>
        <p:spPr>
          <a:xfrm>
            <a:off x="505748" y="3916304"/>
            <a:ext cx="6610350" cy="752475"/>
          </a:xfrm>
          <a:prstGeom prst="rect">
            <a:avLst/>
          </a:prstGeom>
        </p:spPr>
      </p:pic>
    </p:spTree>
    <p:extLst>
      <p:ext uri="{BB962C8B-B14F-4D97-AF65-F5344CB8AC3E}">
        <p14:creationId xmlns:p14="http://schemas.microsoft.com/office/powerpoint/2010/main" val="1036484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BB8676DC-D154-EE27-D6A6-9DE742452FD7}"/>
              </a:ext>
            </a:extLst>
          </p:cNvPr>
          <p:cNvSpPr txBox="1">
            <a:spLocks/>
          </p:cNvSpPr>
          <p:nvPr/>
        </p:nvSpPr>
        <p:spPr>
          <a:xfrm>
            <a:off x="126609" y="112226"/>
            <a:ext cx="1193878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Step 1: Defining Research goal and creating project Charter</a:t>
            </a:r>
            <a:endParaRPr lang="en-US" altLang="en-US" b="1" dirty="0">
              <a:ea typeface="ＭＳ Ｐゴシック" panose="020B0600070205080204" pitchFamily="34" charset="-128"/>
            </a:endParaRPr>
          </a:p>
        </p:txBody>
      </p:sp>
      <p:pic>
        <p:nvPicPr>
          <p:cNvPr id="10" name="Picture 9">
            <a:extLst>
              <a:ext uri="{FF2B5EF4-FFF2-40B4-BE49-F238E27FC236}">
                <a16:creationId xmlns:a16="http://schemas.microsoft.com/office/drawing/2014/main" id="{C502A004-D1F8-B326-94C3-F0A122EBDDA7}"/>
              </a:ext>
            </a:extLst>
          </p:cNvPr>
          <p:cNvPicPr>
            <a:picLocks noChangeAspect="1"/>
          </p:cNvPicPr>
          <p:nvPr/>
        </p:nvPicPr>
        <p:blipFill>
          <a:blip r:embed="rId2"/>
          <a:stretch>
            <a:fillRect/>
          </a:stretch>
        </p:blipFill>
        <p:spPr>
          <a:xfrm>
            <a:off x="7169561" y="1563221"/>
            <a:ext cx="4637076" cy="3569109"/>
          </a:xfrm>
          <a:prstGeom prst="rect">
            <a:avLst/>
          </a:prstGeom>
        </p:spPr>
      </p:pic>
      <p:pic>
        <p:nvPicPr>
          <p:cNvPr id="9" name="Picture 8">
            <a:extLst>
              <a:ext uri="{FF2B5EF4-FFF2-40B4-BE49-F238E27FC236}">
                <a16:creationId xmlns:a16="http://schemas.microsoft.com/office/drawing/2014/main" id="{83016220-C755-0E12-4A42-094E85DD1E87}"/>
              </a:ext>
            </a:extLst>
          </p:cNvPr>
          <p:cNvPicPr>
            <a:picLocks noChangeAspect="1"/>
          </p:cNvPicPr>
          <p:nvPr/>
        </p:nvPicPr>
        <p:blipFill>
          <a:blip r:embed="rId3"/>
          <a:stretch>
            <a:fillRect/>
          </a:stretch>
        </p:blipFill>
        <p:spPr>
          <a:xfrm>
            <a:off x="533707" y="2057178"/>
            <a:ext cx="6877050" cy="3667125"/>
          </a:xfrm>
          <a:prstGeom prst="rect">
            <a:avLst/>
          </a:prstGeom>
        </p:spPr>
      </p:pic>
    </p:spTree>
    <p:extLst>
      <p:ext uri="{BB962C8B-B14F-4D97-AF65-F5344CB8AC3E}">
        <p14:creationId xmlns:p14="http://schemas.microsoft.com/office/powerpoint/2010/main" val="1279810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26609" y="112226"/>
            <a:ext cx="11938782" cy="1325563"/>
          </a:xfrm>
        </p:spPr>
        <p:txBody>
          <a:bodyPr/>
          <a:lstStyle/>
          <a:p>
            <a:r>
              <a:rPr lang="en-US" b="1" dirty="0"/>
              <a:t>Step 2- Retrieving data</a:t>
            </a:r>
            <a:endParaRPr lang="en-US" altLang="en-US" b="1" dirty="0">
              <a:ea typeface="ＭＳ Ｐゴシック" panose="020B0600070205080204" pitchFamily="34" charset="-128"/>
            </a:endParaRPr>
          </a:p>
        </p:txBody>
      </p:sp>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1FCCFA95-6654-7E0C-2110-14F920366283}"/>
              </a:ext>
            </a:extLst>
          </p:cNvPr>
          <p:cNvPicPr>
            <a:picLocks noChangeAspect="1"/>
          </p:cNvPicPr>
          <p:nvPr/>
        </p:nvPicPr>
        <p:blipFill>
          <a:blip r:embed="rId2"/>
          <a:stretch>
            <a:fillRect/>
          </a:stretch>
        </p:blipFill>
        <p:spPr>
          <a:xfrm>
            <a:off x="7570235" y="1755058"/>
            <a:ext cx="4198977" cy="3362632"/>
          </a:xfrm>
          <a:prstGeom prst="rect">
            <a:avLst/>
          </a:prstGeom>
        </p:spPr>
      </p:pic>
      <p:sp>
        <p:nvSpPr>
          <p:cNvPr id="8" name="TextBox 7">
            <a:extLst>
              <a:ext uri="{FF2B5EF4-FFF2-40B4-BE49-F238E27FC236}">
                <a16:creationId xmlns:a16="http://schemas.microsoft.com/office/drawing/2014/main" id="{724A99F6-5FCF-D441-4BA2-4BA048AD2D72}"/>
              </a:ext>
            </a:extLst>
          </p:cNvPr>
          <p:cNvSpPr txBox="1"/>
          <p:nvPr/>
        </p:nvSpPr>
        <p:spPr>
          <a:xfrm>
            <a:off x="532417" y="1755058"/>
            <a:ext cx="6632011" cy="1477328"/>
          </a:xfrm>
          <a:prstGeom prst="rect">
            <a:avLst/>
          </a:prstGeom>
          <a:noFill/>
        </p:spPr>
        <p:txBody>
          <a:bodyPr wrap="square">
            <a:spAutoFit/>
          </a:bodyPr>
          <a:lstStyle/>
          <a:p>
            <a:pPr algn="just"/>
            <a:r>
              <a:rPr lang="en-GB" dirty="0"/>
              <a:t>Data can be stored in many forms, ranging from simple text files to tables in a database.</a:t>
            </a:r>
          </a:p>
          <a:p>
            <a:pPr algn="just"/>
            <a:r>
              <a:rPr lang="en-GB" dirty="0"/>
              <a:t>The objective now is acquiring all the data you need. This may be difficult, and even if you succeed, data is often like a diamond in the rough: it needs polishing to be of any use to you.</a:t>
            </a:r>
            <a:endParaRPr lang="en-IN" dirty="0"/>
          </a:p>
        </p:txBody>
      </p:sp>
    </p:spTree>
    <p:extLst>
      <p:ext uri="{BB962C8B-B14F-4D97-AF65-F5344CB8AC3E}">
        <p14:creationId xmlns:p14="http://schemas.microsoft.com/office/powerpoint/2010/main" val="36135041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A78ED9B-643F-FC94-CE48-FD57038CFDF5}"/>
              </a:ext>
            </a:extLst>
          </p:cNvPr>
          <p:cNvPicPr>
            <a:picLocks noGrp="1" noChangeAspect="1"/>
          </p:cNvPicPr>
          <p:nvPr>
            <p:ph idx="1"/>
          </p:nvPr>
        </p:nvPicPr>
        <p:blipFill>
          <a:blip r:embed="rId2"/>
          <a:stretch>
            <a:fillRect/>
          </a:stretch>
        </p:blipFill>
        <p:spPr>
          <a:xfrm>
            <a:off x="838200" y="818147"/>
            <a:ext cx="9877926" cy="4802397"/>
          </a:xfrm>
        </p:spPr>
      </p:pic>
    </p:spTree>
    <p:extLst>
      <p:ext uri="{BB962C8B-B14F-4D97-AF65-F5344CB8AC3E}">
        <p14:creationId xmlns:p14="http://schemas.microsoft.com/office/powerpoint/2010/main" val="10464147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FE2D6B-1264-DF7D-2F58-D16BA0658E59}"/>
              </a:ext>
            </a:extLst>
          </p:cNvPr>
          <p:cNvPicPr>
            <a:picLocks noChangeAspect="1"/>
          </p:cNvPicPr>
          <p:nvPr/>
        </p:nvPicPr>
        <p:blipFill>
          <a:blip r:embed="rId2"/>
          <a:stretch>
            <a:fillRect/>
          </a:stretch>
        </p:blipFill>
        <p:spPr>
          <a:xfrm>
            <a:off x="994610" y="365125"/>
            <a:ext cx="10010273" cy="6127750"/>
          </a:xfrm>
          <a:prstGeom prst="rect">
            <a:avLst/>
          </a:prstGeom>
        </p:spPr>
      </p:pic>
    </p:spTree>
    <p:extLst>
      <p:ext uri="{BB962C8B-B14F-4D97-AF65-F5344CB8AC3E}">
        <p14:creationId xmlns:p14="http://schemas.microsoft.com/office/powerpoint/2010/main" val="11550809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0E6B0B-AA92-4DDB-7726-5DECE9DCBBA9}"/>
              </a:ext>
            </a:extLst>
          </p:cNvPr>
          <p:cNvPicPr>
            <a:picLocks noChangeAspect="1"/>
          </p:cNvPicPr>
          <p:nvPr/>
        </p:nvPicPr>
        <p:blipFill>
          <a:blip r:embed="rId2"/>
          <a:stretch>
            <a:fillRect/>
          </a:stretch>
        </p:blipFill>
        <p:spPr>
          <a:xfrm>
            <a:off x="1155032" y="737937"/>
            <a:ext cx="10198768" cy="5518484"/>
          </a:xfrm>
          <a:prstGeom prst="rect">
            <a:avLst/>
          </a:prstGeom>
        </p:spPr>
      </p:pic>
    </p:spTree>
    <p:extLst>
      <p:ext uri="{BB962C8B-B14F-4D97-AF65-F5344CB8AC3E}">
        <p14:creationId xmlns:p14="http://schemas.microsoft.com/office/powerpoint/2010/main" val="30329587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3E84508-6211-2254-2EAD-9494EBF01698}"/>
              </a:ext>
            </a:extLst>
          </p:cNvPr>
          <p:cNvPicPr>
            <a:picLocks noGrp="1" noChangeAspect="1"/>
          </p:cNvPicPr>
          <p:nvPr>
            <p:ph idx="1"/>
          </p:nvPr>
        </p:nvPicPr>
        <p:blipFill>
          <a:blip r:embed="rId2"/>
          <a:stretch>
            <a:fillRect/>
          </a:stretch>
        </p:blipFill>
        <p:spPr>
          <a:xfrm>
            <a:off x="882063" y="486819"/>
            <a:ext cx="9589292" cy="2813844"/>
          </a:xfrm>
        </p:spPr>
      </p:pic>
      <p:pic>
        <p:nvPicPr>
          <p:cNvPr id="7" name="Picture 6">
            <a:extLst>
              <a:ext uri="{FF2B5EF4-FFF2-40B4-BE49-F238E27FC236}">
                <a16:creationId xmlns:a16="http://schemas.microsoft.com/office/drawing/2014/main" id="{ECE6693D-80D2-DC6C-BCA5-015F1106E429}"/>
              </a:ext>
            </a:extLst>
          </p:cNvPr>
          <p:cNvPicPr>
            <a:picLocks noChangeAspect="1"/>
          </p:cNvPicPr>
          <p:nvPr/>
        </p:nvPicPr>
        <p:blipFill>
          <a:blip r:embed="rId3"/>
          <a:stretch>
            <a:fillRect/>
          </a:stretch>
        </p:blipFill>
        <p:spPr>
          <a:xfrm>
            <a:off x="2085474" y="3176337"/>
            <a:ext cx="7828547" cy="3513221"/>
          </a:xfrm>
          <a:prstGeom prst="rect">
            <a:avLst/>
          </a:prstGeom>
        </p:spPr>
      </p:pic>
    </p:spTree>
    <p:extLst>
      <p:ext uri="{BB962C8B-B14F-4D97-AF65-F5344CB8AC3E}">
        <p14:creationId xmlns:p14="http://schemas.microsoft.com/office/powerpoint/2010/main" val="41023101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E143F25-A381-A7F3-63E9-D2BA2C03E4D8}"/>
              </a:ext>
            </a:extLst>
          </p:cNvPr>
          <p:cNvPicPr>
            <a:picLocks noChangeAspect="1"/>
          </p:cNvPicPr>
          <p:nvPr/>
        </p:nvPicPr>
        <p:blipFill>
          <a:blip r:embed="rId2"/>
          <a:stretch>
            <a:fillRect/>
          </a:stretch>
        </p:blipFill>
        <p:spPr>
          <a:xfrm>
            <a:off x="1074821" y="529389"/>
            <a:ext cx="10347158" cy="5662864"/>
          </a:xfrm>
          <a:prstGeom prst="rect">
            <a:avLst/>
          </a:prstGeom>
        </p:spPr>
      </p:pic>
    </p:spTree>
    <p:extLst>
      <p:ext uri="{BB962C8B-B14F-4D97-AF65-F5344CB8AC3E}">
        <p14:creationId xmlns:p14="http://schemas.microsoft.com/office/powerpoint/2010/main" val="16330626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26609" y="112226"/>
            <a:ext cx="11938782" cy="1325563"/>
          </a:xfrm>
        </p:spPr>
        <p:txBody>
          <a:bodyPr>
            <a:normAutofit/>
          </a:bodyPr>
          <a:lstStyle/>
          <a:p>
            <a:r>
              <a:rPr lang="en-GB" sz="2800" b="1" u="none" strike="noStrike" baseline="0" dirty="0">
                <a:solidFill>
                  <a:srgbClr val="950000"/>
                </a:solidFill>
                <a:latin typeface="FranklinGothic-DemiItal"/>
              </a:rPr>
              <a:t>Step 3: Data Preparation: Cleansing, integrating, and transforming data</a:t>
            </a:r>
            <a:endParaRPr lang="en-US" altLang="en-US" sz="2800" dirty="0">
              <a:ea typeface="ＭＳ Ｐゴシック" panose="020B0600070205080204" pitchFamily="34" charset="-128"/>
            </a:endParaRPr>
          </a:p>
        </p:txBody>
      </p:sp>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46B82A09-9E3C-179D-BFA4-2C64921E81C7}"/>
              </a:ext>
            </a:extLst>
          </p:cNvPr>
          <p:cNvPicPr>
            <a:picLocks noChangeAspect="1"/>
          </p:cNvPicPr>
          <p:nvPr/>
        </p:nvPicPr>
        <p:blipFill>
          <a:blip r:embed="rId2"/>
          <a:stretch>
            <a:fillRect/>
          </a:stretch>
        </p:blipFill>
        <p:spPr>
          <a:xfrm>
            <a:off x="7447935" y="1117302"/>
            <a:ext cx="4513007" cy="4973779"/>
          </a:xfrm>
          <a:prstGeom prst="rect">
            <a:avLst/>
          </a:prstGeom>
        </p:spPr>
      </p:pic>
      <p:sp>
        <p:nvSpPr>
          <p:cNvPr id="3" name="TextBox 2">
            <a:extLst>
              <a:ext uri="{FF2B5EF4-FFF2-40B4-BE49-F238E27FC236}">
                <a16:creationId xmlns:a16="http://schemas.microsoft.com/office/drawing/2014/main" id="{B4FB7699-86F2-37F6-AC6F-884DC7F434D2}"/>
              </a:ext>
            </a:extLst>
          </p:cNvPr>
          <p:cNvSpPr txBox="1"/>
          <p:nvPr/>
        </p:nvSpPr>
        <p:spPr>
          <a:xfrm>
            <a:off x="444522" y="1459522"/>
            <a:ext cx="6160168" cy="1569660"/>
          </a:xfrm>
          <a:prstGeom prst="rect">
            <a:avLst/>
          </a:prstGeom>
          <a:noFill/>
        </p:spPr>
        <p:txBody>
          <a:bodyPr wrap="square">
            <a:spAutoFit/>
          </a:bodyPr>
          <a:lstStyle/>
          <a:p>
            <a:pPr algn="just"/>
            <a:r>
              <a:rPr lang="en-GB" sz="2400" dirty="0"/>
              <a:t>The data received from the data retrieval phase is likely to be “a diamond in the rough.” Your task now is to sanitize and prepare it for use in the modelling and reporting phase.</a:t>
            </a:r>
            <a:endParaRPr lang="en-IN" sz="2400" dirty="0"/>
          </a:p>
        </p:txBody>
      </p:sp>
    </p:spTree>
    <p:extLst>
      <p:ext uri="{BB962C8B-B14F-4D97-AF65-F5344CB8AC3E}">
        <p14:creationId xmlns:p14="http://schemas.microsoft.com/office/powerpoint/2010/main" val="11202303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26609" y="112227"/>
            <a:ext cx="10515600" cy="983342"/>
          </a:xfrm>
        </p:spPr>
        <p:txBody>
          <a:bodyPr/>
          <a:lstStyle/>
          <a:p>
            <a:r>
              <a:rPr lang="en-US" b="1" dirty="0"/>
              <a:t>Step 4-Data exploration</a:t>
            </a:r>
            <a:endParaRPr lang="en-US" altLang="en-US" b="1" dirty="0">
              <a:ea typeface="ＭＳ Ｐゴシック" panose="020B0600070205080204" pitchFamily="34" charset="-128"/>
            </a:endParaRPr>
          </a:p>
        </p:txBody>
      </p:sp>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C6E047BF-9200-4E84-6CBB-2A459A3F964A}"/>
              </a:ext>
            </a:extLst>
          </p:cNvPr>
          <p:cNvPicPr>
            <a:picLocks noChangeAspect="1"/>
          </p:cNvPicPr>
          <p:nvPr/>
        </p:nvPicPr>
        <p:blipFill>
          <a:blip r:embed="rId2"/>
          <a:stretch>
            <a:fillRect/>
          </a:stretch>
        </p:blipFill>
        <p:spPr>
          <a:xfrm>
            <a:off x="7777527" y="1594483"/>
            <a:ext cx="4287863" cy="3945371"/>
          </a:xfrm>
          <a:prstGeom prst="rect">
            <a:avLst/>
          </a:prstGeom>
        </p:spPr>
      </p:pic>
      <p:pic>
        <p:nvPicPr>
          <p:cNvPr id="3" name="Picture 2">
            <a:extLst>
              <a:ext uri="{FF2B5EF4-FFF2-40B4-BE49-F238E27FC236}">
                <a16:creationId xmlns:a16="http://schemas.microsoft.com/office/drawing/2014/main" id="{4B152854-7CAA-2F71-B98D-0572108B706E}"/>
              </a:ext>
            </a:extLst>
          </p:cNvPr>
          <p:cNvPicPr>
            <a:picLocks noChangeAspect="1"/>
          </p:cNvPicPr>
          <p:nvPr/>
        </p:nvPicPr>
        <p:blipFill>
          <a:blip r:embed="rId3"/>
          <a:stretch>
            <a:fillRect/>
          </a:stretch>
        </p:blipFill>
        <p:spPr>
          <a:xfrm>
            <a:off x="128954" y="1046735"/>
            <a:ext cx="7648575" cy="1752600"/>
          </a:xfrm>
          <a:prstGeom prst="rect">
            <a:avLst/>
          </a:prstGeom>
        </p:spPr>
      </p:pic>
      <p:pic>
        <p:nvPicPr>
          <p:cNvPr id="8" name="Picture 7">
            <a:extLst>
              <a:ext uri="{FF2B5EF4-FFF2-40B4-BE49-F238E27FC236}">
                <a16:creationId xmlns:a16="http://schemas.microsoft.com/office/drawing/2014/main" id="{BABABC30-25BA-1503-D578-257785304741}"/>
              </a:ext>
            </a:extLst>
          </p:cNvPr>
          <p:cNvPicPr>
            <a:picLocks noChangeAspect="1"/>
          </p:cNvPicPr>
          <p:nvPr/>
        </p:nvPicPr>
        <p:blipFill>
          <a:blip r:embed="rId4"/>
          <a:stretch>
            <a:fillRect/>
          </a:stretch>
        </p:blipFill>
        <p:spPr>
          <a:xfrm>
            <a:off x="324216" y="2799335"/>
            <a:ext cx="7258050" cy="3800475"/>
          </a:xfrm>
          <a:prstGeom prst="rect">
            <a:avLst/>
          </a:prstGeom>
        </p:spPr>
      </p:pic>
    </p:spTree>
    <p:extLst>
      <p:ext uri="{BB962C8B-B14F-4D97-AF65-F5344CB8AC3E}">
        <p14:creationId xmlns:p14="http://schemas.microsoft.com/office/powerpoint/2010/main" val="24755468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254102" y="303234"/>
            <a:ext cx="10515600" cy="639938"/>
          </a:xfrm>
        </p:spPr>
        <p:txBody>
          <a:bodyPr>
            <a:normAutofit fontScale="90000"/>
          </a:bodyPr>
          <a:lstStyle/>
          <a:p>
            <a:r>
              <a:rPr lang="en-US" b="1" dirty="0"/>
              <a:t>Step 5-Data modeling</a:t>
            </a:r>
            <a:endParaRPr lang="en-US" altLang="en-US" b="1" dirty="0">
              <a:ea typeface="ＭＳ Ｐゴシック" panose="020B0600070205080204" pitchFamily="34" charset="-128"/>
            </a:endParaRPr>
          </a:p>
        </p:txBody>
      </p:sp>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013F7781-7D64-916D-3F91-557A2E70F0DF}"/>
              </a:ext>
            </a:extLst>
          </p:cNvPr>
          <p:cNvPicPr>
            <a:picLocks noChangeAspect="1"/>
          </p:cNvPicPr>
          <p:nvPr/>
        </p:nvPicPr>
        <p:blipFill>
          <a:blip r:embed="rId2"/>
          <a:stretch>
            <a:fillRect/>
          </a:stretch>
        </p:blipFill>
        <p:spPr>
          <a:xfrm>
            <a:off x="7906344" y="1312610"/>
            <a:ext cx="4031553" cy="4449822"/>
          </a:xfrm>
          <a:prstGeom prst="rect">
            <a:avLst/>
          </a:prstGeom>
        </p:spPr>
      </p:pic>
      <p:pic>
        <p:nvPicPr>
          <p:cNvPr id="3" name="Picture 2">
            <a:extLst>
              <a:ext uri="{FF2B5EF4-FFF2-40B4-BE49-F238E27FC236}">
                <a16:creationId xmlns:a16="http://schemas.microsoft.com/office/drawing/2014/main" id="{7286FAD8-4226-B9F7-819D-C642ED4818B8}"/>
              </a:ext>
            </a:extLst>
          </p:cNvPr>
          <p:cNvPicPr>
            <a:picLocks noChangeAspect="1"/>
          </p:cNvPicPr>
          <p:nvPr/>
        </p:nvPicPr>
        <p:blipFill>
          <a:blip r:embed="rId3"/>
          <a:stretch>
            <a:fillRect/>
          </a:stretch>
        </p:blipFill>
        <p:spPr>
          <a:xfrm>
            <a:off x="254102" y="1262710"/>
            <a:ext cx="7524750" cy="1333500"/>
          </a:xfrm>
          <a:prstGeom prst="rect">
            <a:avLst/>
          </a:prstGeom>
        </p:spPr>
      </p:pic>
      <p:pic>
        <p:nvPicPr>
          <p:cNvPr id="8" name="Picture 7">
            <a:extLst>
              <a:ext uri="{FF2B5EF4-FFF2-40B4-BE49-F238E27FC236}">
                <a16:creationId xmlns:a16="http://schemas.microsoft.com/office/drawing/2014/main" id="{0D03541F-30FD-001C-7C31-C81BE889335E}"/>
              </a:ext>
            </a:extLst>
          </p:cNvPr>
          <p:cNvPicPr>
            <a:picLocks noChangeAspect="1"/>
          </p:cNvPicPr>
          <p:nvPr/>
        </p:nvPicPr>
        <p:blipFill>
          <a:blip r:embed="rId4"/>
          <a:stretch>
            <a:fillRect/>
          </a:stretch>
        </p:blipFill>
        <p:spPr>
          <a:xfrm>
            <a:off x="396977" y="2659557"/>
            <a:ext cx="7381875" cy="3152775"/>
          </a:xfrm>
          <a:prstGeom prst="rect">
            <a:avLst/>
          </a:prstGeom>
        </p:spPr>
      </p:pic>
    </p:spTree>
    <p:extLst>
      <p:ext uri="{BB962C8B-B14F-4D97-AF65-F5344CB8AC3E}">
        <p14:creationId xmlns:p14="http://schemas.microsoft.com/office/powerpoint/2010/main" val="17951702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26609" y="112227"/>
            <a:ext cx="10515600" cy="802174"/>
          </a:xfrm>
        </p:spPr>
        <p:txBody>
          <a:bodyPr/>
          <a:lstStyle/>
          <a:p>
            <a:r>
              <a:rPr lang="en-US" b="1" dirty="0"/>
              <a:t>Step 5-Data modelling</a:t>
            </a:r>
            <a:endParaRPr lang="en-US" altLang="en-US" b="1" dirty="0">
              <a:ea typeface="ＭＳ Ｐゴシック" panose="020B0600070205080204" pitchFamily="34" charset="-128"/>
            </a:endParaRPr>
          </a:p>
        </p:txBody>
      </p:sp>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E95E9558-15C1-9DDC-FF14-BDA925BE273E}"/>
              </a:ext>
            </a:extLst>
          </p:cNvPr>
          <p:cNvPicPr>
            <a:picLocks noChangeAspect="1"/>
          </p:cNvPicPr>
          <p:nvPr/>
        </p:nvPicPr>
        <p:blipFill>
          <a:blip r:embed="rId2"/>
          <a:stretch>
            <a:fillRect/>
          </a:stretch>
        </p:blipFill>
        <p:spPr>
          <a:xfrm>
            <a:off x="295275" y="1117302"/>
            <a:ext cx="6606970" cy="4191000"/>
          </a:xfrm>
          <a:prstGeom prst="rect">
            <a:avLst/>
          </a:prstGeom>
        </p:spPr>
      </p:pic>
      <p:pic>
        <p:nvPicPr>
          <p:cNvPr id="10" name="Picture 9">
            <a:extLst>
              <a:ext uri="{FF2B5EF4-FFF2-40B4-BE49-F238E27FC236}">
                <a16:creationId xmlns:a16="http://schemas.microsoft.com/office/drawing/2014/main" id="{1EB75EA9-651A-EAED-5729-10C9F28512C5}"/>
              </a:ext>
            </a:extLst>
          </p:cNvPr>
          <p:cNvPicPr>
            <a:picLocks noChangeAspect="1"/>
          </p:cNvPicPr>
          <p:nvPr/>
        </p:nvPicPr>
        <p:blipFill>
          <a:blip r:embed="rId3"/>
          <a:stretch>
            <a:fillRect/>
          </a:stretch>
        </p:blipFill>
        <p:spPr>
          <a:xfrm>
            <a:off x="6902245" y="1740316"/>
            <a:ext cx="4994480" cy="2684200"/>
          </a:xfrm>
          <a:prstGeom prst="rect">
            <a:avLst/>
          </a:prstGeom>
        </p:spPr>
      </p:pic>
    </p:spTree>
    <p:extLst>
      <p:ext uri="{BB962C8B-B14F-4D97-AF65-F5344CB8AC3E}">
        <p14:creationId xmlns:p14="http://schemas.microsoft.com/office/powerpoint/2010/main" val="13088760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288841" y="213678"/>
            <a:ext cx="10515600" cy="684186"/>
          </a:xfrm>
        </p:spPr>
        <p:txBody>
          <a:bodyPr>
            <a:normAutofit fontScale="90000"/>
          </a:bodyPr>
          <a:lstStyle/>
          <a:p>
            <a:r>
              <a:rPr lang="en-US" b="1" dirty="0"/>
              <a:t>Step 5-Data Modelling</a:t>
            </a:r>
            <a:endParaRPr lang="en-US" altLang="en-US" b="1" dirty="0">
              <a:ea typeface="ＭＳ Ｐゴシック" panose="020B0600070205080204" pitchFamily="34" charset="-128"/>
            </a:endParaRPr>
          </a:p>
        </p:txBody>
      </p:sp>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1B7136DD-26C9-158D-0DCC-72DF130B64F9}"/>
              </a:ext>
            </a:extLst>
          </p:cNvPr>
          <p:cNvPicPr>
            <a:picLocks noChangeAspect="1"/>
          </p:cNvPicPr>
          <p:nvPr/>
        </p:nvPicPr>
        <p:blipFill>
          <a:blip r:embed="rId2"/>
          <a:stretch>
            <a:fillRect/>
          </a:stretch>
        </p:blipFill>
        <p:spPr>
          <a:xfrm>
            <a:off x="2014384" y="1095568"/>
            <a:ext cx="7778545" cy="4076700"/>
          </a:xfrm>
          <a:prstGeom prst="rect">
            <a:avLst/>
          </a:prstGeom>
        </p:spPr>
      </p:pic>
      <p:pic>
        <p:nvPicPr>
          <p:cNvPr id="10" name="Picture 9">
            <a:extLst>
              <a:ext uri="{FF2B5EF4-FFF2-40B4-BE49-F238E27FC236}">
                <a16:creationId xmlns:a16="http://schemas.microsoft.com/office/drawing/2014/main" id="{06142086-4289-6D57-8084-C7ABCF698C09}"/>
              </a:ext>
            </a:extLst>
          </p:cNvPr>
          <p:cNvPicPr>
            <a:picLocks noChangeAspect="1"/>
          </p:cNvPicPr>
          <p:nvPr/>
        </p:nvPicPr>
        <p:blipFill rotWithShape="1">
          <a:blip r:embed="rId3"/>
          <a:srcRect t="21503"/>
          <a:stretch/>
        </p:blipFill>
        <p:spPr>
          <a:xfrm>
            <a:off x="4332646" y="4844456"/>
            <a:ext cx="6800850" cy="1901318"/>
          </a:xfrm>
          <a:prstGeom prst="rect">
            <a:avLst/>
          </a:prstGeom>
        </p:spPr>
      </p:pic>
    </p:spTree>
    <p:extLst>
      <p:ext uri="{BB962C8B-B14F-4D97-AF65-F5344CB8AC3E}">
        <p14:creationId xmlns:p14="http://schemas.microsoft.com/office/powerpoint/2010/main" val="27913992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26609" y="112227"/>
            <a:ext cx="10515600" cy="961610"/>
          </a:xfrm>
        </p:spPr>
        <p:txBody>
          <a:bodyPr/>
          <a:lstStyle/>
          <a:p>
            <a:r>
              <a:rPr lang="en-US" b="1" dirty="0"/>
              <a:t>Step 6-Presentation and automation</a:t>
            </a:r>
            <a:endParaRPr lang="en-US" altLang="en-US" b="1" dirty="0">
              <a:ea typeface="ＭＳ Ｐゴシック" panose="020B0600070205080204" pitchFamily="34" charset="-128"/>
            </a:endParaRPr>
          </a:p>
        </p:txBody>
      </p:sp>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BC3E2F96-EB24-DE31-AC9E-FA17FF487DC9}"/>
              </a:ext>
            </a:extLst>
          </p:cNvPr>
          <p:cNvPicPr>
            <a:picLocks noChangeAspect="1"/>
          </p:cNvPicPr>
          <p:nvPr/>
        </p:nvPicPr>
        <p:blipFill>
          <a:blip r:embed="rId2"/>
          <a:stretch>
            <a:fillRect/>
          </a:stretch>
        </p:blipFill>
        <p:spPr>
          <a:xfrm>
            <a:off x="6489290" y="1437789"/>
            <a:ext cx="5353665" cy="4218038"/>
          </a:xfrm>
          <a:prstGeom prst="rect">
            <a:avLst/>
          </a:prstGeom>
        </p:spPr>
      </p:pic>
      <p:pic>
        <p:nvPicPr>
          <p:cNvPr id="3" name="Picture 2">
            <a:extLst>
              <a:ext uri="{FF2B5EF4-FFF2-40B4-BE49-F238E27FC236}">
                <a16:creationId xmlns:a16="http://schemas.microsoft.com/office/drawing/2014/main" id="{375A9CE9-802A-A4D9-1A25-BAC77F82BB67}"/>
              </a:ext>
            </a:extLst>
          </p:cNvPr>
          <p:cNvPicPr>
            <a:picLocks noChangeAspect="1"/>
          </p:cNvPicPr>
          <p:nvPr/>
        </p:nvPicPr>
        <p:blipFill>
          <a:blip r:embed="rId3"/>
          <a:stretch>
            <a:fillRect/>
          </a:stretch>
        </p:blipFill>
        <p:spPr>
          <a:xfrm>
            <a:off x="241659" y="1095568"/>
            <a:ext cx="6753225" cy="2914650"/>
          </a:xfrm>
          <a:prstGeom prst="rect">
            <a:avLst/>
          </a:prstGeom>
        </p:spPr>
      </p:pic>
      <p:pic>
        <p:nvPicPr>
          <p:cNvPr id="8" name="Picture 7">
            <a:extLst>
              <a:ext uri="{FF2B5EF4-FFF2-40B4-BE49-F238E27FC236}">
                <a16:creationId xmlns:a16="http://schemas.microsoft.com/office/drawing/2014/main" id="{91984BD0-A865-D674-3067-C7606937B874}"/>
              </a:ext>
            </a:extLst>
          </p:cNvPr>
          <p:cNvPicPr>
            <a:picLocks noChangeAspect="1"/>
          </p:cNvPicPr>
          <p:nvPr/>
        </p:nvPicPr>
        <p:blipFill>
          <a:blip r:embed="rId4"/>
          <a:stretch>
            <a:fillRect/>
          </a:stretch>
        </p:blipFill>
        <p:spPr>
          <a:xfrm>
            <a:off x="160696" y="4010217"/>
            <a:ext cx="6915150" cy="2757289"/>
          </a:xfrm>
          <a:prstGeom prst="rect">
            <a:avLst/>
          </a:prstGeom>
        </p:spPr>
      </p:pic>
    </p:spTree>
    <p:extLst>
      <p:ext uri="{BB962C8B-B14F-4D97-AF65-F5344CB8AC3E}">
        <p14:creationId xmlns:p14="http://schemas.microsoft.com/office/powerpoint/2010/main" val="6379538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26609" y="112226"/>
            <a:ext cx="10515600" cy="1325563"/>
          </a:xfrm>
        </p:spPr>
        <p:txBody>
          <a:bodyPr/>
          <a:lstStyle/>
          <a:p>
            <a:r>
              <a:rPr lang="en-US" b="1" dirty="0"/>
              <a:t>Types of data Analytics-</a:t>
            </a:r>
            <a:r>
              <a:rPr lang="en-IN" sz="1800" b="1" i="0" u="none" strike="noStrike" baseline="0" dirty="0">
                <a:latin typeface="Lato-Bold"/>
              </a:rPr>
              <a:t>DESCRIPTIVE ANALYTICS</a:t>
            </a:r>
            <a:endParaRPr lang="en-US" altLang="en-US" b="1" dirty="0">
              <a:ea typeface="ＭＳ Ｐゴシック" panose="020B0600070205080204" pitchFamily="34" charset="-128"/>
            </a:endParaRPr>
          </a:p>
        </p:txBody>
      </p:sp>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2A8AC7B-34F1-36C9-ED0B-9EFE8B68DA49}"/>
              </a:ext>
            </a:extLst>
          </p:cNvPr>
          <p:cNvSpPr txBox="1"/>
          <p:nvPr/>
        </p:nvSpPr>
        <p:spPr>
          <a:xfrm>
            <a:off x="126609" y="1272348"/>
            <a:ext cx="5009595" cy="2677656"/>
          </a:xfrm>
          <a:prstGeom prst="rect">
            <a:avLst/>
          </a:prstGeom>
          <a:noFill/>
        </p:spPr>
        <p:txBody>
          <a:bodyPr wrap="square">
            <a:spAutoFit/>
          </a:bodyPr>
          <a:lstStyle/>
          <a:p>
            <a:r>
              <a:rPr lang="en-GB" sz="2400" dirty="0"/>
              <a:t>Types:</a:t>
            </a:r>
          </a:p>
          <a:p>
            <a:pPr marL="342900" indent="-342900">
              <a:buAutoNum type="arabicPeriod"/>
            </a:pPr>
            <a:r>
              <a:rPr lang="en-GB" sz="2400" dirty="0"/>
              <a:t>Descriptive analytics: Summarise past data  Ex: Reports, Dashboards</a:t>
            </a:r>
          </a:p>
          <a:p>
            <a:pPr marL="342900" indent="-342900">
              <a:buAutoNum type="arabicPeriod"/>
            </a:pPr>
            <a:r>
              <a:rPr lang="en-GB" sz="2400" dirty="0"/>
              <a:t>Predictive analytics: Forecast future outcomes Ex : sales</a:t>
            </a:r>
          </a:p>
          <a:p>
            <a:r>
              <a:rPr lang="en-GB" sz="2400" dirty="0"/>
              <a:t>3.   Prescriptive </a:t>
            </a:r>
            <a:r>
              <a:rPr lang="en-GB" sz="2400" dirty="0" err="1"/>
              <a:t>analytics:Ex</a:t>
            </a:r>
            <a:r>
              <a:rPr lang="en-GB" sz="2400" dirty="0"/>
              <a:t>. </a:t>
            </a:r>
            <a:r>
              <a:rPr lang="en-GB" sz="2400" dirty="0" err="1"/>
              <a:t>Recommandations</a:t>
            </a:r>
            <a:endParaRPr lang="en-IN" sz="2400" dirty="0"/>
          </a:p>
        </p:txBody>
      </p:sp>
      <p:pic>
        <p:nvPicPr>
          <p:cNvPr id="10" name="Picture 9">
            <a:extLst>
              <a:ext uri="{FF2B5EF4-FFF2-40B4-BE49-F238E27FC236}">
                <a16:creationId xmlns:a16="http://schemas.microsoft.com/office/drawing/2014/main" id="{101322D9-1F06-CA3E-30A8-50D08895FF97}"/>
              </a:ext>
            </a:extLst>
          </p:cNvPr>
          <p:cNvPicPr>
            <a:picLocks noChangeAspect="1"/>
          </p:cNvPicPr>
          <p:nvPr/>
        </p:nvPicPr>
        <p:blipFill>
          <a:blip r:embed="rId2"/>
          <a:stretch>
            <a:fillRect/>
          </a:stretch>
        </p:blipFill>
        <p:spPr>
          <a:xfrm>
            <a:off x="5384409" y="1579480"/>
            <a:ext cx="6157450" cy="1754326"/>
          </a:xfrm>
          <a:prstGeom prst="rect">
            <a:avLst/>
          </a:prstGeom>
        </p:spPr>
      </p:pic>
      <p:pic>
        <p:nvPicPr>
          <p:cNvPr id="2" name="Picture 1">
            <a:extLst>
              <a:ext uri="{FF2B5EF4-FFF2-40B4-BE49-F238E27FC236}">
                <a16:creationId xmlns:a16="http://schemas.microsoft.com/office/drawing/2014/main" id="{B72C18FF-CC2B-89D1-F08D-338AC6C72BD6}"/>
              </a:ext>
            </a:extLst>
          </p:cNvPr>
          <p:cNvPicPr>
            <a:picLocks noChangeAspect="1"/>
          </p:cNvPicPr>
          <p:nvPr/>
        </p:nvPicPr>
        <p:blipFill>
          <a:blip r:embed="rId3"/>
          <a:stretch>
            <a:fillRect/>
          </a:stretch>
        </p:blipFill>
        <p:spPr>
          <a:xfrm>
            <a:off x="4280170" y="3333806"/>
            <a:ext cx="7626486" cy="3271436"/>
          </a:xfrm>
          <a:prstGeom prst="rect">
            <a:avLst/>
          </a:prstGeom>
        </p:spPr>
      </p:pic>
    </p:spTree>
    <p:extLst>
      <p:ext uri="{BB962C8B-B14F-4D97-AF65-F5344CB8AC3E}">
        <p14:creationId xmlns:p14="http://schemas.microsoft.com/office/powerpoint/2010/main" val="7577005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26609" y="112226"/>
            <a:ext cx="10515600" cy="1325563"/>
          </a:xfrm>
        </p:spPr>
        <p:txBody>
          <a:bodyPr/>
          <a:lstStyle/>
          <a:p>
            <a:r>
              <a:rPr lang="en-US" b="1" dirty="0"/>
              <a:t>Types of data Analytics-</a:t>
            </a:r>
            <a:r>
              <a:rPr lang="en-IN" sz="1800" b="1" i="0" u="none" strike="noStrike" baseline="0" dirty="0">
                <a:latin typeface="Lato-Bold"/>
              </a:rPr>
              <a:t>PREDICTIVE ANALYTICS</a:t>
            </a:r>
            <a:endParaRPr lang="en-US" altLang="en-US" b="1" dirty="0">
              <a:ea typeface="ＭＳ Ｐゴシック" panose="020B0600070205080204" pitchFamily="34" charset="-128"/>
            </a:endParaRPr>
          </a:p>
        </p:txBody>
      </p:sp>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D069815-17AD-F5F5-BAA2-30B14B2F7C97}"/>
              </a:ext>
            </a:extLst>
          </p:cNvPr>
          <p:cNvSpPr txBox="1"/>
          <p:nvPr/>
        </p:nvSpPr>
        <p:spPr>
          <a:xfrm>
            <a:off x="1800184" y="1836851"/>
            <a:ext cx="8591629" cy="1938992"/>
          </a:xfrm>
          <a:prstGeom prst="rect">
            <a:avLst/>
          </a:prstGeom>
          <a:noFill/>
        </p:spPr>
        <p:txBody>
          <a:bodyPr wrap="square">
            <a:spAutoFit/>
          </a:bodyPr>
          <a:lstStyle/>
          <a:p>
            <a:pPr marL="342900" indent="-342900" algn="just">
              <a:buFont typeface="+mj-lt"/>
              <a:buAutoNum type="arabicPeriod"/>
            </a:pPr>
            <a:r>
              <a:rPr lang="en-GB" sz="2000" dirty="0"/>
              <a:t>It aims to predict the probability of occurrence of a future event such as forecasting demand for products/services, customer churn, employee attrition, loan defaults, fraudulent transactions, insurance claim, and stock market fluctuations.</a:t>
            </a:r>
          </a:p>
          <a:p>
            <a:pPr marL="342900" indent="-342900" algn="l">
              <a:buFont typeface="+mj-lt"/>
              <a:buAutoNum type="arabicPeriod"/>
            </a:pPr>
            <a:r>
              <a:rPr lang="en-GB" sz="2000" b="0" i="0" u="none" strike="noStrike" baseline="0" dirty="0">
                <a:latin typeface="MinionPro-Regular"/>
              </a:rPr>
              <a:t>predictive analytics is used for predicting what is likely to happen in the future.</a:t>
            </a:r>
            <a:endParaRPr lang="en-IN" sz="2000" dirty="0"/>
          </a:p>
        </p:txBody>
      </p:sp>
    </p:spTree>
    <p:extLst>
      <p:ext uri="{BB962C8B-B14F-4D97-AF65-F5344CB8AC3E}">
        <p14:creationId xmlns:p14="http://schemas.microsoft.com/office/powerpoint/2010/main" val="596993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26609" y="112226"/>
            <a:ext cx="10515600" cy="1325563"/>
          </a:xfrm>
        </p:spPr>
        <p:txBody>
          <a:bodyPr/>
          <a:lstStyle/>
          <a:p>
            <a:r>
              <a:rPr lang="en-US" b="1" dirty="0"/>
              <a:t>Types of data Analytics- </a:t>
            </a:r>
            <a:r>
              <a:rPr lang="en-IN" sz="1800" b="1" i="0" u="none" strike="noStrike" baseline="0" dirty="0">
                <a:latin typeface="Lato-Bold"/>
              </a:rPr>
              <a:t>PRESCRIPTIVE ANALYTICS</a:t>
            </a:r>
            <a:endParaRPr lang="en-US" altLang="en-US" b="1" dirty="0">
              <a:ea typeface="ＭＳ Ｐゴシック" panose="020B0600070205080204" pitchFamily="34" charset="-128"/>
            </a:endParaRPr>
          </a:p>
        </p:txBody>
      </p:sp>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C02D78B-034B-65D0-9F03-4C3D165AB653}"/>
              </a:ext>
            </a:extLst>
          </p:cNvPr>
          <p:cNvSpPr txBox="1"/>
          <p:nvPr/>
        </p:nvSpPr>
        <p:spPr>
          <a:xfrm>
            <a:off x="678426" y="1427305"/>
            <a:ext cx="10294374" cy="3785652"/>
          </a:xfrm>
          <a:prstGeom prst="rect">
            <a:avLst/>
          </a:prstGeom>
          <a:noFill/>
        </p:spPr>
        <p:txBody>
          <a:bodyPr wrap="square">
            <a:spAutoFit/>
          </a:bodyPr>
          <a:lstStyle/>
          <a:p>
            <a:pPr marL="342900" indent="-342900" algn="just">
              <a:buFont typeface="+mj-lt"/>
              <a:buAutoNum type="arabicPeriod"/>
            </a:pPr>
            <a:r>
              <a:rPr lang="en-GB" sz="2400" dirty="0"/>
              <a:t>Prescriptive analytics is the highest level of analytics capability which is used for choosing optimal        actions once an organization gains insights through descriptive and predictive analytics. </a:t>
            </a:r>
          </a:p>
          <a:p>
            <a:pPr marL="342900" indent="-342900" algn="just">
              <a:buFont typeface="+mj-lt"/>
              <a:buAutoNum type="arabicPeriod"/>
            </a:pPr>
            <a:r>
              <a:rPr lang="en-GB" sz="2400" dirty="0"/>
              <a:t>In many cases, prescriptive analytics is solved as a separate optimization problem. Prescriptive analytics assists users in finding the optimal solution to a problem or in making the right choice/decision among several alternatives.</a:t>
            </a:r>
          </a:p>
          <a:p>
            <a:pPr marL="342900" indent="-342900" algn="just">
              <a:buFont typeface="+mj-lt"/>
              <a:buAutoNum type="arabicPeriod"/>
            </a:pPr>
            <a:r>
              <a:rPr lang="en-GB" sz="2400" dirty="0"/>
              <a:t>Operations Research (OR) techniques form the core of prescriptive analytics. Apart from operations  research techniques, machine learning algorithms, metaheuristics, and advanced statistical models  are used in prescriptive analytics.</a:t>
            </a:r>
            <a:endParaRPr lang="en-IN" sz="2400" dirty="0"/>
          </a:p>
        </p:txBody>
      </p:sp>
    </p:spTree>
    <p:extLst>
      <p:ext uri="{BB962C8B-B14F-4D97-AF65-F5344CB8AC3E}">
        <p14:creationId xmlns:p14="http://schemas.microsoft.com/office/powerpoint/2010/main" val="40130273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26609" y="112226"/>
            <a:ext cx="10515600" cy="1325563"/>
          </a:xfrm>
        </p:spPr>
        <p:txBody>
          <a:bodyPr/>
          <a:lstStyle/>
          <a:p>
            <a:r>
              <a:rPr lang="en-US" b="1" dirty="0"/>
              <a:t>Types of data Analytics-Tools</a:t>
            </a:r>
            <a:endParaRPr lang="en-US" altLang="en-US" b="1" dirty="0">
              <a:ea typeface="ＭＳ Ｐゴシック" panose="020B0600070205080204" pitchFamily="34" charset="-128"/>
            </a:endParaRPr>
          </a:p>
        </p:txBody>
      </p:sp>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7439C44-8935-D0C0-9DB5-DCE4DA3080BF}"/>
              </a:ext>
            </a:extLst>
          </p:cNvPr>
          <p:cNvSpPr txBox="1"/>
          <p:nvPr/>
        </p:nvSpPr>
        <p:spPr>
          <a:xfrm>
            <a:off x="1165124" y="1660734"/>
            <a:ext cx="10205882" cy="3046988"/>
          </a:xfrm>
          <a:prstGeom prst="rect">
            <a:avLst/>
          </a:prstGeom>
          <a:noFill/>
        </p:spPr>
        <p:txBody>
          <a:bodyPr wrap="square">
            <a:spAutoFit/>
          </a:bodyPr>
          <a:lstStyle/>
          <a:p>
            <a:pPr marL="342900" indent="-342900" algn="just">
              <a:buFont typeface="Arial" panose="020B0604020202020204" pitchFamily="34" charset="0"/>
              <a:buChar char="•"/>
            </a:pPr>
            <a:r>
              <a:rPr lang="en-GB" sz="2400" b="1" dirty="0"/>
              <a:t>Predictive analytics techniques</a:t>
            </a:r>
            <a:r>
              <a:rPr lang="en-GB" sz="2400" dirty="0"/>
              <a:t>: Regression, logistic regression, classification trees, forecasting, K-nearest neighbours, Markov chains, random forest, boosting, and neural      networks. </a:t>
            </a:r>
          </a:p>
          <a:p>
            <a:pPr algn="just"/>
            <a:endParaRPr lang="en-GB" sz="2400" dirty="0"/>
          </a:p>
          <a:p>
            <a:pPr marL="342900" indent="-342900" algn="just">
              <a:buFont typeface="Arial" panose="020B0604020202020204" pitchFamily="34" charset="0"/>
              <a:buChar char="•"/>
            </a:pPr>
            <a:r>
              <a:rPr lang="en-GB" sz="2400" b="1" dirty="0"/>
              <a:t>Prescriptive analytics</a:t>
            </a:r>
            <a:r>
              <a:rPr lang="en-GB" sz="2400" dirty="0"/>
              <a:t>:  are linear programming, integer programming, multi-criteria decision-making models such as goal programming and analytic hierarchy process, combinatorial optimization, non-linear programming, and meta-heuristics.</a:t>
            </a:r>
            <a:endParaRPr lang="en-IN" sz="2400" dirty="0"/>
          </a:p>
        </p:txBody>
      </p:sp>
    </p:spTree>
    <p:extLst>
      <p:ext uri="{BB962C8B-B14F-4D97-AF65-F5344CB8AC3E}">
        <p14:creationId xmlns:p14="http://schemas.microsoft.com/office/powerpoint/2010/main" val="1456462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EF61B-1377-734B-9B1D-A21C5F9C177E}"/>
              </a:ext>
            </a:extLst>
          </p:cNvPr>
          <p:cNvSpPr>
            <a:spLocks noGrp="1"/>
          </p:cNvSpPr>
          <p:nvPr>
            <p:ph type="title"/>
          </p:nvPr>
        </p:nvSpPr>
        <p:spPr>
          <a:xfrm>
            <a:off x="729190" y="348568"/>
            <a:ext cx="5995987" cy="1494000"/>
          </a:xfrm>
        </p:spPr>
        <p:txBody>
          <a:bodyPr anchor="t">
            <a:normAutofit/>
          </a:bodyPr>
          <a:lstStyle/>
          <a:p>
            <a:r>
              <a:rPr lang="en-IN" b="1" dirty="0"/>
              <a:t>Types Of Big Data:</a:t>
            </a:r>
            <a:br>
              <a:rPr lang="en-IN" b="1" dirty="0"/>
            </a:br>
            <a:endParaRPr lang="en-US" dirty="0"/>
          </a:p>
        </p:txBody>
      </p:sp>
      <p:sp>
        <p:nvSpPr>
          <p:cNvPr id="3" name="Content Placeholder 2">
            <a:extLst>
              <a:ext uri="{FF2B5EF4-FFF2-40B4-BE49-F238E27FC236}">
                <a16:creationId xmlns:a16="http://schemas.microsoft.com/office/drawing/2014/main" id="{F2368415-C955-F443-BB6B-5B7956CEA673}"/>
              </a:ext>
            </a:extLst>
          </p:cNvPr>
          <p:cNvSpPr>
            <a:spLocks noGrp="1"/>
          </p:cNvSpPr>
          <p:nvPr>
            <p:ph idx="1"/>
          </p:nvPr>
        </p:nvSpPr>
        <p:spPr>
          <a:xfrm>
            <a:off x="1251678" y="1571624"/>
            <a:ext cx="6015897" cy="4559175"/>
          </a:xfrm>
        </p:spPr>
        <p:txBody>
          <a:bodyPr>
            <a:normAutofit/>
          </a:bodyPr>
          <a:lstStyle/>
          <a:p>
            <a:pPr lvl="0" algn="just"/>
            <a:r>
              <a:rPr lang="en-IN" sz="1800" b="1" dirty="0">
                <a:solidFill>
                  <a:schemeClr val="tx1">
                    <a:alpha val="60000"/>
                  </a:schemeClr>
                </a:solidFill>
              </a:rPr>
              <a:t>Structured data:</a:t>
            </a:r>
            <a:r>
              <a:rPr lang="en-IN" sz="1800" dirty="0">
                <a:solidFill>
                  <a:schemeClr val="tx1">
                    <a:alpha val="60000"/>
                  </a:schemeClr>
                </a:solidFill>
              </a:rPr>
              <a:t> In Structured schema, along with all the required columns. It is in a </a:t>
            </a:r>
            <a:r>
              <a:rPr lang="en-IN" sz="1800" b="1" dirty="0">
                <a:solidFill>
                  <a:schemeClr val="tx1">
                    <a:alpha val="60000"/>
                  </a:schemeClr>
                </a:solidFill>
              </a:rPr>
              <a:t>tabular form</a:t>
            </a:r>
            <a:r>
              <a:rPr lang="en-IN" sz="1800" dirty="0">
                <a:solidFill>
                  <a:schemeClr val="tx1">
                    <a:alpha val="60000"/>
                  </a:schemeClr>
                </a:solidFill>
              </a:rPr>
              <a:t>. Structured Data is stored in the relational database management system.</a:t>
            </a:r>
          </a:p>
          <a:p>
            <a:pPr lvl="0" algn="just"/>
            <a:r>
              <a:rPr lang="en-IN" sz="1800" b="1" dirty="0">
                <a:solidFill>
                  <a:schemeClr val="tx1">
                    <a:alpha val="60000"/>
                  </a:schemeClr>
                </a:solidFill>
              </a:rPr>
              <a:t>Semi-structured:</a:t>
            </a:r>
            <a:r>
              <a:rPr lang="en-IN" sz="1800" dirty="0">
                <a:solidFill>
                  <a:schemeClr val="tx1">
                    <a:alpha val="60000"/>
                  </a:schemeClr>
                </a:solidFill>
              </a:rPr>
              <a:t> In Semi-structured, the schema is not appropriately defined, e.g., </a:t>
            </a:r>
            <a:r>
              <a:rPr lang="en-IN" sz="1800" b="1" dirty="0">
                <a:solidFill>
                  <a:schemeClr val="tx1">
                    <a:alpha val="60000"/>
                  </a:schemeClr>
                </a:solidFill>
              </a:rPr>
              <a:t>JSON, XML, CSV, TSV</a:t>
            </a:r>
            <a:r>
              <a:rPr lang="en-IN" sz="1800" dirty="0">
                <a:solidFill>
                  <a:schemeClr val="tx1">
                    <a:alpha val="60000"/>
                  </a:schemeClr>
                </a:solidFill>
              </a:rPr>
              <a:t>, and </a:t>
            </a:r>
            <a:r>
              <a:rPr lang="en-IN" sz="1800" b="1" dirty="0">
                <a:solidFill>
                  <a:schemeClr val="tx1">
                    <a:alpha val="60000"/>
                  </a:schemeClr>
                </a:solidFill>
              </a:rPr>
              <a:t>email</a:t>
            </a:r>
            <a:r>
              <a:rPr lang="en-IN" sz="1800" dirty="0">
                <a:solidFill>
                  <a:schemeClr val="tx1">
                    <a:alpha val="60000"/>
                  </a:schemeClr>
                </a:solidFill>
              </a:rPr>
              <a:t>. OLTP (</a:t>
            </a:r>
            <a:r>
              <a:rPr lang="en-IN" sz="1800" b="1" dirty="0">
                <a:solidFill>
                  <a:schemeClr val="tx1">
                    <a:alpha val="60000"/>
                  </a:schemeClr>
                </a:solidFill>
              </a:rPr>
              <a:t>Online Transaction Processing</a:t>
            </a:r>
            <a:r>
              <a:rPr lang="en-IN" sz="1800" dirty="0">
                <a:solidFill>
                  <a:schemeClr val="tx1">
                    <a:alpha val="60000"/>
                  </a:schemeClr>
                </a:solidFill>
              </a:rPr>
              <a:t>) systems are built to work with semi-structured data. It is stored in relations, i.e., </a:t>
            </a:r>
            <a:r>
              <a:rPr lang="en-IN" sz="1800" b="1" dirty="0">
                <a:solidFill>
                  <a:schemeClr val="tx1">
                    <a:alpha val="60000"/>
                  </a:schemeClr>
                </a:solidFill>
              </a:rPr>
              <a:t>tables</a:t>
            </a:r>
            <a:r>
              <a:rPr lang="en-IN" sz="1800" dirty="0">
                <a:solidFill>
                  <a:schemeClr val="tx1">
                    <a:alpha val="60000"/>
                  </a:schemeClr>
                </a:solidFill>
              </a:rPr>
              <a:t>.</a:t>
            </a:r>
          </a:p>
          <a:p>
            <a:pPr lvl="0" algn="just"/>
            <a:r>
              <a:rPr lang="en-IN" sz="1800" b="1" dirty="0">
                <a:solidFill>
                  <a:schemeClr val="tx1">
                    <a:alpha val="60000"/>
                  </a:schemeClr>
                </a:solidFill>
              </a:rPr>
              <a:t>Unstructured Data</a:t>
            </a:r>
            <a:r>
              <a:rPr lang="en-IN" sz="1800" dirty="0">
                <a:solidFill>
                  <a:schemeClr val="tx1">
                    <a:alpha val="60000"/>
                  </a:schemeClr>
                </a:solidFill>
              </a:rPr>
              <a:t>: All the </a:t>
            </a:r>
            <a:r>
              <a:rPr lang="en-IN" sz="1800" b="1" dirty="0">
                <a:solidFill>
                  <a:schemeClr val="tx1">
                    <a:alpha val="60000"/>
                  </a:schemeClr>
                </a:solidFill>
              </a:rPr>
              <a:t>unstructured files, log files, audio files</a:t>
            </a:r>
            <a:r>
              <a:rPr lang="en-IN" sz="1800" dirty="0">
                <a:solidFill>
                  <a:schemeClr val="tx1">
                    <a:alpha val="60000"/>
                  </a:schemeClr>
                </a:solidFill>
              </a:rPr>
              <a:t>, and </a:t>
            </a:r>
            <a:r>
              <a:rPr lang="en-IN" sz="1800" b="1" dirty="0">
                <a:solidFill>
                  <a:schemeClr val="tx1">
                    <a:alpha val="60000"/>
                  </a:schemeClr>
                </a:solidFill>
              </a:rPr>
              <a:t>image</a:t>
            </a:r>
            <a:r>
              <a:rPr lang="en-IN" sz="1800" dirty="0">
                <a:solidFill>
                  <a:schemeClr val="tx1">
                    <a:alpha val="60000"/>
                  </a:schemeClr>
                </a:solidFill>
              </a:rPr>
              <a:t> files are included in the unstructured data. Some organizations have much data available, but they did not know how to </a:t>
            </a:r>
            <a:r>
              <a:rPr lang="en-IN" sz="1800" b="1" dirty="0">
                <a:solidFill>
                  <a:schemeClr val="tx1">
                    <a:alpha val="60000"/>
                  </a:schemeClr>
                </a:solidFill>
              </a:rPr>
              <a:t>derive</a:t>
            </a:r>
            <a:r>
              <a:rPr lang="en-IN" sz="1800" dirty="0">
                <a:solidFill>
                  <a:schemeClr val="tx1">
                    <a:alpha val="60000"/>
                  </a:schemeClr>
                </a:solidFill>
              </a:rPr>
              <a:t> the value of data since the data is raw.</a:t>
            </a:r>
          </a:p>
          <a:p>
            <a:pPr lvl="0" algn="just"/>
            <a:r>
              <a:rPr lang="en-IN" sz="1800" b="1" dirty="0">
                <a:solidFill>
                  <a:schemeClr val="tx1">
                    <a:alpha val="60000"/>
                  </a:schemeClr>
                </a:solidFill>
              </a:rPr>
              <a:t>Quasi-structured Data: </a:t>
            </a:r>
            <a:r>
              <a:rPr lang="en-IN" sz="1800" dirty="0">
                <a:solidFill>
                  <a:schemeClr val="tx1">
                    <a:alpha val="60000"/>
                  </a:schemeClr>
                </a:solidFill>
              </a:rPr>
              <a:t>The data format contains textual data with </a:t>
            </a:r>
            <a:r>
              <a:rPr lang="en-IN" sz="1800" b="1" dirty="0">
                <a:solidFill>
                  <a:schemeClr val="tx1">
                    <a:alpha val="60000"/>
                  </a:schemeClr>
                </a:solidFill>
              </a:rPr>
              <a:t>inconsistent data formats </a:t>
            </a:r>
            <a:r>
              <a:rPr lang="en-IN" sz="1800" dirty="0">
                <a:solidFill>
                  <a:schemeClr val="tx1">
                    <a:alpha val="60000"/>
                  </a:schemeClr>
                </a:solidFill>
              </a:rPr>
              <a:t>that are formatted with effort and time with some tools.</a:t>
            </a:r>
          </a:p>
          <a:p>
            <a:pPr algn="just"/>
            <a:endParaRPr lang="en-US" sz="1800" dirty="0">
              <a:solidFill>
                <a:schemeClr val="tx1">
                  <a:alpha val="60000"/>
                </a:schemeClr>
              </a:solidFill>
            </a:endParaRPr>
          </a:p>
        </p:txBody>
      </p:sp>
      <p:pic>
        <p:nvPicPr>
          <p:cNvPr id="104449" name="Picture 112" descr="Big Data Characteristics">
            <a:extLst>
              <a:ext uri="{FF2B5EF4-FFF2-40B4-BE49-F238E27FC236}">
                <a16:creationId xmlns:a16="http://schemas.microsoft.com/office/drawing/2014/main" id="{65FC6194-CF2C-4347-B13E-7ACB09A060B0}"/>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tretch>
            <a:fillRect/>
          </a:stretch>
        </p:blipFill>
        <p:spPr bwMode="auto">
          <a:xfrm>
            <a:off x="7633428" y="1842568"/>
            <a:ext cx="4234316" cy="398819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a:extLst>
              <a:ext uri="{FF2B5EF4-FFF2-40B4-BE49-F238E27FC236}">
                <a16:creationId xmlns:a16="http://schemas.microsoft.com/office/drawing/2014/main" id="{6E7FA36D-F149-C84E-A1B1-A8DF53847634}"/>
              </a:ext>
            </a:extLst>
          </p:cNvPr>
          <p:cNvSpPr>
            <a:spLocks noChangeArrowheads="1"/>
          </p:cNvSpPr>
          <p:nvPr/>
        </p:nvSpPr>
        <p:spPr bwMode="auto">
          <a:xfrm>
            <a:off x="-277716" y="-29262"/>
            <a:ext cx="12475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0" name="Rectangle 9">
            <a:extLst>
              <a:ext uri="{FF2B5EF4-FFF2-40B4-BE49-F238E27FC236}">
                <a16:creationId xmlns:a16="http://schemas.microsoft.com/office/drawing/2014/main" id="{71D4E403-E990-4678-815F-D2DA8375368C}"/>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Straight Connector 10">
            <a:extLst>
              <a:ext uri="{FF2B5EF4-FFF2-40B4-BE49-F238E27FC236}">
                <a16:creationId xmlns:a16="http://schemas.microsoft.com/office/drawing/2014/main" id="{706E1CD5-74A0-4549-A5AC-8B7D667C912D}"/>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2471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26609" y="112226"/>
            <a:ext cx="10515600" cy="1325563"/>
          </a:xfrm>
        </p:spPr>
        <p:txBody>
          <a:bodyPr/>
          <a:lstStyle/>
          <a:p>
            <a:r>
              <a:rPr lang="en-US" b="1" dirty="0"/>
              <a:t>Data types and scales</a:t>
            </a:r>
            <a:endParaRPr lang="en-US" altLang="en-US" b="1" dirty="0">
              <a:ea typeface="ＭＳ Ｐゴシック" panose="020B0600070205080204" pitchFamily="34" charset="-128"/>
            </a:endParaRPr>
          </a:p>
        </p:txBody>
      </p:sp>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6905CF5-477E-4DC3-AC0B-A3BC6F4B6811}"/>
              </a:ext>
            </a:extLst>
          </p:cNvPr>
          <p:cNvSpPr txBox="1"/>
          <p:nvPr/>
        </p:nvSpPr>
        <p:spPr>
          <a:xfrm>
            <a:off x="750324" y="1371236"/>
            <a:ext cx="10515599" cy="707886"/>
          </a:xfrm>
          <a:prstGeom prst="rect">
            <a:avLst/>
          </a:prstGeom>
          <a:noFill/>
        </p:spPr>
        <p:txBody>
          <a:bodyPr wrap="square">
            <a:spAutoFit/>
          </a:bodyPr>
          <a:lstStyle/>
          <a:p>
            <a:r>
              <a:rPr lang="en-GB" sz="2000" dirty="0"/>
              <a:t>Data is classified into different categories based on data structure and scale of measurement of the variables</a:t>
            </a:r>
            <a:endParaRPr lang="en-IN" sz="2000" dirty="0"/>
          </a:p>
        </p:txBody>
      </p:sp>
      <p:sp>
        <p:nvSpPr>
          <p:cNvPr id="3" name="TextBox 2">
            <a:extLst>
              <a:ext uri="{FF2B5EF4-FFF2-40B4-BE49-F238E27FC236}">
                <a16:creationId xmlns:a16="http://schemas.microsoft.com/office/drawing/2014/main" id="{2C3102E3-5617-7E5F-4614-C265397FC781}"/>
              </a:ext>
            </a:extLst>
          </p:cNvPr>
          <p:cNvSpPr txBox="1"/>
          <p:nvPr/>
        </p:nvSpPr>
        <p:spPr>
          <a:xfrm>
            <a:off x="453512" y="2078911"/>
            <a:ext cx="11109222" cy="4154984"/>
          </a:xfrm>
          <a:prstGeom prst="rect">
            <a:avLst/>
          </a:prstGeom>
          <a:noFill/>
        </p:spPr>
        <p:txBody>
          <a:bodyPr wrap="square">
            <a:spAutoFit/>
          </a:bodyPr>
          <a:lstStyle/>
          <a:p>
            <a:pPr algn="just"/>
            <a:r>
              <a:rPr lang="en-IN" sz="2400" b="1" dirty="0"/>
              <a:t>Structured and Unstructured Data</a:t>
            </a:r>
          </a:p>
          <a:p>
            <a:pPr algn="just"/>
            <a:endParaRPr lang="en-IN" sz="2400" b="1" dirty="0"/>
          </a:p>
          <a:p>
            <a:pPr algn="just"/>
            <a:r>
              <a:rPr lang="en-IN" sz="2400" b="1" i="0" u="none" strike="noStrike" baseline="0" dirty="0">
                <a:latin typeface="MinionPro-Regular"/>
              </a:rPr>
              <a:t>Structured data:  </a:t>
            </a:r>
            <a:r>
              <a:rPr lang="en-IN" sz="2400" b="0" i="0" u="none" strike="noStrike" baseline="0" dirty="0">
                <a:latin typeface="MinionPro-Regular"/>
              </a:rPr>
              <a:t>means that </a:t>
            </a:r>
            <a:r>
              <a:rPr lang="en-GB" sz="2400" b="0" i="0" u="none" strike="noStrike" baseline="0" dirty="0">
                <a:latin typeface="MinionPro-Regular"/>
              </a:rPr>
              <a:t>the data is described in a matrix form with labelled rows and columns.</a:t>
            </a:r>
          </a:p>
          <a:p>
            <a:pPr algn="just"/>
            <a:endParaRPr lang="en-GB" sz="2400" dirty="0">
              <a:latin typeface="MinionPro-Regular"/>
            </a:endParaRPr>
          </a:p>
          <a:p>
            <a:pPr algn="just"/>
            <a:r>
              <a:rPr lang="en-GB" sz="2400" b="1" dirty="0">
                <a:latin typeface="MinionPro-Regular"/>
              </a:rPr>
              <a:t>Unstructured data </a:t>
            </a:r>
            <a:r>
              <a:rPr lang="en-GB" sz="2400" dirty="0">
                <a:latin typeface="MinionPro-Regular"/>
              </a:rPr>
              <a:t>: </a:t>
            </a:r>
            <a:r>
              <a:rPr lang="en-GB" sz="2400" b="0" i="0" u="none" strike="noStrike" baseline="0" dirty="0">
                <a:latin typeface="MinionPro-Regular"/>
              </a:rPr>
              <a:t>Any data that is not originally in the matrix form with rows and columns is an. </a:t>
            </a:r>
          </a:p>
          <a:p>
            <a:pPr algn="just"/>
            <a:r>
              <a:rPr lang="en-GB" sz="2400" b="0" i="0" u="none" strike="noStrike" baseline="0" dirty="0">
                <a:latin typeface="MinionPro-Regular"/>
              </a:rPr>
              <a:t>For example, e-mails, click streams, textual data, images (photos and images generated by medical devices), log data, and videos. Machine generated data such as images generated by satellite, magnetic resonance imaging (MRI), electrocardiogram (ECG) and thermography are few examples of unstructured data.</a:t>
            </a:r>
            <a:endParaRPr lang="en-IN" sz="2400" b="1" dirty="0"/>
          </a:p>
        </p:txBody>
      </p:sp>
    </p:spTree>
    <p:extLst>
      <p:ext uri="{BB962C8B-B14F-4D97-AF65-F5344CB8AC3E}">
        <p14:creationId xmlns:p14="http://schemas.microsoft.com/office/powerpoint/2010/main" val="20446341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26609" y="112226"/>
            <a:ext cx="10515600" cy="1325563"/>
          </a:xfrm>
        </p:spPr>
        <p:txBody>
          <a:bodyPr/>
          <a:lstStyle/>
          <a:p>
            <a:r>
              <a:rPr lang="en-US" b="1" dirty="0"/>
              <a:t>Data types and scales</a:t>
            </a:r>
            <a:endParaRPr lang="en-US" altLang="en-US" b="1" dirty="0">
              <a:ea typeface="ＭＳ Ｐゴシック" panose="020B0600070205080204" pitchFamily="34" charset="-128"/>
            </a:endParaRPr>
          </a:p>
        </p:txBody>
      </p:sp>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A99C6AD-BC89-8E99-35CE-62D34401B636}"/>
              </a:ext>
            </a:extLst>
          </p:cNvPr>
          <p:cNvSpPr txBox="1"/>
          <p:nvPr/>
        </p:nvSpPr>
        <p:spPr>
          <a:xfrm>
            <a:off x="753098" y="1307809"/>
            <a:ext cx="10685802" cy="4893647"/>
          </a:xfrm>
          <a:prstGeom prst="rect">
            <a:avLst/>
          </a:prstGeom>
          <a:noFill/>
        </p:spPr>
        <p:txBody>
          <a:bodyPr wrap="square">
            <a:spAutoFit/>
          </a:bodyPr>
          <a:lstStyle/>
          <a:p>
            <a:r>
              <a:rPr lang="en-GB" sz="2400" dirty="0"/>
              <a:t>The data is categorised  into the following three classes:</a:t>
            </a:r>
          </a:p>
          <a:p>
            <a:pPr marL="457200" indent="-457200" algn="just">
              <a:buFont typeface="+mj-lt"/>
              <a:buAutoNum type="arabicPeriod"/>
            </a:pPr>
            <a:r>
              <a:rPr lang="en-GB" sz="2400" b="1" dirty="0"/>
              <a:t>Cross-Sectional Data: </a:t>
            </a:r>
            <a:r>
              <a:rPr lang="en-GB" sz="2400" dirty="0"/>
              <a:t>A data collected on many variables of interest at the same time or duration of time is called cross-sectional data. </a:t>
            </a:r>
          </a:p>
          <a:p>
            <a:pPr algn="just"/>
            <a:r>
              <a:rPr lang="en-GB" sz="2400" dirty="0"/>
              <a:t>	EX: consider data on movies such as budget, box-office collection, actors,</a:t>
            </a:r>
          </a:p>
          <a:p>
            <a:pPr algn="just"/>
            <a:r>
              <a:rPr lang="en-GB" sz="2400" dirty="0"/>
              <a:t>                    directors, genre of the movie during year 2017.</a:t>
            </a:r>
          </a:p>
          <a:p>
            <a:pPr marL="457200" indent="-457200" algn="just">
              <a:buFont typeface="+mj-lt"/>
              <a:buAutoNum type="arabicPeriod"/>
            </a:pPr>
            <a:r>
              <a:rPr lang="en-GB" sz="2400" b="1" dirty="0"/>
              <a:t>Time Series Data</a:t>
            </a:r>
            <a:r>
              <a:rPr lang="en-GB" sz="2400" dirty="0"/>
              <a:t>: A data collected for a single variable such as demand for smartphones collected over several time intervals (weekly, monthly, etc.) is called a time series data.</a:t>
            </a:r>
          </a:p>
          <a:p>
            <a:pPr marL="457200" indent="-457200" algn="just">
              <a:buFont typeface="+mj-lt"/>
              <a:buAutoNum type="arabicPeriod"/>
            </a:pPr>
            <a:r>
              <a:rPr lang="en-GB" sz="2400" b="1" dirty="0"/>
              <a:t>Panel Data</a:t>
            </a:r>
            <a:r>
              <a:rPr lang="en-GB" sz="2400" dirty="0"/>
              <a:t>: Data collected on </a:t>
            </a:r>
            <a:r>
              <a:rPr lang="en-GB" sz="2400" b="1" dirty="0"/>
              <a:t>several variables </a:t>
            </a:r>
            <a:r>
              <a:rPr lang="en-GB" sz="2400" dirty="0"/>
              <a:t>(multiple dimensions) over </a:t>
            </a:r>
            <a:r>
              <a:rPr lang="en-GB" sz="2400" b="1" dirty="0"/>
              <a:t>several time intervals </a:t>
            </a:r>
            <a:r>
              <a:rPr lang="en-GB" sz="2400" dirty="0"/>
              <a:t>is called panel data (also known as longitudinal data). </a:t>
            </a:r>
            <a:r>
              <a:rPr lang="en-GB" sz="2400" b="1" dirty="0"/>
              <a:t>Example</a:t>
            </a:r>
            <a:r>
              <a:rPr lang="en-GB" sz="2400" dirty="0"/>
              <a:t> of a panel data is data collected on variables such as gross domestic product (GDP), Gini index, and unemployment rate for several countries over several years.</a:t>
            </a:r>
            <a:endParaRPr lang="en-IN" sz="2400" dirty="0"/>
          </a:p>
        </p:txBody>
      </p:sp>
      <p:sp>
        <p:nvSpPr>
          <p:cNvPr id="5" name="TextBox 4">
            <a:extLst>
              <a:ext uri="{FF2B5EF4-FFF2-40B4-BE49-F238E27FC236}">
                <a16:creationId xmlns:a16="http://schemas.microsoft.com/office/drawing/2014/main" id="{B0874C2C-F68A-AAB8-9939-58AE8649D621}"/>
              </a:ext>
            </a:extLst>
          </p:cNvPr>
          <p:cNvSpPr txBox="1"/>
          <p:nvPr/>
        </p:nvSpPr>
        <p:spPr>
          <a:xfrm>
            <a:off x="5567518" y="579085"/>
            <a:ext cx="6157450" cy="369332"/>
          </a:xfrm>
          <a:prstGeom prst="rect">
            <a:avLst/>
          </a:prstGeom>
          <a:noFill/>
        </p:spPr>
        <p:txBody>
          <a:bodyPr wrap="square">
            <a:spAutoFit/>
          </a:bodyPr>
          <a:lstStyle/>
          <a:p>
            <a:r>
              <a:rPr lang="en-GB" b="1" dirty="0"/>
              <a:t>Cross-sectional, Time Series, and Panel Data</a:t>
            </a:r>
            <a:endParaRPr lang="en-IN" b="1" dirty="0"/>
          </a:p>
        </p:txBody>
      </p:sp>
    </p:spTree>
    <p:extLst>
      <p:ext uri="{BB962C8B-B14F-4D97-AF65-F5344CB8AC3E}">
        <p14:creationId xmlns:p14="http://schemas.microsoft.com/office/powerpoint/2010/main" val="42917901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26609" y="112226"/>
            <a:ext cx="10515600" cy="1325563"/>
          </a:xfrm>
        </p:spPr>
        <p:txBody>
          <a:bodyPr>
            <a:normAutofit/>
          </a:bodyPr>
          <a:lstStyle/>
          <a:p>
            <a:r>
              <a:rPr lang="en-GB" sz="2000" b="1" i="0" u="none" strike="noStrike" baseline="0" dirty="0">
                <a:latin typeface="Lato-Bold"/>
              </a:rPr>
              <a:t>TYPES OF DATA MEASUREMENT SCALES</a:t>
            </a:r>
            <a:endParaRPr lang="en-US" altLang="en-US" sz="2000" b="1" dirty="0">
              <a:ea typeface="ＭＳ Ｐゴシック" panose="020B0600070205080204" pitchFamily="34" charset="-128"/>
            </a:endParaRPr>
          </a:p>
        </p:txBody>
      </p:sp>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70B98AA5-7D2F-C7F9-1865-364CE431B4D4}"/>
              </a:ext>
            </a:extLst>
          </p:cNvPr>
          <p:cNvPicPr>
            <a:picLocks noChangeAspect="1"/>
          </p:cNvPicPr>
          <p:nvPr/>
        </p:nvPicPr>
        <p:blipFill>
          <a:blip r:embed="rId2"/>
          <a:stretch>
            <a:fillRect/>
          </a:stretch>
        </p:blipFill>
        <p:spPr>
          <a:xfrm>
            <a:off x="8336877" y="1690444"/>
            <a:ext cx="3467100" cy="2585317"/>
          </a:xfrm>
          <a:prstGeom prst="rect">
            <a:avLst/>
          </a:prstGeom>
        </p:spPr>
      </p:pic>
      <p:sp>
        <p:nvSpPr>
          <p:cNvPr id="7" name="TextBox 6">
            <a:extLst>
              <a:ext uri="{FF2B5EF4-FFF2-40B4-BE49-F238E27FC236}">
                <a16:creationId xmlns:a16="http://schemas.microsoft.com/office/drawing/2014/main" id="{DBAA3B4D-1B4E-B404-378A-0A09ECA57E35}"/>
              </a:ext>
            </a:extLst>
          </p:cNvPr>
          <p:cNvSpPr txBox="1"/>
          <p:nvPr/>
        </p:nvSpPr>
        <p:spPr>
          <a:xfrm>
            <a:off x="543860" y="1690444"/>
            <a:ext cx="6622527" cy="2862322"/>
          </a:xfrm>
          <a:prstGeom prst="rect">
            <a:avLst/>
          </a:prstGeom>
          <a:noFill/>
        </p:spPr>
        <p:txBody>
          <a:bodyPr wrap="square">
            <a:spAutoFit/>
          </a:bodyPr>
          <a:lstStyle/>
          <a:p>
            <a:pPr algn="just"/>
            <a:r>
              <a:rPr lang="en-GB" sz="2000" b="0" i="0" u="none" strike="noStrike" baseline="0" dirty="0">
                <a:latin typeface="MinionPro-Regular"/>
              </a:rPr>
              <a:t>Structured data can be either numeric or alpha numeric and may follow different scales of measurement (level of measurement). </a:t>
            </a:r>
          </a:p>
          <a:p>
            <a:pPr algn="just"/>
            <a:endParaRPr lang="en-GB" sz="2000" dirty="0">
              <a:latin typeface="MinionPro-Regular"/>
            </a:endParaRPr>
          </a:p>
          <a:p>
            <a:pPr algn="just"/>
            <a:r>
              <a:rPr lang="en-GB" sz="2000" b="0" i="0" u="none" strike="noStrike" baseline="0" dirty="0">
                <a:latin typeface="MinionPro-Regular"/>
              </a:rPr>
              <a:t>It is important to understand the type of variables within the data with respect to the measurement scale since the model specification while building analytics models such as regression may depend on the scale of measurement.</a:t>
            </a:r>
            <a:endParaRPr lang="en-GB" sz="2000" dirty="0"/>
          </a:p>
          <a:p>
            <a:pPr algn="just"/>
            <a:endParaRPr lang="en-IN" sz="2000" dirty="0"/>
          </a:p>
        </p:txBody>
      </p:sp>
    </p:spTree>
    <p:extLst>
      <p:ext uri="{BB962C8B-B14F-4D97-AF65-F5344CB8AC3E}">
        <p14:creationId xmlns:p14="http://schemas.microsoft.com/office/powerpoint/2010/main" val="8704414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DFF9E93A-0AAD-8A0F-33C3-DD9956BC531B}"/>
              </a:ext>
            </a:extLst>
          </p:cNvPr>
          <p:cNvSpPr>
            <a:spLocks noGrp="1" noChangeArrowheads="1"/>
          </p:cNvSpPr>
          <p:nvPr>
            <p:ph type="title"/>
          </p:nvPr>
        </p:nvSpPr>
        <p:spPr>
          <a:xfrm>
            <a:off x="457200" y="123825"/>
            <a:ext cx="10515600" cy="1325563"/>
          </a:xfrm>
        </p:spPr>
        <p:txBody>
          <a:bodyPr/>
          <a:lstStyle/>
          <a:p>
            <a:pPr eaLnBrk="1" hangingPunct="1"/>
            <a:r>
              <a:rPr lang="en-US" altLang="en-US" sz="3600" b="1"/>
              <a:t>Attributes</a:t>
            </a:r>
          </a:p>
        </p:txBody>
      </p:sp>
      <p:sp>
        <p:nvSpPr>
          <p:cNvPr id="17411" name="Rectangle 3">
            <a:extLst>
              <a:ext uri="{FF2B5EF4-FFF2-40B4-BE49-F238E27FC236}">
                <a16:creationId xmlns:a16="http://schemas.microsoft.com/office/drawing/2014/main" id="{9B126838-B20B-43FA-8189-3751558E090F}"/>
              </a:ext>
            </a:extLst>
          </p:cNvPr>
          <p:cNvSpPr>
            <a:spLocks noGrp="1" noChangeArrowheads="1"/>
          </p:cNvSpPr>
          <p:nvPr>
            <p:ph idx="1"/>
          </p:nvPr>
        </p:nvSpPr>
        <p:spPr>
          <a:xfrm>
            <a:off x="1828800" y="1295400"/>
            <a:ext cx="8686800" cy="5181600"/>
          </a:xfrm>
        </p:spPr>
        <p:txBody>
          <a:bodyPr/>
          <a:lstStyle/>
          <a:p>
            <a:pPr eaLnBrk="1" hangingPunct="1"/>
            <a:r>
              <a:rPr lang="en-US" altLang="en-US" sz="2000" b="1" dirty="0"/>
              <a:t>Attribute (</a:t>
            </a:r>
            <a:r>
              <a:rPr lang="en-US" altLang="en-US" sz="2000" dirty="0"/>
              <a:t>or</a:t>
            </a:r>
            <a:r>
              <a:rPr lang="en-US" altLang="en-US" sz="2000" b="1" dirty="0"/>
              <a:t> dimensions, features, variables</a:t>
            </a:r>
            <a:r>
              <a:rPr lang="en-US" altLang="en-US" sz="2000" dirty="0"/>
              <a:t>): a data field, representing a characteristic or feature of a data object.</a:t>
            </a:r>
          </a:p>
          <a:p>
            <a:pPr lvl="1" eaLnBrk="1" hangingPunct="1"/>
            <a:r>
              <a:rPr lang="en-US" altLang="en-US" sz="2000" i="1" dirty="0"/>
              <a:t>E.g., customer _ID, name, address</a:t>
            </a:r>
          </a:p>
          <a:p>
            <a:pPr eaLnBrk="1" hangingPunct="1"/>
            <a:r>
              <a:rPr lang="en-US" altLang="en-US" sz="2000" b="1" dirty="0"/>
              <a:t>Types:</a:t>
            </a:r>
          </a:p>
          <a:p>
            <a:pPr lvl="1" eaLnBrk="1" hangingPunct="1"/>
            <a:r>
              <a:rPr lang="en-US" altLang="en-US" sz="2000" dirty="0"/>
              <a:t>Nominal</a:t>
            </a:r>
          </a:p>
          <a:p>
            <a:pPr lvl="1" eaLnBrk="1" hangingPunct="1"/>
            <a:r>
              <a:rPr lang="en-US" altLang="en-US" sz="2000" dirty="0"/>
              <a:t>Binary</a:t>
            </a:r>
          </a:p>
          <a:p>
            <a:pPr lvl="1" eaLnBrk="1" hangingPunct="1"/>
            <a:r>
              <a:rPr lang="en-US" altLang="en-US" sz="2000" dirty="0"/>
              <a:t>Ordinal</a:t>
            </a:r>
          </a:p>
          <a:p>
            <a:pPr lvl="1" eaLnBrk="1" hangingPunct="1"/>
            <a:r>
              <a:rPr lang="en-US" altLang="en-US" sz="2000" dirty="0"/>
              <a:t>Continuous and Discontinues</a:t>
            </a:r>
          </a:p>
          <a:p>
            <a:pPr lvl="1" eaLnBrk="1" hangingPunct="1"/>
            <a:r>
              <a:rPr lang="en-US" altLang="en-US" sz="2000" dirty="0"/>
              <a:t>Numeric: quantitative</a:t>
            </a:r>
          </a:p>
          <a:p>
            <a:pPr lvl="2" eaLnBrk="1" hangingPunct="1"/>
            <a:r>
              <a:rPr lang="en-US" altLang="en-US" dirty="0"/>
              <a:t>Interval-scaled</a:t>
            </a:r>
          </a:p>
          <a:p>
            <a:pPr lvl="2" eaLnBrk="1" hangingPunct="1"/>
            <a:r>
              <a:rPr lang="en-US" altLang="en-US" dirty="0"/>
              <a:t>Ratio-scaled</a:t>
            </a:r>
          </a:p>
        </p:txBody>
      </p:sp>
      <p:sp>
        <p:nvSpPr>
          <p:cNvPr id="17412" name="Slide Number Placeholder 5">
            <a:extLst>
              <a:ext uri="{FF2B5EF4-FFF2-40B4-BE49-F238E27FC236}">
                <a16:creationId xmlns:a16="http://schemas.microsoft.com/office/drawing/2014/main" id="{A4B0115C-72A6-5167-0834-B6840431E48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B38EF596-0169-481E-B0D3-DA5EF0CEF189}" type="slidenum">
              <a:rPr lang="en-US" altLang="en-US" sz="1200">
                <a:latin typeface="Tahoma" panose="020B0604030504040204" pitchFamily="34" charset="0"/>
              </a:rPr>
              <a:pPr>
                <a:lnSpc>
                  <a:spcPct val="100000"/>
                </a:lnSpc>
                <a:spcBef>
                  <a:spcPct val="0"/>
                </a:spcBef>
                <a:buFontTx/>
                <a:buNone/>
              </a:pPr>
              <a:t>40</a:t>
            </a:fld>
            <a:endParaRPr lang="en-US" altLang="en-US" sz="1200">
              <a:latin typeface="Tahoma" panose="020B0604030504040204" pitchFamily="34" charset="0"/>
            </a:endParaRPr>
          </a:p>
        </p:txBody>
      </p:sp>
      <p:sp>
        <p:nvSpPr>
          <p:cNvPr id="5" name="Rectangle 4">
            <a:extLst>
              <a:ext uri="{FF2B5EF4-FFF2-40B4-BE49-F238E27FC236}">
                <a16:creationId xmlns:a16="http://schemas.microsoft.com/office/drawing/2014/main" id="{9AFBC1C0-A93A-EF75-DD5E-34F30A02361F}"/>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64B3BB88-C402-0C23-A5A7-A13198F35FD6}"/>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19460" name="Picture 2">
            <a:extLst>
              <a:ext uri="{FF2B5EF4-FFF2-40B4-BE49-F238E27FC236}">
                <a16:creationId xmlns:a16="http://schemas.microsoft.com/office/drawing/2014/main" id="{EF8E62D1-C9EB-6168-06CA-6A75496EAD4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9866"/>
          <a:stretch>
            <a:fillRect/>
          </a:stretch>
        </p:blipFill>
        <p:spPr bwMode="auto">
          <a:xfrm>
            <a:off x="6016558" y="2409826"/>
            <a:ext cx="5870642" cy="336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3" name="Picture 2">
            <a:extLst>
              <a:ext uri="{FF2B5EF4-FFF2-40B4-BE49-F238E27FC236}">
                <a16:creationId xmlns:a16="http://schemas.microsoft.com/office/drawing/2014/main" id="{62C73249-6583-5593-6E18-36B84AA7FFB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14754"/>
          <a:stretch>
            <a:fillRect/>
          </a:stretch>
        </p:blipFill>
        <p:spPr>
          <a:xfrm>
            <a:off x="76200" y="1643974"/>
            <a:ext cx="5715000" cy="4147226"/>
          </a:xfrm>
          <a:noFill/>
        </p:spPr>
      </p:pic>
      <p:sp>
        <p:nvSpPr>
          <p:cNvPr id="20482" name="Slide Number Placeholder 5">
            <a:extLst>
              <a:ext uri="{FF2B5EF4-FFF2-40B4-BE49-F238E27FC236}">
                <a16:creationId xmlns:a16="http://schemas.microsoft.com/office/drawing/2014/main" id="{02230AE0-7308-F933-A961-46836F77B29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2113660E-742B-46B3-9E3D-748EC411FAFC}" type="slidenum">
              <a:rPr lang="en-US" altLang="en-US" sz="1200">
                <a:solidFill>
                  <a:srgbClr val="898989"/>
                </a:solidFill>
              </a:rPr>
              <a:pPr>
                <a:lnSpc>
                  <a:spcPct val="100000"/>
                </a:lnSpc>
                <a:spcBef>
                  <a:spcPct val="0"/>
                </a:spcBef>
                <a:buFontTx/>
                <a:buNone/>
              </a:pPr>
              <a:t>41</a:t>
            </a:fld>
            <a:endParaRPr lang="en-US" altLang="en-US" sz="1200">
              <a:solidFill>
                <a:srgbClr val="898989"/>
              </a:solidFill>
            </a:endParaRPr>
          </a:p>
        </p:txBody>
      </p:sp>
      <p:pic>
        <p:nvPicPr>
          <p:cNvPr id="20484" name="Picture 3">
            <a:extLst>
              <a:ext uri="{FF2B5EF4-FFF2-40B4-BE49-F238E27FC236}">
                <a16:creationId xmlns:a16="http://schemas.microsoft.com/office/drawing/2014/main" id="{0B4159BB-0DFE-9907-107D-32BAB88F92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199" y="1099226"/>
            <a:ext cx="5870643" cy="4539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TextBox 1">
            <a:extLst>
              <a:ext uri="{FF2B5EF4-FFF2-40B4-BE49-F238E27FC236}">
                <a16:creationId xmlns:a16="http://schemas.microsoft.com/office/drawing/2014/main" id="{AB7AC0E0-4517-8721-7520-F4256F543272}"/>
              </a:ext>
            </a:extLst>
          </p:cNvPr>
          <p:cNvSpPr txBox="1">
            <a:spLocks noChangeArrowheads="1"/>
          </p:cNvSpPr>
          <p:nvPr/>
        </p:nvSpPr>
        <p:spPr bwMode="auto">
          <a:xfrm>
            <a:off x="304800" y="407616"/>
            <a:ext cx="36972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r>
              <a:rPr lang="en-GB" altLang="en-US" sz="1800" b="1" dirty="0"/>
              <a:t>Nominal Attributes-related to names</a:t>
            </a:r>
            <a:endParaRPr lang="en-IN" altLang="en-US" sz="1800" b="1"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7" name="Picture 2">
            <a:extLst>
              <a:ext uri="{FF2B5EF4-FFF2-40B4-BE49-F238E27FC236}">
                <a16:creationId xmlns:a16="http://schemas.microsoft.com/office/drawing/2014/main" id="{41FF479D-507F-5BAE-F6CF-920249B41C8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49029" y="990599"/>
            <a:ext cx="10719881" cy="5147553"/>
          </a:xfrm>
          <a:noFill/>
        </p:spPr>
      </p:pic>
      <p:sp>
        <p:nvSpPr>
          <p:cNvPr id="21506" name="Slide Number Placeholder 5">
            <a:extLst>
              <a:ext uri="{FF2B5EF4-FFF2-40B4-BE49-F238E27FC236}">
                <a16:creationId xmlns:a16="http://schemas.microsoft.com/office/drawing/2014/main" id="{84BD2A48-BD2A-1653-A20B-49222D954AF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35A9C251-C9CE-4437-B23F-0BB02950591C}" type="slidenum">
              <a:rPr lang="en-US" altLang="en-US" sz="1200">
                <a:solidFill>
                  <a:srgbClr val="898989"/>
                </a:solidFill>
              </a:rPr>
              <a:pPr>
                <a:lnSpc>
                  <a:spcPct val="100000"/>
                </a:lnSpc>
                <a:spcBef>
                  <a:spcPct val="0"/>
                </a:spcBef>
                <a:buFontTx/>
                <a:buNone/>
              </a:pPr>
              <a:t>42</a:t>
            </a:fld>
            <a:endParaRPr lang="en-US" altLang="en-US" sz="1200">
              <a:solidFill>
                <a:srgbClr val="898989"/>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1" name="Picture 2">
            <a:extLst>
              <a:ext uri="{FF2B5EF4-FFF2-40B4-BE49-F238E27FC236}">
                <a16:creationId xmlns:a16="http://schemas.microsoft.com/office/drawing/2014/main" id="{F010C0EC-54AD-A244-ECD1-DF67161B51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096000" y="1257300"/>
            <a:ext cx="5799138" cy="4572000"/>
          </a:xfrm>
          <a:noFill/>
        </p:spPr>
      </p:pic>
      <p:sp>
        <p:nvSpPr>
          <p:cNvPr id="22530" name="Slide Number Placeholder 5">
            <a:extLst>
              <a:ext uri="{FF2B5EF4-FFF2-40B4-BE49-F238E27FC236}">
                <a16:creationId xmlns:a16="http://schemas.microsoft.com/office/drawing/2014/main" id="{09A1EA66-D1A3-2B5F-8147-17A13D70944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222B1379-F3C1-448F-A0DE-8914622F691C}" type="slidenum">
              <a:rPr lang="en-US" altLang="en-US" sz="1200">
                <a:solidFill>
                  <a:srgbClr val="898989"/>
                </a:solidFill>
              </a:rPr>
              <a:pPr>
                <a:lnSpc>
                  <a:spcPct val="100000"/>
                </a:lnSpc>
                <a:spcBef>
                  <a:spcPct val="0"/>
                </a:spcBef>
                <a:buFontTx/>
                <a:buNone/>
              </a:pPr>
              <a:t>43</a:t>
            </a:fld>
            <a:endParaRPr lang="en-US" altLang="en-US" sz="1200">
              <a:solidFill>
                <a:srgbClr val="898989"/>
              </a:solidFill>
            </a:endParaRPr>
          </a:p>
        </p:txBody>
      </p:sp>
      <p:pic>
        <p:nvPicPr>
          <p:cNvPr id="22532" name="Picture 3">
            <a:extLst>
              <a:ext uri="{FF2B5EF4-FFF2-40B4-BE49-F238E27FC236}">
                <a16:creationId xmlns:a16="http://schemas.microsoft.com/office/drawing/2014/main" id="{260DCEF2-7469-B521-D6F5-B01778D48A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863" y="1371600"/>
            <a:ext cx="579913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a:extLst>
              <a:ext uri="{FF2B5EF4-FFF2-40B4-BE49-F238E27FC236}">
                <a16:creationId xmlns:a16="http://schemas.microsoft.com/office/drawing/2014/main" id="{B4BE64B5-A852-D794-0113-65D58922783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F3D37F5D-6F51-4FF6-94E6-7E8EB78827BC}" type="slidenum">
              <a:rPr lang="en-US" altLang="en-US" sz="1200">
                <a:solidFill>
                  <a:srgbClr val="898989"/>
                </a:solidFill>
              </a:rPr>
              <a:pPr>
                <a:lnSpc>
                  <a:spcPct val="100000"/>
                </a:lnSpc>
                <a:spcBef>
                  <a:spcPct val="0"/>
                </a:spcBef>
                <a:buFontTx/>
                <a:buNone/>
              </a:pPr>
              <a:t>44</a:t>
            </a:fld>
            <a:endParaRPr lang="en-US" altLang="en-US" sz="1200">
              <a:solidFill>
                <a:srgbClr val="898989"/>
              </a:solidFill>
            </a:endParaRPr>
          </a:p>
        </p:txBody>
      </p:sp>
      <p:pic>
        <p:nvPicPr>
          <p:cNvPr id="23555" name="Picture 3">
            <a:extLst>
              <a:ext uri="{FF2B5EF4-FFF2-40B4-BE49-F238E27FC236}">
                <a16:creationId xmlns:a16="http://schemas.microsoft.com/office/drawing/2014/main" id="{8BECB69A-860E-478F-D0B8-76D2E38375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72374"/>
            <a:ext cx="8001000" cy="3412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6" name="Picture 4">
            <a:extLst>
              <a:ext uri="{FF2B5EF4-FFF2-40B4-BE49-F238E27FC236}">
                <a16:creationId xmlns:a16="http://schemas.microsoft.com/office/drawing/2014/main" id="{4A34D31C-C854-1CD2-61F3-03387C2C0E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684588"/>
            <a:ext cx="8382000" cy="290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50569-9BA8-231A-00EB-B9FB2B62AE1E}"/>
              </a:ext>
            </a:extLst>
          </p:cNvPr>
          <p:cNvSpPr>
            <a:spLocks noGrp="1"/>
          </p:cNvSpPr>
          <p:nvPr>
            <p:ph type="title"/>
          </p:nvPr>
        </p:nvSpPr>
        <p:spPr/>
        <p:txBody>
          <a:bodyPr/>
          <a:lstStyle/>
          <a:p>
            <a:r>
              <a:rPr lang="en-GB" dirty="0"/>
              <a:t>Design the types of attributes involved in CVR CMS? </a:t>
            </a:r>
            <a:endParaRPr lang="en-IN" dirty="0"/>
          </a:p>
        </p:txBody>
      </p:sp>
    </p:spTree>
    <p:extLst>
      <p:ext uri="{BB962C8B-B14F-4D97-AF65-F5344CB8AC3E}">
        <p14:creationId xmlns:p14="http://schemas.microsoft.com/office/powerpoint/2010/main" val="18484094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26609" y="112226"/>
            <a:ext cx="10515600" cy="1325563"/>
          </a:xfrm>
        </p:spPr>
        <p:txBody>
          <a:bodyPr/>
          <a:lstStyle/>
          <a:p>
            <a:r>
              <a:rPr lang="en-IN" sz="1800" b="1" i="0" u="none" strike="noStrike" baseline="0" dirty="0">
                <a:latin typeface="Lato-Bold"/>
              </a:rPr>
              <a:t>POPULATION AND SAMPLE</a:t>
            </a:r>
            <a:endParaRPr lang="en-US" altLang="en-US" dirty="0">
              <a:ea typeface="ＭＳ Ｐゴシック" panose="020B0600070205080204" pitchFamily="34" charset="-128"/>
            </a:endParaRPr>
          </a:p>
        </p:txBody>
      </p:sp>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C492D8B-D6B3-FE13-8BBC-A08358F3B76B}"/>
              </a:ext>
            </a:extLst>
          </p:cNvPr>
          <p:cNvSpPr txBox="1"/>
          <p:nvPr/>
        </p:nvSpPr>
        <p:spPr>
          <a:xfrm>
            <a:off x="1942473" y="1610904"/>
            <a:ext cx="8388302" cy="4154984"/>
          </a:xfrm>
          <a:prstGeom prst="rect">
            <a:avLst/>
          </a:prstGeom>
          <a:noFill/>
        </p:spPr>
        <p:txBody>
          <a:bodyPr wrap="square">
            <a:spAutoFit/>
          </a:bodyPr>
          <a:lstStyle/>
          <a:p>
            <a:pPr algn="just"/>
            <a:r>
              <a:rPr lang="en-GB" sz="2400" b="1" dirty="0"/>
              <a:t>Population: It is the set of all possible observations </a:t>
            </a:r>
            <a:r>
              <a:rPr lang="en-GB" sz="2400" dirty="0"/>
              <a:t>(often called cases, records, subjects or data points) for a given context of the problem. The size of the population can be very large in many cases.</a:t>
            </a:r>
          </a:p>
          <a:p>
            <a:pPr algn="just"/>
            <a:endParaRPr lang="en-GB" sz="2400" dirty="0"/>
          </a:p>
          <a:p>
            <a:pPr algn="just"/>
            <a:r>
              <a:rPr lang="en-GB" sz="2400" b="1" dirty="0">
                <a:latin typeface="TimesNewRomanPSMT"/>
              </a:rPr>
              <a:t>S</a:t>
            </a:r>
            <a:r>
              <a:rPr lang="en-GB" sz="2400" b="1" i="0" u="none" strike="noStrike" baseline="0" dirty="0">
                <a:latin typeface="TimesNewRomanPSMT"/>
              </a:rPr>
              <a:t>ample: It is a logical subset of the population</a:t>
            </a:r>
            <a:r>
              <a:rPr lang="en-GB" sz="2400" b="0" i="0" u="none" strike="noStrike" baseline="0" dirty="0">
                <a:latin typeface="TimesNewRomanPSMT"/>
              </a:rPr>
              <a:t>, which mimics the population. Selecting a relevant sample out of the population is challenging, but it makes analysis faster, precise, and economical. </a:t>
            </a:r>
          </a:p>
          <a:p>
            <a:pPr algn="just"/>
            <a:r>
              <a:rPr lang="en-GB" sz="2400" b="0" i="0" u="none" strike="noStrike" baseline="0" dirty="0">
                <a:latin typeface="TimesNewRomanPSMT"/>
              </a:rPr>
              <a:t>There are standard guidelines from statisticians to calculate the relevant sample size, appropriate sampling methodology, and tool to </a:t>
            </a:r>
            <a:r>
              <a:rPr lang="en-GB" sz="2400" b="0" i="0" u="none" strike="noStrike" baseline="0" dirty="0" err="1">
                <a:latin typeface="TimesNewRomanPSMT"/>
              </a:rPr>
              <a:t>analyze</a:t>
            </a:r>
            <a:r>
              <a:rPr lang="en-GB" sz="2400" b="0" i="0" u="none" strike="noStrike" baseline="0" dirty="0">
                <a:latin typeface="TimesNewRomanPSMT"/>
              </a:rPr>
              <a:t> sampled data.</a:t>
            </a:r>
            <a:endParaRPr lang="en-IN" sz="2400" dirty="0"/>
          </a:p>
        </p:txBody>
      </p:sp>
    </p:spTree>
    <p:extLst>
      <p:ext uri="{BB962C8B-B14F-4D97-AF65-F5344CB8AC3E}">
        <p14:creationId xmlns:p14="http://schemas.microsoft.com/office/powerpoint/2010/main" val="12788616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26609" y="112226"/>
            <a:ext cx="10515600" cy="1325563"/>
          </a:xfrm>
        </p:spPr>
        <p:txBody>
          <a:bodyPr/>
          <a:lstStyle/>
          <a:p>
            <a:r>
              <a:rPr lang="en-IN" sz="1800" b="1" i="0" u="none" strike="noStrike" baseline="0" dirty="0">
                <a:latin typeface="Lato-Bold"/>
              </a:rPr>
              <a:t>MEASURES OF CENTRAL TENDENCY</a:t>
            </a:r>
            <a:endParaRPr lang="en-US" altLang="en-US" dirty="0">
              <a:ea typeface="ＭＳ Ｐゴシック" panose="020B0600070205080204" pitchFamily="34" charset="-128"/>
            </a:endParaRPr>
          </a:p>
        </p:txBody>
      </p:sp>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3930199-6D98-3D43-254A-8EB5188842FC}"/>
              </a:ext>
            </a:extLst>
          </p:cNvPr>
          <p:cNvSpPr txBox="1"/>
          <p:nvPr/>
        </p:nvSpPr>
        <p:spPr>
          <a:xfrm>
            <a:off x="950878" y="1274853"/>
            <a:ext cx="10829003" cy="1200329"/>
          </a:xfrm>
          <a:prstGeom prst="rect">
            <a:avLst/>
          </a:prstGeom>
          <a:noFill/>
        </p:spPr>
        <p:txBody>
          <a:bodyPr wrap="square">
            <a:spAutoFit/>
          </a:bodyPr>
          <a:lstStyle/>
          <a:p>
            <a:pPr algn="just"/>
            <a:r>
              <a:rPr lang="en-GB" dirty="0"/>
              <a:t>Measures of central tendency are the measures that are used for describing the data using a single value. Mean, median and mode are the three measures of central tendency and are frequently used to compare different data sets. </a:t>
            </a:r>
          </a:p>
          <a:p>
            <a:pPr algn="just"/>
            <a:r>
              <a:rPr lang="en-GB" dirty="0"/>
              <a:t>Measures of central tendency help users to summarize and comprehend the data.</a:t>
            </a:r>
            <a:endParaRPr lang="en-IN" dirty="0"/>
          </a:p>
        </p:txBody>
      </p:sp>
      <p:pic>
        <p:nvPicPr>
          <p:cNvPr id="7" name="Picture 6">
            <a:extLst>
              <a:ext uri="{FF2B5EF4-FFF2-40B4-BE49-F238E27FC236}">
                <a16:creationId xmlns:a16="http://schemas.microsoft.com/office/drawing/2014/main" id="{FFBA0826-B796-52A5-55AB-A3CB2E021EB9}"/>
              </a:ext>
            </a:extLst>
          </p:cNvPr>
          <p:cNvPicPr>
            <a:picLocks noChangeAspect="1"/>
          </p:cNvPicPr>
          <p:nvPr/>
        </p:nvPicPr>
        <p:blipFill>
          <a:blip r:embed="rId2"/>
          <a:stretch>
            <a:fillRect/>
          </a:stretch>
        </p:blipFill>
        <p:spPr>
          <a:xfrm>
            <a:off x="2613498" y="2817402"/>
            <a:ext cx="5048250" cy="3228975"/>
          </a:xfrm>
          <a:prstGeom prst="rect">
            <a:avLst/>
          </a:prstGeom>
        </p:spPr>
      </p:pic>
    </p:spTree>
    <p:extLst>
      <p:ext uri="{BB962C8B-B14F-4D97-AF65-F5344CB8AC3E}">
        <p14:creationId xmlns:p14="http://schemas.microsoft.com/office/powerpoint/2010/main" val="38821468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B586A915-8374-F720-C88B-67278B023D30}"/>
              </a:ext>
            </a:extLst>
          </p:cNvPr>
          <p:cNvPicPr>
            <a:picLocks noChangeAspect="1"/>
          </p:cNvPicPr>
          <p:nvPr/>
        </p:nvPicPr>
        <p:blipFill>
          <a:blip r:embed="rId2"/>
          <a:stretch>
            <a:fillRect/>
          </a:stretch>
        </p:blipFill>
        <p:spPr>
          <a:xfrm>
            <a:off x="280220" y="1681032"/>
            <a:ext cx="6125036" cy="3517668"/>
          </a:xfrm>
          <a:prstGeom prst="rect">
            <a:avLst/>
          </a:prstGeom>
        </p:spPr>
      </p:pic>
      <p:pic>
        <p:nvPicPr>
          <p:cNvPr id="7" name="Picture 6">
            <a:extLst>
              <a:ext uri="{FF2B5EF4-FFF2-40B4-BE49-F238E27FC236}">
                <a16:creationId xmlns:a16="http://schemas.microsoft.com/office/drawing/2014/main" id="{072F86CF-7656-C3E5-F025-487E63AEBD36}"/>
              </a:ext>
            </a:extLst>
          </p:cNvPr>
          <p:cNvPicPr>
            <a:picLocks noChangeAspect="1"/>
          </p:cNvPicPr>
          <p:nvPr/>
        </p:nvPicPr>
        <p:blipFill>
          <a:blip r:embed="rId3"/>
          <a:stretch>
            <a:fillRect/>
          </a:stretch>
        </p:blipFill>
        <p:spPr>
          <a:xfrm>
            <a:off x="6530155" y="1563329"/>
            <a:ext cx="5381625" cy="3061121"/>
          </a:xfrm>
          <a:prstGeom prst="rect">
            <a:avLst/>
          </a:prstGeom>
        </p:spPr>
      </p:pic>
      <p:sp>
        <p:nvSpPr>
          <p:cNvPr id="10" name="Title 1">
            <a:extLst>
              <a:ext uri="{FF2B5EF4-FFF2-40B4-BE49-F238E27FC236}">
                <a16:creationId xmlns:a16="http://schemas.microsoft.com/office/drawing/2014/main" id="{2FD3C0D2-1BB5-DA56-5381-2D2C133EBC7E}"/>
              </a:ext>
            </a:extLst>
          </p:cNvPr>
          <p:cNvSpPr>
            <a:spLocks noGrp="1"/>
          </p:cNvSpPr>
          <p:nvPr>
            <p:ph type="title"/>
          </p:nvPr>
        </p:nvSpPr>
        <p:spPr>
          <a:xfrm>
            <a:off x="126609" y="112226"/>
            <a:ext cx="10515600" cy="1325563"/>
          </a:xfrm>
        </p:spPr>
        <p:txBody>
          <a:bodyPr/>
          <a:lstStyle/>
          <a:p>
            <a:r>
              <a:rPr lang="en-IN" sz="1800" b="1" i="0" u="none" strike="noStrike" baseline="0" dirty="0">
                <a:latin typeface="Lato-Bold"/>
              </a:rPr>
              <a:t>MEASURES OF CENTRAL TENDENCY</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0988296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49ECEDDA-6441-D971-0384-B4FE14889EC9}"/>
              </a:ext>
            </a:extLst>
          </p:cNvPr>
          <p:cNvSpPr>
            <a:spLocks noGrp="1"/>
          </p:cNvSpPr>
          <p:nvPr>
            <p:ph type="title"/>
          </p:nvPr>
        </p:nvSpPr>
        <p:spPr>
          <a:xfrm>
            <a:off x="126609" y="112226"/>
            <a:ext cx="10515600" cy="1325563"/>
          </a:xfrm>
        </p:spPr>
        <p:txBody>
          <a:bodyPr/>
          <a:lstStyle/>
          <a:p>
            <a:r>
              <a:rPr lang="en-IN" sz="1800" b="1" i="0" u="none" strike="noStrike" baseline="0" dirty="0">
                <a:latin typeface="Lato-Bold"/>
              </a:rPr>
              <a:t>MEASURES OF CENTRAL TENDENCY</a:t>
            </a:r>
            <a:endParaRPr lang="en-US" altLang="en-US" dirty="0">
              <a:ea typeface="ＭＳ Ｐゴシック" panose="020B0600070205080204" pitchFamily="34" charset="-128"/>
            </a:endParaRPr>
          </a:p>
        </p:txBody>
      </p:sp>
      <p:pic>
        <p:nvPicPr>
          <p:cNvPr id="8" name="Picture 7">
            <a:extLst>
              <a:ext uri="{FF2B5EF4-FFF2-40B4-BE49-F238E27FC236}">
                <a16:creationId xmlns:a16="http://schemas.microsoft.com/office/drawing/2014/main" id="{98854E5C-5A43-3C55-68EE-0404FF20DB2B}"/>
              </a:ext>
            </a:extLst>
          </p:cNvPr>
          <p:cNvPicPr>
            <a:picLocks noChangeAspect="1"/>
          </p:cNvPicPr>
          <p:nvPr/>
        </p:nvPicPr>
        <p:blipFill>
          <a:blip r:embed="rId2"/>
          <a:stretch>
            <a:fillRect/>
          </a:stretch>
        </p:blipFill>
        <p:spPr>
          <a:xfrm>
            <a:off x="1902542" y="1462087"/>
            <a:ext cx="8200103" cy="4673242"/>
          </a:xfrm>
          <a:prstGeom prst="rect">
            <a:avLst/>
          </a:prstGeom>
        </p:spPr>
      </p:pic>
    </p:spTree>
    <p:extLst>
      <p:ext uri="{BB962C8B-B14F-4D97-AF65-F5344CB8AC3E}">
        <p14:creationId xmlns:p14="http://schemas.microsoft.com/office/powerpoint/2010/main" val="32332439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49ECEDDA-6441-D971-0384-B4FE14889EC9}"/>
              </a:ext>
            </a:extLst>
          </p:cNvPr>
          <p:cNvSpPr>
            <a:spLocks noGrp="1"/>
          </p:cNvSpPr>
          <p:nvPr>
            <p:ph type="title"/>
          </p:nvPr>
        </p:nvSpPr>
        <p:spPr>
          <a:xfrm>
            <a:off x="126609" y="112226"/>
            <a:ext cx="10515600" cy="1325563"/>
          </a:xfrm>
        </p:spPr>
        <p:txBody>
          <a:bodyPr/>
          <a:lstStyle/>
          <a:p>
            <a:r>
              <a:rPr lang="en-IN" sz="1800" b="1" i="0" u="none" strike="noStrike" baseline="0" dirty="0">
                <a:latin typeface="Lato-Bold"/>
              </a:rPr>
              <a:t>MEASURES OF CENTRAL TENDENCY</a:t>
            </a:r>
            <a:endParaRPr lang="en-US" altLang="en-US" dirty="0">
              <a:ea typeface="ＭＳ Ｐゴシック" panose="020B0600070205080204" pitchFamily="34" charset="-128"/>
            </a:endParaRPr>
          </a:p>
        </p:txBody>
      </p:sp>
      <p:pic>
        <p:nvPicPr>
          <p:cNvPr id="3" name="Picture 2">
            <a:extLst>
              <a:ext uri="{FF2B5EF4-FFF2-40B4-BE49-F238E27FC236}">
                <a16:creationId xmlns:a16="http://schemas.microsoft.com/office/drawing/2014/main" id="{5D734C1E-D15B-A663-9BE4-781CA957DCBF}"/>
              </a:ext>
            </a:extLst>
          </p:cNvPr>
          <p:cNvPicPr>
            <a:picLocks noChangeAspect="1"/>
          </p:cNvPicPr>
          <p:nvPr/>
        </p:nvPicPr>
        <p:blipFill>
          <a:blip r:embed="rId2"/>
          <a:stretch>
            <a:fillRect/>
          </a:stretch>
        </p:blipFill>
        <p:spPr>
          <a:xfrm>
            <a:off x="344129" y="1232815"/>
            <a:ext cx="5486400" cy="914400"/>
          </a:xfrm>
          <a:prstGeom prst="rect">
            <a:avLst/>
          </a:prstGeom>
        </p:spPr>
      </p:pic>
      <p:pic>
        <p:nvPicPr>
          <p:cNvPr id="9" name="Picture 8">
            <a:extLst>
              <a:ext uri="{FF2B5EF4-FFF2-40B4-BE49-F238E27FC236}">
                <a16:creationId xmlns:a16="http://schemas.microsoft.com/office/drawing/2014/main" id="{29602909-9994-3D0C-AAF7-FCDDFE53986B}"/>
              </a:ext>
            </a:extLst>
          </p:cNvPr>
          <p:cNvPicPr>
            <a:picLocks noChangeAspect="1"/>
          </p:cNvPicPr>
          <p:nvPr/>
        </p:nvPicPr>
        <p:blipFill>
          <a:blip r:embed="rId3"/>
          <a:stretch>
            <a:fillRect/>
          </a:stretch>
        </p:blipFill>
        <p:spPr>
          <a:xfrm>
            <a:off x="344129" y="2215635"/>
            <a:ext cx="5505450" cy="1066800"/>
          </a:xfrm>
          <a:prstGeom prst="rect">
            <a:avLst/>
          </a:prstGeom>
        </p:spPr>
      </p:pic>
      <p:pic>
        <p:nvPicPr>
          <p:cNvPr id="11" name="Picture 10">
            <a:extLst>
              <a:ext uri="{FF2B5EF4-FFF2-40B4-BE49-F238E27FC236}">
                <a16:creationId xmlns:a16="http://schemas.microsoft.com/office/drawing/2014/main" id="{2AA8EB35-9339-1968-66D8-0F22ED01AAED}"/>
              </a:ext>
            </a:extLst>
          </p:cNvPr>
          <p:cNvPicPr>
            <a:picLocks noChangeAspect="1"/>
          </p:cNvPicPr>
          <p:nvPr/>
        </p:nvPicPr>
        <p:blipFill>
          <a:blip r:embed="rId4"/>
          <a:stretch>
            <a:fillRect/>
          </a:stretch>
        </p:blipFill>
        <p:spPr>
          <a:xfrm>
            <a:off x="7140554" y="1437789"/>
            <a:ext cx="3638550" cy="4752975"/>
          </a:xfrm>
          <a:prstGeom prst="rect">
            <a:avLst/>
          </a:prstGeom>
        </p:spPr>
      </p:pic>
    </p:spTree>
    <p:extLst>
      <p:ext uri="{BB962C8B-B14F-4D97-AF65-F5344CB8AC3E}">
        <p14:creationId xmlns:p14="http://schemas.microsoft.com/office/powerpoint/2010/main" val="14829042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49ECEDDA-6441-D971-0384-B4FE14889EC9}"/>
              </a:ext>
            </a:extLst>
          </p:cNvPr>
          <p:cNvSpPr>
            <a:spLocks noGrp="1"/>
          </p:cNvSpPr>
          <p:nvPr>
            <p:ph type="title"/>
          </p:nvPr>
        </p:nvSpPr>
        <p:spPr>
          <a:xfrm>
            <a:off x="126609" y="112226"/>
            <a:ext cx="10515600" cy="1325563"/>
          </a:xfrm>
        </p:spPr>
        <p:txBody>
          <a:bodyPr/>
          <a:lstStyle/>
          <a:p>
            <a:r>
              <a:rPr lang="en-IN" sz="1800" b="1" i="0" u="none" strike="noStrike" baseline="0" dirty="0">
                <a:latin typeface="Lato-Bold"/>
              </a:rPr>
              <a:t>MEASURES OF CENTRAL TENDENCY</a:t>
            </a:r>
            <a:endParaRPr lang="en-US" altLang="en-US" dirty="0">
              <a:ea typeface="ＭＳ Ｐゴシック" panose="020B0600070205080204" pitchFamily="34" charset="-128"/>
            </a:endParaRPr>
          </a:p>
        </p:txBody>
      </p:sp>
      <p:pic>
        <p:nvPicPr>
          <p:cNvPr id="3" name="Picture 2">
            <a:extLst>
              <a:ext uri="{FF2B5EF4-FFF2-40B4-BE49-F238E27FC236}">
                <a16:creationId xmlns:a16="http://schemas.microsoft.com/office/drawing/2014/main" id="{AAB0ABDD-C1C7-2046-A018-D294391FC4DD}"/>
              </a:ext>
            </a:extLst>
          </p:cNvPr>
          <p:cNvPicPr>
            <a:picLocks noChangeAspect="1"/>
          </p:cNvPicPr>
          <p:nvPr/>
        </p:nvPicPr>
        <p:blipFill>
          <a:blip r:embed="rId2"/>
          <a:stretch>
            <a:fillRect/>
          </a:stretch>
        </p:blipFill>
        <p:spPr>
          <a:xfrm>
            <a:off x="645775" y="1277117"/>
            <a:ext cx="5030890" cy="5167927"/>
          </a:xfrm>
          <a:prstGeom prst="rect">
            <a:avLst/>
          </a:prstGeom>
        </p:spPr>
      </p:pic>
      <p:pic>
        <p:nvPicPr>
          <p:cNvPr id="9" name="Picture 8">
            <a:extLst>
              <a:ext uri="{FF2B5EF4-FFF2-40B4-BE49-F238E27FC236}">
                <a16:creationId xmlns:a16="http://schemas.microsoft.com/office/drawing/2014/main" id="{C6BA6CCC-04A2-D97B-A9E5-0A85F0A0FF4D}"/>
              </a:ext>
            </a:extLst>
          </p:cNvPr>
          <p:cNvPicPr>
            <a:picLocks noChangeAspect="1"/>
          </p:cNvPicPr>
          <p:nvPr/>
        </p:nvPicPr>
        <p:blipFill>
          <a:blip r:embed="rId3"/>
          <a:stretch>
            <a:fillRect/>
          </a:stretch>
        </p:blipFill>
        <p:spPr>
          <a:xfrm>
            <a:off x="6166036" y="1328878"/>
            <a:ext cx="5414673" cy="4714875"/>
          </a:xfrm>
          <a:prstGeom prst="rect">
            <a:avLst/>
          </a:prstGeom>
        </p:spPr>
      </p:pic>
    </p:spTree>
    <p:extLst>
      <p:ext uri="{BB962C8B-B14F-4D97-AF65-F5344CB8AC3E}">
        <p14:creationId xmlns:p14="http://schemas.microsoft.com/office/powerpoint/2010/main" val="23041811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49ECEDDA-6441-D971-0384-B4FE14889EC9}"/>
              </a:ext>
            </a:extLst>
          </p:cNvPr>
          <p:cNvSpPr>
            <a:spLocks noGrp="1"/>
          </p:cNvSpPr>
          <p:nvPr>
            <p:ph type="title"/>
          </p:nvPr>
        </p:nvSpPr>
        <p:spPr>
          <a:xfrm>
            <a:off x="126609" y="112226"/>
            <a:ext cx="10515600" cy="1325563"/>
          </a:xfrm>
        </p:spPr>
        <p:txBody>
          <a:bodyPr/>
          <a:lstStyle/>
          <a:p>
            <a:r>
              <a:rPr lang="en-IN" sz="1800" b="1" i="0" u="none" strike="noStrike" baseline="0" dirty="0">
                <a:latin typeface="Lato-Bold"/>
              </a:rPr>
              <a:t>MEASURES OF VARIATION</a:t>
            </a:r>
            <a:endParaRPr lang="en-US" altLang="en-US" dirty="0">
              <a:ea typeface="ＭＳ Ｐゴシック" panose="020B0600070205080204" pitchFamily="34" charset="-128"/>
            </a:endParaRPr>
          </a:p>
        </p:txBody>
      </p:sp>
      <p:pic>
        <p:nvPicPr>
          <p:cNvPr id="3" name="Picture 2">
            <a:extLst>
              <a:ext uri="{FF2B5EF4-FFF2-40B4-BE49-F238E27FC236}">
                <a16:creationId xmlns:a16="http://schemas.microsoft.com/office/drawing/2014/main" id="{C7ADAB5A-1955-C0A9-D324-833A6B490D46}"/>
              </a:ext>
            </a:extLst>
          </p:cNvPr>
          <p:cNvPicPr>
            <a:picLocks noChangeAspect="1"/>
          </p:cNvPicPr>
          <p:nvPr/>
        </p:nvPicPr>
        <p:blipFill>
          <a:blip r:embed="rId2"/>
          <a:stretch>
            <a:fillRect/>
          </a:stretch>
        </p:blipFill>
        <p:spPr>
          <a:xfrm>
            <a:off x="649850" y="1437789"/>
            <a:ext cx="4748059" cy="3252197"/>
          </a:xfrm>
          <a:prstGeom prst="rect">
            <a:avLst/>
          </a:prstGeom>
        </p:spPr>
      </p:pic>
      <p:pic>
        <p:nvPicPr>
          <p:cNvPr id="9" name="Picture 8">
            <a:extLst>
              <a:ext uri="{FF2B5EF4-FFF2-40B4-BE49-F238E27FC236}">
                <a16:creationId xmlns:a16="http://schemas.microsoft.com/office/drawing/2014/main" id="{6B6CB2AA-DF65-3D96-0058-8AFE57AE8E55}"/>
              </a:ext>
            </a:extLst>
          </p:cNvPr>
          <p:cNvPicPr>
            <a:picLocks noChangeAspect="1"/>
          </p:cNvPicPr>
          <p:nvPr/>
        </p:nvPicPr>
        <p:blipFill>
          <a:blip r:embed="rId3"/>
          <a:stretch>
            <a:fillRect/>
          </a:stretch>
        </p:blipFill>
        <p:spPr>
          <a:xfrm>
            <a:off x="1032387" y="4879680"/>
            <a:ext cx="3716593" cy="1137662"/>
          </a:xfrm>
          <a:prstGeom prst="rect">
            <a:avLst/>
          </a:prstGeom>
        </p:spPr>
      </p:pic>
    </p:spTree>
    <p:extLst>
      <p:ext uri="{BB962C8B-B14F-4D97-AF65-F5344CB8AC3E}">
        <p14:creationId xmlns:p14="http://schemas.microsoft.com/office/powerpoint/2010/main" val="14474896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49ECEDDA-6441-D971-0384-B4FE14889EC9}"/>
              </a:ext>
            </a:extLst>
          </p:cNvPr>
          <p:cNvSpPr>
            <a:spLocks noGrp="1"/>
          </p:cNvSpPr>
          <p:nvPr>
            <p:ph type="title"/>
          </p:nvPr>
        </p:nvSpPr>
        <p:spPr>
          <a:xfrm>
            <a:off x="126609" y="112226"/>
            <a:ext cx="10515600" cy="1325563"/>
          </a:xfrm>
        </p:spPr>
        <p:txBody>
          <a:bodyPr/>
          <a:lstStyle/>
          <a:p>
            <a:r>
              <a:rPr lang="en-IN" sz="1800" b="1" i="0" u="none" strike="noStrike" baseline="0" dirty="0">
                <a:latin typeface="Lato-Bold"/>
              </a:rPr>
              <a:t>MEASURES OF VARIATION</a:t>
            </a:r>
            <a:endParaRPr lang="en-US" altLang="en-US" dirty="0">
              <a:ea typeface="ＭＳ Ｐゴシック" panose="020B0600070205080204" pitchFamily="34" charset="-128"/>
            </a:endParaRPr>
          </a:p>
        </p:txBody>
      </p:sp>
      <p:pic>
        <p:nvPicPr>
          <p:cNvPr id="3" name="Picture 2">
            <a:extLst>
              <a:ext uri="{FF2B5EF4-FFF2-40B4-BE49-F238E27FC236}">
                <a16:creationId xmlns:a16="http://schemas.microsoft.com/office/drawing/2014/main" id="{F24782E9-B94C-550D-B8C4-4E7E7C5DEE7B}"/>
              </a:ext>
            </a:extLst>
          </p:cNvPr>
          <p:cNvPicPr>
            <a:picLocks noChangeAspect="1"/>
          </p:cNvPicPr>
          <p:nvPr/>
        </p:nvPicPr>
        <p:blipFill>
          <a:blip r:embed="rId2"/>
          <a:stretch>
            <a:fillRect/>
          </a:stretch>
        </p:blipFill>
        <p:spPr>
          <a:xfrm>
            <a:off x="6289284" y="1229800"/>
            <a:ext cx="4352925" cy="5076825"/>
          </a:xfrm>
          <a:prstGeom prst="rect">
            <a:avLst/>
          </a:prstGeom>
        </p:spPr>
      </p:pic>
      <p:pic>
        <p:nvPicPr>
          <p:cNvPr id="7" name="Picture 6">
            <a:extLst>
              <a:ext uri="{FF2B5EF4-FFF2-40B4-BE49-F238E27FC236}">
                <a16:creationId xmlns:a16="http://schemas.microsoft.com/office/drawing/2014/main" id="{C98D712C-42E3-0089-99D7-60C750F180F1}"/>
              </a:ext>
            </a:extLst>
          </p:cNvPr>
          <p:cNvPicPr>
            <a:picLocks noChangeAspect="1"/>
          </p:cNvPicPr>
          <p:nvPr/>
        </p:nvPicPr>
        <p:blipFill>
          <a:blip r:embed="rId3"/>
          <a:stretch>
            <a:fillRect/>
          </a:stretch>
        </p:blipFill>
        <p:spPr>
          <a:xfrm>
            <a:off x="613163" y="1459522"/>
            <a:ext cx="3974937" cy="3340898"/>
          </a:xfrm>
          <a:prstGeom prst="rect">
            <a:avLst/>
          </a:prstGeom>
        </p:spPr>
      </p:pic>
    </p:spTree>
    <p:extLst>
      <p:ext uri="{BB962C8B-B14F-4D97-AF65-F5344CB8AC3E}">
        <p14:creationId xmlns:p14="http://schemas.microsoft.com/office/powerpoint/2010/main" val="12717467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49ECEDDA-6441-D971-0384-B4FE14889EC9}"/>
              </a:ext>
            </a:extLst>
          </p:cNvPr>
          <p:cNvSpPr>
            <a:spLocks noGrp="1"/>
          </p:cNvSpPr>
          <p:nvPr>
            <p:ph type="title"/>
          </p:nvPr>
        </p:nvSpPr>
        <p:spPr>
          <a:xfrm>
            <a:off x="126609" y="112226"/>
            <a:ext cx="10515600" cy="1325563"/>
          </a:xfrm>
        </p:spPr>
        <p:txBody>
          <a:bodyPr/>
          <a:lstStyle/>
          <a:p>
            <a:r>
              <a:rPr lang="en-IN" sz="1800" b="1" i="0" u="none" strike="noStrike" baseline="0" dirty="0">
                <a:latin typeface="Lato-Bold"/>
              </a:rPr>
              <a:t>MEASURES OF VARIATION</a:t>
            </a:r>
            <a:endParaRPr lang="en-US" altLang="en-US" dirty="0">
              <a:ea typeface="ＭＳ Ｐゴシック" panose="020B0600070205080204" pitchFamily="34" charset="-128"/>
            </a:endParaRPr>
          </a:p>
        </p:txBody>
      </p:sp>
      <p:pic>
        <p:nvPicPr>
          <p:cNvPr id="7" name="Picture 6">
            <a:extLst>
              <a:ext uri="{FF2B5EF4-FFF2-40B4-BE49-F238E27FC236}">
                <a16:creationId xmlns:a16="http://schemas.microsoft.com/office/drawing/2014/main" id="{05131DA0-C58F-155E-B546-FB09C552F85A}"/>
              </a:ext>
            </a:extLst>
          </p:cNvPr>
          <p:cNvPicPr>
            <a:picLocks noChangeAspect="1"/>
          </p:cNvPicPr>
          <p:nvPr/>
        </p:nvPicPr>
        <p:blipFill>
          <a:blip r:embed="rId2"/>
          <a:stretch>
            <a:fillRect/>
          </a:stretch>
        </p:blipFill>
        <p:spPr>
          <a:xfrm>
            <a:off x="410035" y="1152832"/>
            <a:ext cx="4086225" cy="2676525"/>
          </a:xfrm>
          <a:prstGeom prst="rect">
            <a:avLst/>
          </a:prstGeom>
        </p:spPr>
      </p:pic>
      <p:pic>
        <p:nvPicPr>
          <p:cNvPr id="10" name="Picture 9">
            <a:extLst>
              <a:ext uri="{FF2B5EF4-FFF2-40B4-BE49-F238E27FC236}">
                <a16:creationId xmlns:a16="http://schemas.microsoft.com/office/drawing/2014/main" id="{C7EF81FD-2D72-8ED3-E86F-409AEB9258A9}"/>
              </a:ext>
            </a:extLst>
          </p:cNvPr>
          <p:cNvPicPr>
            <a:picLocks noChangeAspect="1"/>
          </p:cNvPicPr>
          <p:nvPr/>
        </p:nvPicPr>
        <p:blipFill>
          <a:blip r:embed="rId3"/>
          <a:stretch>
            <a:fillRect/>
          </a:stretch>
        </p:blipFill>
        <p:spPr>
          <a:xfrm>
            <a:off x="7111026" y="3829357"/>
            <a:ext cx="4105275" cy="2266950"/>
          </a:xfrm>
          <a:prstGeom prst="rect">
            <a:avLst/>
          </a:prstGeom>
        </p:spPr>
      </p:pic>
      <p:pic>
        <p:nvPicPr>
          <p:cNvPr id="11" name="Picture 10">
            <a:extLst>
              <a:ext uri="{FF2B5EF4-FFF2-40B4-BE49-F238E27FC236}">
                <a16:creationId xmlns:a16="http://schemas.microsoft.com/office/drawing/2014/main" id="{8BED91E8-BCF2-3D7A-BDDE-DCDA47A61691}"/>
              </a:ext>
            </a:extLst>
          </p:cNvPr>
          <p:cNvPicPr>
            <a:picLocks noChangeAspect="1"/>
          </p:cNvPicPr>
          <p:nvPr/>
        </p:nvPicPr>
        <p:blipFill>
          <a:blip r:embed="rId4"/>
          <a:stretch>
            <a:fillRect/>
          </a:stretch>
        </p:blipFill>
        <p:spPr>
          <a:xfrm>
            <a:off x="2792217" y="3383143"/>
            <a:ext cx="3974937" cy="3340898"/>
          </a:xfrm>
          <a:prstGeom prst="rect">
            <a:avLst/>
          </a:prstGeom>
        </p:spPr>
      </p:pic>
    </p:spTree>
    <p:extLst>
      <p:ext uri="{BB962C8B-B14F-4D97-AF65-F5344CB8AC3E}">
        <p14:creationId xmlns:p14="http://schemas.microsoft.com/office/powerpoint/2010/main" val="26313462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49ECEDDA-6441-D971-0384-B4FE14889EC9}"/>
              </a:ext>
            </a:extLst>
          </p:cNvPr>
          <p:cNvSpPr>
            <a:spLocks noGrp="1"/>
          </p:cNvSpPr>
          <p:nvPr>
            <p:ph type="title"/>
          </p:nvPr>
        </p:nvSpPr>
        <p:spPr>
          <a:xfrm>
            <a:off x="126609" y="112226"/>
            <a:ext cx="10515600" cy="1325563"/>
          </a:xfrm>
        </p:spPr>
        <p:txBody>
          <a:bodyPr/>
          <a:lstStyle/>
          <a:p>
            <a:r>
              <a:rPr lang="en-IN" sz="1800" b="1" i="0" u="none" strike="noStrike" baseline="0" dirty="0">
                <a:latin typeface="Lato-Bold"/>
              </a:rPr>
              <a:t>MEASURES OF VARIATION</a:t>
            </a:r>
            <a:endParaRPr lang="en-US" altLang="en-US" dirty="0">
              <a:ea typeface="ＭＳ Ｐゴシック" panose="020B0600070205080204" pitchFamily="34" charset="-128"/>
            </a:endParaRPr>
          </a:p>
        </p:txBody>
      </p:sp>
      <p:pic>
        <p:nvPicPr>
          <p:cNvPr id="7" name="Picture 6">
            <a:extLst>
              <a:ext uri="{FF2B5EF4-FFF2-40B4-BE49-F238E27FC236}">
                <a16:creationId xmlns:a16="http://schemas.microsoft.com/office/drawing/2014/main" id="{BE9E4895-A946-29B5-4D27-02FC3E50D56B}"/>
              </a:ext>
            </a:extLst>
          </p:cNvPr>
          <p:cNvPicPr>
            <a:picLocks noChangeAspect="1"/>
          </p:cNvPicPr>
          <p:nvPr/>
        </p:nvPicPr>
        <p:blipFill>
          <a:blip r:embed="rId2"/>
          <a:stretch>
            <a:fillRect/>
          </a:stretch>
        </p:blipFill>
        <p:spPr>
          <a:xfrm>
            <a:off x="2772697" y="1651819"/>
            <a:ext cx="6105831" cy="2505844"/>
          </a:xfrm>
          <a:prstGeom prst="rect">
            <a:avLst/>
          </a:prstGeom>
        </p:spPr>
      </p:pic>
    </p:spTree>
    <p:extLst>
      <p:ext uri="{BB962C8B-B14F-4D97-AF65-F5344CB8AC3E}">
        <p14:creationId xmlns:p14="http://schemas.microsoft.com/office/powerpoint/2010/main" val="16377240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C58EBB5-2640-45B0-AFD8-7848C94BA9BD}"/>
              </a:ext>
            </a:extLst>
          </p:cNvPr>
          <p:cNvSpPr/>
          <p:nvPr/>
        </p:nvSpPr>
        <p:spPr>
          <a:xfrm>
            <a:off x="126609" y="133959"/>
            <a:ext cx="11943471" cy="661181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655760B-2567-4FCC-BDCC-3A21C95E4D08}"/>
              </a:ext>
            </a:extLst>
          </p:cNvPr>
          <p:cNvCxnSpPr/>
          <p:nvPr/>
        </p:nvCxnSpPr>
        <p:spPr>
          <a:xfrm>
            <a:off x="124264" y="1095568"/>
            <a:ext cx="11943471"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FC376E8-88F9-7BEB-6D92-991CEE5E3152}"/>
              </a:ext>
            </a:extLst>
          </p:cNvPr>
          <p:cNvPicPr>
            <a:picLocks noChangeAspect="1"/>
          </p:cNvPicPr>
          <p:nvPr/>
        </p:nvPicPr>
        <p:blipFill>
          <a:blip r:embed="rId2"/>
          <a:stretch>
            <a:fillRect/>
          </a:stretch>
        </p:blipFill>
        <p:spPr>
          <a:xfrm>
            <a:off x="1460090" y="1400174"/>
            <a:ext cx="9438967" cy="4912131"/>
          </a:xfrm>
          <a:prstGeom prst="rect">
            <a:avLst/>
          </a:prstGeom>
        </p:spPr>
      </p:pic>
    </p:spTree>
    <p:extLst>
      <p:ext uri="{BB962C8B-B14F-4D97-AF65-F5344CB8AC3E}">
        <p14:creationId xmlns:p14="http://schemas.microsoft.com/office/powerpoint/2010/main" val="41465237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63F9E5C-1BB4-438B-8B9E-549D32BDC0CF}">
  <we:reference id="WA200005566" version="3.0.0.3" store="Omex"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3351</TotalTime>
  <Words>1809</Words>
  <Application>Microsoft Office PowerPoint</Application>
  <PresentationFormat>Widescreen</PresentationFormat>
  <Paragraphs>157</Paragraphs>
  <Slides>56</Slides>
  <Notes>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56</vt:i4>
      </vt:variant>
    </vt:vector>
  </HeadingPairs>
  <TitlesOfParts>
    <vt:vector size="69" baseType="lpstr">
      <vt:lpstr>ＭＳ Ｐゴシック</vt:lpstr>
      <vt:lpstr>Arial</vt:lpstr>
      <vt:lpstr>Calibri</vt:lpstr>
      <vt:lpstr>Calibri Light</vt:lpstr>
      <vt:lpstr>FranklinGothic-DemiItal</vt:lpstr>
      <vt:lpstr>Lato-Bold</vt:lpstr>
      <vt:lpstr>MinionPro-Regular</vt:lpstr>
      <vt:lpstr>Nunito Sans</vt:lpstr>
      <vt:lpstr>Tahoma</vt:lpstr>
      <vt:lpstr>Times New Roman</vt:lpstr>
      <vt:lpstr>TimesNewRomanPSMT</vt:lpstr>
      <vt:lpstr>Verdana</vt:lpstr>
      <vt:lpstr>Office Theme</vt:lpstr>
      <vt:lpstr>Introduction to Data Science</vt:lpstr>
      <vt:lpstr>   UNIT-1: Contents</vt:lpstr>
      <vt:lpstr>PowerPoint Presentation</vt:lpstr>
      <vt:lpstr>PowerPoint Presentation</vt:lpstr>
      <vt:lpstr>PowerPoint Presentation</vt:lpstr>
      <vt:lpstr>Advantages and Disadvantages of Data Science </vt:lpstr>
      <vt:lpstr>What is BIG DATA?</vt:lpstr>
      <vt:lpstr>Traits/Characteristics Of Big Data </vt:lpstr>
      <vt:lpstr>Volume: </vt:lpstr>
      <vt:lpstr>Variety: </vt:lpstr>
      <vt:lpstr>Veracity: </vt:lpstr>
      <vt:lpstr>Velocity and value:</vt:lpstr>
      <vt:lpstr>Data Science requirements:</vt:lpstr>
      <vt:lpstr>Data Science</vt:lpstr>
      <vt:lpstr>PowerPoint Presentation</vt:lpstr>
      <vt:lpstr>Steps in Data Science Process- six steps</vt:lpstr>
      <vt:lpstr>Steps in Data Science Process- six steps</vt:lpstr>
      <vt:lpstr>PowerPoint Presentation</vt:lpstr>
      <vt:lpstr>PowerPoint Presentation</vt:lpstr>
      <vt:lpstr>Step 2- Retrieving data</vt:lpstr>
      <vt:lpstr>PowerPoint Presentation</vt:lpstr>
      <vt:lpstr>PowerPoint Presentation</vt:lpstr>
      <vt:lpstr>PowerPoint Presentation</vt:lpstr>
      <vt:lpstr>PowerPoint Presentation</vt:lpstr>
      <vt:lpstr>PowerPoint Presentation</vt:lpstr>
      <vt:lpstr>Step 3: Data Preparation: Cleansing, integrating, and transforming data</vt:lpstr>
      <vt:lpstr>Step 4-Data exploration</vt:lpstr>
      <vt:lpstr>Step 5-Data modeling</vt:lpstr>
      <vt:lpstr>Step 5-Data modelling</vt:lpstr>
      <vt:lpstr>Step 5-Data Modelling</vt:lpstr>
      <vt:lpstr>Step 6-Presentation and automation</vt:lpstr>
      <vt:lpstr>Types of data Analytics-DESCRIPTIVE ANALYTICS</vt:lpstr>
      <vt:lpstr>Types of data Analytics-PREDICTIVE ANALYTICS</vt:lpstr>
      <vt:lpstr>Types of data Analytics- PRESCRIPTIVE ANALYTICS</vt:lpstr>
      <vt:lpstr>Types of data Analytics-Tools</vt:lpstr>
      <vt:lpstr>Types Of Big Data: </vt:lpstr>
      <vt:lpstr>Data types and scales</vt:lpstr>
      <vt:lpstr>Data types and scales</vt:lpstr>
      <vt:lpstr>TYPES OF DATA MEASUREMENT SCALES</vt:lpstr>
      <vt:lpstr>Attributes</vt:lpstr>
      <vt:lpstr>PowerPoint Presentation</vt:lpstr>
      <vt:lpstr>PowerPoint Presentation</vt:lpstr>
      <vt:lpstr>PowerPoint Presentation</vt:lpstr>
      <vt:lpstr>PowerPoint Presentation</vt:lpstr>
      <vt:lpstr>Design the types of attributes involved in CVR CMS? </vt:lpstr>
      <vt:lpstr>POPULATION AND SAMPLE</vt:lpstr>
      <vt:lpstr>MEASURES OF CENTRAL TENDENCY</vt:lpstr>
      <vt:lpstr>MEASURES OF CENTRAL TENDENCY</vt:lpstr>
      <vt:lpstr>MEASURES OF CENTRAL TENDENCY</vt:lpstr>
      <vt:lpstr>MEASURES OF CENTRAL TENDENCY</vt:lpstr>
      <vt:lpstr>MEASURES OF CENTRAL TENDENCY</vt:lpstr>
      <vt:lpstr>MEASURES OF VARIATION</vt:lpstr>
      <vt:lpstr>MEASURES OF VARIATION</vt:lpstr>
      <vt:lpstr>MEASURES OF VARIATION</vt:lpstr>
      <vt:lpstr>MEASURES OF VARIATION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DS-UNIT-1  Data Preprocessing -Data Cleaning, Data Integration, Data Reduction, Data Transformation and Data Discretization, </dc:title>
  <dc:creator>K Dhanasree</dc:creator>
  <cp:lastModifiedBy>Subhash Chandra N</cp:lastModifiedBy>
  <cp:revision>95</cp:revision>
  <dcterms:created xsi:type="dcterms:W3CDTF">2021-02-20T06:42:21Z</dcterms:created>
  <dcterms:modified xsi:type="dcterms:W3CDTF">2026-06-25T04:00:34Z</dcterms:modified>
</cp:coreProperties>
</file>