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65" r:id="rId3"/>
    <p:sldId id="261" r:id="rId4"/>
    <p:sldId id="418" r:id="rId5"/>
    <p:sldId id="268" r:id="rId6"/>
    <p:sldId id="412" r:id="rId7"/>
    <p:sldId id="272" r:id="rId8"/>
    <p:sldId id="271" r:id="rId9"/>
    <p:sldId id="274" r:id="rId10"/>
    <p:sldId id="453" r:id="rId11"/>
    <p:sldId id="275" r:id="rId12"/>
    <p:sldId id="454" r:id="rId13"/>
    <p:sldId id="276" r:id="rId14"/>
    <p:sldId id="279" r:id="rId15"/>
    <p:sldId id="407" r:id="rId16"/>
    <p:sldId id="455" r:id="rId17"/>
    <p:sldId id="419" r:id="rId18"/>
    <p:sldId id="456" r:id="rId19"/>
    <p:sldId id="422" r:id="rId20"/>
    <p:sldId id="423" r:id="rId21"/>
    <p:sldId id="421" r:id="rId22"/>
    <p:sldId id="425" r:id="rId23"/>
    <p:sldId id="424" r:id="rId24"/>
    <p:sldId id="429" r:id="rId25"/>
    <p:sldId id="428" r:id="rId26"/>
    <p:sldId id="433" r:id="rId27"/>
    <p:sldId id="432" r:id="rId28"/>
    <p:sldId id="431" r:id="rId29"/>
    <p:sldId id="430" r:id="rId30"/>
    <p:sldId id="434" r:id="rId31"/>
    <p:sldId id="440" r:id="rId32"/>
    <p:sldId id="441" r:id="rId33"/>
    <p:sldId id="436" r:id="rId34"/>
    <p:sldId id="445" r:id="rId35"/>
    <p:sldId id="446" r:id="rId36"/>
    <p:sldId id="437" r:id="rId37"/>
    <p:sldId id="447" r:id="rId38"/>
    <p:sldId id="448" r:id="rId39"/>
    <p:sldId id="450" r:id="rId40"/>
    <p:sldId id="452" r:id="rId41"/>
    <p:sldId id="451" r:id="rId42"/>
    <p:sldId id="442" r:id="rId43"/>
    <p:sldId id="438" r:id="rId44"/>
    <p:sldId id="459" r:id="rId45"/>
    <p:sldId id="458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83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CA8C04-72F7-B240-2B96-78CB18806F58}" v="187" dt="2024-10-15T15:48:44.502"/>
    <p1510:client id="{BCC44889-3499-188C-64FE-DF127E867B6D}" v="1" dt="2024-10-14T06:17:15.925"/>
    <p1510:client id="{BF37F8E9-BA62-3ED6-0E05-66687992AA1C}" v="26" dt="2024-10-14T15:36:04.378"/>
    <p1510:client id="{D7A9DE32-56E7-C906-35CA-EC0B84C89FDF}" v="63" dt="2024-10-14T14:59:38.4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hash Chandra N" userId="S::subhashchandra@cvr.ac.in::ca01efc0-5235-4f24-9256-a8a9be23da20" providerId="AD" clId="Web-{BBCA8C04-72F7-B240-2B96-78CB18806F58}"/>
    <pc:docChg chg="addSld delSld modSld">
      <pc:chgData name="Subhash Chandra N" userId="S::subhashchandra@cvr.ac.in::ca01efc0-5235-4f24-9256-a8a9be23da20" providerId="AD" clId="Web-{BBCA8C04-72F7-B240-2B96-78CB18806F58}" dt="2024-10-15T15:48:44.502" v="103"/>
      <pc:docMkLst>
        <pc:docMk/>
      </pc:docMkLst>
      <pc:sldChg chg="modSp">
        <pc:chgData name="Subhash Chandra N" userId="S::subhashchandra@cvr.ac.in::ca01efc0-5235-4f24-9256-a8a9be23da20" providerId="AD" clId="Web-{BBCA8C04-72F7-B240-2B96-78CB18806F58}" dt="2024-10-15T14:58:33.989" v="6" actId="14100"/>
        <pc:sldMkLst>
          <pc:docMk/>
          <pc:sldMk cId="3030408330" sldId="424"/>
        </pc:sldMkLst>
        <pc:spChg chg="mod">
          <ac:chgData name="Subhash Chandra N" userId="S::subhashchandra@cvr.ac.in::ca01efc0-5235-4f24-9256-a8a9be23da20" providerId="AD" clId="Web-{BBCA8C04-72F7-B240-2B96-78CB18806F58}" dt="2024-10-15T14:58:33.989" v="6" actId="14100"/>
          <ac:spMkLst>
            <pc:docMk/>
            <pc:sldMk cId="3030408330" sldId="424"/>
            <ac:spMk id="7" creationId="{A77C56B9-C700-14A9-638C-105C3F601CA8}"/>
          </ac:spMkLst>
        </pc:spChg>
        <pc:picChg chg="mod">
          <ac:chgData name="Subhash Chandra N" userId="S::subhashchandra@cvr.ac.in::ca01efc0-5235-4f24-9256-a8a9be23da20" providerId="AD" clId="Web-{BBCA8C04-72F7-B240-2B96-78CB18806F58}" dt="2024-10-15T14:58:29.552" v="5" actId="14100"/>
          <ac:picMkLst>
            <pc:docMk/>
            <pc:sldMk cId="3030408330" sldId="424"/>
            <ac:picMk id="5" creationId="{E1EC1309-95E4-D3DA-65DF-9C789318C6F8}"/>
          </ac:picMkLst>
        </pc:picChg>
      </pc:sldChg>
      <pc:sldChg chg="delSp modSp">
        <pc:chgData name="Subhash Chandra N" userId="S::subhashchandra@cvr.ac.in::ca01efc0-5235-4f24-9256-a8a9be23da20" providerId="AD" clId="Web-{BBCA8C04-72F7-B240-2B96-78CB18806F58}" dt="2024-10-15T14:57:50.847" v="4" actId="14100"/>
        <pc:sldMkLst>
          <pc:docMk/>
          <pc:sldMk cId="2463357480" sldId="426"/>
        </pc:sldMkLst>
        <pc:picChg chg="mod">
          <ac:chgData name="Subhash Chandra N" userId="S::subhashchandra@cvr.ac.in::ca01efc0-5235-4f24-9256-a8a9be23da20" providerId="AD" clId="Web-{BBCA8C04-72F7-B240-2B96-78CB18806F58}" dt="2024-10-15T14:57:50.847" v="4" actId="14100"/>
          <ac:picMkLst>
            <pc:docMk/>
            <pc:sldMk cId="2463357480" sldId="426"/>
            <ac:picMk id="4" creationId="{D46B2495-ADBE-D986-548A-733284B4CA2D}"/>
          </ac:picMkLst>
        </pc:picChg>
        <pc:picChg chg="del">
          <ac:chgData name="Subhash Chandra N" userId="S::subhashchandra@cvr.ac.in::ca01efc0-5235-4f24-9256-a8a9be23da20" providerId="AD" clId="Web-{BBCA8C04-72F7-B240-2B96-78CB18806F58}" dt="2024-10-15T14:57:39.831" v="0"/>
          <ac:picMkLst>
            <pc:docMk/>
            <pc:sldMk cId="2463357480" sldId="426"/>
            <ac:picMk id="5" creationId="{FBDCC4AD-9E1A-7AB3-AD1C-729720D20207}"/>
          </ac:picMkLst>
        </pc:picChg>
      </pc:sldChg>
      <pc:sldChg chg="addSp delSp modSp">
        <pc:chgData name="Subhash Chandra N" userId="S::subhashchandra@cvr.ac.in::ca01efc0-5235-4f24-9256-a8a9be23da20" providerId="AD" clId="Web-{BBCA8C04-72F7-B240-2B96-78CB18806F58}" dt="2024-10-15T15:03:31.001" v="73" actId="1076"/>
        <pc:sldMkLst>
          <pc:docMk/>
          <pc:sldMk cId="2312732882" sldId="427"/>
        </pc:sldMkLst>
        <pc:spChg chg="add mod">
          <ac:chgData name="Subhash Chandra N" userId="S::subhashchandra@cvr.ac.in::ca01efc0-5235-4f24-9256-a8a9be23da20" providerId="AD" clId="Web-{BBCA8C04-72F7-B240-2B96-78CB18806F58}" dt="2024-10-15T15:03:28.220" v="72" actId="1076"/>
          <ac:spMkLst>
            <pc:docMk/>
            <pc:sldMk cId="2312732882" sldId="427"/>
            <ac:spMk id="3" creationId="{15324CB4-9F17-DF67-B5A5-7603EED1232D}"/>
          </ac:spMkLst>
        </pc:spChg>
        <pc:spChg chg="del">
          <ac:chgData name="Subhash Chandra N" userId="S::subhashchandra@cvr.ac.in::ca01efc0-5235-4f24-9256-a8a9be23da20" providerId="AD" clId="Web-{BBCA8C04-72F7-B240-2B96-78CB18806F58}" dt="2024-10-15T15:01:06.308" v="10"/>
          <ac:spMkLst>
            <pc:docMk/>
            <pc:sldMk cId="2312732882" sldId="427"/>
            <ac:spMk id="5" creationId="{9E46EC8E-CDF5-5C83-9D07-737F5AF84B1F}"/>
          </ac:spMkLst>
        </pc:spChg>
        <pc:spChg chg="del mod">
          <ac:chgData name="Subhash Chandra N" userId="S::subhashchandra@cvr.ac.in::ca01efc0-5235-4f24-9256-a8a9be23da20" providerId="AD" clId="Web-{BBCA8C04-72F7-B240-2B96-78CB18806F58}" dt="2024-10-15T15:01:08.589" v="11"/>
          <ac:spMkLst>
            <pc:docMk/>
            <pc:sldMk cId="2312732882" sldId="427"/>
            <ac:spMk id="7" creationId="{9ACF9B02-8AB0-73D1-C66E-48DA06A412FA}"/>
          </ac:spMkLst>
        </pc:spChg>
        <pc:picChg chg="mod modCrop">
          <ac:chgData name="Subhash Chandra N" userId="S::subhashchandra@cvr.ac.in::ca01efc0-5235-4f24-9256-a8a9be23da20" providerId="AD" clId="Web-{BBCA8C04-72F7-B240-2B96-78CB18806F58}" dt="2024-10-15T15:03:31.001" v="73" actId="1076"/>
          <ac:picMkLst>
            <pc:docMk/>
            <pc:sldMk cId="2312732882" sldId="427"/>
            <ac:picMk id="9" creationId="{6B4213CB-460F-39E5-720A-B53D7302ABB8}"/>
          </ac:picMkLst>
        </pc:picChg>
      </pc:sldChg>
      <pc:sldChg chg="modSp">
        <pc:chgData name="Subhash Chandra N" userId="S::subhashchandra@cvr.ac.in::ca01efc0-5235-4f24-9256-a8a9be23da20" providerId="AD" clId="Web-{BBCA8C04-72F7-B240-2B96-78CB18806F58}" dt="2024-10-15T15:03:51.908" v="76" actId="20577"/>
        <pc:sldMkLst>
          <pc:docMk/>
          <pc:sldMk cId="2421192309" sldId="429"/>
        </pc:sldMkLst>
        <pc:spChg chg="mod">
          <ac:chgData name="Subhash Chandra N" userId="S::subhashchandra@cvr.ac.in::ca01efc0-5235-4f24-9256-a8a9be23da20" providerId="AD" clId="Web-{BBCA8C04-72F7-B240-2B96-78CB18806F58}" dt="2024-10-15T15:03:51.908" v="76" actId="20577"/>
          <ac:spMkLst>
            <pc:docMk/>
            <pc:sldMk cId="2421192309" sldId="429"/>
            <ac:spMk id="11" creationId="{A272BC15-8792-36B8-34A4-3B340E4D17AA}"/>
          </ac:spMkLst>
        </pc:spChg>
      </pc:sldChg>
      <pc:sldChg chg="modSp">
        <pc:chgData name="Subhash Chandra N" userId="S::subhashchandra@cvr.ac.in::ca01efc0-5235-4f24-9256-a8a9be23da20" providerId="AD" clId="Web-{BBCA8C04-72F7-B240-2B96-78CB18806F58}" dt="2024-10-15T15:06:24.805" v="84" actId="20577"/>
        <pc:sldMkLst>
          <pc:docMk/>
          <pc:sldMk cId="3854714236" sldId="431"/>
        </pc:sldMkLst>
        <pc:spChg chg="mod">
          <ac:chgData name="Subhash Chandra N" userId="S::subhashchandra@cvr.ac.in::ca01efc0-5235-4f24-9256-a8a9be23da20" providerId="AD" clId="Web-{BBCA8C04-72F7-B240-2B96-78CB18806F58}" dt="2024-10-15T15:06:24.805" v="84" actId="20577"/>
          <ac:spMkLst>
            <pc:docMk/>
            <pc:sldMk cId="3854714236" sldId="431"/>
            <ac:spMk id="5" creationId="{1799F775-3AA6-8078-4768-85C2BA1C15CA}"/>
          </ac:spMkLst>
        </pc:spChg>
      </pc:sldChg>
      <pc:sldChg chg="modSp">
        <pc:chgData name="Subhash Chandra N" userId="S::subhashchandra@cvr.ac.in::ca01efc0-5235-4f24-9256-a8a9be23da20" providerId="AD" clId="Web-{BBCA8C04-72F7-B240-2B96-78CB18806F58}" dt="2024-10-15T15:05:41.616" v="81" actId="14100"/>
        <pc:sldMkLst>
          <pc:docMk/>
          <pc:sldMk cId="832448946" sldId="432"/>
        </pc:sldMkLst>
        <pc:picChg chg="mod">
          <ac:chgData name="Subhash Chandra N" userId="S::subhashchandra@cvr.ac.in::ca01efc0-5235-4f24-9256-a8a9be23da20" providerId="AD" clId="Web-{BBCA8C04-72F7-B240-2B96-78CB18806F58}" dt="2024-10-15T15:05:41.616" v="81" actId="14100"/>
          <ac:picMkLst>
            <pc:docMk/>
            <pc:sldMk cId="832448946" sldId="432"/>
            <ac:picMk id="5" creationId="{A0621611-47FD-96C4-6DCA-BDF7644825B6}"/>
          </ac:picMkLst>
        </pc:picChg>
      </pc:sldChg>
      <pc:sldChg chg="modSp">
        <pc:chgData name="Subhash Chandra N" userId="S::subhashchandra@cvr.ac.in::ca01efc0-5235-4f24-9256-a8a9be23da20" providerId="AD" clId="Web-{BBCA8C04-72F7-B240-2B96-78CB18806F58}" dt="2024-10-15T15:04:40.160" v="77" actId="14100"/>
        <pc:sldMkLst>
          <pc:docMk/>
          <pc:sldMk cId="3732404353" sldId="433"/>
        </pc:sldMkLst>
        <pc:picChg chg="mod">
          <ac:chgData name="Subhash Chandra N" userId="S::subhashchandra@cvr.ac.in::ca01efc0-5235-4f24-9256-a8a9be23da20" providerId="AD" clId="Web-{BBCA8C04-72F7-B240-2B96-78CB18806F58}" dt="2024-10-15T15:04:40.160" v="77" actId="14100"/>
          <ac:picMkLst>
            <pc:docMk/>
            <pc:sldMk cId="3732404353" sldId="433"/>
            <ac:picMk id="5" creationId="{2F7B6098-E05B-F789-A1E6-0FD6054F7FCF}"/>
          </ac:picMkLst>
        </pc:picChg>
      </pc:sldChg>
      <pc:sldChg chg="addSp modSp new add del">
        <pc:chgData name="Subhash Chandra N" userId="S::subhashchandra@cvr.ac.in::ca01efc0-5235-4f24-9256-a8a9be23da20" providerId="AD" clId="Web-{BBCA8C04-72F7-B240-2B96-78CB18806F58}" dt="2024-10-15T15:48:40.455" v="102"/>
        <pc:sldMkLst>
          <pc:docMk/>
          <pc:sldMk cId="2786911424" sldId="445"/>
        </pc:sldMkLst>
        <pc:spChg chg="mod">
          <ac:chgData name="Subhash Chandra N" userId="S::subhashchandra@cvr.ac.in::ca01efc0-5235-4f24-9256-a8a9be23da20" providerId="AD" clId="Web-{BBCA8C04-72F7-B240-2B96-78CB18806F58}" dt="2024-10-15T15:44:37.259" v="90" actId="14100"/>
          <ac:spMkLst>
            <pc:docMk/>
            <pc:sldMk cId="2786911424" sldId="445"/>
            <ac:spMk id="2" creationId="{393946B0-E4D0-5D1E-FAEB-B82523BB56D0}"/>
          </ac:spMkLst>
        </pc:spChg>
        <pc:spChg chg="mod">
          <ac:chgData name="Subhash Chandra N" userId="S::subhashchandra@cvr.ac.in::ca01efc0-5235-4f24-9256-a8a9be23da20" providerId="AD" clId="Web-{BBCA8C04-72F7-B240-2B96-78CB18806F58}" dt="2024-10-15T15:46:10.450" v="98" actId="20577"/>
          <ac:spMkLst>
            <pc:docMk/>
            <pc:sldMk cId="2786911424" sldId="445"/>
            <ac:spMk id="3" creationId="{6E9E12B6-F928-9DFD-52B7-6DA04FC05820}"/>
          </ac:spMkLst>
        </pc:spChg>
        <pc:picChg chg="add mod">
          <ac:chgData name="Subhash Chandra N" userId="S::subhashchandra@cvr.ac.in::ca01efc0-5235-4f24-9256-a8a9be23da20" providerId="AD" clId="Web-{BBCA8C04-72F7-B240-2B96-78CB18806F58}" dt="2024-10-15T15:46:02.715" v="97" actId="1076"/>
          <ac:picMkLst>
            <pc:docMk/>
            <pc:sldMk cId="2786911424" sldId="445"/>
            <ac:picMk id="4" creationId="{26AEE65C-1889-CC66-30D5-0FF222E0CC30}"/>
          </ac:picMkLst>
        </pc:picChg>
      </pc:sldChg>
      <pc:sldChg chg="new del">
        <pc:chgData name="Subhash Chandra N" userId="S::subhashchandra@cvr.ac.in::ca01efc0-5235-4f24-9256-a8a9be23da20" providerId="AD" clId="Web-{BBCA8C04-72F7-B240-2B96-78CB18806F58}" dt="2024-10-15T15:48:44.502" v="103"/>
        <pc:sldMkLst>
          <pc:docMk/>
          <pc:sldMk cId="2521308744" sldId="446"/>
        </pc:sldMkLst>
      </pc:sldChg>
    </pc:docChg>
  </pc:docChgLst>
  <pc:docChgLst>
    <pc:chgData name="Subhash Chandra N" userId="S::subhashchandra@cvr.ac.in::ca01efc0-5235-4f24-9256-a8a9be23da20" providerId="AD" clId="Web-{BCC44889-3499-188C-64FE-DF127E867B6D}"/>
    <pc:docChg chg="modSld">
      <pc:chgData name="Subhash Chandra N" userId="S::subhashchandra@cvr.ac.in::ca01efc0-5235-4f24-9256-a8a9be23da20" providerId="AD" clId="Web-{BCC44889-3499-188C-64FE-DF127E867B6D}" dt="2024-10-14T06:17:15.925" v="0" actId="1076"/>
      <pc:docMkLst>
        <pc:docMk/>
      </pc:docMkLst>
      <pc:sldChg chg="modSp">
        <pc:chgData name="Subhash Chandra N" userId="S::subhashchandra@cvr.ac.in::ca01efc0-5235-4f24-9256-a8a9be23da20" providerId="AD" clId="Web-{BCC44889-3499-188C-64FE-DF127E867B6D}" dt="2024-10-14T06:17:15.925" v="0" actId="1076"/>
        <pc:sldMkLst>
          <pc:docMk/>
          <pc:sldMk cId="0" sldId="256"/>
        </pc:sldMkLst>
        <pc:spChg chg="mod">
          <ac:chgData name="Subhash Chandra N" userId="S::subhashchandra@cvr.ac.in::ca01efc0-5235-4f24-9256-a8a9be23da20" providerId="AD" clId="Web-{BCC44889-3499-188C-64FE-DF127E867B6D}" dt="2024-10-14T06:17:15.925" v="0" actId="1076"/>
          <ac:spMkLst>
            <pc:docMk/>
            <pc:sldMk cId="0" sldId="256"/>
            <ac:spMk id="9219" creationId="{00000000-0000-0000-0000-000000000000}"/>
          </ac:spMkLst>
        </pc:spChg>
      </pc:sldChg>
    </pc:docChg>
  </pc:docChgLst>
  <pc:docChgLst>
    <pc:chgData name="Subhash Chandra N" userId="S::subhashchandra@cvr.ac.in::ca01efc0-5235-4f24-9256-a8a9be23da20" providerId="AD" clId="Web-{D7A9DE32-56E7-C906-35CA-EC0B84C89FDF}"/>
    <pc:docChg chg="modSld">
      <pc:chgData name="Subhash Chandra N" userId="S::subhashchandra@cvr.ac.in::ca01efc0-5235-4f24-9256-a8a9be23da20" providerId="AD" clId="Web-{D7A9DE32-56E7-C906-35CA-EC0B84C89FDF}" dt="2024-10-14T14:59:35.906" v="33" actId="20577"/>
      <pc:docMkLst>
        <pc:docMk/>
      </pc:docMkLst>
      <pc:sldChg chg="modSp">
        <pc:chgData name="Subhash Chandra N" userId="S::subhashchandra@cvr.ac.in::ca01efc0-5235-4f24-9256-a8a9be23da20" providerId="AD" clId="Web-{D7A9DE32-56E7-C906-35CA-EC0B84C89FDF}" dt="2024-10-14T14:59:35.906" v="33" actId="20577"/>
        <pc:sldMkLst>
          <pc:docMk/>
          <pc:sldMk cId="2373203510" sldId="261"/>
        </pc:sldMkLst>
        <pc:spChg chg="mod">
          <ac:chgData name="Subhash Chandra N" userId="S::subhashchandra@cvr.ac.in::ca01efc0-5235-4f24-9256-a8a9be23da20" providerId="AD" clId="Web-{D7A9DE32-56E7-C906-35CA-EC0B84C89FDF}" dt="2024-10-14T14:59:35.906" v="33" actId="20577"/>
          <ac:spMkLst>
            <pc:docMk/>
            <pc:sldMk cId="2373203510" sldId="261"/>
            <ac:spMk id="4" creationId="{00000000-0000-0000-0000-000000000000}"/>
          </ac:spMkLst>
        </pc:spChg>
      </pc:sldChg>
    </pc:docChg>
  </pc:docChgLst>
  <pc:docChgLst>
    <pc:chgData name="Subhash Chandra N" userId="S::subhashchandra@cvr.ac.in::ca01efc0-5235-4f24-9256-a8a9be23da20" providerId="AD" clId="Web-{BF37F8E9-BA62-3ED6-0E05-66687992AA1C}"/>
    <pc:docChg chg="modSld">
      <pc:chgData name="Subhash Chandra N" userId="S::subhashchandra@cvr.ac.in::ca01efc0-5235-4f24-9256-a8a9be23da20" providerId="AD" clId="Web-{BF37F8E9-BA62-3ED6-0E05-66687992AA1C}" dt="2024-10-14T15:36:04.378" v="23" actId="1076"/>
      <pc:docMkLst>
        <pc:docMk/>
      </pc:docMkLst>
      <pc:sldChg chg="addSp modSp">
        <pc:chgData name="Subhash Chandra N" userId="S::subhashchandra@cvr.ac.in::ca01efc0-5235-4f24-9256-a8a9be23da20" providerId="AD" clId="Web-{BF37F8E9-BA62-3ED6-0E05-66687992AA1C}" dt="2024-10-14T15:36:04.378" v="23" actId="1076"/>
        <pc:sldMkLst>
          <pc:docMk/>
          <pc:sldMk cId="2373203510" sldId="261"/>
        </pc:sldMkLst>
        <pc:spChg chg="add mod">
          <ac:chgData name="Subhash Chandra N" userId="S::subhashchandra@cvr.ac.in::ca01efc0-5235-4f24-9256-a8a9be23da20" providerId="AD" clId="Web-{BF37F8E9-BA62-3ED6-0E05-66687992AA1C}" dt="2024-10-14T15:36:04.378" v="23" actId="1076"/>
          <ac:spMkLst>
            <pc:docMk/>
            <pc:sldMk cId="2373203510" sldId="261"/>
            <ac:spMk id="2" creationId="{CCE9564A-95AF-9C4D-E437-1F945CD5472C}"/>
          </ac:spMkLst>
        </pc:spChg>
        <pc:spChg chg="mod">
          <ac:chgData name="Subhash Chandra N" userId="S::subhashchandra@cvr.ac.in::ca01efc0-5235-4f24-9256-a8a9be23da20" providerId="AD" clId="Web-{BF37F8E9-BA62-3ED6-0E05-66687992AA1C}" dt="2024-10-14T15:35:58.065" v="22" actId="14100"/>
          <ac:spMkLst>
            <pc:docMk/>
            <pc:sldMk cId="2373203510" sldId="261"/>
            <ac:spMk id="4" creationId="{00000000-0000-0000-0000-000000000000}"/>
          </ac:spMkLst>
        </pc:spChg>
      </pc:sldChg>
      <pc:sldChg chg="modSp">
        <pc:chgData name="Subhash Chandra N" userId="S::subhashchandra@cvr.ac.in::ca01efc0-5235-4f24-9256-a8a9be23da20" providerId="AD" clId="Web-{BF37F8E9-BA62-3ED6-0E05-66687992AA1C}" dt="2024-10-14T15:25:09.195" v="6" actId="20577"/>
        <pc:sldMkLst>
          <pc:docMk/>
          <pc:sldMk cId="1184256662" sldId="419"/>
        </pc:sldMkLst>
        <pc:spChg chg="mod">
          <ac:chgData name="Subhash Chandra N" userId="S::subhashchandra@cvr.ac.in::ca01efc0-5235-4f24-9256-a8a9be23da20" providerId="AD" clId="Web-{BF37F8E9-BA62-3ED6-0E05-66687992AA1C}" dt="2024-10-14T15:24:34.694" v="2" actId="14100"/>
          <ac:spMkLst>
            <pc:docMk/>
            <pc:sldMk cId="1184256662" sldId="419"/>
            <ac:spMk id="2" creationId="{7A755807-2046-A2FE-F840-68E8628F3B1F}"/>
          </ac:spMkLst>
        </pc:spChg>
        <pc:spChg chg="mod">
          <ac:chgData name="Subhash Chandra N" userId="S::subhashchandra@cvr.ac.in::ca01efc0-5235-4f24-9256-a8a9be23da20" providerId="AD" clId="Web-{BF37F8E9-BA62-3ED6-0E05-66687992AA1C}" dt="2024-10-14T15:25:09.195" v="6" actId="20577"/>
          <ac:spMkLst>
            <pc:docMk/>
            <pc:sldMk cId="1184256662" sldId="419"/>
            <ac:spMk id="3" creationId="{2E66DBA2-F95A-9A00-E64B-6D1561E3D3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A86C7-4926-2D4F-9F3E-F416BC61271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4329A-7713-F041-A93F-087C1FEEC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39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329A-7713-F041-A93F-087C1FEEC3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31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9B53-250A-2C4A-ABCF-5F39F29F6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D33D2-7940-3441-B9E3-6A7E629DA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B1878-52C9-F94C-8AD7-ACD655E7A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E684-998E-4E48-ACC2-834CBDF35D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826C5-FD54-774D-A7B4-92001188A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2B387-D73A-5948-B3C0-3F07C02F2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9CF8-411C-534F-ACCE-E5CD2A84B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41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0556F-00AF-B84E-85D1-1370AF4B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0D0D1-EF0C-AA4B-8190-BF8A7FDE9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5C290-47D2-2D40-A583-783D37E62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E684-998E-4E48-ACC2-834CBDF35D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B5923-BB6F-014D-951E-8134B9B28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B0337-A493-3F41-880F-C62BDEA5A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9CF8-411C-534F-ACCE-E5CD2A84B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37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7322-7418-4C45-B308-67CF2965B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16860-F6A0-B347-A088-B47493FFB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68213-927E-4C42-887F-6F971F556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E684-998E-4E48-ACC2-834CBDF35D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B8C16-865C-C44B-AB5B-C7833F7C7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97F15-04A6-B947-AA25-EB980A21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9CF8-411C-534F-ACCE-E5CD2A84B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607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C0E05-68CB-114A-9B52-22943B2B5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4839E-81E4-634A-9EB4-435306FB19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D899C-F35F-8C49-995A-F9EC7A134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6ACAB-5524-CF42-9604-2D5261BC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E684-998E-4E48-ACC2-834CBDF35D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3A2F9-6382-C041-9552-93E96E8A5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9ED67-D229-CE43-80A6-1C66275B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9CF8-411C-534F-ACCE-E5CD2A84B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7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E657-73E9-0842-8854-C408FEED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29323-C90A-0048-B631-3BDCAF5B3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FBE551-B7C3-D046-9833-F396C7520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061ECE-A234-1D44-BCDF-9C23BBD87B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39A1B0-543D-494B-99BE-7DE8B0BD55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73B88-CC79-3148-BE4B-00963280D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E684-998E-4E48-ACC2-834CBDF35D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33C0A8-9580-E143-BC67-7332A66E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E9C1C7-E2D4-7443-8BB1-ADC5B4F13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9CF8-411C-534F-ACCE-E5CD2A84B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67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1D30E-4EDA-AF43-A976-238A02395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B945B4-E1B2-A84D-BD83-7F431150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E684-998E-4E48-ACC2-834CBDF35D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B54A8-00E5-8646-AFCE-A77E2A470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269BD-8E1D-5941-8B6D-7EF43A83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9CF8-411C-534F-ACCE-E5CD2A84B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7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52252D-736E-1D41-AEB0-5DAF3A633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E684-998E-4E48-ACC2-834CBDF35D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B9A2AC-9AE6-CC49-97CA-C76F4DD9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0D02B-52E7-B04C-8F41-03A14507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9CF8-411C-534F-ACCE-E5CD2A84B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81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551C4-14A7-1B41-96D7-B1ED5804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7CBCB-523D-0E46-9D89-92E323768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BF77DC-7B8E-B642-B644-6405F601F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9E05F-BC35-B147-84F6-95FC8859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E684-998E-4E48-ACC2-834CBDF35D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66A53-9028-E04C-A3E9-30BD0CFE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FC4DB-D7EF-C548-858D-D654B6DB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9CF8-411C-534F-ACCE-E5CD2A84B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36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B3DA-EBD2-3A44-9B39-059BCB1DE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20C907-1EE1-1B43-B12C-2C54DA41DC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08835-5BE6-854E-8AE8-A37892FB2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4EFC3-BFD9-7843-8A94-C6BD66460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E684-998E-4E48-ACC2-834CBDF35D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97A42-DC80-0A44-B10C-E00DA50EA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FEC4D-EDEC-1D42-B236-BB7758F67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9CF8-411C-534F-ACCE-E5CD2A84B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53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C8B7E-F434-FA48-A1A8-074386A46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CAA09-A881-D149-BD1D-F1670B866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95C7F-EB61-3F44-88D5-BB0DE6A48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E684-998E-4E48-ACC2-834CBDF35D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C8E8A-CCE0-7C42-82FD-4671B01F3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275EF-6A05-DB4F-8733-871025569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9CF8-411C-534F-ACCE-E5CD2A84B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49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A112EA-DE54-B04C-88D8-0858AE3572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B5A9E3-BFF5-FA43-91F9-C6CC88B39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6F942-8067-2943-A448-4C53FF850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E684-998E-4E48-ACC2-834CBDF35D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BDD4C-6FC2-FB4B-8372-13D9CEB4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887A9-60D4-6044-9124-93EEDDC9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9CF8-411C-534F-ACCE-E5CD2A84B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98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A9C15-F8B9-9C43-9F8A-574D3975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EB648-FC92-AC4C-A733-420A43E08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8806B-DC71-B748-A0B5-CC4DD17C5E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9E684-998E-4E48-ACC2-834CBDF35D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D8AFE-2BBD-DA48-8F9A-9C6AA44A59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BC779-A4C5-E247-AFC5-01BC16569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E9CF8-411C-534F-ACCE-E5CD2A84B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08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93095" y="865186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en-US" sz="4400" b="1">
                <a:ea typeface="ＭＳ Ｐゴシック" pitchFamily="34" charset="-128"/>
              </a:rPr>
              <a:t>Data Science</a:t>
            </a:r>
            <a:br>
              <a:rPr lang="en-US" altLang="en-US" sz="4400" b="1">
                <a:ea typeface="ＭＳ Ｐゴシック" pitchFamily="34" charset="-128"/>
              </a:rPr>
            </a:br>
            <a:r>
              <a:rPr lang="en-US" altLang="en-US" sz="4400" b="1">
                <a:ea typeface="ＭＳ Ｐゴシック" pitchFamily="34" charset="-128"/>
              </a:rPr>
              <a:t>UNIT-V Forecasting Techniques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55535" y="3720080"/>
            <a:ext cx="6718495" cy="79716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GB" altLang="en-US" sz="2800" b="1">
                <a:ea typeface="ＭＳ Ｐゴシック" pitchFamily="34" charset="-128"/>
              </a:rPr>
              <a:t>Dr. N. Subhash Chandra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800" b="1">
                <a:ea typeface="ＭＳ Ｐゴシック" pitchFamily="34" charset="-128"/>
              </a:rPr>
              <a:t>Professor CSE</a:t>
            </a:r>
            <a:endParaRPr lang="en-US" altLang="en-US" sz="2800" b="1">
              <a:ea typeface="ＭＳ Ｐゴシック" pitchFamily="34" charset="-128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 bwMode="auto">
          <a:xfrm>
            <a:off x="2895600" y="0"/>
            <a:ext cx="6477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endParaRPr lang="en-US" sz="3200" b="1" ker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AB4C57-58B5-4843-9AD3-FE2AA66392CD}"/>
              </a:ext>
            </a:extLst>
          </p:cNvPr>
          <p:cNvSpPr/>
          <p:nvPr/>
        </p:nvSpPr>
        <p:spPr>
          <a:xfrm>
            <a:off x="126609" y="112542"/>
            <a:ext cx="11943471" cy="661181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24F5D3-0145-47C5-BA9A-CD5C83423483}"/>
              </a:ext>
            </a:extLst>
          </p:cNvPr>
          <p:cNvCxnSpPr/>
          <p:nvPr/>
        </p:nvCxnSpPr>
        <p:spPr>
          <a:xfrm>
            <a:off x="126609" y="2616591"/>
            <a:ext cx="1194347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EEA6B-10CF-3640-B099-28C0C5C3E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46" y="133959"/>
            <a:ext cx="9603275" cy="1049235"/>
          </a:xfrm>
        </p:spPr>
        <p:txBody>
          <a:bodyPr/>
          <a:lstStyle/>
          <a:p>
            <a:r>
              <a:rPr lang="en-US" b="1"/>
              <a:t>   UNIT-1: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615AD-9DD8-2F44-891C-4E87CE3F8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4610" y="1880197"/>
            <a:ext cx="9476680" cy="2632810"/>
          </a:xfrm>
        </p:spPr>
        <p:txBody>
          <a:bodyPr>
            <a:noAutofit/>
          </a:bodyPr>
          <a:lstStyle/>
          <a:p>
            <a:pPr algn="just"/>
            <a:r>
              <a:rPr lang="en-US" sz="1800" b="1">
                <a:solidFill>
                  <a:srgbClr val="000000"/>
                </a:solidFill>
                <a:effectLst/>
                <a:latin typeface="Verdana" panose="020B0604030504040204" pitchFamily="34" charset="0"/>
                <a:ea typeface="Segoe UI" panose="020B0502040204020203" pitchFamily="34" charset="0"/>
                <a:cs typeface="Tahoma" panose="020B0604030504040204" pitchFamily="34" charset="0"/>
              </a:rPr>
              <a:t>UNIT V – Prescriptive Analysis</a:t>
            </a:r>
            <a:endParaRPr lang="en-IN" sz="1800">
              <a:solidFill>
                <a:srgbClr val="000000"/>
              </a:solidFill>
              <a:effectLst/>
              <a:latin typeface="Calibri" panose="020F0502020204030204" pitchFamily="34" charset="0"/>
              <a:ea typeface="Segoe UI" panose="020B0502040204020203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1800" b="1">
                <a:solidFill>
                  <a:srgbClr val="000000"/>
                </a:solidFill>
                <a:effectLst/>
                <a:latin typeface="Verdana" panose="020B0604030504040204" pitchFamily="34" charset="0"/>
                <a:ea typeface="Segoe UI" panose="020B0502040204020203" pitchFamily="34" charset="0"/>
                <a:cs typeface="Times New Roman" panose="02020603050405020304" pitchFamily="18" charset="0"/>
              </a:rPr>
              <a:t>Forecasting Techniques</a:t>
            </a:r>
            <a:r>
              <a:rPr lang="en-US" sz="1800">
                <a:solidFill>
                  <a:srgbClr val="000000"/>
                </a:solidFill>
                <a:effectLst/>
                <a:latin typeface="Verdana" panose="020B0604030504040204" pitchFamily="34" charset="0"/>
                <a:ea typeface="Segoe UI" panose="020B0502040204020203" pitchFamily="34" charset="0"/>
                <a:cs typeface="Times New Roman" panose="02020603050405020304" pitchFamily="18" charset="0"/>
              </a:rPr>
              <a:t>: Time series data, Techniques, and accuracy, Moving average method, Single, double, triple exponential smoothing, Regression model for forecasting, Auto-Regression models, ARIMA Process.</a:t>
            </a:r>
            <a:endParaRPr lang="en-IN" sz="1800">
              <a:solidFill>
                <a:srgbClr val="000000"/>
              </a:solidFill>
              <a:effectLst/>
              <a:latin typeface="Calibri" panose="020F0502020204030204" pitchFamily="34" charset="0"/>
              <a:ea typeface="Segoe UI" panose="020B0502040204020203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1800" b="1">
                <a:solidFill>
                  <a:srgbClr val="000000"/>
                </a:solidFill>
                <a:effectLst/>
                <a:latin typeface="Verdana" panose="020B0604030504040204" pitchFamily="34" charset="0"/>
                <a:ea typeface="Segoe UI" panose="020B0502040204020203" pitchFamily="34" charset="0"/>
                <a:cs typeface="Times New Roman" panose="02020603050405020304" pitchFamily="18" charset="0"/>
              </a:rPr>
              <a:t>Graph Analytics: </a:t>
            </a:r>
            <a:r>
              <a:rPr lang="en-US" sz="1800">
                <a:solidFill>
                  <a:srgbClr val="000000"/>
                </a:solidFill>
                <a:effectLst/>
                <a:latin typeface="Verdana" panose="020B0604030504040204" pitchFamily="34" charset="0"/>
                <a:ea typeface="Segoe UI" panose="020B0502040204020203" pitchFamily="34" charset="0"/>
                <a:cs typeface="Times New Roman" panose="02020603050405020304" pitchFamily="18" charset="0"/>
              </a:rPr>
              <a:t> Path analysis, Connectivity analysis, Community analysis, Centrality analysis, </a:t>
            </a:r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Segoe UI" panose="020B0502040204020203" pitchFamily="34" charset="0"/>
                <a:cs typeface="Tahoma" panose="020B0604030504040204" pitchFamily="34" charset="0"/>
              </a:rPr>
              <a:t>Social-Network Graphs, Communities and Clusters, Betweenness, The Girvan-Newman Algorithm.</a:t>
            </a:r>
            <a:endParaRPr lang="en-IN" sz="1800">
              <a:solidFill>
                <a:srgbClr val="000000"/>
              </a:solidFill>
              <a:effectLst/>
              <a:latin typeface="Calibri" panose="020F0502020204030204" pitchFamily="34" charset="0"/>
              <a:ea typeface="Segoe UI" panose="020B0502040204020203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endParaRPr lang="en-IN" sz="2400">
              <a:solidFill>
                <a:srgbClr val="00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882AC3-0BC8-4FB6-A411-E0656630AABE}"/>
              </a:ext>
            </a:extLst>
          </p:cNvPr>
          <p:cNvSpPr/>
          <p:nvPr/>
        </p:nvSpPr>
        <p:spPr>
          <a:xfrm>
            <a:off x="126609" y="133959"/>
            <a:ext cx="11943471" cy="661181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2290BB-C335-4476-92BF-6D97BF5A201E}"/>
              </a:ext>
            </a:extLst>
          </p:cNvPr>
          <p:cNvCxnSpPr/>
          <p:nvPr/>
        </p:nvCxnSpPr>
        <p:spPr>
          <a:xfrm>
            <a:off x="124264" y="1095568"/>
            <a:ext cx="1194347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125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74588" y="1542920"/>
            <a:ext cx="10282752" cy="1895230"/>
          </a:xfrm>
          <a:prstGeom prst="rect">
            <a:avLst/>
          </a:prstGeom>
        </p:spPr>
        <p:txBody>
          <a:bodyPr vert="horz" wrap="square" lIns="0" tIns="10001" rIns="0" bIns="0" rtlCol="0" anchor="t">
            <a:spAutoFit/>
          </a:bodyPr>
          <a:lstStyle/>
          <a:p>
            <a:pPr marL="352425" marR="3810" indent="-342900" algn="just">
              <a:spcBef>
                <a:spcPts val="79"/>
              </a:spcBef>
              <a:buFont typeface="Arial"/>
              <a:buChar char="•"/>
              <a:tabLst>
                <a:tab pos="352425" algn="l"/>
                <a:tab pos="2606516" algn="l"/>
              </a:tabLst>
            </a:pPr>
            <a:r>
              <a:rPr lang="en-GB" sz="2000"/>
              <a:t>Forecasting is the process of making predictions about future events based on historical data and analysis. </a:t>
            </a:r>
            <a:endParaRPr lang="en-GB" sz="2000">
              <a:ea typeface="Calibri"/>
              <a:cs typeface="Calibri"/>
            </a:endParaRPr>
          </a:p>
          <a:p>
            <a:pPr marL="352425" marR="3810" indent="-342900" algn="just">
              <a:spcBef>
                <a:spcPts val="79"/>
              </a:spcBef>
              <a:buFont typeface="Arial"/>
              <a:buChar char="•"/>
              <a:tabLst>
                <a:tab pos="352425" algn="l"/>
                <a:tab pos="2606516" algn="l"/>
              </a:tabLst>
            </a:pPr>
            <a:r>
              <a:rPr lang="en-GB" sz="2000"/>
              <a:t>It's widely used in various fields such as finance, economics, supply chain management, and meteorology. There are several techniques for forecasting, broadly </a:t>
            </a:r>
            <a:endParaRPr lang="en-GB" sz="2000">
              <a:latin typeface="Calibri Light" panose="020F0302020204030204"/>
              <a:ea typeface="Calibri Light" panose="020F0302020204030204"/>
              <a:cs typeface="Calibri Light"/>
            </a:endParaRPr>
          </a:p>
          <a:p>
            <a:pPr marL="352425" marR="3810" indent="-342900" algn="just">
              <a:spcBef>
                <a:spcPts val="79"/>
              </a:spcBef>
              <a:buFont typeface="Arial"/>
              <a:buChar char="•"/>
              <a:tabLst>
                <a:tab pos="352425" algn="l"/>
                <a:tab pos="2606516" algn="l"/>
              </a:tabLst>
            </a:pPr>
            <a:r>
              <a:rPr lang="en-GB" sz="2000"/>
              <a:t>Forecasting techniques categorized into </a:t>
            </a:r>
            <a:endParaRPr lang="en-GB" sz="2000">
              <a:latin typeface="Calibri Light" panose="020F0302020204030204"/>
              <a:ea typeface="Calibri Light"/>
              <a:cs typeface="Calibri Light"/>
            </a:endParaRPr>
          </a:p>
          <a:p>
            <a:pPr marL="9525" marR="3810" algn="just">
              <a:spcBef>
                <a:spcPts val="79"/>
              </a:spcBef>
              <a:tabLst>
                <a:tab pos="352425" algn="l"/>
                <a:tab pos="2606516" algn="l"/>
              </a:tabLst>
            </a:pPr>
            <a:r>
              <a:rPr lang="en-GB" sz="2000"/>
              <a:t> </a:t>
            </a:r>
            <a:endParaRPr lang="en-GB" sz="2000">
              <a:latin typeface="+mj-lt"/>
              <a:ea typeface="Calibri Light"/>
              <a:cs typeface="Calibri Ligh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CE98A00-52AD-4F81-8B25-E1362DDEB1D7}"/>
              </a:ext>
            </a:extLst>
          </p:cNvPr>
          <p:cNvSpPr txBox="1">
            <a:spLocks/>
          </p:cNvSpPr>
          <p:nvPr/>
        </p:nvSpPr>
        <p:spPr bwMode="auto">
          <a:xfrm>
            <a:off x="126609" y="235432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n-US" altLang="en-US" b="1">
                <a:ea typeface="ＭＳ Ｐゴシック" pitchFamily="34" charset="-128"/>
              </a:rPr>
              <a:t>What is Forecasting?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1FD798-874F-4384-9434-57FF8E445C00}"/>
              </a:ext>
            </a:extLst>
          </p:cNvPr>
          <p:cNvSpPr/>
          <p:nvPr/>
        </p:nvSpPr>
        <p:spPr>
          <a:xfrm>
            <a:off x="126609" y="133959"/>
            <a:ext cx="11943471" cy="661181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A11055-8EE0-4741-AF04-84C75FA531AC}"/>
              </a:ext>
            </a:extLst>
          </p:cNvPr>
          <p:cNvCxnSpPr/>
          <p:nvPr/>
        </p:nvCxnSpPr>
        <p:spPr>
          <a:xfrm>
            <a:off x="124264" y="1095568"/>
            <a:ext cx="1194347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CE9564A-95AF-9C4D-E437-1F945CD5472C}"/>
              </a:ext>
            </a:extLst>
          </p:cNvPr>
          <p:cNvSpPr txBox="1"/>
          <p:nvPr/>
        </p:nvSpPr>
        <p:spPr>
          <a:xfrm>
            <a:off x="1352810" y="3440482"/>
            <a:ext cx="1011267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buFont typeface=""/>
              <a:buAutoNum type="arabicPeriod"/>
            </a:pPr>
            <a:r>
              <a:rPr lang="en-US" b="1">
                <a:solidFill>
                  <a:srgbClr val="2B2A29"/>
                </a:solidFill>
                <a:latin typeface="montserrat"/>
              </a:rPr>
              <a:t>Qualitative Tools:</a:t>
            </a:r>
            <a:r>
              <a:rPr lang="en-US">
                <a:solidFill>
                  <a:srgbClr val="2B2A29"/>
                </a:solidFill>
                <a:latin typeface="montserrat"/>
              </a:rPr>
              <a:t> These are based on a judgment we make based on experience and analysis of future trends. Due to the dependency of this tool on individual judgment, the forecast is affected by human biases.</a:t>
            </a:r>
          </a:p>
          <a:p>
            <a:pPr marL="228600" indent="-228600" algn="just">
              <a:buFont typeface=""/>
              <a:buAutoNum type="arabicPeriod"/>
            </a:pPr>
            <a:r>
              <a:rPr lang="en-US" b="1">
                <a:solidFill>
                  <a:srgbClr val="2B2A29"/>
                </a:solidFill>
                <a:latin typeface="montserrat"/>
              </a:rPr>
              <a:t>Quantitative Tools:</a:t>
            </a:r>
            <a:r>
              <a:rPr lang="en-US">
                <a:solidFill>
                  <a:srgbClr val="2B2A29"/>
                </a:solidFill>
                <a:latin typeface="montserrat"/>
              </a:rPr>
              <a:t> These tools forecast data by analyzing past data. Further, it relies on statistical methods to make future predictions. These methods can be:</a:t>
            </a:r>
          </a:p>
          <a:p>
            <a:pPr marL="228600" lvl="1" indent="-228600" algn="just">
              <a:buFont typeface=""/>
              <a:buAutoNum type="arabicPeriod"/>
            </a:pPr>
            <a:r>
              <a:rPr lang="en-US">
                <a:solidFill>
                  <a:srgbClr val="2B2A29"/>
                </a:solidFill>
                <a:latin typeface="montserrat"/>
              </a:rPr>
              <a:t>Time Series Analysis</a:t>
            </a:r>
          </a:p>
          <a:p>
            <a:pPr marL="228600" lvl="1" indent="-228600" algn="just">
              <a:buFont typeface=""/>
              <a:buAutoNum type="arabicPeriod"/>
            </a:pPr>
            <a:r>
              <a:rPr lang="en-US">
                <a:solidFill>
                  <a:srgbClr val="2B2A29"/>
                </a:solidFill>
                <a:latin typeface="montserrat"/>
              </a:rPr>
              <a:t>Casual Methods</a:t>
            </a:r>
          </a:p>
        </p:txBody>
      </p:sp>
    </p:spTree>
    <p:extLst>
      <p:ext uri="{BB962C8B-B14F-4D97-AF65-F5344CB8AC3E}">
        <p14:creationId xmlns:p14="http://schemas.microsoft.com/office/powerpoint/2010/main" val="2373203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81D24-D2D0-4706-9C3F-82CA93509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597" y="276312"/>
            <a:ext cx="9423009" cy="1143000"/>
          </a:xfrm>
        </p:spPr>
        <p:txBody>
          <a:bodyPr>
            <a:noAutofit/>
          </a:bodyPr>
          <a:lstStyle/>
          <a:p>
            <a:r>
              <a:rPr lang="en-GB" sz="2400" b="1" i="0" u="none" strike="noStrike" baseline="0">
                <a:latin typeface="Lato-Bold"/>
              </a:rPr>
              <a:t>TIME-SERIES DATA AND COMPONENTS OF TIME-SERIES DATA</a:t>
            </a:r>
            <a:br>
              <a:rPr lang="en-GB" sz="2400" b="1" i="0">
                <a:solidFill>
                  <a:srgbClr val="232C39"/>
                </a:solidFill>
                <a:effectLst/>
                <a:latin typeface="Nunito Sans"/>
              </a:rPr>
            </a:b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7EAB9-7016-4737-BC19-371A80504610}"/>
              </a:ext>
            </a:extLst>
          </p:cNvPr>
          <p:cNvSpPr txBox="1"/>
          <p:nvPr/>
        </p:nvSpPr>
        <p:spPr>
          <a:xfrm>
            <a:off x="1098072" y="1279557"/>
            <a:ext cx="1028768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0" i="0" u="none" strike="noStrike" baseline="0" dirty="0">
                <a:latin typeface="MinionPro-Regular"/>
              </a:rPr>
              <a:t>Time-series data is a data on a </a:t>
            </a:r>
            <a:r>
              <a:rPr lang="en-GB" sz="2000" b="1" i="0" u="none" strike="noStrike" baseline="0" dirty="0">
                <a:latin typeface="MinionPro-Regular"/>
              </a:rPr>
              <a:t>response variable, </a:t>
            </a:r>
            <a:r>
              <a:rPr lang="en-GB" sz="2000" b="1" i="1" u="none" strike="noStrike" baseline="0" dirty="0" err="1">
                <a:latin typeface="MinionPro-It"/>
              </a:rPr>
              <a:t>Yt</a:t>
            </a:r>
            <a:r>
              <a:rPr lang="en-GB" sz="2000" b="0" i="0" u="none" strike="noStrike" baseline="0" dirty="0">
                <a:latin typeface="MinionPro-Regular"/>
              </a:rPr>
              <a:t>, such as demand for a spare parts of a capital equipment or a product or a service or market share of a brand observed at </a:t>
            </a:r>
            <a:r>
              <a:rPr lang="en-GB" sz="2000" b="1" i="0" u="none" strike="noStrike" baseline="0" dirty="0">
                <a:latin typeface="MinionPro-Regular"/>
              </a:rPr>
              <a:t>different time points </a:t>
            </a:r>
            <a:r>
              <a:rPr lang="en-GB" sz="2000" b="1" i="1" u="none" strike="noStrike" baseline="0" dirty="0">
                <a:latin typeface="MinionPro-It"/>
              </a:rPr>
              <a:t>t</a:t>
            </a:r>
            <a:r>
              <a:rPr lang="en-GB" sz="2000" b="1" i="0" u="none" strike="noStrike" baseline="0" dirty="0">
                <a:latin typeface="MinionPro-Regular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b="0" i="0" u="none" strike="noStrike" baseline="0" dirty="0">
              <a:latin typeface="MinionPro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0" i="0" u="none" strike="noStrike" baseline="0" dirty="0">
                <a:latin typeface="MinionPro-Regular"/>
              </a:rPr>
              <a:t> Whenever we have a forecasting problem, we will be using a time-series data. T</a:t>
            </a:r>
            <a:r>
              <a:rPr lang="en-GB" sz="2000" b="1" i="0" u="none" strike="noStrike" baseline="0" dirty="0">
                <a:latin typeface="MinionPro-Regular"/>
              </a:rPr>
              <a:t>he variable </a:t>
            </a:r>
            <a:r>
              <a:rPr lang="en-GB" sz="2000" b="1" i="1" u="none" strike="noStrike" baseline="0" dirty="0" err="1">
                <a:latin typeface="MinionPro-It"/>
              </a:rPr>
              <a:t>Yt</a:t>
            </a:r>
            <a:r>
              <a:rPr lang="en-GB" sz="2000" b="1" i="1" u="none" strike="noStrike" baseline="0" dirty="0">
                <a:latin typeface="MinionPro-It"/>
              </a:rPr>
              <a:t> </a:t>
            </a:r>
            <a:r>
              <a:rPr lang="en-GB" sz="2000" b="1" i="0" u="none" strike="noStrike" baseline="0" dirty="0">
                <a:latin typeface="MinionPro-Regular"/>
              </a:rPr>
              <a:t>is a random variable.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b="0" i="0" u="none" strike="noStrike" baseline="0" dirty="0">
              <a:latin typeface="MinionPro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0" i="0" u="none" strike="noStrike" baseline="0" dirty="0">
                <a:latin typeface="MinionPro-Regular"/>
              </a:rPr>
              <a:t>The data points or measurements are usually collected at </a:t>
            </a:r>
            <a:r>
              <a:rPr lang="en-GB" sz="2000" b="1" i="0" u="none" strike="noStrike" baseline="0" dirty="0">
                <a:latin typeface="MinionPro-Regular"/>
              </a:rPr>
              <a:t>regular intervals and are arranged in chronological order.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b="0" i="0" u="none" strike="noStrike" baseline="0" dirty="0">
              <a:latin typeface="MinionPro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0" i="0" u="none" strike="noStrike" baseline="0" dirty="0">
                <a:latin typeface="MinionPro-Regular"/>
              </a:rPr>
              <a:t> If the </a:t>
            </a:r>
            <a:r>
              <a:rPr lang="en-GB" sz="2000" b="1" i="0" u="none" strike="noStrike" baseline="0" dirty="0">
                <a:latin typeface="MinionPro-Regular"/>
              </a:rPr>
              <a:t>time-series data contains observations of just a single variable </a:t>
            </a:r>
            <a:r>
              <a:rPr lang="en-GB" sz="2000" b="0" i="0" u="none" strike="noStrike" baseline="0" dirty="0">
                <a:latin typeface="MinionPro-Regular"/>
              </a:rPr>
              <a:t>(such as demand of a product at time </a:t>
            </a:r>
            <a:r>
              <a:rPr lang="en-GB" sz="2000" b="0" i="1" u="none" strike="noStrike" baseline="0" dirty="0">
                <a:latin typeface="MinionPro-It"/>
              </a:rPr>
              <a:t>t</a:t>
            </a:r>
            <a:r>
              <a:rPr lang="en-GB" sz="2000" b="0" i="0" u="none" strike="noStrike" baseline="0" dirty="0">
                <a:latin typeface="MinionPro-Regular"/>
              </a:rPr>
              <a:t>), then it is termed as </a:t>
            </a:r>
            <a:r>
              <a:rPr lang="en-GB" sz="2000" b="1" i="0" u="none" strike="noStrike" baseline="0" dirty="0">
                <a:latin typeface="MinionPro-Regular"/>
              </a:rPr>
              <a:t>univariate time series.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b="0" i="0" u="none" strike="noStrike" baseline="0" dirty="0">
              <a:latin typeface="MinionPro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0" i="0" u="none" strike="noStrike" baseline="0" dirty="0">
                <a:latin typeface="MinionPro-Regular"/>
              </a:rPr>
              <a:t> If the data consists of </a:t>
            </a:r>
            <a:r>
              <a:rPr lang="en-GB" sz="2000" b="1" i="0" u="none" strike="noStrike" baseline="0" dirty="0">
                <a:latin typeface="MinionPro-Regular"/>
              </a:rPr>
              <a:t>more than one variable</a:t>
            </a:r>
            <a:r>
              <a:rPr lang="en-GB" sz="2000" b="0" i="0" u="none" strike="noStrike" baseline="0" dirty="0">
                <a:latin typeface="MinionPro-Regular"/>
              </a:rPr>
              <a:t>, for example, demand for a product at time </a:t>
            </a:r>
            <a:r>
              <a:rPr lang="en-GB" sz="2000" b="0" i="1" u="none" strike="noStrike" baseline="0" dirty="0">
                <a:latin typeface="MinionPro-It"/>
              </a:rPr>
              <a:t>t</a:t>
            </a:r>
            <a:r>
              <a:rPr lang="en-GB" sz="2000" b="0" i="0" u="none" strike="noStrike" baseline="0" dirty="0">
                <a:latin typeface="MinionPro-Regular"/>
              </a:rPr>
              <a:t>, price at time </a:t>
            </a:r>
            <a:r>
              <a:rPr lang="en-GB" sz="2000" b="0" i="1" u="none" strike="noStrike" baseline="0" dirty="0">
                <a:latin typeface="MinionPro-It"/>
              </a:rPr>
              <a:t>t</a:t>
            </a:r>
            <a:r>
              <a:rPr lang="en-GB" sz="2000" b="0" i="0" u="none" strike="noStrike" baseline="0" dirty="0">
                <a:latin typeface="MinionPro-Regular"/>
              </a:rPr>
              <a:t>, amount of money spent by the company on promotion at time </a:t>
            </a:r>
            <a:r>
              <a:rPr lang="en-GB" sz="2000" b="0" i="1" u="none" strike="noStrike" baseline="0" dirty="0">
                <a:latin typeface="MinionPro-It"/>
              </a:rPr>
              <a:t>t</a:t>
            </a:r>
            <a:r>
              <a:rPr lang="en-GB" sz="2000" b="0" i="0" u="none" strike="noStrike" baseline="0" dirty="0">
                <a:latin typeface="MinionPro-Regular"/>
              </a:rPr>
              <a:t>, competitors price at time </a:t>
            </a:r>
            <a:r>
              <a:rPr lang="en-GB" sz="2000" b="0" i="1" u="none" strike="noStrike" baseline="0" dirty="0">
                <a:latin typeface="MinionPro-It"/>
              </a:rPr>
              <a:t>t</a:t>
            </a:r>
            <a:r>
              <a:rPr lang="en-GB" sz="2000" b="0" i="0" u="none" strike="noStrike" baseline="0" dirty="0">
                <a:latin typeface="MinionPro-Regular"/>
              </a:rPr>
              <a:t>, etc. then it is called </a:t>
            </a:r>
            <a:r>
              <a:rPr lang="en-GB" sz="2000" b="1" i="0" u="none" strike="noStrike" baseline="0" dirty="0">
                <a:latin typeface="MinionPro-Regular"/>
              </a:rPr>
              <a:t>multivariate time-series data</a:t>
            </a:r>
            <a:r>
              <a:rPr lang="en-GB" sz="2000" b="0" i="0" u="none" strike="noStrike" baseline="0" dirty="0">
                <a:latin typeface="MinionPro-Regular"/>
              </a:rPr>
              <a:t>.</a:t>
            </a: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BFE326-90D8-4AF5-99CC-CEFA7A540AF4}"/>
              </a:ext>
            </a:extLst>
          </p:cNvPr>
          <p:cNvSpPr/>
          <p:nvPr/>
        </p:nvSpPr>
        <p:spPr>
          <a:xfrm>
            <a:off x="126609" y="133959"/>
            <a:ext cx="11943471" cy="661181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8B9D9C0-39C9-4AE4-A27F-A5E2F74ADD74}"/>
              </a:ext>
            </a:extLst>
          </p:cNvPr>
          <p:cNvCxnSpPr/>
          <p:nvPr/>
        </p:nvCxnSpPr>
        <p:spPr>
          <a:xfrm>
            <a:off x="124264" y="1095568"/>
            <a:ext cx="1194347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059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2D821-8E2A-0B43-884A-73192020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88" y="154154"/>
            <a:ext cx="11958711" cy="1306443"/>
          </a:xfrm>
        </p:spPr>
        <p:txBody>
          <a:bodyPr>
            <a:normAutofit/>
          </a:bodyPr>
          <a:lstStyle/>
          <a:p>
            <a:r>
              <a:rPr lang="en-GB" sz="2000" b="1" i="0" u="none" strike="noStrike" baseline="0">
                <a:latin typeface="Lato-Bold"/>
              </a:rPr>
              <a:t>COMPONENTS OF TIME-SERIES DATA</a:t>
            </a:r>
            <a:endParaRPr lang="en-US" sz="20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A2094-B330-1649-A314-440D2B0E6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6069"/>
            <a:ext cx="10459065" cy="4303464"/>
          </a:xfrm>
        </p:spPr>
        <p:txBody>
          <a:bodyPr>
            <a:normAutofit/>
          </a:bodyPr>
          <a:lstStyle/>
          <a:p>
            <a:pPr algn="just"/>
            <a:r>
              <a:rPr lang="en-GB" sz="2000" b="1" i="0" u="none" strike="noStrike" baseline="0" dirty="0">
                <a:solidFill>
                  <a:srgbClr val="000000"/>
                </a:solidFill>
                <a:latin typeface="MinionPro-Bold"/>
              </a:rPr>
              <a:t>Trend Component (</a:t>
            </a:r>
            <a:r>
              <a:rPr lang="en-GB" sz="2000" b="1" i="1" u="none" strike="noStrike" baseline="0" dirty="0">
                <a:solidFill>
                  <a:srgbClr val="000000"/>
                </a:solidFill>
                <a:latin typeface="MinionPro-BoldIt"/>
              </a:rPr>
              <a:t>Tt</a:t>
            </a:r>
            <a:r>
              <a:rPr lang="en-GB" sz="2000" b="1" i="0" u="none" strike="noStrike" baseline="0" dirty="0">
                <a:solidFill>
                  <a:srgbClr val="000000"/>
                </a:solidFill>
                <a:latin typeface="MinionPro-Bold"/>
              </a:rPr>
              <a:t>): </a:t>
            </a:r>
            <a:r>
              <a:rPr lang="en-GB" sz="2000" b="0" i="0" u="none" strike="noStrike" baseline="0" dirty="0">
                <a:solidFill>
                  <a:srgbClr val="000000"/>
                </a:solidFill>
                <a:latin typeface="MinionPro-Regular"/>
              </a:rPr>
              <a:t>Trend is the consistent </a:t>
            </a:r>
            <a:r>
              <a:rPr lang="en-GB" sz="2000" b="1" i="0" u="none" strike="noStrike" baseline="0" dirty="0">
                <a:solidFill>
                  <a:srgbClr val="000000"/>
                </a:solidFill>
                <a:latin typeface="MinionPro-Regular"/>
              </a:rPr>
              <a:t>long-term upward or downward movement </a:t>
            </a:r>
            <a:r>
              <a:rPr lang="en-GB" sz="2000" b="0" i="0" u="none" strike="noStrike" baseline="0" dirty="0">
                <a:solidFill>
                  <a:srgbClr val="000000"/>
                </a:solidFill>
                <a:latin typeface="MinionPro-Regular"/>
              </a:rPr>
              <a:t>of 	the data over a period of time.</a:t>
            </a:r>
          </a:p>
          <a:p>
            <a:pPr algn="just"/>
            <a:r>
              <a:rPr lang="en-GB" sz="2000" b="1" i="0" u="none" strike="noStrike" baseline="0" dirty="0">
                <a:solidFill>
                  <a:srgbClr val="000000"/>
                </a:solidFill>
                <a:latin typeface="MinionPro-Bold"/>
              </a:rPr>
              <a:t>Seasonal Component (</a:t>
            </a:r>
            <a:r>
              <a:rPr lang="en-GB" sz="2000" b="1" i="1" u="none" strike="noStrike" baseline="0" dirty="0">
                <a:solidFill>
                  <a:srgbClr val="000000"/>
                </a:solidFill>
                <a:latin typeface="MinionPro-BoldIt"/>
              </a:rPr>
              <a:t>St</a:t>
            </a:r>
            <a:r>
              <a:rPr lang="en-GB" sz="2000" b="1" i="0" u="none" strike="noStrike" baseline="0" dirty="0">
                <a:solidFill>
                  <a:srgbClr val="000000"/>
                </a:solidFill>
                <a:latin typeface="MinionPro-Bold"/>
              </a:rPr>
              <a:t>): </a:t>
            </a:r>
            <a:r>
              <a:rPr lang="en-GB" sz="2000" b="0" i="0" u="none" strike="noStrike" baseline="0" dirty="0">
                <a:solidFill>
                  <a:srgbClr val="000000"/>
                </a:solidFill>
                <a:latin typeface="MinionPro-Regular"/>
              </a:rPr>
              <a:t>Seasonal component (measured using seasonality index) is the repetitive upward or downward movement (or fluctuations) from the trend that </a:t>
            </a:r>
            <a:r>
              <a:rPr lang="en-GB" sz="2000" b="1" i="0" u="none" strike="noStrike" baseline="0" dirty="0">
                <a:solidFill>
                  <a:srgbClr val="000000"/>
                </a:solidFill>
                <a:latin typeface="MinionPro-Regular"/>
              </a:rPr>
              <a:t>occurs within a calendar year  such as seasons, quarters, months, days of the week,</a:t>
            </a:r>
          </a:p>
          <a:p>
            <a:pPr algn="just"/>
            <a:r>
              <a:rPr lang="en-GB" sz="2000" b="1" i="0" u="none" strike="noStrike" baseline="0" dirty="0">
                <a:latin typeface="MinionPro-Bold"/>
              </a:rPr>
              <a:t>Cyclical Component (</a:t>
            </a:r>
            <a:r>
              <a:rPr lang="en-GB" sz="2000" b="1" i="1" u="none" strike="noStrike" baseline="0" dirty="0">
                <a:latin typeface="MinionPro-BoldIt"/>
              </a:rPr>
              <a:t>Ct</a:t>
            </a:r>
            <a:r>
              <a:rPr lang="en-GB" sz="2000" b="1" i="0" u="none" strike="noStrike" baseline="0" dirty="0">
                <a:latin typeface="MinionPro-Bold"/>
              </a:rPr>
              <a:t>): </a:t>
            </a:r>
            <a:r>
              <a:rPr lang="en-GB" sz="2000" b="0" i="0" u="none" strike="noStrike" baseline="0" dirty="0">
                <a:latin typeface="MinionPro-Regular"/>
              </a:rPr>
              <a:t>Cyclical component is fluctuation around the trend line that happens due to macro-economic changes such as </a:t>
            </a:r>
            <a:r>
              <a:rPr lang="en-GB" sz="2000" b="1" i="0" u="none" strike="noStrike" baseline="0" dirty="0">
                <a:latin typeface="MinionPro-Regular"/>
              </a:rPr>
              <a:t>recession, unemployment</a:t>
            </a:r>
            <a:r>
              <a:rPr lang="en-GB" sz="2000" b="0" i="0" u="none" strike="noStrike" baseline="0" dirty="0">
                <a:latin typeface="MinionPro-Regular"/>
              </a:rPr>
              <a:t>, etc.</a:t>
            </a:r>
            <a:endParaRPr lang="en-GB" sz="2000" dirty="0">
              <a:solidFill>
                <a:srgbClr val="000000"/>
              </a:solidFill>
              <a:latin typeface="MinionPro-Regular"/>
            </a:endParaRPr>
          </a:p>
          <a:p>
            <a:pPr algn="just"/>
            <a:r>
              <a:rPr lang="en-GB" sz="2000" b="1" i="0" u="none" strike="noStrike" baseline="0" dirty="0">
                <a:latin typeface="MinionPro-Bold"/>
              </a:rPr>
              <a:t>Irregular Component (</a:t>
            </a:r>
            <a:r>
              <a:rPr lang="en-GB" sz="2000" b="1" i="1" u="none" strike="noStrike" baseline="0" dirty="0">
                <a:latin typeface="MinionPro-BoldIt"/>
              </a:rPr>
              <a:t>It</a:t>
            </a:r>
            <a:r>
              <a:rPr lang="en-GB" sz="2000" b="1" i="0" u="none" strike="noStrike" baseline="0" dirty="0">
                <a:latin typeface="MinionPro-Bold"/>
              </a:rPr>
              <a:t>): </a:t>
            </a:r>
            <a:r>
              <a:rPr lang="en-GB" sz="2000" b="0" i="0" u="none" strike="noStrike" baseline="0" dirty="0">
                <a:latin typeface="MinionPro-Regular"/>
              </a:rPr>
              <a:t>Irregular component is the </a:t>
            </a:r>
            <a:r>
              <a:rPr lang="en-GB" sz="2000" b="1" i="0" u="none" strike="noStrike" baseline="0" dirty="0">
                <a:latin typeface="MinionPro-Regular"/>
              </a:rPr>
              <a:t>white noise </a:t>
            </a:r>
            <a:r>
              <a:rPr lang="en-GB" sz="2000" b="0" i="0" u="none" strike="noStrike" baseline="0" dirty="0">
                <a:latin typeface="MinionPro-Regular"/>
              </a:rPr>
              <a:t>or </a:t>
            </a:r>
            <a:r>
              <a:rPr lang="en-GB" sz="2000" b="1" i="0" u="none" strike="noStrike" baseline="0" dirty="0">
                <a:latin typeface="MinionPro-Regular"/>
              </a:rPr>
              <a:t>random uncorrelated changes </a:t>
            </a:r>
            <a:r>
              <a:rPr lang="en-GB" sz="2000" b="0" i="0" u="none" strike="noStrike" baseline="0" dirty="0">
                <a:latin typeface="MinionPro-Regular"/>
              </a:rPr>
              <a:t>that follow a normal distribution with mean value of 0 and constant variance.</a:t>
            </a:r>
          </a:p>
          <a:p>
            <a:pPr algn="l"/>
            <a:r>
              <a:rPr lang="en-GB" sz="1800" b="0" i="0" u="none" strike="noStrike" baseline="0" dirty="0">
                <a:latin typeface="MinionPro-Regular"/>
              </a:rPr>
              <a:t>The time-series data can be modelled as an addition of the above components or product of the above components. The </a:t>
            </a:r>
            <a:r>
              <a:rPr lang="en-GB" sz="1800" b="1" i="0" u="none" strike="noStrike" baseline="0" dirty="0">
                <a:latin typeface="MinionPro-Regular"/>
              </a:rPr>
              <a:t>additive time-series model </a:t>
            </a:r>
            <a:r>
              <a:rPr lang="en-GB" sz="1800" b="0" i="0" u="none" strike="noStrike" baseline="0" dirty="0">
                <a:latin typeface="MinionPro-Regular"/>
              </a:rPr>
              <a:t>is given by</a:t>
            </a:r>
          </a:p>
          <a:p>
            <a:pPr marL="0" indent="0" algn="l">
              <a:buNone/>
            </a:pPr>
            <a:r>
              <a:rPr lang="en-GB" sz="1800" dirty="0">
                <a:latin typeface="MinionPro-Regular"/>
              </a:rPr>
              <a:t>			</a:t>
            </a:r>
            <a:endParaRPr lang="en-GB" sz="1800" b="0" i="0" u="none" strike="noStrike" baseline="0" dirty="0">
              <a:latin typeface="MinionPro-Regular"/>
            </a:endParaRPr>
          </a:p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983D6C-9EC7-4239-9167-36160C236B19}"/>
              </a:ext>
            </a:extLst>
          </p:cNvPr>
          <p:cNvSpPr/>
          <p:nvPr/>
        </p:nvSpPr>
        <p:spPr>
          <a:xfrm>
            <a:off x="126609" y="133959"/>
            <a:ext cx="11943471" cy="661181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E048D8-CF9B-453A-8D51-C510B720E66D}"/>
              </a:ext>
            </a:extLst>
          </p:cNvPr>
          <p:cNvCxnSpPr/>
          <p:nvPr/>
        </p:nvCxnSpPr>
        <p:spPr>
          <a:xfrm>
            <a:off x="124264" y="1095568"/>
            <a:ext cx="1194347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07AE0DC-7EB4-8F28-1EBF-FF0B5818C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353" y="5045333"/>
            <a:ext cx="2442241" cy="594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969992-B9F1-EC3A-EB2F-6F93330B2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603" y="5354653"/>
            <a:ext cx="5824198" cy="11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700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841" y="425745"/>
            <a:ext cx="10515600" cy="726482"/>
          </a:xfrm>
        </p:spPr>
        <p:txBody>
          <a:bodyPr/>
          <a:lstStyle/>
          <a:p>
            <a:r>
              <a:rPr lang="en-US" b="1"/>
              <a:t>Trends in Timeseries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31697-9A13-4BE7-A769-7B89D9F8D5E3}"/>
              </a:ext>
            </a:extLst>
          </p:cNvPr>
          <p:cNvSpPr/>
          <p:nvPr/>
        </p:nvSpPr>
        <p:spPr>
          <a:xfrm>
            <a:off x="126609" y="218050"/>
            <a:ext cx="11943471" cy="661181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690427-5EFB-4F14-A141-3C7909D92D46}"/>
              </a:ext>
            </a:extLst>
          </p:cNvPr>
          <p:cNvCxnSpPr/>
          <p:nvPr/>
        </p:nvCxnSpPr>
        <p:spPr>
          <a:xfrm>
            <a:off x="124264" y="1300928"/>
            <a:ext cx="1194347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C074F80-A6E1-C718-0319-4F671AE77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729" y="1840471"/>
            <a:ext cx="7467600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98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8E139F69-90DB-4363-99C1-CDD094EED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AEF61B-1377-734B-9B1D-A21C5F9C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5" y="416317"/>
            <a:ext cx="10818797" cy="516030"/>
          </a:xfrm>
        </p:spPr>
        <p:txBody>
          <a:bodyPr anchor="t">
            <a:noAutofit/>
          </a:bodyPr>
          <a:lstStyle/>
          <a:p>
            <a:r>
              <a:rPr lang="en-GB" sz="2000" b="1" i="0" u="none" strike="noStrike" baseline="0">
                <a:latin typeface="Lato-Bold"/>
              </a:rPr>
              <a:t>FORECASTING TECHNIQUES AND FORECASTING ACCURACY</a:t>
            </a:r>
            <a:br>
              <a:rPr lang="en-IN" sz="2000" b="1"/>
            </a:br>
            <a:endParaRPr lang="en-US" sz="200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F5608BC-985E-44AE-8C56-1C7990286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885825" cy="6858000"/>
            <a:chOff x="0" y="0"/>
            <a:chExt cx="885825" cy="6858000"/>
          </a:xfrm>
        </p:grpSpPr>
        <p:sp>
          <p:nvSpPr>
            <p:cNvPr id="77" name="Freeform 6">
              <a:extLst>
                <a:ext uri="{FF2B5EF4-FFF2-40B4-BE49-F238E27FC236}">
                  <a16:creationId xmlns:a16="http://schemas.microsoft.com/office/drawing/2014/main" id="{FF652A2A-BC90-4341-B339-840F6E1C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id="{E55F3E59-21AB-424D-B654-E1B9E304F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Rectangle 2">
            <a:extLst>
              <a:ext uri="{FF2B5EF4-FFF2-40B4-BE49-F238E27FC236}">
                <a16:creationId xmlns:a16="http://schemas.microsoft.com/office/drawing/2014/main" id="{6E7FA36D-F149-C84E-A1B1-A8DF53847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7716" y="-29262"/>
            <a:ext cx="124758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D4E403-E990-4678-815F-D2DA8375368C}"/>
              </a:ext>
            </a:extLst>
          </p:cNvPr>
          <p:cNvSpPr/>
          <p:nvPr/>
        </p:nvSpPr>
        <p:spPr>
          <a:xfrm>
            <a:off x="126609" y="133959"/>
            <a:ext cx="11943471" cy="661181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6E1CD5-74A0-4549-A5AC-8B7D667C912D}"/>
              </a:ext>
            </a:extLst>
          </p:cNvPr>
          <p:cNvCxnSpPr/>
          <p:nvPr/>
        </p:nvCxnSpPr>
        <p:spPr>
          <a:xfrm>
            <a:off x="124264" y="1095568"/>
            <a:ext cx="1194347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624DCD5-D173-6027-3709-02641022A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909" y="1258790"/>
            <a:ext cx="9217741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093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3B6B5C9-BE23-4C39-92DF-62F5C1B96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933887F-5725-499E-8BC5-19BEFD54D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885825" cy="6858000"/>
            <a:chOff x="0" y="0"/>
            <a:chExt cx="885825" cy="6858000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951F68D6-DC6F-411C-AC90-625926C1F6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237141AF-5F53-4F17-BC2C-4CD50626F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7401EA5-4D01-44D1-8501-4EE0E75FF7FF}"/>
              </a:ext>
            </a:extLst>
          </p:cNvPr>
          <p:cNvSpPr/>
          <p:nvPr/>
        </p:nvSpPr>
        <p:spPr>
          <a:xfrm>
            <a:off x="126609" y="133959"/>
            <a:ext cx="11943471" cy="661181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A4D5DE-CF18-4E89-BFD7-A171D03BECC4}"/>
              </a:ext>
            </a:extLst>
          </p:cNvPr>
          <p:cNvCxnSpPr/>
          <p:nvPr/>
        </p:nvCxnSpPr>
        <p:spPr>
          <a:xfrm>
            <a:off x="124264" y="1095568"/>
            <a:ext cx="1194347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12583AC3-16CB-85A8-DD0B-70F017708A6F}"/>
              </a:ext>
            </a:extLst>
          </p:cNvPr>
          <p:cNvSpPr txBox="1">
            <a:spLocks/>
          </p:cNvSpPr>
          <p:nvPr/>
        </p:nvSpPr>
        <p:spPr>
          <a:xfrm>
            <a:off x="885825" y="416317"/>
            <a:ext cx="10818797" cy="5160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>
                <a:latin typeface="Lato-Bold"/>
              </a:rPr>
              <a:t>FORECASTING TECHNIQUES AND FORECASTING ACCURACY</a:t>
            </a:r>
            <a:br>
              <a:rPr lang="en-IN" sz="2000" b="1"/>
            </a:br>
            <a:endParaRPr lang="en-US" sz="2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9D4A77-BB9C-0D7C-295B-EC16440A0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2" y="1214705"/>
            <a:ext cx="9136165" cy="522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37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B47766-88BB-4432-9800-06B7EF56596A}"/>
              </a:ext>
            </a:extLst>
          </p:cNvPr>
          <p:cNvSpPr/>
          <p:nvPr/>
        </p:nvSpPr>
        <p:spPr>
          <a:xfrm>
            <a:off x="126609" y="133959"/>
            <a:ext cx="11943471" cy="661181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74F4A2-DBED-42F1-AC42-51ABFA2ADA8C}"/>
              </a:ext>
            </a:extLst>
          </p:cNvPr>
          <p:cNvCxnSpPr/>
          <p:nvPr/>
        </p:nvCxnSpPr>
        <p:spPr>
          <a:xfrm>
            <a:off x="124264" y="1095568"/>
            <a:ext cx="1194347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26B0B500-17B7-2CA5-614D-EEC1D66F6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65" y="287323"/>
            <a:ext cx="10515600" cy="618217"/>
          </a:xfrm>
        </p:spPr>
        <p:txBody>
          <a:bodyPr/>
          <a:lstStyle/>
          <a:p>
            <a:r>
              <a:rPr lang="en-IN" sz="1800" b="1" i="0" u="none" strike="noStrike" baseline="0">
                <a:latin typeface="Lato-Bold"/>
              </a:rPr>
              <a:t>MOVING AVERAGE METHOD</a:t>
            </a:r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D5953F-A543-FE18-CA99-549F83AF3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97" y="1513960"/>
            <a:ext cx="6331275" cy="36260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B4FAB1-0D26-EEBB-AD25-CC41BE3DF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171" y="2372886"/>
            <a:ext cx="5795220" cy="318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73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9A3DD-E82E-3475-FF8C-C7F0AC6C9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5BAAF9-5A1B-4D85-C4D9-02E0E4F633F6}"/>
              </a:ext>
            </a:extLst>
          </p:cNvPr>
          <p:cNvSpPr/>
          <p:nvPr/>
        </p:nvSpPr>
        <p:spPr>
          <a:xfrm>
            <a:off x="126609" y="133959"/>
            <a:ext cx="11943471" cy="661181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A0AC37-B4E2-93D3-FED2-EE957DA2B77D}"/>
              </a:ext>
            </a:extLst>
          </p:cNvPr>
          <p:cNvCxnSpPr/>
          <p:nvPr/>
        </p:nvCxnSpPr>
        <p:spPr>
          <a:xfrm>
            <a:off x="124264" y="1095568"/>
            <a:ext cx="1194347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7C6A1710-B748-A978-E2DD-04EF08F1F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65" y="287323"/>
            <a:ext cx="10515600" cy="618217"/>
          </a:xfrm>
        </p:spPr>
        <p:txBody>
          <a:bodyPr/>
          <a:lstStyle/>
          <a:p>
            <a:r>
              <a:rPr lang="en-IN" sz="1800" b="1" i="0" u="none" strike="noStrike" baseline="0" dirty="0">
                <a:latin typeface="Lato-Bold"/>
              </a:rPr>
              <a:t>WEIGHTED MOVING AVERAGE METHOD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162368-B68E-5E86-371D-6B408837AC7E}"/>
              </a:ext>
            </a:extLst>
          </p:cNvPr>
          <p:cNvSpPr txBox="1"/>
          <p:nvPr/>
        </p:nvSpPr>
        <p:spPr>
          <a:xfrm>
            <a:off x="718456" y="1346523"/>
            <a:ext cx="104067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 the </a:t>
            </a:r>
            <a:r>
              <a:rPr lang="en-IN" b="1" dirty="0"/>
              <a:t>Weighted Moving Average</a:t>
            </a:r>
            <a:r>
              <a:rPr lang="en-IN" dirty="0"/>
              <a:t>, different weights are assigned to past observations. Usually, </a:t>
            </a:r>
            <a:r>
              <a:rPr lang="en-IN" b="1" dirty="0"/>
              <a:t>more weight is given to recent observations</a:t>
            </a:r>
            <a:r>
              <a:rPr lang="en-IN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3F543F-B12F-A034-79BC-F3BD6393A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57" y="2558998"/>
            <a:ext cx="5245370" cy="20448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BB8C64-BA36-8986-B6A0-12731F111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995" y="2243808"/>
            <a:ext cx="4934204" cy="375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072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4DD38-6470-F148-B314-295EC411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58" y="387817"/>
            <a:ext cx="10515600" cy="578772"/>
          </a:xfrm>
        </p:spPr>
        <p:txBody>
          <a:bodyPr>
            <a:noAutofit/>
          </a:bodyPr>
          <a:lstStyle/>
          <a:p>
            <a:r>
              <a:rPr lang="en-IN" sz="2000" b="1" i="0" u="none" strike="noStrike" baseline="0">
                <a:latin typeface="Lato-Bold"/>
              </a:rPr>
              <a:t>SINGLE EXPONENTIAL SMOOTHING (ES)</a:t>
            </a:r>
            <a:br>
              <a:rPr lang="en-IN" sz="2000" b="1"/>
            </a:br>
            <a:endParaRPr lang="en-US" sz="20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09BF4F-8107-4B09-913D-8D671ECA91EB}"/>
              </a:ext>
            </a:extLst>
          </p:cNvPr>
          <p:cNvSpPr/>
          <p:nvPr/>
        </p:nvSpPr>
        <p:spPr>
          <a:xfrm>
            <a:off x="126609" y="133959"/>
            <a:ext cx="11943471" cy="661181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C48C58-A415-4DE5-86D8-1846B70BE9B7}"/>
              </a:ext>
            </a:extLst>
          </p:cNvPr>
          <p:cNvCxnSpPr/>
          <p:nvPr/>
        </p:nvCxnSpPr>
        <p:spPr>
          <a:xfrm>
            <a:off x="124264" y="1095568"/>
            <a:ext cx="1194347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334140-0351-E2C3-B035-C9B4D674E3E6}"/>
                  </a:ext>
                </a:extLst>
              </p:cNvPr>
              <p:cNvSpPr txBox="1"/>
              <p:nvPr/>
            </p:nvSpPr>
            <p:spPr>
              <a:xfrm>
                <a:off x="674914" y="1328033"/>
                <a:ext cx="1113608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Single Exponential Smoothing is appropriate when the time series has a </a:t>
                </a:r>
                <a:r>
                  <a:rPr lang="en-IN" b="1" dirty="0"/>
                  <a:t>fairly stable level without significant trend or seasonality</a:t>
                </a:r>
                <a:r>
                  <a:rPr lang="en-IN" dirty="0"/>
                  <a:t>. Dinesh Kumar uses the smoothing constant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N" dirty="0"/>
                  <a:t>, where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IN" dirty="0"/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334140-0351-E2C3-B035-C9B4D674E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14" y="1328033"/>
                <a:ext cx="11136086" cy="646331"/>
              </a:xfrm>
              <a:prstGeom prst="rect">
                <a:avLst/>
              </a:prstGeom>
              <a:blipFill>
                <a:blip r:embed="rId2"/>
                <a:stretch>
                  <a:fillRect l="-493" t="-5660" r="-766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2FB5E2C-C615-F6EB-0619-1EF595EC8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70" y="2158934"/>
            <a:ext cx="4229317" cy="25401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89669F-CAF5-1B71-50F8-93795EBDF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259" y="2376502"/>
            <a:ext cx="5486682" cy="320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6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265D7-DA1F-37D3-E394-B096C7786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2610B-C564-3472-96EE-BEBE504D3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58" y="387817"/>
            <a:ext cx="10515600" cy="578772"/>
          </a:xfrm>
        </p:spPr>
        <p:txBody>
          <a:bodyPr>
            <a:noAutofit/>
          </a:bodyPr>
          <a:lstStyle/>
          <a:p>
            <a:r>
              <a:rPr lang="en-IN" sz="2000" b="1" i="0" u="none" strike="noStrike" baseline="0">
                <a:latin typeface="Lato-Bold"/>
              </a:rPr>
              <a:t>SINGLE EXPONENTIAL SMOOTHING (ES)</a:t>
            </a:r>
            <a:br>
              <a:rPr lang="en-IN" sz="2000" b="1"/>
            </a:br>
            <a:endParaRPr lang="en-US" sz="20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08BC5F-8C74-F1FF-695D-0DD4C705809B}"/>
              </a:ext>
            </a:extLst>
          </p:cNvPr>
          <p:cNvSpPr/>
          <p:nvPr/>
        </p:nvSpPr>
        <p:spPr>
          <a:xfrm>
            <a:off x="126609" y="133959"/>
            <a:ext cx="11943471" cy="661181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1C9E1F-9529-5635-8A59-FDC42584FD8C}"/>
              </a:ext>
            </a:extLst>
          </p:cNvPr>
          <p:cNvCxnSpPr/>
          <p:nvPr/>
        </p:nvCxnSpPr>
        <p:spPr>
          <a:xfrm>
            <a:off x="124264" y="1095568"/>
            <a:ext cx="1194347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A3D6D51-E332-C980-256B-56B827224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05" y="1125682"/>
            <a:ext cx="4267419" cy="38292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ED6BAC-9CF9-9B57-ADDD-DF524E209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758" y="5228019"/>
            <a:ext cx="5950256" cy="124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113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13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38" name="Isosceles Triangle 137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Isosceles Triangle 142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2516F519-7406-4350-9FAD-4B6CCB8AF3EF}"/>
              </a:ext>
            </a:extLst>
          </p:cNvPr>
          <p:cNvSpPr/>
          <p:nvPr/>
        </p:nvSpPr>
        <p:spPr>
          <a:xfrm>
            <a:off x="126609" y="133959"/>
            <a:ext cx="11943471" cy="661181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DEF5B1-8085-41F6-892C-1B0D383768E0}"/>
              </a:ext>
            </a:extLst>
          </p:cNvPr>
          <p:cNvCxnSpPr/>
          <p:nvPr/>
        </p:nvCxnSpPr>
        <p:spPr>
          <a:xfrm>
            <a:off x="124264" y="1095568"/>
            <a:ext cx="1194347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26E74EF-61C7-C6A4-47F9-42458F9EC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800" y="1457471"/>
            <a:ext cx="10460341" cy="451562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8FC1A8D-18B2-6CAF-DDFD-CEC566D43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58" y="387817"/>
            <a:ext cx="10515600" cy="578772"/>
          </a:xfrm>
        </p:spPr>
        <p:txBody>
          <a:bodyPr>
            <a:noAutofit/>
          </a:bodyPr>
          <a:lstStyle/>
          <a:p>
            <a:r>
              <a:rPr lang="en-IN" sz="2000" b="1" i="0" u="none" strike="noStrike" baseline="0">
                <a:latin typeface="Lato-Bold"/>
              </a:rPr>
              <a:t>SINGLE EXPONENTIAL SMOOTHING (ES)</a:t>
            </a:r>
            <a:br>
              <a:rPr lang="en-IN" sz="2000" b="1"/>
            </a:b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2854032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CB5EA14-D62C-494E-A67F-8E531009A810}"/>
              </a:ext>
            </a:extLst>
          </p:cNvPr>
          <p:cNvSpPr/>
          <p:nvPr/>
        </p:nvSpPr>
        <p:spPr>
          <a:xfrm>
            <a:off x="126609" y="133959"/>
            <a:ext cx="11943471" cy="661181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5E97C3D-7D29-4C46-B783-0E3C3C530DB3}"/>
              </a:ext>
            </a:extLst>
          </p:cNvPr>
          <p:cNvCxnSpPr/>
          <p:nvPr/>
        </p:nvCxnSpPr>
        <p:spPr>
          <a:xfrm>
            <a:off x="124264" y="1095568"/>
            <a:ext cx="1194347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8434F7E-A687-DA9D-E595-F6A88F5E0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09" y="144422"/>
            <a:ext cx="10905066" cy="1135737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>
                <a:latin typeface="Lato-Bold"/>
              </a:rPr>
              <a:t>Optimal Smoothing Constant in a Single Exponential Smoothing (SES)</a:t>
            </a:r>
            <a:endParaRPr lang="en-US" sz="3200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F470AD-4734-16BC-670E-79F351A05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9" y="1290623"/>
            <a:ext cx="10176387" cy="471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16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26609" y="112226"/>
            <a:ext cx="10515600" cy="1325563"/>
          </a:xfrm>
        </p:spPr>
        <p:txBody>
          <a:bodyPr>
            <a:normAutofit/>
          </a:bodyPr>
          <a:lstStyle/>
          <a:p>
            <a:r>
              <a:rPr lang="en-GB" sz="2800" b="1" i="0" u="none" strike="noStrike" baseline="0">
                <a:latin typeface="Lato-Bold"/>
              </a:rPr>
              <a:t>DOUBLE EXPONENTIAL SMOOTHING – HOLT’S METHOD</a:t>
            </a:r>
            <a:endParaRPr lang="en-US" altLang="en-US" sz="2800">
              <a:ea typeface="ＭＳ Ｐゴシック" panose="020B060007020508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58EBB5-2640-45B0-AFD8-7848C94BA9BD}"/>
              </a:ext>
            </a:extLst>
          </p:cNvPr>
          <p:cNvSpPr/>
          <p:nvPr/>
        </p:nvSpPr>
        <p:spPr>
          <a:xfrm>
            <a:off x="126609" y="133959"/>
            <a:ext cx="11943471" cy="661181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55760B-2567-4FCC-BDCC-3A21C95E4D08}"/>
              </a:ext>
            </a:extLst>
          </p:cNvPr>
          <p:cNvCxnSpPr/>
          <p:nvPr/>
        </p:nvCxnSpPr>
        <p:spPr>
          <a:xfrm>
            <a:off x="124264" y="1095568"/>
            <a:ext cx="1194347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4925547-1B6A-5CF5-BD38-B9CED374CF44}"/>
              </a:ext>
            </a:extLst>
          </p:cNvPr>
          <p:cNvSpPr txBox="1"/>
          <p:nvPr/>
        </p:nvSpPr>
        <p:spPr>
          <a:xfrm>
            <a:off x="424541" y="1155581"/>
            <a:ext cx="11484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Single exponential smoothing has a limitation: </a:t>
            </a:r>
            <a:r>
              <a:rPr lang="en-IN" b="1" dirty="0"/>
              <a:t>it cannot adequately handle a trend</a:t>
            </a:r>
            <a:r>
              <a:rPr lang="en-IN" dirty="0"/>
              <a:t>. Holt's Double Exponential Smoothing introduces a second equation to capture the </a:t>
            </a:r>
            <a:r>
              <a:rPr lang="en-IN" b="1" dirty="0"/>
              <a:t>trend</a:t>
            </a:r>
            <a:r>
              <a:rPr lang="en-IN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E60295-6AB4-8958-837E-486C8CA03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59" y="1910793"/>
            <a:ext cx="4102311" cy="40197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79F5C8-5FC9-C7D6-739A-296BD6E1B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45" y="2173603"/>
            <a:ext cx="4515082" cy="278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70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FC1D3-A880-720D-7FCE-52C3B095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0EB762A9-5A21-2B37-8BEE-A1429C39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09" y="112226"/>
            <a:ext cx="10515600" cy="1325563"/>
          </a:xfrm>
        </p:spPr>
        <p:txBody>
          <a:bodyPr>
            <a:normAutofit/>
          </a:bodyPr>
          <a:lstStyle/>
          <a:p>
            <a:r>
              <a:rPr lang="en-GB" sz="2800" b="1" i="0" u="none" strike="noStrike" baseline="0">
                <a:latin typeface="Lato-Bold"/>
              </a:rPr>
              <a:t>DOUBLE EXPONENTIAL SMOOTHING – HOLT’S METHOD</a:t>
            </a:r>
            <a:endParaRPr lang="en-US" altLang="en-US" sz="2800">
              <a:ea typeface="ＭＳ Ｐゴシック" panose="020B060007020508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2B419C-E1F2-6640-112C-F25A807B775F}"/>
              </a:ext>
            </a:extLst>
          </p:cNvPr>
          <p:cNvSpPr/>
          <p:nvPr/>
        </p:nvSpPr>
        <p:spPr>
          <a:xfrm>
            <a:off x="126609" y="133959"/>
            <a:ext cx="11943471" cy="661181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EBC9B3-90D5-D5A6-C8C6-F37F9C43368C}"/>
              </a:ext>
            </a:extLst>
          </p:cNvPr>
          <p:cNvCxnSpPr/>
          <p:nvPr/>
        </p:nvCxnSpPr>
        <p:spPr>
          <a:xfrm>
            <a:off x="124264" y="1095568"/>
            <a:ext cx="1194347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B5DB940-9D11-98B9-5E02-CCC1FD873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39" y="1437789"/>
            <a:ext cx="4038808" cy="2959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3A2168-5AEF-6CED-9119-8BF90EF92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688" y="1918654"/>
            <a:ext cx="4305521" cy="377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660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55807-2046-A2FE-F840-68E8628F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7" y="202894"/>
            <a:ext cx="11841271" cy="917984"/>
          </a:xfrm>
        </p:spPr>
        <p:txBody>
          <a:bodyPr>
            <a:normAutofit/>
          </a:bodyPr>
          <a:lstStyle/>
          <a:p>
            <a:r>
              <a:rPr lang="en-GB" sz="2800" b="1" i="0" u="none" strike="noStrike" baseline="0">
                <a:latin typeface="Lato-Bold"/>
              </a:rPr>
              <a:t>TRIPLE EXPONENTIAL SMOOTHING (HOLT-WINTER MODEL)</a:t>
            </a:r>
            <a:endParaRPr lang="en-IN" sz="2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C07CD4-5E4C-002C-28D7-BF70E134EFF7}"/>
              </a:ext>
            </a:extLst>
          </p:cNvPr>
          <p:cNvSpPr txBox="1"/>
          <p:nvPr/>
        </p:nvSpPr>
        <p:spPr>
          <a:xfrm>
            <a:off x="664027" y="1120878"/>
            <a:ext cx="111252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Triple Exponential Smoothing, also called the Holt-Winters Model, is used when the time series contains: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Level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Trend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Seasonality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BC3058-A9B4-1BE6-ACFA-28814A208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44" y="2460171"/>
            <a:ext cx="6252313" cy="13632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C7F4CA-2697-4BA4-C03B-FD1FE47EB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490" y="1790616"/>
            <a:ext cx="4819898" cy="32767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AAE39E-7824-0DA2-9981-63C18946D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065" y="4601000"/>
            <a:ext cx="4292821" cy="2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256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E158B-F046-FE50-72AF-4D1E53A57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BBE18-60DC-535A-4C0D-E26EBACE1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7" y="202894"/>
            <a:ext cx="11841271" cy="917984"/>
          </a:xfrm>
        </p:spPr>
        <p:txBody>
          <a:bodyPr>
            <a:normAutofit/>
          </a:bodyPr>
          <a:lstStyle/>
          <a:p>
            <a:r>
              <a:rPr lang="en-GB" sz="2800" b="1" i="0" u="none" strike="noStrike" baseline="0" dirty="0">
                <a:latin typeface="Lato-Bold"/>
              </a:rPr>
              <a:t>TRIPLE EXPONENTIAL SMOOTHING (</a:t>
            </a:r>
            <a:r>
              <a:rPr lang="en-IN" sz="2800" b="1" dirty="0"/>
              <a:t>Multiplicative Holt-Winters Method</a:t>
            </a:r>
            <a:r>
              <a:rPr lang="en-GB" sz="2800" b="1" i="0" u="none" strike="noStrike" baseline="0" dirty="0">
                <a:latin typeface="Lato-Bold"/>
              </a:rPr>
              <a:t>)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D63CFC-796B-0E92-8592-1E6F9B1FA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627" y="1202351"/>
            <a:ext cx="7635116" cy="30321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1263A0-C353-C549-8DCA-AAD1756F6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627" y="4582886"/>
            <a:ext cx="5154953" cy="202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158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FC3B-0AF8-6DC5-CB61-603356BA4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649"/>
            <a:ext cx="10515600" cy="682010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>
                <a:latin typeface="Lato-Bold"/>
              </a:rPr>
              <a:t>Predicting Seasonality Index Using Method of Averages</a:t>
            </a:r>
            <a:endParaRPr lang="en-IN" sz="3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254E58-7E8B-4905-3EB6-93E84A4BB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496" y="1010653"/>
            <a:ext cx="9897978" cy="568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594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6DEEF-15F1-DEEA-BD2D-3E7D13B5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129152"/>
            <a:ext cx="10515600" cy="917984"/>
          </a:xfrm>
        </p:spPr>
        <p:txBody>
          <a:bodyPr>
            <a:normAutofit/>
          </a:bodyPr>
          <a:lstStyle/>
          <a:p>
            <a:r>
              <a:rPr lang="en-GB" sz="3200" b="1" i="0" u="none" strike="noStrike" baseline="0">
                <a:latin typeface="Lato-Bold"/>
              </a:rPr>
              <a:t>Forecasting Time-Series Data with Seasonal Variation</a:t>
            </a:r>
            <a:endParaRPr lang="en-IN" sz="3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056807-6316-1736-AF50-28E02B817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77" y="1047136"/>
            <a:ext cx="9910917" cy="568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286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D4797-6828-D4F1-606D-13CE0423D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0"/>
            <a:ext cx="10515600" cy="858991"/>
          </a:xfrm>
        </p:spPr>
        <p:txBody>
          <a:bodyPr>
            <a:normAutofit/>
          </a:bodyPr>
          <a:lstStyle/>
          <a:p>
            <a:r>
              <a:rPr lang="en-IN" sz="3200" b="1" i="0" u="none" strike="noStrike" baseline="0">
                <a:latin typeface="Lato-Bold"/>
              </a:rPr>
              <a:t>REGRESSION MODEL FOR FORECASTING</a:t>
            </a:r>
            <a:endParaRPr lang="en-IN" sz="3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EE2303-B3AD-EBA7-5460-16F257EA3A43}"/>
              </a:ext>
            </a:extLst>
          </p:cNvPr>
          <p:cNvSpPr txBox="1"/>
          <p:nvPr/>
        </p:nvSpPr>
        <p:spPr>
          <a:xfrm>
            <a:off x="1094014" y="768421"/>
            <a:ext cx="100039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Regression Models for Time-Series Forecasting: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dirty="0"/>
              <a:t>In business analytics, forecasting means </a:t>
            </a:r>
            <a:r>
              <a:rPr lang="en-IN" sz="2400" b="1" dirty="0"/>
              <a:t>predicting future values of a variable using its historical observations</a:t>
            </a:r>
            <a:r>
              <a:rPr lang="en-IN" sz="24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C190A4-A669-4D60-14FD-49237972E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428" y="2338080"/>
            <a:ext cx="9013371" cy="422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770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576068-BA8C-77D3-BEEE-F654FEAF2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10" y="1894044"/>
            <a:ext cx="5366657" cy="38753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E45D92-C153-017E-193D-8F953A2401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59"/>
          <a:stretch>
            <a:fillRect/>
          </a:stretch>
        </p:blipFill>
        <p:spPr>
          <a:xfrm>
            <a:off x="6597977" y="2035628"/>
            <a:ext cx="5474279" cy="406033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EED2CB8-B563-58E0-9703-24ECEA7BE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8144"/>
            <a:ext cx="10515600" cy="696759"/>
          </a:xfrm>
        </p:spPr>
        <p:txBody>
          <a:bodyPr>
            <a:normAutofit/>
          </a:bodyPr>
          <a:lstStyle/>
          <a:p>
            <a:r>
              <a:rPr lang="en-IN" sz="3200" b="1" i="0" u="none" strike="noStrike" baseline="0" dirty="0">
                <a:latin typeface="Lato-Bold"/>
              </a:rPr>
              <a:t>AUTO-REGRESSIVE (AR) MODELS</a:t>
            </a:r>
            <a:endParaRPr lang="en-IN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0EB9EC-F384-5095-4632-A12381D873A4}"/>
              </a:ext>
            </a:extLst>
          </p:cNvPr>
          <p:cNvSpPr txBox="1"/>
          <p:nvPr/>
        </p:nvSpPr>
        <p:spPr>
          <a:xfrm>
            <a:off x="254452" y="884903"/>
            <a:ext cx="117089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Auto-Regressive</a:t>
            </a:r>
            <a:r>
              <a:rPr lang="en-IN" sz="2400" dirty="0"/>
              <a:t> means that the current value of a time series is explained by its </a:t>
            </a:r>
            <a:r>
              <a:rPr lang="en-IN" sz="2400" b="1" dirty="0"/>
              <a:t>own previous values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8997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7C56B9-C700-14A9-638C-105C3F601CA8}"/>
              </a:ext>
            </a:extLst>
          </p:cNvPr>
          <p:cNvSpPr txBox="1"/>
          <p:nvPr/>
        </p:nvSpPr>
        <p:spPr>
          <a:xfrm>
            <a:off x="802105" y="4048501"/>
            <a:ext cx="1083928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b="1" dirty="0"/>
              <a:t>Stationarity Assumption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1" dirty="0"/>
              <a:t>Stationarity</a:t>
            </a:r>
            <a:r>
              <a:rPr lang="en-GB" sz="2000" dirty="0"/>
              <a:t>: A key assumption of AR models is that the time series is </a:t>
            </a:r>
            <a:r>
              <a:rPr lang="en-GB" sz="2000" b="1" dirty="0"/>
              <a:t>stationary</a:t>
            </a:r>
            <a:r>
              <a:rPr lang="en-GB" sz="2000" dirty="0"/>
              <a:t>. This means that its properties (mean, variance, autocorrelation) do not change over 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Stationarity ensures that the relationships between lags and the series are stable and meaningful over 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1" dirty="0"/>
              <a:t>If the series is non-stationary (e.g., has a trend), differencing may be applied to make it stationary before fitting an AR model.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767F19-5E6C-68B3-8277-2EE648CD4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687" y="490213"/>
            <a:ext cx="5363769" cy="14583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59B0F6-F52A-5F13-7A5B-6299BE961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461" y="2253343"/>
            <a:ext cx="5954539" cy="170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408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7E8DF47-74C2-CD6B-025F-E0973772784D}"/>
              </a:ext>
            </a:extLst>
          </p:cNvPr>
          <p:cNvSpPr txBox="1"/>
          <p:nvPr/>
        </p:nvSpPr>
        <p:spPr>
          <a:xfrm>
            <a:off x="1131936" y="593523"/>
            <a:ext cx="97228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Limitations of AR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Linearity</a:t>
            </a:r>
            <a:r>
              <a:rPr lang="en-GB" dirty="0"/>
              <a:t>: AR models assume linear relationships between the current and lagged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Stationarity</a:t>
            </a:r>
            <a:r>
              <a:rPr lang="en-GB" dirty="0"/>
              <a:t>: They require the series to be stationary, which may not be the case in many real-world time series.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Overfitting</a:t>
            </a:r>
            <a:r>
              <a:rPr lang="en-GB" dirty="0"/>
              <a:t>: Including too many lags can result in overfitting, where the model captures noise rather than the underlying pattern.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B764C0-05C0-F818-367D-295F07BC7488}"/>
              </a:ext>
            </a:extLst>
          </p:cNvPr>
          <p:cNvSpPr txBox="1"/>
          <p:nvPr/>
        </p:nvSpPr>
        <p:spPr>
          <a:xfrm>
            <a:off x="1131936" y="2828835"/>
            <a:ext cx="102095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Applications of AR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Economics and Finance</a:t>
            </a:r>
            <a:r>
              <a:rPr lang="en-GB" dirty="0"/>
              <a:t>: Predicting stock prices, interest rates, and inflation rates.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Weather Forecasting</a:t>
            </a:r>
            <a:r>
              <a:rPr lang="en-GB" dirty="0"/>
              <a:t>: Estimating future weather conditions based on historical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Sales Forecasting</a:t>
            </a:r>
            <a:r>
              <a:rPr lang="en-GB" dirty="0"/>
              <a:t>: Predicting future sales based on past trends.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72BC15-8792-36B8-34A4-3B340E4D17AA}"/>
              </a:ext>
            </a:extLst>
          </p:cNvPr>
          <p:cNvSpPr txBox="1"/>
          <p:nvPr/>
        </p:nvSpPr>
        <p:spPr>
          <a:xfrm>
            <a:off x="1204450" y="4510150"/>
            <a:ext cx="10209570" cy="12311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/>
              <a:t>Extensions of AR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ARMA (Autoregressive Moving Average) Models</a:t>
            </a:r>
            <a:r>
              <a:rPr lang="en-IN" dirty="0"/>
              <a:t>: Combine AR with a moving average (MA) component.</a:t>
            </a:r>
            <a:endParaRPr lang="en-IN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ARIMA (Autoregressive Integrated Moving Average) Models</a:t>
            </a:r>
            <a:r>
              <a:rPr lang="en-IN" dirty="0"/>
              <a:t>: Extend ARMA to handle non-stationary series using differencing.</a:t>
            </a:r>
            <a:endParaRPr lang="en-IN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1192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25B205-33B8-1913-3F36-FC1A5685F50C}"/>
              </a:ext>
            </a:extLst>
          </p:cNvPr>
          <p:cNvSpPr txBox="1"/>
          <p:nvPr/>
        </p:nvSpPr>
        <p:spPr>
          <a:xfrm>
            <a:off x="940210" y="935387"/>
            <a:ext cx="11005984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1" dirty="0"/>
              <a:t>Moving Average (MA)</a:t>
            </a:r>
            <a:r>
              <a:rPr lang="en-GB" sz="2000" dirty="0"/>
              <a:t> models are a type of time series model where the current value of the series is expressed as a linear combination of </a:t>
            </a:r>
            <a:r>
              <a:rPr lang="en-GB" sz="2000" b="1" dirty="0"/>
              <a:t>past error terms</a:t>
            </a:r>
            <a:r>
              <a:rPr lang="en-GB" sz="2000" dirty="0"/>
              <a:t> (also known as residuals or shocks).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In contrast to </a:t>
            </a:r>
            <a:r>
              <a:rPr lang="en-GB" sz="2000" b="1" dirty="0"/>
              <a:t>Autoregressive (AR)</a:t>
            </a:r>
            <a:r>
              <a:rPr lang="en-GB" sz="2000" dirty="0"/>
              <a:t> models, where the past values of the series itself are used, MA models use past forecast errors to explain the current observation.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Time series data</a:t>
            </a:r>
            <a:r>
              <a:rPr lang="en-GB" sz="2000" dirty="0"/>
              <a:t> involves observations taken over regular time intervals (e.g., monthly sales data, daily temperatures).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461F1-7C7F-B05B-883B-2AE4A57AA59D}"/>
              </a:ext>
            </a:extLst>
          </p:cNvPr>
          <p:cNvSpPr txBox="1"/>
          <p:nvPr/>
        </p:nvSpPr>
        <p:spPr>
          <a:xfrm>
            <a:off x="940210" y="3983621"/>
            <a:ext cx="1082900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Moving Regression vs. Traditional Regression: </a:t>
            </a:r>
          </a:p>
          <a:p>
            <a:endParaRPr lang="en-GB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Traditional Regression</a:t>
            </a:r>
            <a:r>
              <a:rPr lang="en-GB" sz="2000" dirty="0"/>
              <a:t>: Assumes relationships between variables are static over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Moving Regression</a:t>
            </a:r>
            <a:r>
              <a:rPr lang="en-GB" sz="2000" dirty="0"/>
              <a:t>: Assumes relationships can change as time progresses, fitting models to </a:t>
            </a:r>
            <a:r>
              <a:rPr lang="en-GB" sz="2000" b="1" dirty="0"/>
              <a:t>rolling windows</a:t>
            </a:r>
            <a:r>
              <a:rPr lang="en-GB" sz="2000" dirty="0"/>
              <a:t> of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Better for </a:t>
            </a:r>
            <a:r>
              <a:rPr lang="en-GB" sz="2000" b="1" dirty="0"/>
              <a:t>time series forecasting</a:t>
            </a:r>
            <a:r>
              <a:rPr lang="en-GB" sz="2000" dirty="0"/>
              <a:t> in dynamic environments.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82B585-DAC5-1CF2-56A7-30E6EA3CFFDC}"/>
              </a:ext>
            </a:extLst>
          </p:cNvPr>
          <p:cNvSpPr txBox="1"/>
          <p:nvPr/>
        </p:nvSpPr>
        <p:spPr>
          <a:xfrm>
            <a:off x="763229" y="303786"/>
            <a:ext cx="6098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/>
              <a:t>Moving</a:t>
            </a:r>
            <a:r>
              <a:rPr lang="en-GB" sz="3200" b="1" dirty="0"/>
              <a:t> Average (MA) Models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288611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D6C254-2D8A-F1E2-FA71-48B08DB92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678" y="546392"/>
            <a:ext cx="9620162" cy="41153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D00985-EEAD-B32E-7D1E-A9BDE3FEA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868" y="4974772"/>
            <a:ext cx="7545017" cy="167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043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D7E7BE-BBDB-55CC-A15E-16D289DD2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581" y="486649"/>
            <a:ext cx="7224618" cy="18864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7F95F4F-3187-C1A0-0C8F-E213965F5F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7354405"/>
                  </p:ext>
                </p:extLst>
              </p:nvPr>
            </p:nvGraphicFramePr>
            <p:xfrm>
              <a:off x="2296886" y="2723536"/>
              <a:ext cx="8447313" cy="327855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815771">
                      <a:extLst>
                        <a:ext uri="{9D8B030D-6E8A-4147-A177-3AD203B41FA5}">
                          <a16:colId xmlns:a16="http://schemas.microsoft.com/office/drawing/2014/main" val="3134839275"/>
                        </a:ext>
                      </a:extLst>
                    </a:gridCol>
                    <a:gridCol w="2815771">
                      <a:extLst>
                        <a:ext uri="{9D8B030D-6E8A-4147-A177-3AD203B41FA5}">
                          <a16:colId xmlns:a16="http://schemas.microsoft.com/office/drawing/2014/main" val="2514964176"/>
                        </a:ext>
                      </a:extLst>
                    </a:gridCol>
                    <a:gridCol w="2815771">
                      <a:extLst>
                        <a:ext uri="{9D8B030D-6E8A-4147-A177-3AD203B41FA5}">
                          <a16:colId xmlns:a16="http://schemas.microsoft.com/office/drawing/2014/main" val="3062878529"/>
                        </a:ext>
                      </a:extLst>
                    </a:gridCol>
                  </a:tblGrid>
                  <a:tr h="4230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Feature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MA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5999398"/>
                      </a:ext>
                    </a:extLst>
                  </a:tr>
                  <a:tr h="4230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Full form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Auto-Regressive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Moving Average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226322"/>
                      </a:ext>
                    </a:extLst>
                  </a:tr>
                  <a:tr h="4230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Uses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Past observations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Past errors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3218864"/>
                      </a:ext>
                    </a:extLst>
                  </a:tr>
                  <a:tr h="4230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Depends 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,...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,...</m:t>
                                </m:r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98076926"/>
                      </a:ext>
                    </a:extLst>
                  </a:tr>
                  <a:tr h="4230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Parameter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q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2017742"/>
                      </a:ext>
                    </a:extLst>
                  </a:tr>
                  <a:tr h="4230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Example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AR(2)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MA(2)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73958462"/>
                      </a:ext>
                    </a:extLst>
                  </a:tr>
                  <a:tr h="74031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Main idea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Past values predict future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Past shocks/errors affect future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229159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7F95F4F-3187-C1A0-0C8F-E213965F5F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7354405"/>
                  </p:ext>
                </p:extLst>
              </p:nvPr>
            </p:nvGraphicFramePr>
            <p:xfrm>
              <a:off x="2296886" y="2723536"/>
              <a:ext cx="8447313" cy="327855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815771">
                      <a:extLst>
                        <a:ext uri="{9D8B030D-6E8A-4147-A177-3AD203B41FA5}">
                          <a16:colId xmlns:a16="http://schemas.microsoft.com/office/drawing/2014/main" val="3134839275"/>
                        </a:ext>
                      </a:extLst>
                    </a:gridCol>
                    <a:gridCol w="2815771">
                      <a:extLst>
                        <a:ext uri="{9D8B030D-6E8A-4147-A177-3AD203B41FA5}">
                          <a16:colId xmlns:a16="http://schemas.microsoft.com/office/drawing/2014/main" val="2514964176"/>
                        </a:ext>
                      </a:extLst>
                    </a:gridCol>
                    <a:gridCol w="2815771">
                      <a:extLst>
                        <a:ext uri="{9D8B030D-6E8A-4147-A177-3AD203B41FA5}">
                          <a16:colId xmlns:a16="http://schemas.microsoft.com/office/drawing/2014/main" val="3062878529"/>
                        </a:ext>
                      </a:extLst>
                    </a:gridCol>
                  </a:tblGrid>
                  <a:tr h="4230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Feature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MA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5999398"/>
                      </a:ext>
                    </a:extLst>
                  </a:tr>
                  <a:tr h="4230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Full form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Auto-Regressive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Moving Average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226322"/>
                      </a:ext>
                    </a:extLst>
                  </a:tr>
                  <a:tr h="4230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Uses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Past observations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Past errors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3218864"/>
                      </a:ext>
                    </a:extLst>
                  </a:tr>
                  <a:tr h="4230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Depends 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304348" r="-100216" b="-3884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433" t="-304348" r="-433" b="-3884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8076926"/>
                      </a:ext>
                    </a:extLst>
                  </a:tr>
                  <a:tr h="4230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Parameter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q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2017742"/>
                      </a:ext>
                    </a:extLst>
                  </a:tr>
                  <a:tr h="4230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Example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AR(2)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MA(2)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73958462"/>
                      </a:ext>
                    </a:extLst>
                  </a:tr>
                  <a:tr h="74031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Main idea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Past values predict future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Past shocks/errors affect future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2291593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324489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61C4F0-6D61-8337-3105-F781F524C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40" y="566057"/>
            <a:ext cx="6805531" cy="5116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632CFB-833F-B7BD-90C3-1E3D6C87B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484" y="1796142"/>
            <a:ext cx="5007429" cy="369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714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02EA2-6107-8B98-F483-6E0C8FC6F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66057"/>
            <a:ext cx="9633857" cy="527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116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59A7C1-54F2-1F53-D48C-9EA7DA35A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" y="0"/>
            <a:ext cx="7652790" cy="48719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930B28-F629-8BEF-53AA-F547E6E13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8" y="4916659"/>
            <a:ext cx="4001924" cy="15603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D3DFE0-049F-D841-0CAC-59B4F2EDA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286" y="2775679"/>
            <a:ext cx="5084986" cy="337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400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45695D-39C8-A968-70E3-87DB841BA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31" y="800266"/>
            <a:ext cx="10656412" cy="52574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2E1ECF-DEB4-8BBF-B198-759ADDE2C270}"/>
              </a:ext>
            </a:extLst>
          </p:cNvPr>
          <p:cNvSpPr txBox="1"/>
          <p:nvPr/>
        </p:nvSpPr>
        <p:spPr>
          <a:xfrm>
            <a:off x="-2458" y="0"/>
            <a:ext cx="60984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ARIMA Models</a:t>
            </a:r>
          </a:p>
        </p:txBody>
      </p:sp>
    </p:spTree>
    <p:extLst>
      <p:ext uri="{BB962C8B-B14F-4D97-AF65-F5344CB8AC3E}">
        <p14:creationId xmlns:p14="http://schemas.microsoft.com/office/powerpoint/2010/main" val="37752990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DC805E-B890-691D-71A0-F2D62CEDD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23" y="1238865"/>
            <a:ext cx="9792929" cy="50282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51D5AA-5028-767E-67CD-9E02037BB9D5}"/>
              </a:ext>
            </a:extLst>
          </p:cNvPr>
          <p:cNvSpPr txBox="1"/>
          <p:nvPr/>
        </p:nvSpPr>
        <p:spPr>
          <a:xfrm>
            <a:off x="-2458" y="0"/>
            <a:ext cx="60984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ARIMA Models</a:t>
            </a:r>
          </a:p>
        </p:txBody>
      </p:sp>
    </p:spTree>
    <p:extLst>
      <p:ext uri="{BB962C8B-B14F-4D97-AF65-F5344CB8AC3E}">
        <p14:creationId xmlns:p14="http://schemas.microsoft.com/office/powerpoint/2010/main" val="22493822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1584087-A9E3-9213-7114-1D2C3A411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48" y="857161"/>
            <a:ext cx="9833811" cy="53831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7E3B38-A00D-FEE9-0CFF-2CD797C017D0}"/>
              </a:ext>
            </a:extLst>
          </p:cNvPr>
          <p:cNvSpPr txBox="1"/>
          <p:nvPr/>
        </p:nvSpPr>
        <p:spPr>
          <a:xfrm>
            <a:off x="-2458" y="0"/>
            <a:ext cx="60984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ARIMA Models</a:t>
            </a:r>
          </a:p>
        </p:txBody>
      </p:sp>
    </p:spTree>
    <p:extLst>
      <p:ext uri="{BB962C8B-B14F-4D97-AF65-F5344CB8AC3E}">
        <p14:creationId xmlns:p14="http://schemas.microsoft.com/office/powerpoint/2010/main" val="39725797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A7912F-D8FD-C040-5EAC-F325D45E4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49" y="1017639"/>
            <a:ext cx="10854813" cy="53979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20A506-B12E-FF87-8B34-A06CBB00730E}"/>
              </a:ext>
            </a:extLst>
          </p:cNvPr>
          <p:cNvSpPr txBox="1"/>
          <p:nvPr/>
        </p:nvSpPr>
        <p:spPr>
          <a:xfrm>
            <a:off x="-2458" y="0"/>
            <a:ext cx="60984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ARIMA Models</a:t>
            </a:r>
          </a:p>
        </p:txBody>
      </p:sp>
    </p:spTree>
    <p:extLst>
      <p:ext uri="{BB962C8B-B14F-4D97-AF65-F5344CB8AC3E}">
        <p14:creationId xmlns:p14="http://schemas.microsoft.com/office/powerpoint/2010/main" val="34244896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832598-CDFD-04C5-C7DF-995EFFC2A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876"/>
          <a:stretch/>
        </p:blipFill>
        <p:spPr>
          <a:xfrm>
            <a:off x="1150373" y="995516"/>
            <a:ext cx="10412361" cy="48669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8B537A-7A27-38DD-656D-CB905B1B4E4F}"/>
              </a:ext>
            </a:extLst>
          </p:cNvPr>
          <p:cNvSpPr txBox="1"/>
          <p:nvPr/>
        </p:nvSpPr>
        <p:spPr>
          <a:xfrm>
            <a:off x="-2458" y="0"/>
            <a:ext cx="60984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ARIMA Modelling</a:t>
            </a:r>
          </a:p>
        </p:txBody>
      </p:sp>
    </p:spTree>
    <p:extLst>
      <p:ext uri="{BB962C8B-B14F-4D97-AF65-F5344CB8AC3E}">
        <p14:creationId xmlns:p14="http://schemas.microsoft.com/office/powerpoint/2010/main" val="22507258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E10B43-6B4B-E4C6-F77F-25A42BB0B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76" y="168313"/>
            <a:ext cx="10027659" cy="32606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1C307E-CF56-3174-A20B-E615BC2FD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555" y="3429000"/>
            <a:ext cx="7610475" cy="326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2900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DAB132-7B56-77F5-1408-B7837BE67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" y="737418"/>
            <a:ext cx="10176387" cy="56781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7998D1-F312-58A0-D9DE-F323FAEA68BD}"/>
              </a:ext>
            </a:extLst>
          </p:cNvPr>
          <p:cNvSpPr txBox="1"/>
          <p:nvPr/>
        </p:nvSpPr>
        <p:spPr>
          <a:xfrm>
            <a:off x="217539" y="209442"/>
            <a:ext cx="60984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Autocorrelation Function(ACF)</a:t>
            </a:r>
          </a:p>
        </p:txBody>
      </p:sp>
    </p:spTree>
    <p:extLst>
      <p:ext uri="{BB962C8B-B14F-4D97-AF65-F5344CB8AC3E}">
        <p14:creationId xmlns:p14="http://schemas.microsoft.com/office/powerpoint/2010/main" val="17320614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92CD37-9781-5541-8455-F9AC6C118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027" y="675461"/>
            <a:ext cx="9158748" cy="59730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6822F8-E517-65A3-76C2-4270A655B939}"/>
              </a:ext>
            </a:extLst>
          </p:cNvPr>
          <p:cNvSpPr txBox="1"/>
          <p:nvPr/>
        </p:nvSpPr>
        <p:spPr>
          <a:xfrm>
            <a:off x="158545" y="90686"/>
            <a:ext cx="110502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Partial Autocorrelation Function(PACF)</a:t>
            </a:r>
          </a:p>
        </p:txBody>
      </p:sp>
    </p:spTree>
    <p:extLst>
      <p:ext uri="{BB962C8B-B14F-4D97-AF65-F5344CB8AC3E}">
        <p14:creationId xmlns:p14="http://schemas.microsoft.com/office/powerpoint/2010/main" val="18357477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9FD775-7D46-D89C-E402-73803FBDA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62" y="324466"/>
            <a:ext cx="8562822" cy="42032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254C5B-2B14-0A4B-8C61-EFD802450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812" y="4527755"/>
            <a:ext cx="8281988" cy="218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12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2734F9-4C93-C506-57DD-7961A75A9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08" y="840659"/>
            <a:ext cx="5612068" cy="4277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B1949A-66EF-237D-28AD-3AA8965D3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19432"/>
            <a:ext cx="5820697" cy="44982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A0E11-1C2D-DE85-3BCA-E0753B98F22A}"/>
              </a:ext>
            </a:extLst>
          </p:cNvPr>
          <p:cNvSpPr txBox="1"/>
          <p:nvPr/>
        </p:nvSpPr>
        <p:spPr>
          <a:xfrm>
            <a:off x="9232490" y="5324167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q=1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C4B30-829B-21FD-3F80-54A327D9491B}"/>
              </a:ext>
            </a:extLst>
          </p:cNvPr>
          <p:cNvSpPr txBox="1"/>
          <p:nvPr/>
        </p:nvSpPr>
        <p:spPr>
          <a:xfrm>
            <a:off x="3220064" y="5324167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p=1,2,3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84733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B5AE-7E31-89A2-3EC8-2C02CA660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7" y="188144"/>
            <a:ext cx="10515600" cy="858991"/>
          </a:xfrm>
        </p:spPr>
        <p:txBody>
          <a:bodyPr/>
          <a:lstStyle/>
          <a:p>
            <a:r>
              <a:rPr lang="en-GB" b="1" dirty="0"/>
              <a:t>Example for differencing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DE4EFD-729C-C647-8F43-C25100610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23" y="1334728"/>
            <a:ext cx="7639050" cy="47711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D04E42-FA51-7BE3-214A-77E54C46C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458" y="2772696"/>
            <a:ext cx="7005483" cy="379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229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6DF3E1-62EC-1D62-72CA-D6DF9E6DEB5C}"/>
              </a:ext>
            </a:extLst>
          </p:cNvPr>
          <p:cNvSpPr txBox="1"/>
          <p:nvPr/>
        </p:nvSpPr>
        <p:spPr>
          <a:xfrm>
            <a:off x="1166367" y="1335097"/>
            <a:ext cx="1039636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Seasonal ARIMA (SARIMA)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sz="2000" dirty="0"/>
              <a:t>When time series data exhibits </a:t>
            </a:r>
            <a:r>
              <a:rPr lang="en-GB" sz="2000" b="1" dirty="0"/>
              <a:t>seasonality</a:t>
            </a:r>
            <a:r>
              <a:rPr lang="en-GB" sz="2000" dirty="0"/>
              <a:t>, the basic ARIMA model is extended to </a:t>
            </a:r>
            <a:r>
              <a:rPr lang="en-GB" sz="2000" b="1" dirty="0"/>
              <a:t>SARIMA</a:t>
            </a:r>
            <a:r>
              <a:rPr lang="en-GB" sz="2000" dirty="0"/>
              <a:t> (Seasonal ARIMA).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sz="2000" dirty="0"/>
              <a:t>SARIMA adds seasonal components to the AR, MA, and differencing parts.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sz="2000" dirty="0"/>
              <a:t>SARIMA notation is </a:t>
            </a:r>
            <a:r>
              <a:rPr lang="en-GB" sz="2000" b="1" dirty="0"/>
              <a:t>ARIMA(p, d, q)(P, D, Q)m</a:t>
            </a:r>
            <a:r>
              <a:rPr lang="en-GB" sz="2000" dirty="0"/>
              <a:t>, where: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1" dirty="0" err="1"/>
              <a:t>p,d,q</a:t>
            </a:r>
            <a:r>
              <a:rPr lang="en-GB" sz="2000" b="1" dirty="0"/>
              <a:t> </a:t>
            </a:r>
            <a:r>
              <a:rPr lang="en-GB" sz="2000" dirty="0"/>
              <a:t>Non seasonal order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1" dirty="0"/>
              <a:t>P, D, Q</a:t>
            </a:r>
            <a:r>
              <a:rPr lang="en-GB" sz="2000" dirty="0"/>
              <a:t> are the seasonal orders for AR, differencing, and MA.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1" dirty="0"/>
              <a:t>m</a:t>
            </a:r>
            <a:r>
              <a:rPr lang="en-GB" sz="2000" dirty="0"/>
              <a:t> is the number of periods per season (e.g., m = 12 for monthly data with annual seasonality).</a:t>
            </a:r>
          </a:p>
        </p:txBody>
      </p:sp>
    </p:spTree>
    <p:extLst>
      <p:ext uri="{BB962C8B-B14F-4D97-AF65-F5344CB8AC3E}">
        <p14:creationId xmlns:p14="http://schemas.microsoft.com/office/powerpoint/2010/main" val="19816346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9CBCC5-58E3-6E7B-4631-35CFA5DC0774}"/>
              </a:ext>
            </a:extLst>
          </p:cNvPr>
          <p:cNvSpPr txBox="1"/>
          <p:nvPr/>
        </p:nvSpPr>
        <p:spPr>
          <a:xfrm>
            <a:off x="818533" y="369732"/>
            <a:ext cx="10873249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3200" b="1"/>
              <a:t>Limitations of ARIMA Models:</a:t>
            </a:r>
          </a:p>
          <a:p>
            <a:pPr algn="just"/>
            <a:endParaRPr lang="en-GB" sz="2000" b="1"/>
          </a:p>
          <a:p>
            <a:pPr marL="457200" indent="-457200" algn="just">
              <a:buFont typeface="+mj-lt"/>
              <a:buAutoNum type="arabicPeriod"/>
            </a:pPr>
            <a:r>
              <a:rPr lang="en-GB" sz="2000" b="1"/>
              <a:t>Linear Assumption</a:t>
            </a:r>
            <a:r>
              <a:rPr lang="en-GB" sz="2000"/>
              <a:t>: ARIMA models assume that the relationships between past values and future values are linear.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000" b="1"/>
              <a:t>Stationarity Requirement</a:t>
            </a:r>
            <a:r>
              <a:rPr lang="en-GB" sz="2000"/>
              <a:t>: The model requires stationary data, which may not always be the case.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000" b="1"/>
              <a:t>Short-Term Forecasting</a:t>
            </a:r>
            <a:r>
              <a:rPr lang="en-GB" sz="2000"/>
              <a:t>: ARIMA models are typically more effective for short-term forecasts, as long-term forecasts may suffer from increasing uncertainty.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C856DB-E0D4-BCA6-236E-F1A1F1E08E66}"/>
              </a:ext>
            </a:extLst>
          </p:cNvPr>
          <p:cNvSpPr txBox="1"/>
          <p:nvPr/>
        </p:nvSpPr>
        <p:spPr>
          <a:xfrm>
            <a:off x="921773" y="3430666"/>
            <a:ext cx="1087324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b="1"/>
              <a:t>Applications of ARIMA Models:</a:t>
            </a:r>
          </a:p>
          <a:p>
            <a:pPr algn="just"/>
            <a:endParaRPr lang="en-GB" sz="2000" b="1"/>
          </a:p>
          <a:p>
            <a:pPr marL="457200" indent="-457200" algn="just">
              <a:buFont typeface="+mj-lt"/>
              <a:buAutoNum type="arabicPeriod"/>
            </a:pPr>
            <a:r>
              <a:rPr lang="en-GB" sz="2000" b="1"/>
              <a:t>Economics and Finance</a:t>
            </a:r>
            <a:r>
              <a:rPr lang="en-GB" sz="2000"/>
              <a:t>: ARIMA is used to predict stock prices, interest rates, GDP growth, and inflation.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000" b="1"/>
              <a:t>Sales Forecasting</a:t>
            </a:r>
            <a:r>
              <a:rPr lang="en-GB" sz="2000"/>
              <a:t>: Retailers use ARIMA to forecast future sales based on historical data.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000" b="1"/>
              <a:t>Environmental Science</a:t>
            </a:r>
            <a:r>
              <a:rPr lang="en-GB" sz="2000"/>
              <a:t>: ARIMA models are used to predict temperature changes, rainfall, and pollution levels.</a:t>
            </a:r>
          </a:p>
        </p:txBody>
      </p:sp>
    </p:spTree>
    <p:extLst>
      <p:ext uri="{BB962C8B-B14F-4D97-AF65-F5344CB8AC3E}">
        <p14:creationId xmlns:p14="http://schemas.microsoft.com/office/powerpoint/2010/main" val="28460570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73C80C-CAA9-C61B-CE95-BA5E5300A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881743"/>
            <a:ext cx="9840686" cy="494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958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512345-9101-0DAD-0FB9-E54416CD7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00" y="522514"/>
            <a:ext cx="5457028" cy="42482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C312C9-048E-CCF6-77C9-2506B5F03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930" y="1621972"/>
            <a:ext cx="5457028" cy="294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49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3424</TotalTime>
  <Words>1481</Words>
  <Application>Microsoft Office PowerPoint</Application>
  <PresentationFormat>Widescreen</PresentationFormat>
  <Paragraphs>137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61" baseType="lpstr">
      <vt:lpstr>ＭＳ Ｐゴシック</vt:lpstr>
      <vt:lpstr>Arial</vt:lpstr>
      <vt:lpstr>Calibri</vt:lpstr>
      <vt:lpstr>Calibri Light</vt:lpstr>
      <vt:lpstr>Cambria Math</vt:lpstr>
      <vt:lpstr>Lato-Bold</vt:lpstr>
      <vt:lpstr>MinionPro-Bold</vt:lpstr>
      <vt:lpstr>MinionPro-BoldIt</vt:lpstr>
      <vt:lpstr>MinionPro-It</vt:lpstr>
      <vt:lpstr>MinionPro-Regular</vt:lpstr>
      <vt:lpstr>montserrat</vt:lpstr>
      <vt:lpstr>Nunito Sans</vt:lpstr>
      <vt:lpstr>Times New Roman</vt:lpstr>
      <vt:lpstr>Verdana</vt:lpstr>
      <vt:lpstr>Wingdings</vt:lpstr>
      <vt:lpstr>Office Theme</vt:lpstr>
      <vt:lpstr>Data Science UNIT-V Forecasting Techniques</vt:lpstr>
      <vt:lpstr>   UNIT-1: Contents</vt:lpstr>
      <vt:lpstr>PowerPoint Presentation</vt:lpstr>
      <vt:lpstr>TIME-SERIES DATA AND COMPONENTS OF TIME-SERIES DATA </vt:lpstr>
      <vt:lpstr>COMPONENTS OF TIME-SERIES DATA</vt:lpstr>
      <vt:lpstr>Trends in Timeseries data</vt:lpstr>
      <vt:lpstr>FORECASTING TECHNIQUES AND FORECASTING ACCURACY </vt:lpstr>
      <vt:lpstr>PowerPoint Presentation</vt:lpstr>
      <vt:lpstr>MOVING AVERAGE METHOD</vt:lpstr>
      <vt:lpstr>WEIGHTED MOVING AVERAGE METHOD</vt:lpstr>
      <vt:lpstr>SINGLE EXPONENTIAL SMOOTHING (ES) </vt:lpstr>
      <vt:lpstr>SINGLE EXPONENTIAL SMOOTHING (ES) </vt:lpstr>
      <vt:lpstr>SINGLE EXPONENTIAL SMOOTHING (ES) </vt:lpstr>
      <vt:lpstr>Optimal Smoothing Constant in a Single Exponential Smoothing (SES)</vt:lpstr>
      <vt:lpstr>DOUBLE EXPONENTIAL SMOOTHING – HOLT’S METHOD</vt:lpstr>
      <vt:lpstr>DOUBLE EXPONENTIAL SMOOTHING – HOLT’S METHOD</vt:lpstr>
      <vt:lpstr>TRIPLE EXPONENTIAL SMOOTHING (HOLT-WINTER MODEL)</vt:lpstr>
      <vt:lpstr>TRIPLE EXPONENTIAL SMOOTHING (Multiplicative Holt-Winters Method)</vt:lpstr>
      <vt:lpstr>Predicting Seasonality Index Using Method of Averages</vt:lpstr>
      <vt:lpstr>Forecasting Time-Series Data with Seasonal Variation</vt:lpstr>
      <vt:lpstr>REGRESSION MODEL FOR FORECASTING</vt:lpstr>
      <vt:lpstr>AUTO-REGRESSIVE (AR)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for differencing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DS-UNIT-1  Data Preprocessing -Data Cleaning, Data Integration, Data Reduction, Data Transformation and Data Discretization, </dc:title>
  <dc:creator>K Dhanasree</dc:creator>
  <cp:lastModifiedBy>CVR</cp:lastModifiedBy>
  <cp:revision>63</cp:revision>
  <dcterms:created xsi:type="dcterms:W3CDTF">2021-02-20T06:42:21Z</dcterms:created>
  <dcterms:modified xsi:type="dcterms:W3CDTF">2026-10-07T04:29:38Z</dcterms:modified>
</cp:coreProperties>
</file>