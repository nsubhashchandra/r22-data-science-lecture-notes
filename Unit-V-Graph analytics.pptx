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65" r:id="rId3"/>
    <p:sldId id="429" r:id="rId4"/>
    <p:sldId id="430" r:id="rId5"/>
    <p:sldId id="431" r:id="rId6"/>
    <p:sldId id="261" r:id="rId7"/>
    <p:sldId id="443" r:id="rId8"/>
    <p:sldId id="444" r:id="rId9"/>
    <p:sldId id="445" r:id="rId10"/>
    <p:sldId id="446" r:id="rId11"/>
    <p:sldId id="418" r:id="rId12"/>
    <p:sldId id="450" r:id="rId13"/>
    <p:sldId id="451" r:id="rId14"/>
    <p:sldId id="474" r:id="rId15"/>
    <p:sldId id="268" r:id="rId16"/>
    <p:sldId id="412" r:id="rId17"/>
    <p:sldId id="462" r:id="rId18"/>
    <p:sldId id="447" r:id="rId19"/>
    <p:sldId id="452" r:id="rId20"/>
    <p:sldId id="448" r:id="rId21"/>
    <p:sldId id="453" r:id="rId22"/>
    <p:sldId id="454" r:id="rId23"/>
    <p:sldId id="473" r:id="rId24"/>
    <p:sldId id="463" r:id="rId25"/>
    <p:sldId id="458" r:id="rId26"/>
    <p:sldId id="457" r:id="rId27"/>
    <p:sldId id="456" r:id="rId28"/>
    <p:sldId id="455" r:id="rId29"/>
    <p:sldId id="459" r:id="rId30"/>
    <p:sldId id="466" r:id="rId31"/>
    <p:sldId id="465" r:id="rId32"/>
    <p:sldId id="464" r:id="rId33"/>
    <p:sldId id="469" r:id="rId34"/>
    <p:sldId id="468" r:id="rId35"/>
    <p:sldId id="471" r:id="rId36"/>
    <p:sldId id="434" r:id="rId37"/>
    <p:sldId id="433" r:id="rId38"/>
    <p:sldId id="432" r:id="rId39"/>
    <p:sldId id="436" r:id="rId40"/>
    <p:sldId id="439" r:id="rId41"/>
    <p:sldId id="437" r:id="rId42"/>
    <p:sldId id="438" r:id="rId43"/>
    <p:sldId id="269" r:id="rId44"/>
    <p:sldId id="426" r:id="rId45"/>
    <p:sldId id="273" r:id="rId46"/>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83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68"/>
    <p:restoredTop sz="94836"/>
  </p:normalViewPr>
  <p:slideViewPr>
    <p:cSldViewPr snapToGrid="0" snapToObjects="1">
      <p:cViewPr varScale="1">
        <p:scale>
          <a:sx n="59" d="100"/>
          <a:sy n="59" d="100"/>
        </p:scale>
        <p:origin x="5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895A86C7-4926-2D4F-9F3E-F416BC61271F}" type="datetimeFigureOut">
              <a:rPr lang="en-US" smtClean="0"/>
              <a:t>10/11/2026</a:t>
            </a:fld>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9644329A-7713-F041-A93F-087C1FEEC335}" type="slidenum">
              <a:rPr lang="en-US" smtClean="0"/>
              <a:t>‹#›</a:t>
            </a:fld>
            <a:endParaRPr lang="en-US"/>
          </a:p>
        </p:txBody>
      </p:sp>
    </p:spTree>
    <p:extLst>
      <p:ext uri="{BB962C8B-B14F-4D97-AF65-F5344CB8AC3E}">
        <p14:creationId xmlns:p14="http://schemas.microsoft.com/office/powerpoint/2010/main" val="2768739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44329A-7713-F041-A93F-087C1FEEC335}" type="slidenum">
              <a:rPr lang="en-US" smtClean="0"/>
              <a:t>15</a:t>
            </a:fld>
            <a:endParaRPr lang="en-US"/>
          </a:p>
        </p:txBody>
      </p:sp>
    </p:spTree>
    <p:extLst>
      <p:ext uri="{BB962C8B-B14F-4D97-AF65-F5344CB8AC3E}">
        <p14:creationId xmlns:p14="http://schemas.microsoft.com/office/powerpoint/2010/main" val="905931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9B53-250A-2C4A-ABCF-5F39F29F610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5AD33D2-7940-3441-B9E3-6A7E629DAE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19B1878-52C9-F94C-8AD7-ACD655E7A29F}"/>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5" name="Footer Placeholder 4">
            <a:extLst>
              <a:ext uri="{FF2B5EF4-FFF2-40B4-BE49-F238E27FC236}">
                <a16:creationId xmlns:a16="http://schemas.microsoft.com/office/drawing/2014/main" id="{2FB826C5-FD54-774D-A7B4-92001188AA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62B387-D73A-5948-B3C0-3F07C02F2AA3}"/>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435641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0556F-00AF-B84E-85D1-1370AF4BC7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F50D0D1-EF0C-AA4B-8190-BF8A7FDE95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C5C290-47D2-2D40-A583-783D37E622E7}"/>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5" name="Footer Placeholder 4">
            <a:extLst>
              <a:ext uri="{FF2B5EF4-FFF2-40B4-BE49-F238E27FC236}">
                <a16:creationId xmlns:a16="http://schemas.microsoft.com/office/drawing/2014/main" id="{BA3B5923-BB6F-014D-951E-8134B9B28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B0337-A493-3F41-880F-C62BDEA5A025}"/>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390337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7322-7418-4C45-B308-67CF2965BEC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6B16860-F6A0-B347-A088-B47493FFBA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C468213-927E-4C42-887F-6F971F556CD5}"/>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5" name="Footer Placeholder 4">
            <a:extLst>
              <a:ext uri="{FF2B5EF4-FFF2-40B4-BE49-F238E27FC236}">
                <a16:creationId xmlns:a16="http://schemas.microsoft.com/office/drawing/2014/main" id="{239B8C16-865C-C44B-AB5B-C7833F7C78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97F15-04A6-B947-AA25-EB980A218259}"/>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493607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C0E05-68CB-114A-9B52-22943B2B596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C4839E-81E4-634A-9EB4-435306FB199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CCD899C-F35F-8C49-995A-F9EC7A1347D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AE6ACAB-5524-CF42-9604-2D5261BCFC91}"/>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6" name="Footer Placeholder 5">
            <a:extLst>
              <a:ext uri="{FF2B5EF4-FFF2-40B4-BE49-F238E27FC236}">
                <a16:creationId xmlns:a16="http://schemas.microsoft.com/office/drawing/2014/main" id="{5A43A2F9-6382-C041-9552-93E96E8A56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9ED67-D229-CE43-80A6-1C66275BBFB3}"/>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843973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E657-73E9-0842-8854-C408FEED639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1629323-C90A-0048-B631-3BDCAF5B33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2FBE551-B7C3-D046-9833-F396C7520DC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D061ECE-A234-1D44-BCDF-9C23BBD87B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C39A1B0-543D-494B-99BE-7DE8B0BD558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773B88-CC79-3148-BE4B-00963280D6F4}"/>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8" name="Footer Placeholder 7">
            <a:extLst>
              <a:ext uri="{FF2B5EF4-FFF2-40B4-BE49-F238E27FC236}">
                <a16:creationId xmlns:a16="http://schemas.microsoft.com/office/drawing/2014/main" id="{5233C0A8-9580-E143-BC67-7332A66EF3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E9C1C7-E2D4-7443-8BB1-ADC5B4F139B5}"/>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826367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1D30E-4EDA-AF43-A976-238A023957A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5B945B4-E1B2-A84D-BD83-7F431150DC2B}"/>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4" name="Footer Placeholder 3">
            <a:extLst>
              <a:ext uri="{FF2B5EF4-FFF2-40B4-BE49-F238E27FC236}">
                <a16:creationId xmlns:a16="http://schemas.microsoft.com/office/drawing/2014/main" id="{B0CB54A8-00E5-8646-AFCE-A77E2A470B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2269BD-8E1D-5941-8B6D-7EF43A83365D}"/>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483475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52252D-736E-1D41-AEB0-5DAF3A633EA6}"/>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3" name="Footer Placeholder 2">
            <a:extLst>
              <a:ext uri="{FF2B5EF4-FFF2-40B4-BE49-F238E27FC236}">
                <a16:creationId xmlns:a16="http://schemas.microsoft.com/office/drawing/2014/main" id="{BDB9A2AC-9AE6-CC49-97CA-C76F4DD946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0D02B-52E7-B04C-8F41-03A14507DBCB}"/>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903815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51C4-14A7-1B41-96D7-B1ED58044F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707CBCB-523D-0E46-9D89-92E3237681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BF77DC-7B8E-B642-B644-6405F601F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B9E05F-BC35-B147-84F6-95FC8859534B}"/>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6" name="Footer Placeholder 5">
            <a:extLst>
              <a:ext uri="{FF2B5EF4-FFF2-40B4-BE49-F238E27FC236}">
                <a16:creationId xmlns:a16="http://schemas.microsoft.com/office/drawing/2014/main" id="{B0766A53-9028-E04C-A3E9-30BD0CFE2B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FC4DB-D7EF-C548-858D-D654B6DBF88F}"/>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80233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B3DA-EBD2-3A44-9B39-059BCB1DE1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420C907-1EE1-1B43-B12C-2C54DA41DC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E08835-5BE6-854E-8AE8-A37892FB2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C4EFC3-BFD9-7843-8A94-C6BD664602B8}"/>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6" name="Footer Placeholder 5">
            <a:extLst>
              <a:ext uri="{FF2B5EF4-FFF2-40B4-BE49-F238E27FC236}">
                <a16:creationId xmlns:a16="http://schemas.microsoft.com/office/drawing/2014/main" id="{04597A42-DC80-0A44-B10C-E00DA50EAC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FEC4D-EDEC-1D42-B236-BB7758F67904}"/>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562553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8B7E-F434-FA48-A1A8-074386A46B8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9CAA09-A881-D149-BD1D-F1670B866CF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6595C7F-EB61-3F44-88D5-BB0DE6A48C40}"/>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5" name="Footer Placeholder 4">
            <a:extLst>
              <a:ext uri="{FF2B5EF4-FFF2-40B4-BE49-F238E27FC236}">
                <a16:creationId xmlns:a16="http://schemas.microsoft.com/office/drawing/2014/main" id="{A2CC8E8A-CCE0-7C42-82FD-4671B01F3C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275EF-6A05-DB4F-8733-871025569AFE}"/>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33354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A112EA-DE54-B04C-88D8-0858AE3572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B5A9E3-BFF5-FA43-91F9-C6CC88B39BF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3E6F942-8067-2943-A448-4C53FF850794}"/>
              </a:ext>
            </a:extLst>
          </p:cNvPr>
          <p:cNvSpPr>
            <a:spLocks noGrp="1"/>
          </p:cNvSpPr>
          <p:nvPr>
            <p:ph type="dt" sz="half" idx="10"/>
          </p:nvPr>
        </p:nvSpPr>
        <p:spPr/>
        <p:txBody>
          <a:bodyPr/>
          <a:lstStyle/>
          <a:p>
            <a:fld id="{4B89E684-998E-4E48-ACC2-834CBDF35D4D}" type="datetimeFigureOut">
              <a:rPr lang="en-US" smtClean="0"/>
              <a:t>10/11/2026</a:t>
            </a:fld>
            <a:endParaRPr lang="en-US"/>
          </a:p>
        </p:txBody>
      </p:sp>
      <p:sp>
        <p:nvSpPr>
          <p:cNvPr id="5" name="Footer Placeholder 4">
            <a:extLst>
              <a:ext uri="{FF2B5EF4-FFF2-40B4-BE49-F238E27FC236}">
                <a16:creationId xmlns:a16="http://schemas.microsoft.com/office/drawing/2014/main" id="{BEABDD4C-6FC2-FB4B-8372-13D9CEB4B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887A9-60D4-6044-9124-93EEDDC9AFCA}"/>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120398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A9C15-F8B9-9C43-9F8A-574D397593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50EB648-FC92-AC4C-A733-420A43E08B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88806B-DC71-B748-A0B5-CC4DD17C5E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89E684-998E-4E48-ACC2-834CBDF35D4D}" type="datetimeFigureOut">
              <a:rPr lang="en-US" smtClean="0"/>
              <a:t>10/11/2026</a:t>
            </a:fld>
            <a:endParaRPr lang="en-US"/>
          </a:p>
        </p:txBody>
      </p:sp>
      <p:sp>
        <p:nvSpPr>
          <p:cNvPr id="5" name="Footer Placeholder 4">
            <a:extLst>
              <a:ext uri="{FF2B5EF4-FFF2-40B4-BE49-F238E27FC236}">
                <a16:creationId xmlns:a16="http://schemas.microsoft.com/office/drawing/2014/main" id="{100D8AFE-2BBD-DA48-8F9A-9C6AA44A59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ABC779-A4C5-E247-AFC5-01BC16569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9E9CF8-411C-534F-ACCE-E5CD2A84B69C}" type="slidenum">
              <a:rPr lang="en-US" smtClean="0"/>
              <a:t>‹#›</a:t>
            </a:fld>
            <a:endParaRPr lang="en-US"/>
          </a:p>
        </p:txBody>
      </p:sp>
    </p:spTree>
    <p:extLst>
      <p:ext uri="{BB962C8B-B14F-4D97-AF65-F5344CB8AC3E}">
        <p14:creationId xmlns:p14="http://schemas.microsoft.com/office/powerpoint/2010/main" val="2570508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1194620" y="2693987"/>
            <a:ext cx="9925664" cy="1470025"/>
          </a:xfrm>
        </p:spPr>
        <p:txBody>
          <a:bodyPr>
            <a:normAutofit fontScale="90000"/>
          </a:bodyPr>
          <a:lstStyle/>
          <a:p>
            <a:r>
              <a:rPr lang="en-US" altLang="en-US" sz="4400" b="1" dirty="0">
                <a:ea typeface="ＭＳ Ｐゴシック" pitchFamily="34" charset="-128"/>
              </a:rPr>
              <a:t>Data Science</a:t>
            </a:r>
            <a:br>
              <a:rPr lang="en-US" altLang="en-US" sz="4400" b="1" dirty="0">
                <a:ea typeface="ＭＳ Ｐゴシック" pitchFamily="34" charset="-128"/>
              </a:rPr>
            </a:br>
            <a:r>
              <a:rPr lang="en-US" altLang="en-US" sz="4400" b="1" dirty="0">
                <a:ea typeface="ＭＳ Ｐゴシック" pitchFamily="34" charset="-128"/>
              </a:rPr>
              <a:t>UNIT-V </a:t>
            </a:r>
            <a:br>
              <a:rPr lang="en-US" altLang="en-US" sz="4400" b="1" dirty="0">
                <a:ea typeface="ＭＳ Ｐゴシック" pitchFamily="34" charset="-128"/>
              </a:rPr>
            </a:br>
            <a:r>
              <a:rPr lang="en-US" sz="1800" b="1" dirty="0">
                <a:solidFill>
                  <a:srgbClr val="000000"/>
                </a:solidFill>
                <a:effectLst/>
                <a:latin typeface="Verdana" panose="020B0604030504040204" pitchFamily="34" charset="0"/>
                <a:ea typeface="Segoe UI" panose="020B0502040204020203" pitchFamily="34" charset="0"/>
                <a:cs typeface="Tahoma" panose="020B0604030504040204" pitchFamily="34" charset="0"/>
              </a:rPr>
              <a:t>Prescriptive Analysis</a:t>
            </a:r>
            <a:br>
              <a:rPr lang="en-US" sz="1800" dirty="0">
                <a:solidFill>
                  <a:srgbClr val="000000"/>
                </a:solidFill>
                <a:effectLst/>
                <a:latin typeface="Verdana" panose="020B0604030504040204" pitchFamily="34" charset="0"/>
                <a:ea typeface="Segoe UI" panose="020B0502040204020203" pitchFamily="34" charset="0"/>
                <a:cs typeface="Times New Roman" panose="02020603050405020304" pitchFamily="18" charset="0"/>
              </a:rPr>
            </a:br>
            <a:br>
              <a:rPr lang="en-US" sz="1800" dirty="0">
                <a:solidFill>
                  <a:srgbClr val="000000"/>
                </a:solidFill>
                <a:effectLst/>
                <a:latin typeface="Verdana" panose="020B0604030504040204" pitchFamily="34" charset="0"/>
                <a:ea typeface="Segoe UI" panose="020B0502040204020203" pitchFamily="34" charset="0"/>
                <a:cs typeface="Times New Roman" panose="02020603050405020304" pitchFamily="18" charset="0"/>
              </a:rPr>
            </a:br>
            <a:endParaRPr lang="en-US" altLang="en-US" sz="4400" b="1" dirty="0">
              <a:ea typeface="ＭＳ Ｐゴシック" pitchFamily="34" charset="-128"/>
            </a:endParaRPr>
          </a:p>
        </p:txBody>
      </p:sp>
      <p:sp>
        <p:nvSpPr>
          <p:cNvPr id="9219" name="Rectangle 3"/>
          <p:cNvSpPr>
            <a:spLocks noGrp="1" noChangeArrowheads="1"/>
          </p:cNvSpPr>
          <p:nvPr>
            <p:ph type="subTitle" idx="1"/>
          </p:nvPr>
        </p:nvSpPr>
        <p:spPr>
          <a:xfrm>
            <a:off x="3160713" y="5103940"/>
            <a:ext cx="6718495" cy="797169"/>
          </a:xfrm>
        </p:spPr>
        <p:txBody>
          <a:bodyPr>
            <a:normAutofit fontScale="92500" lnSpcReduction="10000"/>
          </a:bodyPr>
          <a:lstStyle/>
          <a:p>
            <a:pPr eaLnBrk="1" hangingPunct="1">
              <a:lnSpc>
                <a:spcPct val="80000"/>
              </a:lnSpc>
            </a:pPr>
            <a:r>
              <a:rPr lang="en-GB" altLang="en-US" sz="2800" b="1" dirty="0">
                <a:ea typeface="ＭＳ Ｐゴシック" pitchFamily="34" charset="-128"/>
              </a:rPr>
              <a:t>Dr. N. Subhash Chandra</a:t>
            </a:r>
          </a:p>
          <a:p>
            <a:pPr eaLnBrk="1" hangingPunct="1">
              <a:lnSpc>
                <a:spcPct val="80000"/>
              </a:lnSpc>
            </a:pPr>
            <a:r>
              <a:rPr lang="en-GB" altLang="en-US" sz="2800" b="1" dirty="0">
                <a:ea typeface="ＭＳ Ｐゴシック" pitchFamily="34" charset="-128"/>
              </a:rPr>
              <a:t>Professor CSE</a:t>
            </a:r>
            <a:endParaRPr lang="en-US" altLang="en-US" sz="2800" b="1" dirty="0">
              <a:ea typeface="ＭＳ Ｐゴシック" pitchFamily="34" charset="-128"/>
            </a:endParaRPr>
          </a:p>
        </p:txBody>
      </p:sp>
      <p:sp>
        <p:nvSpPr>
          <p:cNvPr id="11" name="Title 1"/>
          <p:cNvSpPr txBox="1">
            <a:spLocks/>
          </p:cNvSpPr>
          <p:nvPr/>
        </p:nvSpPr>
        <p:spPr bwMode="auto">
          <a:xfrm>
            <a:off x="2895600" y="0"/>
            <a:ext cx="6477000" cy="990600"/>
          </a:xfrm>
          <a:prstGeom prst="rect">
            <a:avLst/>
          </a:prstGeom>
          <a:noFill/>
          <a:ln w="9525">
            <a:noFill/>
            <a:miter lim="800000"/>
            <a:headEnd/>
            <a:tailEnd/>
          </a:ln>
        </p:spPr>
        <p:txBody>
          <a:bodyPr anchor="ctr"/>
          <a:lstStyle/>
          <a:p>
            <a:pPr algn="ctr" eaLnBrk="0" hangingPunct="0">
              <a:defRPr/>
            </a:pPr>
            <a:endParaRPr lang="en-US" sz="3200" b="1" kern="0" dirty="0">
              <a:solidFill>
                <a:srgbClr val="C00000"/>
              </a:solidFill>
              <a:effectLst>
                <a:outerShdw blurRad="38100" dist="38100" dir="2700000" algn="tl">
                  <a:srgbClr val="000000">
                    <a:alpha val="43137"/>
                  </a:srgbClr>
                </a:outerShdw>
              </a:effectLst>
              <a:latin typeface="+mj-lt"/>
              <a:ea typeface="+mj-ea"/>
              <a:cs typeface="+mj-cs"/>
            </a:endParaRPr>
          </a:p>
        </p:txBody>
      </p:sp>
      <p:sp>
        <p:nvSpPr>
          <p:cNvPr id="2" name="Rectangle 1">
            <a:extLst>
              <a:ext uri="{FF2B5EF4-FFF2-40B4-BE49-F238E27FC236}">
                <a16:creationId xmlns:a16="http://schemas.microsoft.com/office/drawing/2014/main" id="{EFAB4C57-58B5-4843-9AD3-FE2AA66392CD}"/>
              </a:ext>
            </a:extLst>
          </p:cNvPr>
          <p:cNvSpPr/>
          <p:nvPr/>
        </p:nvSpPr>
        <p:spPr>
          <a:xfrm>
            <a:off x="126609" y="112542"/>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 name="Straight Connector 3">
            <a:extLst>
              <a:ext uri="{FF2B5EF4-FFF2-40B4-BE49-F238E27FC236}">
                <a16:creationId xmlns:a16="http://schemas.microsoft.com/office/drawing/2014/main" id="{8224F5D3-0145-47C5-BA9A-CD5C83423483}"/>
              </a:ext>
            </a:extLst>
          </p:cNvPr>
          <p:cNvCxnSpPr/>
          <p:nvPr/>
        </p:nvCxnSpPr>
        <p:spPr>
          <a:xfrm>
            <a:off x="126609" y="4825144"/>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EA6B-10CF-3640-B099-28C0C5C3ED86}"/>
              </a:ext>
            </a:extLst>
          </p:cNvPr>
          <p:cNvSpPr>
            <a:spLocks noGrp="1"/>
          </p:cNvSpPr>
          <p:nvPr>
            <p:ph type="title"/>
          </p:nvPr>
        </p:nvSpPr>
        <p:spPr>
          <a:xfrm>
            <a:off x="709146" y="133959"/>
            <a:ext cx="9603275" cy="1049235"/>
          </a:xfrm>
        </p:spPr>
        <p:txBody>
          <a:bodyPr/>
          <a:lstStyle/>
          <a:p>
            <a:r>
              <a:rPr lang="en-US" b="1" dirty="0"/>
              <a:t>   UNIT-1: Contents</a:t>
            </a:r>
          </a:p>
        </p:txBody>
      </p:sp>
      <p:sp>
        <p:nvSpPr>
          <p:cNvPr id="3" name="Content Placeholder 2">
            <a:extLst>
              <a:ext uri="{FF2B5EF4-FFF2-40B4-BE49-F238E27FC236}">
                <a16:creationId xmlns:a16="http://schemas.microsoft.com/office/drawing/2014/main" id="{AF9615AD-9DD8-2F44-891C-4E87CE3F8E28}"/>
              </a:ext>
            </a:extLst>
          </p:cNvPr>
          <p:cNvSpPr>
            <a:spLocks noGrp="1"/>
          </p:cNvSpPr>
          <p:nvPr>
            <p:ph idx="1"/>
          </p:nvPr>
        </p:nvSpPr>
        <p:spPr>
          <a:xfrm>
            <a:off x="1584610" y="1880197"/>
            <a:ext cx="9476680" cy="2632810"/>
          </a:xfrm>
        </p:spPr>
        <p:txBody>
          <a:bodyPr>
            <a:noAutofit/>
          </a:bodyPr>
          <a:lstStyle/>
          <a:p>
            <a:pPr algn="just"/>
            <a:r>
              <a:rPr lang="en-US" sz="1800" b="1" dirty="0">
                <a:solidFill>
                  <a:srgbClr val="000000"/>
                </a:solidFill>
                <a:effectLst/>
                <a:latin typeface="Verdana" panose="020B0604030504040204" pitchFamily="34" charset="0"/>
                <a:ea typeface="Segoe UI" panose="020B0502040204020203" pitchFamily="34" charset="0"/>
                <a:cs typeface="Tahoma" panose="020B0604030504040204" pitchFamily="34" charset="0"/>
              </a:rPr>
              <a:t>UNIT V – Prescriptive Analysis</a:t>
            </a:r>
            <a:endParaRPr lang="en-IN" sz="1800" dirty="0">
              <a:solidFill>
                <a:srgbClr val="000000"/>
              </a:solidFill>
              <a:effectLst/>
              <a:latin typeface="Calibri" panose="020F0502020204030204" pitchFamily="34" charset="0"/>
              <a:ea typeface="Segoe UI" panose="020B0502040204020203" pitchFamily="34" charset="0"/>
              <a:cs typeface="Tahoma" panose="020B0604030504040204" pitchFamily="34" charset="0"/>
            </a:endParaRPr>
          </a:p>
          <a:p>
            <a:pPr algn="just"/>
            <a:r>
              <a:rPr lang="en-US" sz="1800" b="1" dirty="0">
                <a:solidFill>
                  <a:srgbClr val="000000"/>
                </a:solidFill>
                <a:effectLst/>
                <a:latin typeface="Verdana" panose="020B0604030504040204" pitchFamily="34" charset="0"/>
                <a:ea typeface="Segoe UI" panose="020B0502040204020203" pitchFamily="34" charset="0"/>
                <a:cs typeface="Times New Roman" panose="02020603050405020304" pitchFamily="18" charset="0"/>
              </a:rPr>
              <a:t>Forecasting Techniques</a:t>
            </a:r>
            <a:r>
              <a:rPr lang="en-US" sz="1800" dirty="0">
                <a:solidFill>
                  <a:srgbClr val="000000"/>
                </a:solidFill>
                <a:effectLst/>
                <a:latin typeface="Verdana" panose="020B0604030504040204" pitchFamily="34" charset="0"/>
                <a:ea typeface="Segoe UI" panose="020B0502040204020203" pitchFamily="34" charset="0"/>
                <a:cs typeface="Times New Roman" panose="02020603050405020304" pitchFamily="18" charset="0"/>
              </a:rPr>
              <a:t>: Time series data, Techniques, and accuracy, Moving average method, Single, double, triple exponential smoothing, Regression model for forecasting, Auto-Regression models, ARIMA Process.</a:t>
            </a:r>
            <a:endParaRPr lang="en-IN" sz="1800" dirty="0">
              <a:solidFill>
                <a:srgbClr val="000000"/>
              </a:solidFill>
              <a:effectLst/>
              <a:latin typeface="Calibri" panose="020F0502020204030204" pitchFamily="34" charset="0"/>
              <a:ea typeface="Segoe UI" panose="020B0502040204020203" pitchFamily="34" charset="0"/>
              <a:cs typeface="Tahoma" panose="020B0604030504040204" pitchFamily="34" charset="0"/>
            </a:endParaRPr>
          </a:p>
          <a:p>
            <a:pPr algn="just"/>
            <a:r>
              <a:rPr lang="en-US" sz="1800" b="1" dirty="0">
                <a:solidFill>
                  <a:srgbClr val="000000"/>
                </a:solidFill>
                <a:effectLst/>
                <a:latin typeface="Verdana" panose="020B0604030504040204" pitchFamily="34" charset="0"/>
                <a:ea typeface="Segoe UI" panose="020B0502040204020203" pitchFamily="34" charset="0"/>
                <a:cs typeface="Times New Roman" panose="02020603050405020304" pitchFamily="18" charset="0"/>
              </a:rPr>
              <a:t>Graph Analytics: </a:t>
            </a:r>
            <a:r>
              <a:rPr lang="en-US" sz="1800" dirty="0">
                <a:solidFill>
                  <a:srgbClr val="000000"/>
                </a:solidFill>
                <a:effectLst/>
                <a:latin typeface="Verdana" panose="020B0604030504040204" pitchFamily="34" charset="0"/>
                <a:ea typeface="Segoe UI" panose="020B0502040204020203" pitchFamily="34" charset="0"/>
                <a:cs typeface="Times New Roman" panose="02020603050405020304" pitchFamily="18" charset="0"/>
              </a:rPr>
              <a:t> Path analysis, Connectivity analysis, Community analysis, Centrality analysis, </a:t>
            </a:r>
            <a:r>
              <a:rPr lang="en-US" sz="1800" dirty="0">
                <a:solidFill>
                  <a:srgbClr val="000000"/>
                </a:solidFill>
                <a:effectLst/>
                <a:latin typeface="Calibri" panose="020F0502020204030204" pitchFamily="34" charset="0"/>
                <a:ea typeface="Segoe UI" panose="020B0502040204020203" pitchFamily="34" charset="0"/>
                <a:cs typeface="Tahoma" panose="020B0604030504040204" pitchFamily="34" charset="0"/>
              </a:rPr>
              <a:t>Social-Network Graphs, Communities and Clusters, Betweenness, The Girvan-Newman Algorithm.</a:t>
            </a:r>
            <a:endParaRPr lang="en-IN" sz="1800" dirty="0">
              <a:solidFill>
                <a:srgbClr val="000000"/>
              </a:solidFill>
              <a:effectLst/>
              <a:latin typeface="Calibri" panose="020F0502020204030204" pitchFamily="34" charset="0"/>
              <a:ea typeface="Segoe UI" panose="020B0502040204020203" pitchFamily="34" charset="0"/>
              <a:cs typeface="Tahoma" panose="020B0604030504040204" pitchFamily="34" charset="0"/>
            </a:endParaRPr>
          </a:p>
          <a:p>
            <a:pPr marL="0" indent="0" algn="just">
              <a:buNone/>
            </a:pPr>
            <a:endParaRPr lang="en-IN" sz="2400"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endParaRPr>
          </a:p>
          <a:p>
            <a:pPr algn="just">
              <a:lnSpc>
                <a:spcPct val="100000"/>
              </a:lnSpc>
            </a:pPr>
            <a:endParaRPr lang="en-US" sz="2400" dirty="0"/>
          </a:p>
        </p:txBody>
      </p:sp>
      <p:sp>
        <p:nvSpPr>
          <p:cNvPr id="4" name="Rectangle 3">
            <a:extLst>
              <a:ext uri="{FF2B5EF4-FFF2-40B4-BE49-F238E27FC236}">
                <a16:creationId xmlns:a16="http://schemas.microsoft.com/office/drawing/2014/main" id="{8E882AC3-0BC8-4FB6-A411-E0656630AABE}"/>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812290BB-C335-4476-92BF-6D97BF5A201E}"/>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125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EA6B-10CF-3640-B099-28C0C5C3ED86}"/>
              </a:ext>
            </a:extLst>
          </p:cNvPr>
          <p:cNvSpPr>
            <a:spLocks noGrp="1"/>
          </p:cNvSpPr>
          <p:nvPr>
            <p:ph type="title"/>
          </p:nvPr>
        </p:nvSpPr>
        <p:spPr>
          <a:xfrm>
            <a:off x="709146" y="133959"/>
            <a:ext cx="9603275" cy="1049235"/>
          </a:xfrm>
        </p:spPr>
        <p:txBody>
          <a:bodyPr/>
          <a:lstStyle/>
          <a:p>
            <a:r>
              <a:rPr lang="en-US" b="1" dirty="0"/>
              <a:t>Graph Analytics</a:t>
            </a:r>
          </a:p>
        </p:txBody>
      </p:sp>
      <p:sp>
        <p:nvSpPr>
          <p:cNvPr id="3" name="Content Placeholder 2">
            <a:extLst>
              <a:ext uri="{FF2B5EF4-FFF2-40B4-BE49-F238E27FC236}">
                <a16:creationId xmlns:a16="http://schemas.microsoft.com/office/drawing/2014/main" id="{AF9615AD-9DD8-2F44-891C-4E87CE3F8E28}"/>
              </a:ext>
            </a:extLst>
          </p:cNvPr>
          <p:cNvSpPr>
            <a:spLocks noGrp="1"/>
          </p:cNvSpPr>
          <p:nvPr>
            <p:ph idx="1"/>
          </p:nvPr>
        </p:nvSpPr>
        <p:spPr>
          <a:xfrm>
            <a:off x="709146" y="1331674"/>
            <a:ext cx="10617615" cy="2632810"/>
          </a:xfrm>
        </p:spPr>
        <p:txBody>
          <a:bodyPr>
            <a:noAutofit/>
          </a:bodyPr>
          <a:lstStyle/>
          <a:p>
            <a:pPr algn="just"/>
            <a:r>
              <a:rPr lang="en-GB" sz="2000" b="1" i="0" dirty="0">
                <a:effectLst/>
                <a:latin typeface="Times New Roman" panose="02020603050405020304" pitchFamily="18" charset="0"/>
                <a:cs typeface="Times New Roman" panose="02020603050405020304" pitchFamily="18" charset="0"/>
              </a:rPr>
              <a:t>Graph analytics, also known as graph algorithms or network analysis, is the analysis of data in a graph format using data points as nodes and relationships as edges. </a:t>
            </a:r>
          </a:p>
          <a:p>
            <a:pPr algn="just"/>
            <a:r>
              <a:rPr lang="en-GB" sz="2000" b="0" i="0" dirty="0">
                <a:effectLst/>
                <a:latin typeface="Times New Roman" panose="02020603050405020304" pitchFamily="18" charset="0"/>
                <a:cs typeface="Times New Roman" panose="02020603050405020304" pitchFamily="18" charset="0"/>
              </a:rPr>
              <a:t>Nodes signify points or entities Every node and edge hold specific properties that define its characteristics. </a:t>
            </a:r>
          </a:p>
          <a:p>
            <a:pPr algn="just"/>
            <a:r>
              <a:rPr lang="en-GB" sz="2000" b="0" i="0" dirty="0">
                <a:effectLst/>
                <a:latin typeface="Times New Roman" panose="02020603050405020304" pitchFamily="18" charset="0"/>
                <a:cs typeface="Times New Roman" panose="02020603050405020304" pitchFamily="18" charset="0"/>
              </a:rPr>
              <a:t>Graph analytics is used to </a:t>
            </a:r>
            <a:r>
              <a:rPr lang="en-GB" sz="2000" b="1" i="0" dirty="0">
                <a:effectLst/>
                <a:latin typeface="Times New Roman" panose="02020603050405020304" pitchFamily="18" charset="0"/>
                <a:cs typeface="Times New Roman" panose="02020603050405020304" pitchFamily="18" charset="0"/>
              </a:rPr>
              <a:t>determine the strength and the direction of connections between objects in a graph. </a:t>
            </a:r>
          </a:p>
          <a:p>
            <a:pPr algn="just"/>
            <a:r>
              <a:rPr lang="en-GB" sz="2000" dirty="0">
                <a:latin typeface="Times New Roman" panose="02020603050405020304" pitchFamily="18" charset="0"/>
                <a:cs typeface="Times New Roman" panose="02020603050405020304" pitchFamily="18" charset="0"/>
              </a:rPr>
              <a:t>G</a:t>
            </a:r>
            <a:r>
              <a:rPr lang="en-GB" sz="2000" b="0" i="0" dirty="0">
                <a:effectLst/>
                <a:latin typeface="Times New Roman" panose="02020603050405020304" pitchFamily="18" charset="0"/>
                <a:cs typeface="Times New Roman" panose="02020603050405020304" pitchFamily="18" charset="0"/>
              </a:rPr>
              <a:t>raph analytics enables you to </a:t>
            </a:r>
            <a:r>
              <a:rPr lang="en-GB" sz="2000" b="1" i="0" dirty="0">
                <a:effectLst/>
                <a:latin typeface="Times New Roman" panose="02020603050405020304" pitchFamily="18" charset="0"/>
                <a:cs typeface="Times New Roman" panose="02020603050405020304" pitchFamily="18" charset="0"/>
              </a:rPr>
              <a:t>store, manage, and query data in the form of a graph</a:t>
            </a:r>
            <a:r>
              <a:rPr lang="en-GB" sz="2000" b="0" i="0" dirty="0">
                <a:effectLst/>
                <a:latin typeface="Times New Roman" panose="02020603050405020304" pitchFamily="18" charset="0"/>
                <a:cs typeface="Times New Roman" panose="02020603050405020304" pitchFamily="18" charset="0"/>
              </a:rPr>
              <a:t>. It allows you to find the relationships between people, places, things, events, locations, and others.</a:t>
            </a:r>
            <a:endParaRPr lang="en-US"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E882AC3-0BC8-4FB6-A411-E0656630AABE}"/>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812290BB-C335-4476-92BF-6D97BF5A201E}"/>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497539B8-A35E-4829-AD8C-79876D6F57ED}"/>
              </a:ext>
            </a:extLst>
          </p:cNvPr>
          <p:cNvPicPr>
            <a:picLocks noChangeAspect="1"/>
          </p:cNvPicPr>
          <p:nvPr/>
        </p:nvPicPr>
        <p:blipFill>
          <a:blip r:embed="rId2"/>
          <a:stretch>
            <a:fillRect/>
          </a:stretch>
        </p:blipFill>
        <p:spPr>
          <a:xfrm>
            <a:off x="1990725" y="4200589"/>
            <a:ext cx="8210550" cy="2305050"/>
          </a:xfrm>
          <a:prstGeom prst="rect">
            <a:avLst/>
          </a:prstGeom>
        </p:spPr>
      </p:pic>
    </p:spTree>
    <p:extLst>
      <p:ext uri="{BB962C8B-B14F-4D97-AF65-F5344CB8AC3E}">
        <p14:creationId xmlns:p14="http://schemas.microsoft.com/office/powerpoint/2010/main" val="1994237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EA6B-10CF-3640-B099-28C0C5C3ED86}"/>
              </a:ext>
            </a:extLst>
          </p:cNvPr>
          <p:cNvSpPr>
            <a:spLocks noGrp="1"/>
          </p:cNvSpPr>
          <p:nvPr>
            <p:ph type="title"/>
          </p:nvPr>
        </p:nvSpPr>
        <p:spPr>
          <a:xfrm>
            <a:off x="709146" y="133959"/>
            <a:ext cx="9603275" cy="1049235"/>
          </a:xfrm>
        </p:spPr>
        <p:txBody>
          <a:bodyPr/>
          <a:lstStyle/>
          <a:p>
            <a:r>
              <a:rPr lang="en-US" b="1" dirty="0"/>
              <a:t> Graph Analytics</a:t>
            </a:r>
          </a:p>
        </p:txBody>
      </p:sp>
      <p:sp>
        <p:nvSpPr>
          <p:cNvPr id="3" name="Content Placeholder 2">
            <a:extLst>
              <a:ext uri="{FF2B5EF4-FFF2-40B4-BE49-F238E27FC236}">
                <a16:creationId xmlns:a16="http://schemas.microsoft.com/office/drawing/2014/main" id="{AF9615AD-9DD8-2F44-891C-4E87CE3F8E28}"/>
              </a:ext>
            </a:extLst>
          </p:cNvPr>
          <p:cNvSpPr>
            <a:spLocks noGrp="1"/>
          </p:cNvSpPr>
          <p:nvPr>
            <p:ph idx="1"/>
          </p:nvPr>
        </p:nvSpPr>
        <p:spPr>
          <a:xfrm>
            <a:off x="1466622" y="1322727"/>
            <a:ext cx="10081365" cy="4476353"/>
          </a:xfrm>
        </p:spPr>
        <p:txBody>
          <a:bodyPr>
            <a:noAutofit/>
          </a:bodyPr>
          <a:lstStyle/>
          <a:p>
            <a:pPr algn="just" fontAlgn="base"/>
            <a:r>
              <a:rPr lang="en-GB" sz="2400" b="0" i="0" dirty="0">
                <a:effectLst/>
                <a:latin typeface="Times New Roman" panose="02020603050405020304" pitchFamily="18" charset="0"/>
                <a:cs typeface="Times New Roman" panose="02020603050405020304" pitchFamily="18" charset="0"/>
              </a:rPr>
              <a:t>Graph analytics tends to provide a pairwise relationship between the objects and represent the structural characteristics of a graph. </a:t>
            </a:r>
            <a:endParaRPr lang="en-GB" sz="2400" dirty="0">
              <a:latin typeface="Times New Roman" panose="02020603050405020304" pitchFamily="18" charset="0"/>
              <a:cs typeface="Times New Roman" panose="02020603050405020304" pitchFamily="18" charset="0"/>
            </a:endParaRPr>
          </a:p>
          <a:p>
            <a:pPr algn="just" fontAlgn="base"/>
            <a:r>
              <a:rPr lang="en-GB" sz="2400" b="0" i="0" dirty="0">
                <a:effectLst/>
                <a:latin typeface="Times New Roman" panose="02020603050405020304" pitchFamily="18" charset="0"/>
                <a:cs typeface="Times New Roman" panose="02020603050405020304" pitchFamily="18" charset="0"/>
              </a:rPr>
              <a:t>Graphs are visually appealing and make it easier to understand how complex networks behave. </a:t>
            </a:r>
          </a:p>
          <a:p>
            <a:pPr algn="just" fontAlgn="base"/>
            <a:endParaRPr lang="en-GB" sz="2400" dirty="0">
              <a:latin typeface="Times New Roman" panose="02020603050405020304" pitchFamily="18" charset="0"/>
              <a:cs typeface="Times New Roman" panose="02020603050405020304" pitchFamily="18" charset="0"/>
            </a:endParaRPr>
          </a:p>
          <a:p>
            <a:pPr algn="just" fontAlgn="base"/>
            <a:r>
              <a:rPr lang="en-GB" sz="2400" b="0" i="0" dirty="0">
                <a:effectLst/>
                <a:latin typeface="Times New Roman" panose="02020603050405020304" pitchFamily="18" charset="0"/>
                <a:cs typeface="Times New Roman" panose="02020603050405020304" pitchFamily="18" charset="0"/>
              </a:rPr>
              <a:t>The best part about graph analytics is the ease with which you can add information to a graph. It is not necessary to understand everything about your data to start storage and investigation.</a:t>
            </a:r>
          </a:p>
          <a:p>
            <a:pPr algn="just" fontAlgn="base"/>
            <a:r>
              <a:rPr lang="en-GB" sz="2400" b="0" i="0" dirty="0">
                <a:effectLst/>
                <a:latin typeface="Times New Roman" panose="02020603050405020304" pitchFamily="18" charset="0"/>
                <a:cs typeface="Times New Roman" panose="02020603050405020304" pitchFamily="18" charset="0"/>
              </a:rPr>
              <a:t>Some of the most popular tools for graph analytics include Neo4j, </a:t>
            </a:r>
            <a:r>
              <a:rPr lang="en-GB" sz="2400" b="0" i="0" dirty="0" err="1">
                <a:effectLst/>
                <a:latin typeface="Times New Roman" panose="02020603050405020304" pitchFamily="18" charset="0"/>
                <a:cs typeface="Times New Roman" panose="02020603050405020304" pitchFamily="18" charset="0"/>
              </a:rPr>
              <a:t>OrientDB</a:t>
            </a:r>
            <a:r>
              <a:rPr lang="en-GB" sz="2400" b="0" i="0" dirty="0">
                <a:effectLst/>
                <a:latin typeface="Times New Roman" panose="02020603050405020304" pitchFamily="18" charset="0"/>
                <a:cs typeface="Times New Roman" panose="02020603050405020304" pitchFamily="18" charset="0"/>
              </a:rPr>
              <a:t>, Amazon Neptune, and several others.</a:t>
            </a:r>
          </a:p>
          <a:p>
            <a:pPr algn="just">
              <a:lnSpc>
                <a:spcPct val="100000"/>
              </a:lnSpc>
            </a:pP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E882AC3-0BC8-4FB6-A411-E0656630AABE}"/>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812290BB-C335-4476-92BF-6D97BF5A201E}"/>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875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EA6B-10CF-3640-B099-28C0C5C3ED86}"/>
              </a:ext>
            </a:extLst>
          </p:cNvPr>
          <p:cNvSpPr>
            <a:spLocks noGrp="1"/>
          </p:cNvSpPr>
          <p:nvPr>
            <p:ph type="title"/>
          </p:nvPr>
        </p:nvSpPr>
        <p:spPr>
          <a:xfrm>
            <a:off x="709146" y="133959"/>
            <a:ext cx="9603275" cy="1049235"/>
          </a:xfrm>
        </p:spPr>
        <p:txBody>
          <a:bodyPr/>
          <a:lstStyle/>
          <a:p>
            <a:r>
              <a:rPr lang="en-US" b="1" dirty="0"/>
              <a:t> Types of Graph Analytics</a:t>
            </a:r>
          </a:p>
        </p:txBody>
      </p:sp>
      <p:sp>
        <p:nvSpPr>
          <p:cNvPr id="3" name="Content Placeholder 2">
            <a:extLst>
              <a:ext uri="{FF2B5EF4-FFF2-40B4-BE49-F238E27FC236}">
                <a16:creationId xmlns:a16="http://schemas.microsoft.com/office/drawing/2014/main" id="{AF9615AD-9DD8-2F44-891C-4E87CE3F8E28}"/>
              </a:ext>
            </a:extLst>
          </p:cNvPr>
          <p:cNvSpPr>
            <a:spLocks noGrp="1"/>
          </p:cNvSpPr>
          <p:nvPr>
            <p:ph idx="1"/>
          </p:nvPr>
        </p:nvSpPr>
        <p:spPr>
          <a:xfrm>
            <a:off x="884904" y="1157020"/>
            <a:ext cx="10663084" cy="5588754"/>
          </a:xfrm>
        </p:spPr>
        <p:txBody>
          <a:bodyPr>
            <a:noAutofit/>
          </a:bodyPr>
          <a:lstStyle/>
          <a:p>
            <a:pPr marL="0" indent="0" algn="just" fontAlgn="base">
              <a:buNone/>
            </a:pPr>
            <a:r>
              <a:rPr lang="en-GB" sz="1800" b="0" i="0" dirty="0">
                <a:effectLst/>
                <a:latin typeface="Times New Roman" panose="02020603050405020304" pitchFamily="18" charset="0"/>
                <a:cs typeface="Times New Roman" panose="02020603050405020304" pitchFamily="18" charset="0"/>
              </a:rPr>
              <a:t>Graph analytics can be categorized into four main types. Let’s have a quick look at them.</a:t>
            </a:r>
            <a:endParaRPr lang="en-GB" sz="1800" b="1" i="0" dirty="0">
              <a:effectLst/>
              <a:latin typeface="Times New Roman" panose="02020603050405020304" pitchFamily="18" charset="0"/>
              <a:cs typeface="Times New Roman" panose="02020603050405020304" pitchFamily="18" charset="0"/>
            </a:endParaRPr>
          </a:p>
          <a:p>
            <a:pPr marL="0" indent="0" algn="just" fontAlgn="base">
              <a:buNone/>
            </a:pPr>
            <a:r>
              <a:rPr lang="en-GB" sz="1800" b="1" i="0" dirty="0">
                <a:effectLst/>
                <a:latin typeface="Times New Roman" panose="02020603050405020304" pitchFamily="18" charset="0"/>
                <a:cs typeface="Times New Roman" panose="02020603050405020304" pitchFamily="18" charset="0"/>
              </a:rPr>
              <a:t>1. Path analysis</a:t>
            </a:r>
            <a:endParaRPr lang="en-GB" sz="1800" b="0" i="0" dirty="0">
              <a:effectLst/>
              <a:latin typeface="Times New Roman" panose="02020603050405020304" pitchFamily="18" charset="0"/>
              <a:cs typeface="Times New Roman" panose="02020603050405020304" pitchFamily="18" charset="0"/>
            </a:endParaRPr>
          </a:p>
          <a:p>
            <a:pPr marL="0" indent="0" algn="just" fontAlgn="base">
              <a:buNone/>
            </a:pPr>
            <a:r>
              <a:rPr lang="en-GB" sz="1800" b="0" i="0" dirty="0">
                <a:effectLst/>
                <a:latin typeface="Times New Roman" panose="02020603050405020304" pitchFamily="18" charset="0"/>
                <a:cs typeface="Times New Roman" panose="02020603050405020304" pitchFamily="18" charset="0"/>
              </a:rPr>
              <a:t>	Path analysis tends to focus on the relationships between two nodes in a graph. It </a:t>
            </a:r>
            <a:r>
              <a:rPr lang="en-GB" sz="1800" b="1" i="0" dirty="0">
                <a:effectLst/>
                <a:latin typeface="Times New Roman" panose="02020603050405020304" pitchFamily="18" charset="0"/>
                <a:cs typeface="Times New Roman" panose="02020603050405020304" pitchFamily="18" charset="0"/>
              </a:rPr>
              <a:t>determines the 	shortest distance between two nodes </a:t>
            </a:r>
            <a:r>
              <a:rPr lang="en-GB" sz="1800" b="0" i="0" dirty="0">
                <a:effectLst/>
                <a:latin typeface="Times New Roman" panose="02020603050405020304" pitchFamily="18" charset="0"/>
                <a:cs typeface="Times New Roman" panose="02020603050405020304" pitchFamily="18" charset="0"/>
              </a:rPr>
              <a:t>and </a:t>
            </a:r>
            <a:r>
              <a:rPr lang="en-GB" sz="1800" b="0" i="0" dirty="0" err="1">
                <a:effectLst/>
                <a:latin typeface="Times New Roman" panose="02020603050405020304" pitchFamily="18" charset="0"/>
                <a:cs typeface="Times New Roman" panose="02020603050405020304" pitchFamily="18" charset="0"/>
              </a:rPr>
              <a:t>analyzes</a:t>
            </a:r>
            <a:r>
              <a:rPr lang="en-GB" sz="1800" b="0" i="0" dirty="0">
                <a:effectLst/>
                <a:latin typeface="Times New Roman" panose="02020603050405020304" pitchFamily="18" charset="0"/>
                <a:cs typeface="Times New Roman" panose="02020603050405020304" pitchFamily="18" charset="0"/>
              </a:rPr>
              <a:t> similar shapes and distances from different paths 	that connect entities within the graph.</a:t>
            </a:r>
          </a:p>
          <a:p>
            <a:pPr marL="0" indent="0" algn="just" fontAlgn="base">
              <a:buNone/>
            </a:pPr>
            <a:r>
              <a:rPr lang="en-GB" sz="1800" b="1" i="0" dirty="0">
                <a:effectLst/>
                <a:latin typeface="Times New Roman" panose="02020603050405020304" pitchFamily="18" charset="0"/>
                <a:cs typeface="Times New Roman" panose="02020603050405020304" pitchFamily="18" charset="0"/>
              </a:rPr>
              <a:t>2. Connectivity analysis</a:t>
            </a:r>
            <a:endParaRPr lang="en-GB" sz="1800" b="0" i="0" dirty="0">
              <a:effectLst/>
              <a:latin typeface="Times New Roman" panose="02020603050405020304" pitchFamily="18" charset="0"/>
              <a:cs typeface="Times New Roman" panose="02020603050405020304" pitchFamily="18" charset="0"/>
            </a:endParaRPr>
          </a:p>
          <a:p>
            <a:pPr marL="0" indent="0" algn="just" fontAlgn="base">
              <a:buNone/>
            </a:pPr>
            <a:r>
              <a:rPr lang="en-GB" sz="1800" b="0" i="0" dirty="0">
                <a:effectLst/>
                <a:latin typeface="Times New Roman" panose="02020603050405020304" pitchFamily="18" charset="0"/>
                <a:cs typeface="Times New Roman" panose="02020603050405020304" pitchFamily="18" charset="0"/>
              </a:rPr>
              <a:t>	Connectivity analysis is used to determine </a:t>
            </a:r>
            <a:r>
              <a:rPr lang="en-GB" sz="1800" b="1" i="0" dirty="0">
                <a:effectLst/>
                <a:latin typeface="Times New Roman" panose="02020603050405020304" pitchFamily="18" charset="0"/>
                <a:cs typeface="Times New Roman" panose="02020603050405020304" pitchFamily="18" charset="0"/>
              </a:rPr>
              <a:t>the strength of two interconnected nodes</a:t>
            </a:r>
            <a:r>
              <a:rPr lang="en-GB" sz="1800" b="0" i="0" dirty="0">
                <a:effectLst/>
                <a:latin typeface="Times New Roman" panose="02020603050405020304" pitchFamily="18" charset="0"/>
                <a:cs typeface="Times New Roman" panose="02020603050405020304" pitchFamily="18" charset="0"/>
              </a:rPr>
              <a:t>. It helps you 	identify whether the connection between the nodes is strong or weak. Connectivity analysis also 	determines the number of edges flowing into the node and the ones flowing out of the node.</a:t>
            </a:r>
          </a:p>
          <a:p>
            <a:pPr marL="0" indent="0" algn="just" fontAlgn="base">
              <a:buNone/>
            </a:pPr>
            <a:r>
              <a:rPr lang="en-GB" sz="1800" b="1" i="0" dirty="0">
                <a:effectLst/>
                <a:latin typeface="Times New Roman" panose="02020603050405020304" pitchFamily="18" charset="0"/>
                <a:cs typeface="Times New Roman" panose="02020603050405020304" pitchFamily="18" charset="0"/>
              </a:rPr>
              <a:t>3. Centrality analysis</a:t>
            </a:r>
            <a:endParaRPr lang="en-GB" sz="1800" b="0" i="0" dirty="0">
              <a:effectLst/>
              <a:latin typeface="Times New Roman" panose="02020603050405020304" pitchFamily="18" charset="0"/>
              <a:cs typeface="Times New Roman" panose="02020603050405020304" pitchFamily="18" charset="0"/>
            </a:endParaRPr>
          </a:p>
          <a:p>
            <a:pPr marL="0" indent="0" algn="just" fontAlgn="base">
              <a:buNone/>
            </a:pPr>
            <a:r>
              <a:rPr lang="en-GB" sz="1800" b="0" i="0" dirty="0">
                <a:effectLst/>
                <a:latin typeface="Times New Roman" panose="02020603050405020304" pitchFamily="18" charset="0"/>
                <a:cs typeface="Times New Roman" panose="02020603050405020304" pitchFamily="18" charset="0"/>
              </a:rPr>
              <a:t>	It tends to determine the </a:t>
            </a:r>
            <a:r>
              <a:rPr lang="en-GB" sz="1800" b="1" i="0" dirty="0">
                <a:effectLst/>
                <a:latin typeface="Times New Roman" panose="02020603050405020304" pitchFamily="18" charset="0"/>
                <a:cs typeface="Times New Roman" panose="02020603050405020304" pitchFamily="18" charset="0"/>
              </a:rPr>
              <a:t>importance of a present node within the graph network </a:t>
            </a:r>
            <a:r>
              <a:rPr lang="en-GB" sz="1800" b="0" i="0" dirty="0">
                <a:effectLst/>
                <a:latin typeface="Times New Roman" panose="02020603050405020304" pitchFamily="18" charset="0"/>
                <a:cs typeface="Times New Roman" panose="02020603050405020304" pitchFamily="18" charset="0"/>
              </a:rPr>
              <a:t>and its connectivity 	to others. Centrality analysis enables you to understand the most influential node and the connection it 	accesses.</a:t>
            </a:r>
          </a:p>
          <a:p>
            <a:pPr marL="0" indent="0" algn="just" fontAlgn="base">
              <a:buNone/>
            </a:pPr>
            <a:r>
              <a:rPr lang="en-GB" sz="1800" b="1" i="0" dirty="0">
                <a:effectLst/>
                <a:latin typeface="Times New Roman" panose="02020603050405020304" pitchFamily="18" charset="0"/>
                <a:cs typeface="Times New Roman" panose="02020603050405020304" pitchFamily="18" charset="0"/>
              </a:rPr>
              <a:t>4. Community Analysis (Network analysis)</a:t>
            </a:r>
            <a:endParaRPr lang="en-GB" sz="1800" b="0" i="0" dirty="0">
              <a:effectLst/>
              <a:latin typeface="Times New Roman" panose="02020603050405020304" pitchFamily="18" charset="0"/>
              <a:cs typeface="Times New Roman" panose="02020603050405020304" pitchFamily="18" charset="0"/>
            </a:endParaRPr>
          </a:p>
          <a:p>
            <a:pPr marL="0" indent="0" algn="just" fontAlgn="base">
              <a:buNone/>
            </a:pPr>
            <a:r>
              <a:rPr lang="en-GB" sz="1800" b="0" i="0" dirty="0">
                <a:effectLst/>
                <a:latin typeface="Times New Roman" panose="02020603050405020304" pitchFamily="18" charset="0"/>
                <a:cs typeface="Times New Roman" panose="02020603050405020304" pitchFamily="18" charset="0"/>
              </a:rPr>
              <a:t>	Network analysis, also known as, community analysis tends to </a:t>
            </a:r>
            <a:r>
              <a:rPr lang="en-GB" sz="1800" b="1" i="0" dirty="0">
                <a:effectLst/>
                <a:latin typeface="Times New Roman" panose="02020603050405020304" pitchFamily="18" charset="0"/>
                <a:cs typeface="Times New Roman" panose="02020603050405020304" pitchFamily="18" charset="0"/>
              </a:rPr>
              <a:t>define the density of relationships 	between nodes. </a:t>
            </a:r>
            <a:r>
              <a:rPr lang="en-GB" sz="1800" b="0" i="0" dirty="0">
                <a:effectLst/>
                <a:latin typeface="Times New Roman" panose="02020603050405020304" pitchFamily="18" charset="0"/>
                <a:cs typeface="Times New Roman" panose="02020603050405020304" pitchFamily="18" charset="0"/>
              </a:rPr>
              <a:t>It helps you learn about the nodes that frequently interact with each other in a graph 	network. Network analysis also enables you to determine if the connecting edges are transient. It tends 	to predict whether the created graph network will grow or not.</a:t>
            </a:r>
          </a:p>
          <a:p>
            <a:pPr algn="just" fontAlgn="base"/>
            <a:br>
              <a:rPr lang="en-GB" sz="1800" b="0" i="0" dirty="0">
                <a:effectLst/>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E882AC3-0BC8-4FB6-A411-E0656630AABE}"/>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812290BB-C335-4476-92BF-6D97BF5A201E}"/>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7574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CE98A00-52AD-4F81-8B25-E1362DDEB1D7}"/>
              </a:ext>
            </a:extLst>
          </p:cNvPr>
          <p:cNvSpPr txBox="1">
            <a:spLocks/>
          </p:cNvSpPr>
          <p:nvPr/>
        </p:nvSpPr>
        <p:spPr bwMode="auto">
          <a:xfrm>
            <a:off x="126609" y="23543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just"/>
            <a:r>
              <a:rPr lang="en-GB" sz="4400" b="0" i="0" u="none" strike="noStrike" baseline="0" dirty="0">
                <a:solidFill>
                  <a:srgbClr val="221F1F"/>
                </a:solidFill>
                <a:latin typeface="CMSS10"/>
              </a:rPr>
              <a:t>What is a Social Network?</a:t>
            </a:r>
          </a:p>
        </p:txBody>
      </p:sp>
      <p:sp>
        <p:nvSpPr>
          <p:cNvPr id="6" name="Rectangle 5">
            <a:extLst>
              <a:ext uri="{FF2B5EF4-FFF2-40B4-BE49-F238E27FC236}">
                <a16:creationId xmlns:a16="http://schemas.microsoft.com/office/drawing/2014/main" id="{B21FD798-874F-4384-9434-57FF8E445C00}"/>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3AA11055-8EE0-4741-AF04-84C75FA531AC}"/>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3B8136D-5204-CCAE-8EB1-971465ACB66A}"/>
              </a:ext>
            </a:extLst>
          </p:cNvPr>
          <p:cNvSpPr txBox="1"/>
          <p:nvPr/>
        </p:nvSpPr>
        <p:spPr>
          <a:xfrm>
            <a:off x="975797" y="1265839"/>
            <a:ext cx="10881906" cy="5324535"/>
          </a:xfrm>
          <a:prstGeom prst="rect">
            <a:avLst/>
          </a:prstGeom>
          <a:noFill/>
        </p:spPr>
        <p:txBody>
          <a:bodyPr wrap="square">
            <a:spAutoFit/>
          </a:bodyPr>
          <a:lstStyle/>
          <a:p>
            <a:pPr algn="just"/>
            <a:r>
              <a:rPr lang="en-GB" sz="2000" b="1" i="0" dirty="0">
                <a:effectLst/>
                <a:latin typeface="Arial" panose="020B0604020202020204" pitchFamily="34" charset="0"/>
              </a:rPr>
              <a:t>Social networks</a:t>
            </a:r>
            <a:r>
              <a:rPr lang="en-GB" sz="2000" b="0" i="0" dirty="0">
                <a:effectLst/>
                <a:latin typeface="Arial" panose="020B0604020202020204" pitchFamily="34" charset="0"/>
              </a:rPr>
              <a:t> are websites and apps that allow users and organizations to connect, communicate, share information and form relationships.</a:t>
            </a:r>
          </a:p>
          <a:p>
            <a:pPr algn="just"/>
            <a:r>
              <a:rPr lang="en-GB" sz="2000" u="none" strike="noStrike" baseline="0" dirty="0">
                <a:latin typeface="Arial" panose="020B0604020202020204" pitchFamily="34" charset="0"/>
              </a:rPr>
              <a:t>Ex: </a:t>
            </a:r>
            <a:r>
              <a:rPr lang="en-GB" sz="2000" b="0" i="0" u="none" strike="noStrike" baseline="0" dirty="0">
                <a:latin typeface="CMR10"/>
              </a:rPr>
              <a:t> Facebook, Twitter, Google+, or another website that is called a “social network,” and indeed this kind of network is representative of the broader class of networks called “social.” </a:t>
            </a:r>
          </a:p>
          <a:p>
            <a:pPr algn="just"/>
            <a:endParaRPr lang="en-GB" sz="2000" dirty="0">
              <a:latin typeface="CMR10"/>
            </a:endParaRPr>
          </a:p>
          <a:p>
            <a:pPr algn="just"/>
            <a:r>
              <a:rPr lang="en-GB" sz="2000" b="1" i="0" u="none" strike="noStrike" baseline="0" dirty="0">
                <a:latin typeface="CMR10"/>
              </a:rPr>
              <a:t>The essential characteristics of a social network </a:t>
            </a:r>
            <a:r>
              <a:rPr lang="en-GB" sz="2000" b="0" i="0" u="none" strike="noStrike" baseline="0" dirty="0">
                <a:latin typeface="CMR10"/>
              </a:rPr>
              <a:t>are: </a:t>
            </a:r>
          </a:p>
          <a:p>
            <a:pPr algn="just"/>
            <a:endParaRPr lang="en-GB" sz="2000" dirty="0">
              <a:latin typeface="CMR10"/>
            </a:endParaRPr>
          </a:p>
          <a:p>
            <a:pPr marL="457200" indent="-457200" algn="l">
              <a:buFont typeface="+mj-lt"/>
              <a:buAutoNum type="arabicPeriod"/>
            </a:pPr>
            <a:r>
              <a:rPr lang="en-GB" sz="2000" b="0" i="0" u="none" strike="noStrike" baseline="0" dirty="0">
                <a:latin typeface="CMR10"/>
              </a:rPr>
              <a:t>There is a collection of entities that participate in the network. Typically, these </a:t>
            </a:r>
            <a:r>
              <a:rPr lang="en-GB" sz="2000" b="1" i="0" u="none" strike="noStrike" baseline="0" dirty="0">
                <a:latin typeface="CMR10"/>
              </a:rPr>
              <a:t>entities are people</a:t>
            </a:r>
            <a:r>
              <a:rPr lang="en-GB" sz="2000" b="0" i="0" u="none" strike="noStrike" baseline="0" dirty="0">
                <a:latin typeface="CMR10"/>
              </a:rPr>
              <a:t>, but they could be something else entirely.</a:t>
            </a:r>
          </a:p>
          <a:p>
            <a:pPr marL="457200" indent="-457200" algn="l">
              <a:buFont typeface="+mj-lt"/>
              <a:buAutoNum type="arabicPeriod"/>
            </a:pPr>
            <a:endParaRPr lang="en-GB" sz="2000" dirty="0">
              <a:latin typeface="CMR10"/>
            </a:endParaRPr>
          </a:p>
          <a:p>
            <a:pPr marL="457200" indent="-457200" algn="l">
              <a:buFont typeface="+mj-lt"/>
              <a:buAutoNum type="arabicPeriod"/>
            </a:pPr>
            <a:r>
              <a:rPr lang="en-GB" sz="2000" b="0" i="0" u="none" strike="noStrike" baseline="0" dirty="0">
                <a:latin typeface="CMR10"/>
              </a:rPr>
              <a:t>There is </a:t>
            </a:r>
            <a:r>
              <a:rPr lang="en-GB" sz="2000" b="1" i="0" u="none" strike="noStrike" baseline="0" dirty="0">
                <a:latin typeface="CMR10"/>
              </a:rPr>
              <a:t>at least one relationship </a:t>
            </a:r>
            <a:r>
              <a:rPr lang="en-GB" sz="2000" b="0" i="0" u="none" strike="noStrike" baseline="0" dirty="0">
                <a:latin typeface="CMR10"/>
              </a:rPr>
              <a:t>between entities of the network. On Facebook or its ilk, this relationship is called </a:t>
            </a:r>
            <a:r>
              <a:rPr lang="en-GB" sz="2000" b="0" i="0" u="none" strike="noStrike" baseline="0" dirty="0">
                <a:latin typeface="CMTI10"/>
              </a:rPr>
              <a:t>friends</a:t>
            </a:r>
            <a:r>
              <a:rPr lang="en-GB" sz="2000" b="0" i="0" u="none" strike="noStrike" baseline="0" dirty="0">
                <a:latin typeface="CMR10"/>
              </a:rPr>
              <a:t>. Sometimes the relationship is all-or-nothing; two people are either friends or they are not.</a:t>
            </a:r>
          </a:p>
          <a:p>
            <a:pPr marL="457200" indent="-457200" algn="l">
              <a:buFont typeface="+mj-lt"/>
              <a:buAutoNum type="arabicPeriod"/>
            </a:pPr>
            <a:endParaRPr lang="en-GB" sz="2000" dirty="0">
              <a:latin typeface="CMR10"/>
            </a:endParaRPr>
          </a:p>
          <a:p>
            <a:pPr marL="457200" indent="-457200" algn="l">
              <a:buFont typeface="+mj-lt"/>
              <a:buAutoNum type="arabicPeriod"/>
            </a:pPr>
            <a:r>
              <a:rPr lang="en-GB" sz="2000" b="0" i="0" u="none" strike="noStrike" baseline="0" dirty="0">
                <a:latin typeface="CMR10"/>
              </a:rPr>
              <a:t>There is an assumption of </a:t>
            </a:r>
            <a:r>
              <a:rPr lang="en-GB" sz="2000" b="1" i="0" u="none" strike="noStrike" baseline="0" dirty="0">
                <a:latin typeface="CMR10"/>
              </a:rPr>
              <a:t>non randomness or locality</a:t>
            </a:r>
            <a:r>
              <a:rPr lang="en-GB" sz="2000" b="0" i="0" u="none" strike="noStrike" baseline="0" dirty="0">
                <a:latin typeface="CMR10"/>
              </a:rPr>
              <a:t>. This condition is the hardest to formalize, but the intuition is that relationships tend to cluster. That is, if entity </a:t>
            </a:r>
            <a:r>
              <a:rPr lang="en-GB" sz="2000" b="0" i="0" u="none" strike="noStrike" baseline="0" dirty="0">
                <a:latin typeface="CMMI10"/>
              </a:rPr>
              <a:t>A </a:t>
            </a:r>
            <a:r>
              <a:rPr lang="en-GB" sz="2000" b="0" i="0" u="none" strike="noStrike" baseline="0" dirty="0">
                <a:latin typeface="CMR10"/>
              </a:rPr>
              <a:t>is related to both </a:t>
            </a:r>
            <a:r>
              <a:rPr lang="en-GB" sz="2000" b="0" i="0" u="none" strike="noStrike" baseline="0" dirty="0">
                <a:latin typeface="CMMI10"/>
              </a:rPr>
              <a:t>B </a:t>
            </a:r>
            <a:r>
              <a:rPr lang="en-GB" sz="2000" b="0" i="0" u="none" strike="noStrike" baseline="0" dirty="0">
                <a:latin typeface="CMR10"/>
              </a:rPr>
              <a:t>and </a:t>
            </a:r>
            <a:r>
              <a:rPr lang="en-GB" sz="2000" b="0" i="0" u="none" strike="noStrike" baseline="0" dirty="0">
                <a:latin typeface="CMMI10"/>
              </a:rPr>
              <a:t>C</a:t>
            </a:r>
            <a:r>
              <a:rPr lang="en-GB" sz="2000" b="0" i="0" u="none" strike="noStrike" baseline="0" dirty="0">
                <a:latin typeface="CMR10"/>
              </a:rPr>
              <a:t>, then there is a higher probability than average that </a:t>
            </a:r>
            <a:r>
              <a:rPr lang="en-GB" sz="2000" b="0" i="0" u="none" strike="noStrike" baseline="0" dirty="0">
                <a:latin typeface="CMMI10"/>
              </a:rPr>
              <a:t>B </a:t>
            </a:r>
            <a:r>
              <a:rPr lang="en-GB" sz="2000" b="0" i="0" u="none" strike="noStrike" baseline="0" dirty="0">
                <a:latin typeface="CMR10"/>
              </a:rPr>
              <a:t>and </a:t>
            </a:r>
            <a:r>
              <a:rPr lang="en-GB" sz="2000" b="0" i="0" u="none" strike="noStrike" baseline="0" dirty="0">
                <a:latin typeface="CMMI10"/>
              </a:rPr>
              <a:t>C </a:t>
            </a:r>
            <a:r>
              <a:rPr lang="en-GB" sz="2000" b="0" i="0" u="none" strike="noStrike" baseline="0" dirty="0">
                <a:latin typeface="CMR10"/>
              </a:rPr>
              <a:t>are related.</a:t>
            </a:r>
            <a:endParaRPr lang="en-IN" sz="2000" dirty="0"/>
          </a:p>
        </p:txBody>
      </p:sp>
    </p:spTree>
    <p:extLst>
      <p:ext uri="{BB962C8B-B14F-4D97-AF65-F5344CB8AC3E}">
        <p14:creationId xmlns:p14="http://schemas.microsoft.com/office/powerpoint/2010/main" val="2373203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EBC8BA-3FD8-B6FC-85DC-D21D5DBF2762}"/>
              </a:ext>
            </a:extLst>
          </p:cNvPr>
          <p:cNvPicPr>
            <a:picLocks noChangeAspect="1"/>
          </p:cNvPicPr>
          <p:nvPr/>
        </p:nvPicPr>
        <p:blipFill>
          <a:blip r:embed="rId2"/>
          <a:stretch>
            <a:fillRect/>
          </a:stretch>
        </p:blipFill>
        <p:spPr>
          <a:xfrm>
            <a:off x="1752600" y="315687"/>
            <a:ext cx="9448800" cy="6177188"/>
          </a:xfrm>
          <a:prstGeom prst="rect">
            <a:avLst/>
          </a:prstGeom>
        </p:spPr>
      </p:pic>
    </p:spTree>
    <p:extLst>
      <p:ext uri="{BB962C8B-B14F-4D97-AF65-F5344CB8AC3E}">
        <p14:creationId xmlns:p14="http://schemas.microsoft.com/office/powerpoint/2010/main" val="90356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EA3C02-A353-958A-9E24-4095A6A2F072}"/>
              </a:ext>
            </a:extLst>
          </p:cNvPr>
          <p:cNvSpPr txBox="1"/>
          <p:nvPr/>
        </p:nvSpPr>
        <p:spPr>
          <a:xfrm>
            <a:off x="489857" y="219300"/>
            <a:ext cx="11244943" cy="7017306"/>
          </a:xfrm>
          <a:prstGeom prst="rect">
            <a:avLst/>
          </a:prstGeom>
          <a:noFill/>
        </p:spPr>
        <p:txBody>
          <a:bodyPr wrap="square">
            <a:spAutoFit/>
          </a:bodyPr>
          <a:lstStyle/>
          <a:p>
            <a:pPr algn="just"/>
            <a:r>
              <a:rPr lang="en-GB" dirty="0"/>
              <a:t>1</a:t>
            </a:r>
            <a:r>
              <a:rPr lang="en-GB" b="1" dirty="0"/>
              <a:t>. Nodes (or Vertices)</a:t>
            </a:r>
          </a:p>
          <a:p>
            <a:pPr algn="just"/>
            <a:r>
              <a:rPr lang="en-GB" dirty="0"/>
              <a:t>These are the individual </a:t>
            </a:r>
            <a:r>
              <a:rPr lang="en-GB" b="1" dirty="0"/>
              <a:t>entities </a:t>
            </a:r>
            <a:r>
              <a:rPr lang="en-GB" dirty="0"/>
              <a:t>within the network, which could be people, groups, or other organizations. They are the basic unit of analysis in a social network. For example, in a friendship network, each person would be a node.</a:t>
            </a:r>
          </a:p>
          <a:p>
            <a:pPr algn="just"/>
            <a:endParaRPr lang="en-GB" dirty="0"/>
          </a:p>
          <a:p>
            <a:pPr algn="just"/>
            <a:r>
              <a:rPr lang="en-GB" dirty="0"/>
              <a:t>2. </a:t>
            </a:r>
            <a:r>
              <a:rPr lang="en-GB" b="1" dirty="0"/>
              <a:t>Edges (or Links or Ties)</a:t>
            </a:r>
          </a:p>
          <a:p>
            <a:pPr algn="just"/>
            <a:r>
              <a:rPr lang="en-GB" dirty="0"/>
              <a:t>These represent </a:t>
            </a:r>
            <a:r>
              <a:rPr lang="en-GB" b="1" dirty="0"/>
              <a:t>relationships or interactions between nodes</a:t>
            </a:r>
            <a:r>
              <a:rPr lang="en-GB" dirty="0"/>
              <a:t>. For instance, an edge may represent a friendship between two people or a business transaction between two companies.</a:t>
            </a:r>
          </a:p>
          <a:p>
            <a:pPr algn="just"/>
            <a:endParaRPr lang="en-GB" dirty="0"/>
          </a:p>
          <a:p>
            <a:pPr algn="just"/>
            <a:r>
              <a:rPr lang="en-GB" dirty="0"/>
              <a:t>3. </a:t>
            </a:r>
            <a:r>
              <a:rPr lang="en-GB" b="1" dirty="0"/>
              <a:t>Degree</a:t>
            </a:r>
          </a:p>
          <a:p>
            <a:pPr algn="just"/>
            <a:r>
              <a:rPr lang="en-GB" dirty="0"/>
              <a:t>This is the </a:t>
            </a:r>
            <a:r>
              <a:rPr lang="en-GB" b="1" dirty="0"/>
              <a:t>number of connections a node has</a:t>
            </a:r>
            <a:r>
              <a:rPr lang="en-GB" dirty="0"/>
              <a:t>. A person with a high degree in a social network could be considered popular or influential as they have many connections to others.</a:t>
            </a:r>
          </a:p>
          <a:p>
            <a:pPr algn="just"/>
            <a:endParaRPr lang="en-GB" dirty="0"/>
          </a:p>
          <a:p>
            <a:pPr algn="just"/>
            <a:r>
              <a:rPr lang="en-GB" dirty="0"/>
              <a:t>4. </a:t>
            </a:r>
            <a:r>
              <a:rPr lang="en-GB" b="1" dirty="0"/>
              <a:t>Density</a:t>
            </a:r>
          </a:p>
          <a:p>
            <a:pPr algn="just"/>
            <a:r>
              <a:rPr lang="en-GB" dirty="0"/>
              <a:t>A measure of how many connections exist in the network compared to how many could possibly exist. High density networks suggest that </a:t>
            </a:r>
            <a:r>
              <a:rPr lang="en-GB" b="1" dirty="0"/>
              <a:t>many members are connected to each other, </a:t>
            </a:r>
            <a:r>
              <a:rPr lang="en-GB" dirty="0"/>
              <a:t>promoting quick information or disease spread.</a:t>
            </a:r>
          </a:p>
          <a:p>
            <a:pPr algn="just"/>
            <a:endParaRPr lang="en-GB" b="1" dirty="0"/>
          </a:p>
          <a:p>
            <a:pPr algn="just"/>
            <a:r>
              <a:rPr lang="en-GB" b="1" dirty="0"/>
              <a:t>5. Degree Centrality</a:t>
            </a:r>
          </a:p>
          <a:p>
            <a:pPr algn="just"/>
            <a:r>
              <a:rPr lang="en-GB" dirty="0"/>
              <a:t>This quantifies the </a:t>
            </a:r>
            <a:r>
              <a:rPr lang="en-GB" b="1" dirty="0"/>
              <a:t>importance of a node within the network</a:t>
            </a:r>
            <a:r>
              <a:rPr lang="en-GB" dirty="0"/>
              <a:t>. Nodes with high centrality are influential within the network due to their connections.</a:t>
            </a:r>
          </a:p>
          <a:p>
            <a:pPr algn="just"/>
            <a:endParaRPr lang="en-GB" dirty="0"/>
          </a:p>
          <a:p>
            <a:pPr algn="just"/>
            <a:r>
              <a:rPr lang="en-GB" dirty="0"/>
              <a:t>6. </a:t>
            </a:r>
            <a:r>
              <a:rPr lang="en-GB" b="1" dirty="0"/>
              <a:t>Betweenness Centrality</a:t>
            </a:r>
          </a:p>
          <a:p>
            <a:pPr algn="just"/>
            <a:r>
              <a:rPr lang="en-GB" dirty="0"/>
              <a:t>This is a type of centrality that quantifies the </a:t>
            </a:r>
            <a:r>
              <a:rPr lang="en-GB" b="1" dirty="0"/>
              <a:t>number of times a node acts as a bridge along the shortest path between two other nodes. </a:t>
            </a:r>
            <a:r>
              <a:rPr lang="en-GB" dirty="0"/>
              <a:t>It identifies nodes that connect different parts of a network.</a:t>
            </a:r>
          </a:p>
          <a:p>
            <a:pPr algn="just"/>
            <a:endParaRPr lang="en-GB" dirty="0"/>
          </a:p>
          <a:p>
            <a:pPr algn="just"/>
            <a:endParaRPr lang="en-GB" dirty="0"/>
          </a:p>
        </p:txBody>
      </p:sp>
    </p:spTree>
    <p:extLst>
      <p:ext uri="{BB962C8B-B14F-4D97-AF65-F5344CB8AC3E}">
        <p14:creationId xmlns:p14="http://schemas.microsoft.com/office/powerpoint/2010/main" val="2732938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EA3C02-A353-958A-9E24-4095A6A2F072}"/>
              </a:ext>
            </a:extLst>
          </p:cNvPr>
          <p:cNvSpPr txBox="1"/>
          <p:nvPr/>
        </p:nvSpPr>
        <p:spPr>
          <a:xfrm>
            <a:off x="1099458" y="889843"/>
            <a:ext cx="10145486" cy="5078313"/>
          </a:xfrm>
          <a:prstGeom prst="rect">
            <a:avLst/>
          </a:prstGeom>
          <a:noFill/>
        </p:spPr>
        <p:txBody>
          <a:bodyPr wrap="square">
            <a:spAutoFit/>
          </a:bodyPr>
          <a:lstStyle/>
          <a:p>
            <a:pPr algn="just"/>
            <a:r>
              <a:rPr lang="en-GB" dirty="0"/>
              <a:t>7. </a:t>
            </a:r>
            <a:r>
              <a:rPr lang="en-GB" b="1" dirty="0"/>
              <a:t>Closeness Centrality</a:t>
            </a:r>
          </a:p>
          <a:p>
            <a:pPr algn="just"/>
            <a:r>
              <a:rPr lang="en-GB" dirty="0"/>
              <a:t>Another type of centrality that measures </a:t>
            </a:r>
            <a:r>
              <a:rPr lang="en-GB" b="1" dirty="0"/>
              <a:t>how close a node is to all other nodes </a:t>
            </a:r>
            <a:r>
              <a:rPr lang="en-GB" dirty="0"/>
              <a:t>in the network. Nodes with high closeness centrality can quickly interact with all others.</a:t>
            </a:r>
          </a:p>
          <a:p>
            <a:pPr algn="just"/>
            <a:endParaRPr lang="en-GB" dirty="0"/>
          </a:p>
          <a:p>
            <a:pPr algn="just"/>
            <a:r>
              <a:rPr lang="en-GB" dirty="0"/>
              <a:t>9. </a:t>
            </a:r>
            <a:r>
              <a:rPr lang="en-GB" b="1" dirty="0"/>
              <a:t>Clusters (or Communities)</a:t>
            </a:r>
          </a:p>
          <a:p>
            <a:pPr algn="just"/>
            <a:r>
              <a:rPr lang="en-GB" dirty="0"/>
              <a:t>These are </a:t>
            </a:r>
            <a:r>
              <a:rPr lang="en-GB" b="1" dirty="0"/>
              <a:t>groups of nodes that have a higher density </a:t>
            </a:r>
            <a:r>
              <a:rPr lang="en-GB" dirty="0"/>
              <a:t>of ties among themselves than with nodes outside the group. For instance, groups of friends within a larger social network.</a:t>
            </a:r>
          </a:p>
          <a:p>
            <a:pPr algn="just"/>
            <a:endParaRPr lang="en-GB" dirty="0"/>
          </a:p>
          <a:p>
            <a:pPr algn="just"/>
            <a:endParaRPr lang="en-GB" dirty="0"/>
          </a:p>
          <a:p>
            <a:pPr algn="just"/>
            <a:r>
              <a:rPr lang="en-GB" dirty="0"/>
              <a:t>12. </a:t>
            </a:r>
            <a:r>
              <a:rPr lang="en-GB" b="1" dirty="0"/>
              <a:t>Degree Distribution</a:t>
            </a:r>
          </a:p>
          <a:p>
            <a:pPr algn="just"/>
            <a:r>
              <a:rPr lang="en-GB" dirty="0"/>
              <a:t>The </a:t>
            </a:r>
            <a:r>
              <a:rPr lang="en-GB" b="1" dirty="0"/>
              <a:t>probability distribution of degrees </a:t>
            </a:r>
            <a:r>
              <a:rPr lang="en-GB" dirty="0"/>
              <a:t>over the entire network. It’s often used in network analysis to identify the type of network (e.g., random, scale-free).</a:t>
            </a:r>
          </a:p>
          <a:p>
            <a:pPr algn="just"/>
            <a:endParaRPr lang="en-GB" dirty="0"/>
          </a:p>
          <a:p>
            <a:pPr algn="just"/>
            <a:r>
              <a:rPr lang="en-GB" dirty="0"/>
              <a:t>13. </a:t>
            </a:r>
            <a:r>
              <a:rPr lang="en-GB" b="1" dirty="0"/>
              <a:t>Modularity</a:t>
            </a:r>
          </a:p>
          <a:p>
            <a:pPr algn="just"/>
            <a:r>
              <a:rPr lang="en-GB" dirty="0"/>
              <a:t>A </a:t>
            </a:r>
            <a:r>
              <a:rPr lang="en-GB" b="1" dirty="0"/>
              <a:t>measure that quantifies the strength of division of a network into modules </a:t>
            </a:r>
            <a:r>
              <a:rPr lang="en-GB" dirty="0"/>
              <a:t>(also called groups, clusters or communities). Networks with high modularity have dense connections between nodes within modules but sparse connections between nodes in different modules.</a:t>
            </a:r>
          </a:p>
          <a:p>
            <a:pPr algn="just"/>
            <a:endParaRPr lang="en-GB" dirty="0"/>
          </a:p>
        </p:txBody>
      </p:sp>
    </p:spTree>
    <p:extLst>
      <p:ext uri="{BB962C8B-B14F-4D97-AF65-F5344CB8AC3E}">
        <p14:creationId xmlns:p14="http://schemas.microsoft.com/office/powerpoint/2010/main" val="3692723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A52368-1CA9-4660-4E3B-1171B36262FE}"/>
              </a:ext>
            </a:extLst>
          </p:cNvPr>
          <p:cNvPicPr>
            <a:picLocks noChangeAspect="1"/>
          </p:cNvPicPr>
          <p:nvPr/>
        </p:nvPicPr>
        <p:blipFill>
          <a:blip r:embed="rId2"/>
          <a:stretch>
            <a:fillRect/>
          </a:stretch>
        </p:blipFill>
        <p:spPr>
          <a:xfrm>
            <a:off x="490590" y="304800"/>
            <a:ext cx="4883401" cy="2711589"/>
          </a:xfrm>
          <a:prstGeom prst="rect">
            <a:avLst/>
          </a:prstGeom>
        </p:spPr>
      </p:pic>
      <p:pic>
        <p:nvPicPr>
          <p:cNvPr id="7" name="Picture 6">
            <a:extLst>
              <a:ext uri="{FF2B5EF4-FFF2-40B4-BE49-F238E27FC236}">
                <a16:creationId xmlns:a16="http://schemas.microsoft.com/office/drawing/2014/main" id="{E4DD7FFC-E7FE-9C53-E26E-06B1B7B7E282}"/>
              </a:ext>
            </a:extLst>
          </p:cNvPr>
          <p:cNvPicPr>
            <a:picLocks noChangeAspect="1"/>
          </p:cNvPicPr>
          <p:nvPr/>
        </p:nvPicPr>
        <p:blipFill>
          <a:blip r:embed="rId3"/>
          <a:stretch>
            <a:fillRect/>
          </a:stretch>
        </p:blipFill>
        <p:spPr>
          <a:xfrm>
            <a:off x="632104" y="4063495"/>
            <a:ext cx="6769448" cy="2343270"/>
          </a:xfrm>
          <a:prstGeom prst="rect">
            <a:avLst/>
          </a:prstGeom>
        </p:spPr>
      </p:pic>
      <p:pic>
        <p:nvPicPr>
          <p:cNvPr id="9" name="Picture 8">
            <a:extLst>
              <a:ext uri="{FF2B5EF4-FFF2-40B4-BE49-F238E27FC236}">
                <a16:creationId xmlns:a16="http://schemas.microsoft.com/office/drawing/2014/main" id="{36DCF2F2-08F9-B842-9555-0BA38A678B15}"/>
              </a:ext>
            </a:extLst>
          </p:cNvPr>
          <p:cNvPicPr>
            <a:picLocks noChangeAspect="1"/>
          </p:cNvPicPr>
          <p:nvPr/>
        </p:nvPicPr>
        <p:blipFill>
          <a:blip r:embed="rId4"/>
          <a:stretch>
            <a:fillRect/>
          </a:stretch>
        </p:blipFill>
        <p:spPr>
          <a:xfrm>
            <a:off x="8338457" y="138249"/>
            <a:ext cx="3362953" cy="2711589"/>
          </a:xfrm>
          <a:prstGeom prst="rect">
            <a:avLst/>
          </a:prstGeom>
        </p:spPr>
      </p:pic>
    </p:spTree>
    <p:extLst>
      <p:ext uri="{BB962C8B-B14F-4D97-AF65-F5344CB8AC3E}">
        <p14:creationId xmlns:p14="http://schemas.microsoft.com/office/powerpoint/2010/main" val="3932488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1D24-D2D0-4706-9C3F-82CA93509B6A}"/>
              </a:ext>
            </a:extLst>
          </p:cNvPr>
          <p:cNvSpPr>
            <a:spLocks noGrp="1"/>
          </p:cNvSpPr>
          <p:nvPr>
            <p:ph type="title"/>
          </p:nvPr>
        </p:nvSpPr>
        <p:spPr>
          <a:xfrm>
            <a:off x="271597" y="276312"/>
            <a:ext cx="9423009" cy="1143000"/>
          </a:xfrm>
        </p:spPr>
        <p:txBody>
          <a:bodyPr>
            <a:noAutofit/>
          </a:bodyPr>
          <a:lstStyle/>
          <a:p>
            <a:r>
              <a:rPr lang="en-IN" sz="3200" b="1" i="0" u="none" strike="noStrike" baseline="0" dirty="0">
                <a:solidFill>
                  <a:srgbClr val="221F1F"/>
                </a:solidFill>
                <a:latin typeface="CMSS10"/>
              </a:rPr>
              <a:t>Social Networks as Graphs</a:t>
            </a:r>
            <a:br>
              <a:rPr lang="en-GB" sz="3200" b="1" i="0" dirty="0">
                <a:solidFill>
                  <a:srgbClr val="232C39"/>
                </a:solidFill>
                <a:effectLst/>
                <a:latin typeface="Nunito Sans"/>
              </a:rPr>
            </a:br>
            <a:endParaRPr lang="en-US" sz="3200" b="1" dirty="0"/>
          </a:p>
        </p:txBody>
      </p:sp>
      <p:sp>
        <p:nvSpPr>
          <p:cNvPr id="5" name="TextBox 4">
            <a:extLst>
              <a:ext uri="{FF2B5EF4-FFF2-40B4-BE49-F238E27FC236}">
                <a16:creationId xmlns:a16="http://schemas.microsoft.com/office/drawing/2014/main" id="{5C07EAB9-7016-4737-BC19-371A80504610}"/>
              </a:ext>
            </a:extLst>
          </p:cNvPr>
          <p:cNvSpPr txBox="1"/>
          <p:nvPr/>
        </p:nvSpPr>
        <p:spPr>
          <a:xfrm>
            <a:off x="1098072" y="1279557"/>
            <a:ext cx="10287681" cy="2308324"/>
          </a:xfrm>
          <a:prstGeom prst="rect">
            <a:avLst/>
          </a:prstGeom>
          <a:noFill/>
        </p:spPr>
        <p:txBody>
          <a:bodyPr wrap="square">
            <a:spAutoFit/>
          </a:bodyPr>
          <a:lstStyle/>
          <a:p>
            <a:pPr algn="l"/>
            <a:r>
              <a:rPr lang="en-GB" sz="1800" b="0" i="0" u="none" strike="noStrike" baseline="0" dirty="0">
                <a:solidFill>
                  <a:srgbClr val="221F1F"/>
                </a:solidFill>
                <a:latin typeface="CMR10"/>
              </a:rPr>
              <a:t>Social networks are naturally </a:t>
            </a:r>
            <a:r>
              <a:rPr lang="en-GB" sz="1800" b="0" i="0" u="none" strike="noStrike" baseline="0" dirty="0" err="1">
                <a:solidFill>
                  <a:srgbClr val="221F1F"/>
                </a:solidFill>
                <a:latin typeface="CMR10"/>
              </a:rPr>
              <a:t>modeled</a:t>
            </a:r>
            <a:r>
              <a:rPr lang="en-GB" sz="1800" b="0" i="0" u="none" strike="noStrike" baseline="0" dirty="0">
                <a:solidFill>
                  <a:srgbClr val="221F1F"/>
                </a:solidFill>
                <a:latin typeface="CMR10"/>
              </a:rPr>
              <a:t> as graphs, which we sometimes refer to as a </a:t>
            </a:r>
            <a:r>
              <a:rPr lang="en-GB" sz="1800" b="0" i="0" u="none" strike="noStrike" baseline="0" dirty="0">
                <a:solidFill>
                  <a:srgbClr val="221F1F"/>
                </a:solidFill>
                <a:latin typeface="CMTI10"/>
              </a:rPr>
              <a:t>social graph</a:t>
            </a:r>
            <a:r>
              <a:rPr lang="en-GB" sz="1800" b="0" i="0" u="none" strike="noStrike" baseline="0" dirty="0">
                <a:solidFill>
                  <a:srgbClr val="221F1F"/>
                </a:solidFill>
                <a:latin typeface="CMR10"/>
              </a:rPr>
              <a:t>. The entities are the nodes, and an edge connects two nodes if the nodes are related by the relationship that characterizes the network.</a:t>
            </a:r>
          </a:p>
          <a:p>
            <a:pPr algn="l"/>
            <a:endParaRPr lang="en-GB" sz="1800" b="0" i="0" u="none" strike="noStrike" baseline="0" dirty="0">
              <a:solidFill>
                <a:srgbClr val="221F1F"/>
              </a:solidFill>
              <a:latin typeface="CMR10"/>
            </a:endParaRPr>
          </a:p>
          <a:p>
            <a:pPr algn="l"/>
            <a:r>
              <a:rPr lang="en-GB" sz="1800" b="0" i="0" u="none" strike="noStrike" baseline="0" dirty="0">
                <a:solidFill>
                  <a:srgbClr val="221F1F"/>
                </a:solidFill>
                <a:latin typeface="CMR10"/>
              </a:rPr>
              <a:t> If there is a degree associated with the relationship, this degree is represented by </a:t>
            </a:r>
            <a:r>
              <a:rPr lang="en-GB" sz="1800" b="0" i="0" u="none" strike="noStrike" baseline="0" dirty="0" err="1">
                <a:solidFill>
                  <a:srgbClr val="221F1F"/>
                </a:solidFill>
                <a:latin typeface="CMR10"/>
              </a:rPr>
              <a:t>labeling</a:t>
            </a:r>
            <a:r>
              <a:rPr lang="en-GB" sz="1800" b="0" i="0" u="none" strike="noStrike" baseline="0" dirty="0">
                <a:solidFill>
                  <a:srgbClr val="221F1F"/>
                </a:solidFill>
                <a:latin typeface="CMR10"/>
              </a:rPr>
              <a:t> the edges. Often, social graphs are undirected, as for the Facebook friends graph. </a:t>
            </a:r>
          </a:p>
          <a:p>
            <a:pPr algn="l"/>
            <a:endParaRPr lang="en-GB" sz="1800" b="0" i="0" u="none" strike="noStrike" baseline="0" dirty="0">
              <a:solidFill>
                <a:srgbClr val="221F1F"/>
              </a:solidFill>
              <a:latin typeface="CMR10"/>
            </a:endParaRPr>
          </a:p>
          <a:p>
            <a:pPr algn="l"/>
            <a:r>
              <a:rPr lang="en-GB" sz="1800" b="0" i="0" u="none" strike="noStrike" baseline="0" dirty="0">
                <a:solidFill>
                  <a:srgbClr val="221F1F"/>
                </a:solidFill>
                <a:latin typeface="CMR10"/>
              </a:rPr>
              <a:t>But they can be directed graphs, as for example the graphs of followers on Twitter </a:t>
            </a:r>
            <a:r>
              <a:rPr lang="en-IN" sz="1800" b="0" i="0" u="none" strike="noStrike" baseline="0" dirty="0">
                <a:solidFill>
                  <a:srgbClr val="221F1F"/>
                </a:solidFill>
                <a:latin typeface="CMR10"/>
              </a:rPr>
              <a:t>or Google+.</a:t>
            </a:r>
            <a:endParaRPr lang="en-US" sz="2000" dirty="0"/>
          </a:p>
        </p:txBody>
      </p:sp>
      <p:sp>
        <p:nvSpPr>
          <p:cNvPr id="4" name="Rectangle 3">
            <a:extLst>
              <a:ext uri="{FF2B5EF4-FFF2-40B4-BE49-F238E27FC236}">
                <a16:creationId xmlns:a16="http://schemas.microsoft.com/office/drawing/2014/main" id="{B2BFE326-90D8-4AF5-99CC-CEFA7A540AF4}"/>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58B9D9C0-39C9-4AE4-A27F-A5E2F74ADD74}"/>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BE2BF72-80AE-8BAF-FC37-3220AC465BC6}"/>
              </a:ext>
            </a:extLst>
          </p:cNvPr>
          <p:cNvPicPr>
            <a:picLocks noChangeAspect="1"/>
          </p:cNvPicPr>
          <p:nvPr/>
        </p:nvPicPr>
        <p:blipFill>
          <a:blip r:embed="rId2"/>
          <a:stretch>
            <a:fillRect/>
          </a:stretch>
        </p:blipFill>
        <p:spPr>
          <a:xfrm>
            <a:off x="1224115" y="3677832"/>
            <a:ext cx="5220930" cy="2781962"/>
          </a:xfrm>
          <a:prstGeom prst="rect">
            <a:avLst/>
          </a:prstGeom>
        </p:spPr>
      </p:pic>
      <p:sp>
        <p:nvSpPr>
          <p:cNvPr id="9" name="TextBox 8">
            <a:extLst>
              <a:ext uri="{FF2B5EF4-FFF2-40B4-BE49-F238E27FC236}">
                <a16:creationId xmlns:a16="http://schemas.microsoft.com/office/drawing/2014/main" id="{C6D8D659-A6CB-315A-650E-C77F280F7245}"/>
              </a:ext>
            </a:extLst>
          </p:cNvPr>
          <p:cNvSpPr txBox="1"/>
          <p:nvPr/>
        </p:nvSpPr>
        <p:spPr>
          <a:xfrm>
            <a:off x="6965680" y="3771869"/>
            <a:ext cx="4583764" cy="1477328"/>
          </a:xfrm>
          <a:prstGeom prst="rect">
            <a:avLst/>
          </a:prstGeom>
          <a:noFill/>
        </p:spPr>
        <p:txBody>
          <a:bodyPr wrap="square">
            <a:spAutoFit/>
          </a:bodyPr>
          <a:lstStyle/>
          <a:p>
            <a:pPr algn="just"/>
            <a:r>
              <a:rPr lang="en-GB" sz="1800" b="0" i="0" u="none" strike="noStrike" baseline="0" dirty="0">
                <a:solidFill>
                  <a:srgbClr val="221F1F"/>
                </a:solidFill>
                <a:latin typeface="CMR10"/>
              </a:rPr>
              <a:t>Figure 10.1 is an example of a tiny social network. The entities are the nodes </a:t>
            </a:r>
            <a:r>
              <a:rPr lang="en-GB" sz="1800" b="0" i="0" u="none" strike="noStrike" baseline="0" dirty="0">
                <a:solidFill>
                  <a:srgbClr val="221F1F"/>
                </a:solidFill>
                <a:latin typeface="CMMI10"/>
              </a:rPr>
              <a:t>A </a:t>
            </a:r>
            <a:r>
              <a:rPr lang="en-GB" sz="1800" b="0" i="0" u="none" strike="noStrike" baseline="0" dirty="0">
                <a:solidFill>
                  <a:srgbClr val="221F1F"/>
                </a:solidFill>
                <a:latin typeface="CMR10"/>
              </a:rPr>
              <a:t>through </a:t>
            </a:r>
            <a:r>
              <a:rPr lang="en-GB" sz="1800" b="0" i="0" u="none" strike="noStrike" baseline="0" dirty="0">
                <a:solidFill>
                  <a:srgbClr val="221F1F"/>
                </a:solidFill>
                <a:latin typeface="CMMI10"/>
              </a:rPr>
              <a:t>G</a:t>
            </a:r>
            <a:r>
              <a:rPr lang="en-GB" sz="1800" b="0" i="0" u="none" strike="noStrike" baseline="0" dirty="0">
                <a:solidFill>
                  <a:srgbClr val="221F1F"/>
                </a:solidFill>
                <a:latin typeface="CMR10"/>
              </a:rPr>
              <a:t>. The relationship, which we might think of as  “friends,” is represented by the edges. For instance, </a:t>
            </a:r>
            <a:r>
              <a:rPr lang="en-GB" sz="1800" b="0" i="0" u="none" strike="noStrike" baseline="0" dirty="0">
                <a:solidFill>
                  <a:srgbClr val="221F1F"/>
                </a:solidFill>
                <a:latin typeface="CMMI10"/>
              </a:rPr>
              <a:t>B </a:t>
            </a:r>
            <a:r>
              <a:rPr lang="en-GB" sz="1800" b="0" i="0" u="none" strike="noStrike" baseline="0" dirty="0">
                <a:solidFill>
                  <a:srgbClr val="221F1F"/>
                </a:solidFill>
                <a:latin typeface="CMR10"/>
              </a:rPr>
              <a:t>is friends with </a:t>
            </a:r>
            <a:r>
              <a:rPr lang="en-GB" sz="1800" b="0" i="0" u="none" strike="noStrike" baseline="0" dirty="0">
                <a:solidFill>
                  <a:srgbClr val="221F1F"/>
                </a:solidFill>
                <a:latin typeface="CMMI10"/>
              </a:rPr>
              <a:t>A</a:t>
            </a:r>
            <a:r>
              <a:rPr lang="en-GB" sz="1800" b="0" i="0" u="none" strike="noStrike" baseline="0" dirty="0">
                <a:solidFill>
                  <a:srgbClr val="221F1F"/>
                </a:solidFill>
                <a:latin typeface="CMR10"/>
              </a:rPr>
              <a:t>, </a:t>
            </a:r>
            <a:r>
              <a:rPr lang="en-GB" sz="1800" b="0" i="0" u="none" strike="noStrike" baseline="0" dirty="0">
                <a:solidFill>
                  <a:srgbClr val="221F1F"/>
                </a:solidFill>
                <a:latin typeface="CMMI10"/>
              </a:rPr>
              <a:t>C</a:t>
            </a:r>
            <a:r>
              <a:rPr lang="en-GB" sz="1800" b="0" i="0" u="none" strike="noStrike" baseline="0" dirty="0">
                <a:solidFill>
                  <a:srgbClr val="221F1F"/>
                </a:solidFill>
                <a:latin typeface="CMR10"/>
              </a:rPr>
              <a:t>, and </a:t>
            </a:r>
            <a:r>
              <a:rPr lang="en-IN" sz="1800" b="0" i="0" u="none" strike="noStrike" baseline="0" dirty="0">
                <a:solidFill>
                  <a:srgbClr val="221F1F"/>
                </a:solidFill>
                <a:latin typeface="CMMI10"/>
              </a:rPr>
              <a:t>D</a:t>
            </a:r>
            <a:r>
              <a:rPr lang="en-IN" sz="1800" b="0" i="0" u="none" strike="noStrike" baseline="0" dirty="0">
                <a:solidFill>
                  <a:srgbClr val="221F1F"/>
                </a:solidFill>
                <a:latin typeface="CMR10"/>
              </a:rPr>
              <a:t>.</a:t>
            </a:r>
            <a:endParaRPr lang="en-IN" dirty="0"/>
          </a:p>
        </p:txBody>
      </p:sp>
    </p:spTree>
    <p:extLst>
      <p:ext uri="{BB962C8B-B14F-4D97-AF65-F5344CB8AC3E}">
        <p14:creationId xmlns:p14="http://schemas.microsoft.com/office/powerpoint/2010/main" val="2512059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3C0F2D-5F19-6A14-ABE8-ECF6C9602D58}"/>
              </a:ext>
            </a:extLst>
          </p:cNvPr>
          <p:cNvSpPr>
            <a:spLocks noGrp="1"/>
          </p:cNvSpPr>
          <p:nvPr>
            <p:ph type="title"/>
          </p:nvPr>
        </p:nvSpPr>
        <p:spPr>
          <a:xfrm>
            <a:off x="271597" y="276312"/>
            <a:ext cx="9423009" cy="616317"/>
          </a:xfrm>
        </p:spPr>
        <p:txBody>
          <a:bodyPr>
            <a:noAutofit/>
          </a:bodyPr>
          <a:lstStyle/>
          <a:p>
            <a:r>
              <a:rPr lang="en-IN" sz="3200" b="1" i="0" u="none" strike="noStrike" baseline="0" dirty="0">
                <a:solidFill>
                  <a:srgbClr val="221F1F"/>
                </a:solidFill>
                <a:latin typeface="CMSS10"/>
              </a:rPr>
              <a:t>Social Networks as Graphs</a:t>
            </a:r>
            <a:br>
              <a:rPr lang="en-GB" sz="3200" b="1" i="0" dirty="0">
                <a:solidFill>
                  <a:srgbClr val="232C39"/>
                </a:solidFill>
                <a:effectLst/>
                <a:latin typeface="Nunito Sans"/>
              </a:rPr>
            </a:br>
            <a:endParaRPr lang="en-US" sz="3200" b="1" dirty="0"/>
          </a:p>
        </p:txBody>
      </p:sp>
      <p:pic>
        <p:nvPicPr>
          <p:cNvPr id="3" name="Picture 2">
            <a:extLst>
              <a:ext uri="{FF2B5EF4-FFF2-40B4-BE49-F238E27FC236}">
                <a16:creationId xmlns:a16="http://schemas.microsoft.com/office/drawing/2014/main" id="{3527015E-1855-1566-49EF-3821FA6BE900}"/>
              </a:ext>
            </a:extLst>
          </p:cNvPr>
          <p:cNvPicPr>
            <a:picLocks noChangeAspect="1"/>
          </p:cNvPicPr>
          <p:nvPr/>
        </p:nvPicPr>
        <p:blipFill>
          <a:blip r:embed="rId2"/>
          <a:stretch>
            <a:fillRect/>
          </a:stretch>
        </p:blipFill>
        <p:spPr>
          <a:xfrm>
            <a:off x="1130570" y="892628"/>
            <a:ext cx="8383544" cy="4071257"/>
          </a:xfrm>
          <a:prstGeom prst="rect">
            <a:avLst/>
          </a:prstGeom>
        </p:spPr>
      </p:pic>
      <p:pic>
        <p:nvPicPr>
          <p:cNvPr id="7" name="Picture 6">
            <a:extLst>
              <a:ext uri="{FF2B5EF4-FFF2-40B4-BE49-F238E27FC236}">
                <a16:creationId xmlns:a16="http://schemas.microsoft.com/office/drawing/2014/main" id="{014F12D0-EBE4-90E2-2AFF-573C7B2ECEBA}"/>
              </a:ext>
            </a:extLst>
          </p:cNvPr>
          <p:cNvPicPr>
            <a:picLocks noChangeAspect="1"/>
          </p:cNvPicPr>
          <p:nvPr/>
        </p:nvPicPr>
        <p:blipFill>
          <a:blip r:embed="rId3"/>
          <a:stretch>
            <a:fillRect/>
          </a:stretch>
        </p:blipFill>
        <p:spPr>
          <a:xfrm>
            <a:off x="6291943" y="4517571"/>
            <a:ext cx="5573486" cy="1979879"/>
          </a:xfrm>
          <a:prstGeom prst="rect">
            <a:avLst/>
          </a:prstGeom>
        </p:spPr>
      </p:pic>
    </p:spTree>
    <p:extLst>
      <p:ext uri="{BB962C8B-B14F-4D97-AF65-F5344CB8AC3E}">
        <p14:creationId xmlns:p14="http://schemas.microsoft.com/office/powerpoint/2010/main" val="1291987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B737E5B-96BC-80DE-8F1F-8B7F3C1B1580}"/>
              </a:ext>
            </a:extLst>
          </p:cNvPr>
          <p:cNvSpPr>
            <a:spLocks noGrp="1"/>
          </p:cNvSpPr>
          <p:nvPr>
            <p:ph type="title"/>
          </p:nvPr>
        </p:nvSpPr>
        <p:spPr>
          <a:xfrm>
            <a:off x="271597" y="276312"/>
            <a:ext cx="9423009" cy="616317"/>
          </a:xfrm>
        </p:spPr>
        <p:txBody>
          <a:bodyPr>
            <a:noAutofit/>
          </a:bodyPr>
          <a:lstStyle/>
          <a:p>
            <a:r>
              <a:rPr lang="en-IN" sz="3200" b="1" i="0" u="none" strike="noStrike" baseline="0" dirty="0">
                <a:solidFill>
                  <a:srgbClr val="221F1F"/>
                </a:solidFill>
                <a:latin typeface="CMSS10"/>
              </a:rPr>
              <a:t>Social Networks as Graphs</a:t>
            </a:r>
            <a:br>
              <a:rPr lang="en-GB" sz="3200" b="1" i="0" dirty="0">
                <a:solidFill>
                  <a:srgbClr val="232C39"/>
                </a:solidFill>
                <a:effectLst/>
                <a:latin typeface="Nunito Sans"/>
              </a:rPr>
            </a:br>
            <a:endParaRPr lang="en-US" sz="3200" b="1" dirty="0"/>
          </a:p>
        </p:txBody>
      </p:sp>
      <p:pic>
        <p:nvPicPr>
          <p:cNvPr id="3" name="Picture 2">
            <a:extLst>
              <a:ext uri="{FF2B5EF4-FFF2-40B4-BE49-F238E27FC236}">
                <a16:creationId xmlns:a16="http://schemas.microsoft.com/office/drawing/2014/main" id="{89512AEE-B980-A1D2-7380-F12CEDF56547}"/>
              </a:ext>
            </a:extLst>
          </p:cNvPr>
          <p:cNvPicPr>
            <a:picLocks noChangeAspect="1"/>
          </p:cNvPicPr>
          <p:nvPr/>
        </p:nvPicPr>
        <p:blipFill>
          <a:blip r:embed="rId2"/>
          <a:stretch>
            <a:fillRect/>
          </a:stretch>
        </p:blipFill>
        <p:spPr>
          <a:xfrm>
            <a:off x="1349827" y="892629"/>
            <a:ext cx="9263743" cy="4463695"/>
          </a:xfrm>
          <a:prstGeom prst="rect">
            <a:avLst/>
          </a:prstGeom>
        </p:spPr>
      </p:pic>
      <p:pic>
        <p:nvPicPr>
          <p:cNvPr id="7" name="Picture 6">
            <a:extLst>
              <a:ext uri="{FF2B5EF4-FFF2-40B4-BE49-F238E27FC236}">
                <a16:creationId xmlns:a16="http://schemas.microsoft.com/office/drawing/2014/main" id="{911933B0-987C-91BD-E89C-A393E9BA7D60}"/>
              </a:ext>
            </a:extLst>
          </p:cNvPr>
          <p:cNvPicPr>
            <a:picLocks noChangeAspect="1"/>
          </p:cNvPicPr>
          <p:nvPr/>
        </p:nvPicPr>
        <p:blipFill>
          <a:blip r:embed="rId3"/>
          <a:stretch>
            <a:fillRect/>
          </a:stretch>
        </p:blipFill>
        <p:spPr>
          <a:xfrm>
            <a:off x="1442049" y="5824746"/>
            <a:ext cx="6769448" cy="673135"/>
          </a:xfrm>
          <a:prstGeom prst="rect">
            <a:avLst/>
          </a:prstGeom>
        </p:spPr>
      </p:pic>
    </p:spTree>
    <p:extLst>
      <p:ext uri="{BB962C8B-B14F-4D97-AF65-F5344CB8AC3E}">
        <p14:creationId xmlns:p14="http://schemas.microsoft.com/office/powerpoint/2010/main" val="3476078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BD903-88F0-A44A-6077-5E018AA7BA3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FF2287C-46C7-B362-8506-55E241A3E6EE}"/>
              </a:ext>
            </a:extLst>
          </p:cNvPr>
          <p:cNvSpPr>
            <a:spLocks noGrp="1"/>
          </p:cNvSpPr>
          <p:nvPr>
            <p:ph type="title"/>
          </p:nvPr>
        </p:nvSpPr>
        <p:spPr>
          <a:xfrm>
            <a:off x="271597" y="276312"/>
            <a:ext cx="9423009" cy="616317"/>
          </a:xfrm>
        </p:spPr>
        <p:txBody>
          <a:bodyPr>
            <a:noAutofit/>
          </a:bodyPr>
          <a:lstStyle/>
          <a:p>
            <a:r>
              <a:rPr lang="en-IN" sz="3200" b="1" i="0" u="none" strike="noStrike" baseline="0" dirty="0">
                <a:solidFill>
                  <a:srgbClr val="221F1F"/>
                </a:solidFill>
                <a:latin typeface="CMSS10"/>
              </a:rPr>
              <a:t>Social Networks as Graphs</a:t>
            </a:r>
            <a:br>
              <a:rPr lang="en-GB" sz="3200" b="1" i="0" dirty="0">
                <a:solidFill>
                  <a:srgbClr val="232C39"/>
                </a:solidFill>
                <a:effectLst/>
                <a:latin typeface="Nunito Sans"/>
              </a:rPr>
            </a:br>
            <a:endParaRPr lang="en-US" sz="3200" b="1" dirty="0"/>
          </a:p>
        </p:txBody>
      </p:sp>
      <p:pic>
        <p:nvPicPr>
          <p:cNvPr id="4" name="Picture 3">
            <a:extLst>
              <a:ext uri="{FF2B5EF4-FFF2-40B4-BE49-F238E27FC236}">
                <a16:creationId xmlns:a16="http://schemas.microsoft.com/office/drawing/2014/main" id="{C13EA414-FF87-8ED2-62AF-8DC45CA440DC}"/>
              </a:ext>
            </a:extLst>
          </p:cNvPr>
          <p:cNvPicPr>
            <a:picLocks noChangeAspect="1"/>
          </p:cNvPicPr>
          <p:nvPr/>
        </p:nvPicPr>
        <p:blipFill>
          <a:blip r:embed="rId2"/>
          <a:stretch>
            <a:fillRect/>
          </a:stretch>
        </p:blipFill>
        <p:spPr>
          <a:xfrm>
            <a:off x="1153886" y="968829"/>
            <a:ext cx="8676106" cy="4098555"/>
          </a:xfrm>
          <a:prstGeom prst="rect">
            <a:avLst/>
          </a:prstGeom>
        </p:spPr>
      </p:pic>
      <p:pic>
        <p:nvPicPr>
          <p:cNvPr id="8" name="Picture 7">
            <a:extLst>
              <a:ext uri="{FF2B5EF4-FFF2-40B4-BE49-F238E27FC236}">
                <a16:creationId xmlns:a16="http://schemas.microsoft.com/office/drawing/2014/main" id="{5EEB4FCE-6374-A18F-9523-AB7641507D69}"/>
              </a:ext>
            </a:extLst>
          </p:cNvPr>
          <p:cNvPicPr>
            <a:picLocks noChangeAspect="1"/>
          </p:cNvPicPr>
          <p:nvPr/>
        </p:nvPicPr>
        <p:blipFill>
          <a:blip r:embed="rId3"/>
          <a:stretch>
            <a:fillRect/>
          </a:stretch>
        </p:blipFill>
        <p:spPr>
          <a:xfrm>
            <a:off x="6570761" y="4804641"/>
            <a:ext cx="4972306" cy="1581231"/>
          </a:xfrm>
          <a:prstGeom prst="rect">
            <a:avLst/>
          </a:prstGeom>
        </p:spPr>
      </p:pic>
    </p:spTree>
    <p:extLst>
      <p:ext uri="{BB962C8B-B14F-4D97-AF65-F5344CB8AC3E}">
        <p14:creationId xmlns:p14="http://schemas.microsoft.com/office/powerpoint/2010/main" val="2286217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D821-8E2A-0B43-884A-73192020A2D7}"/>
              </a:ext>
            </a:extLst>
          </p:cNvPr>
          <p:cNvSpPr>
            <a:spLocks noGrp="1"/>
          </p:cNvSpPr>
          <p:nvPr>
            <p:ph type="title"/>
          </p:nvPr>
        </p:nvSpPr>
        <p:spPr>
          <a:xfrm>
            <a:off x="233288" y="154154"/>
            <a:ext cx="11958711" cy="1306443"/>
          </a:xfrm>
        </p:spPr>
        <p:txBody>
          <a:bodyPr>
            <a:normAutofit/>
          </a:bodyPr>
          <a:lstStyle/>
          <a:p>
            <a:pPr algn="just"/>
            <a:r>
              <a:rPr lang="en-IN" sz="3200" b="1" i="0" u="none" strike="noStrike" baseline="0" dirty="0">
                <a:solidFill>
                  <a:srgbClr val="221F1F"/>
                </a:solidFill>
                <a:latin typeface="CMSSBX10"/>
              </a:rPr>
              <a:t>Clustering of Social-Network Graphs</a:t>
            </a:r>
            <a:endParaRPr lang="en-US" sz="3200" b="1" dirty="0"/>
          </a:p>
        </p:txBody>
      </p:sp>
      <p:sp>
        <p:nvSpPr>
          <p:cNvPr id="3" name="Content Placeholder 2">
            <a:extLst>
              <a:ext uri="{FF2B5EF4-FFF2-40B4-BE49-F238E27FC236}">
                <a16:creationId xmlns:a16="http://schemas.microsoft.com/office/drawing/2014/main" id="{52CA2094-B330-1649-A314-440D2B0E6ECD}"/>
              </a:ext>
            </a:extLst>
          </p:cNvPr>
          <p:cNvSpPr>
            <a:spLocks noGrp="1"/>
          </p:cNvSpPr>
          <p:nvPr>
            <p:ph idx="1"/>
          </p:nvPr>
        </p:nvSpPr>
        <p:spPr>
          <a:xfrm>
            <a:off x="233288" y="1162807"/>
            <a:ext cx="11120513" cy="1306442"/>
          </a:xfrm>
        </p:spPr>
        <p:txBody>
          <a:bodyPr>
            <a:noAutofit/>
          </a:bodyPr>
          <a:lstStyle/>
          <a:p>
            <a:pPr algn="just"/>
            <a:r>
              <a:rPr lang="en-GB" sz="2400" b="0" i="0" dirty="0">
                <a:solidFill>
                  <a:srgbClr val="333333"/>
                </a:solidFill>
                <a:effectLst/>
                <a:latin typeface="Source Sans Pro" panose="020B0503030403020204" pitchFamily="34" charset="0"/>
              </a:rPr>
              <a:t>Clustering of the graph is considered as a way to identify communities. Clustering of graphs involves the following steps:</a:t>
            </a:r>
          </a:p>
          <a:p>
            <a:pPr marL="0" indent="0" algn="just">
              <a:buNone/>
            </a:pPr>
            <a:r>
              <a:rPr lang="en-GB" sz="2400" b="1" i="0" dirty="0">
                <a:solidFill>
                  <a:srgbClr val="333333"/>
                </a:solidFill>
                <a:effectLst/>
                <a:latin typeface="Source Sans Pro" panose="020B0503030403020204" pitchFamily="34" charset="0"/>
              </a:rPr>
              <a:t>1. Distance Measures for Social-Network Graphs</a:t>
            </a:r>
            <a:endParaRPr lang="en-GB" sz="2400" dirty="0">
              <a:solidFill>
                <a:srgbClr val="333333"/>
              </a:solidFill>
              <a:latin typeface="Source Sans Pro" panose="020B0503030403020204" pitchFamily="34" charset="0"/>
            </a:endParaRPr>
          </a:p>
        </p:txBody>
      </p:sp>
      <p:sp>
        <p:nvSpPr>
          <p:cNvPr id="5" name="Rectangle 4">
            <a:extLst>
              <a:ext uri="{FF2B5EF4-FFF2-40B4-BE49-F238E27FC236}">
                <a16:creationId xmlns:a16="http://schemas.microsoft.com/office/drawing/2014/main" id="{C4983D6C-9EC7-4239-9167-36160C236B19}"/>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4BE048D8-CF9B-453A-8D51-C510B720E66D}"/>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47B5823B-A7C5-4DE8-1B5A-955D41128C9D}"/>
              </a:ext>
            </a:extLst>
          </p:cNvPr>
          <p:cNvPicPr>
            <a:picLocks noChangeAspect="1"/>
          </p:cNvPicPr>
          <p:nvPr/>
        </p:nvPicPr>
        <p:blipFill>
          <a:blip r:embed="rId3"/>
          <a:srcRect t="13782" b="3760"/>
          <a:stretch/>
        </p:blipFill>
        <p:spPr>
          <a:xfrm>
            <a:off x="3485534" y="2371809"/>
            <a:ext cx="6331275" cy="4033886"/>
          </a:xfrm>
          <a:prstGeom prst="rect">
            <a:avLst/>
          </a:prstGeom>
        </p:spPr>
      </p:pic>
    </p:spTree>
    <p:extLst>
      <p:ext uri="{BB962C8B-B14F-4D97-AF65-F5344CB8AC3E}">
        <p14:creationId xmlns:p14="http://schemas.microsoft.com/office/powerpoint/2010/main" val="2761700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841" y="425745"/>
            <a:ext cx="10515600" cy="726482"/>
          </a:xfrm>
        </p:spPr>
        <p:txBody>
          <a:bodyPr>
            <a:normAutofit/>
          </a:bodyPr>
          <a:lstStyle/>
          <a:p>
            <a:r>
              <a:rPr lang="en-IN" sz="3200" b="1" i="0" u="none" strike="noStrike" baseline="0" dirty="0">
                <a:solidFill>
                  <a:srgbClr val="221F1F"/>
                </a:solidFill>
                <a:latin typeface="CMSS10"/>
              </a:rPr>
              <a:t>2. Applying Standard Clustering Methods</a:t>
            </a:r>
            <a:endParaRPr lang="en-US" sz="3200" b="1" dirty="0"/>
          </a:p>
        </p:txBody>
      </p:sp>
      <p:sp>
        <p:nvSpPr>
          <p:cNvPr id="5" name="Rectangle 4">
            <a:extLst>
              <a:ext uri="{FF2B5EF4-FFF2-40B4-BE49-F238E27FC236}">
                <a16:creationId xmlns:a16="http://schemas.microsoft.com/office/drawing/2014/main" id="{46631697-9A13-4BE7-A769-7B89D9F8D5E3}"/>
              </a:ext>
            </a:extLst>
          </p:cNvPr>
          <p:cNvSpPr/>
          <p:nvPr/>
        </p:nvSpPr>
        <p:spPr>
          <a:xfrm>
            <a:off x="126609" y="218050"/>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07690427-5EFB-4F14-A141-3C7909D92D46}"/>
              </a:ext>
            </a:extLst>
          </p:cNvPr>
          <p:cNvCxnSpPr/>
          <p:nvPr/>
        </p:nvCxnSpPr>
        <p:spPr>
          <a:xfrm>
            <a:off x="124264" y="130092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EA27ED-987B-2438-BCE7-5BACCBDB750B}"/>
              </a:ext>
            </a:extLst>
          </p:cNvPr>
          <p:cNvSpPr txBox="1"/>
          <p:nvPr/>
        </p:nvSpPr>
        <p:spPr>
          <a:xfrm>
            <a:off x="760770" y="1412411"/>
            <a:ext cx="10814255" cy="1477328"/>
          </a:xfrm>
          <a:prstGeom prst="rect">
            <a:avLst/>
          </a:prstGeom>
          <a:noFill/>
        </p:spPr>
        <p:txBody>
          <a:bodyPr wrap="square">
            <a:spAutoFit/>
          </a:bodyPr>
          <a:lstStyle/>
          <a:p>
            <a:pPr algn="just"/>
            <a:r>
              <a:rPr lang="en-GB" sz="1800" b="0" i="0" u="none" strike="noStrike" baseline="0" dirty="0">
                <a:solidFill>
                  <a:srgbClr val="221F1F"/>
                </a:solidFill>
                <a:latin typeface="CMR10"/>
              </a:rPr>
              <a:t>Hierarchical clustering of a social-network graph starts by combining some two nodes that are connected by an edge. Successively, edges that are not between two nodes of the same cluster would be chosen randomly to combine the clusters to which their two nodes belong. The choices would be random, because all distances represented by an edge are the same.</a:t>
            </a:r>
          </a:p>
          <a:p>
            <a:pPr algn="just"/>
            <a:r>
              <a:rPr lang="en-GB" dirty="0">
                <a:solidFill>
                  <a:srgbClr val="221F1F"/>
                </a:solidFill>
                <a:latin typeface="CMR10"/>
              </a:rPr>
              <a:t>EXAMPLE:</a:t>
            </a:r>
            <a:endParaRPr lang="en-IN" dirty="0"/>
          </a:p>
        </p:txBody>
      </p:sp>
      <p:pic>
        <p:nvPicPr>
          <p:cNvPr id="9" name="Picture 8">
            <a:extLst>
              <a:ext uri="{FF2B5EF4-FFF2-40B4-BE49-F238E27FC236}">
                <a16:creationId xmlns:a16="http://schemas.microsoft.com/office/drawing/2014/main" id="{4C6201B2-E16C-D2E0-57F3-17A07B36A427}"/>
              </a:ext>
            </a:extLst>
          </p:cNvPr>
          <p:cNvPicPr>
            <a:picLocks noChangeAspect="1"/>
          </p:cNvPicPr>
          <p:nvPr/>
        </p:nvPicPr>
        <p:blipFill>
          <a:blip r:embed="rId2"/>
          <a:stretch>
            <a:fillRect/>
          </a:stretch>
        </p:blipFill>
        <p:spPr>
          <a:xfrm>
            <a:off x="668837" y="2906802"/>
            <a:ext cx="7752492" cy="2160290"/>
          </a:xfrm>
          <a:prstGeom prst="rect">
            <a:avLst/>
          </a:prstGeom>
        </p:spPr>
      </p:pic>
      <p:pic>
        <p:nvPicPr>
          <p:cNvPr id="11" name="Picture 10">
            <a:extLst>
              <a:ext uri="{FF2B5EF4-FFF2-40B4-BE49-F238E27FC236}">
                <a16:creationId xmlns:a16="http://schemas.microsoft.com/office/drawing/2014/main" id="{160DEE6E-F791-1292-A66D-92164572DF90}"/>
              </a:ext>
            </a:extLst>
          </p:cNvPr>
          <p:cNvPicPr>
            <a:picLocks noChangeAspect="1"/>
          </p:cNvPicPr>
          <p:nvPr/>
        </p:nvPicPr>
        <p:blipFill>
          <a:blip r:embed="rId3"/>
          <a:stretch>
            <a:fillRect/>
          </a:stretch>
        </p:blipFill>
        <p:spPr>
          <a:xfrm>
            <a:off x="8421329" y="2609557"/>
            <a:ext cx="3215147" cy="1828800"/>
          </a:xfrm>
          <a:prstGeom prst="rect">
            <a:avLst/>
          </a:prstGeom>
        </p:spPr>
      </p:pic>
      <p:sp>
        <p:nvSpPr>
          <p:cNvPr id="13" name="TextBox 12">
            <a:extLst>
              <a:ext uri="{FF2B5EF4-FFF2-40B4-BE49-F238E27FC236}">
                <a16:creationId xmlns:a16="http://schemas.microsoft.com/office/drawing/2014/main" id="{F9BCB96B-DEF7-9BF0-8E93-1158170E702E}"/>
              </a:ext>
            </a:extLst>
          </p:cNvPr>
          <p:cNvSpPr txBox="1"/>
          <p:nvPr/>
        </p:nvSpPr>
        <p:spPr>
          <a:xfrm>
            <a:off x="616973" y="5178574"/>
            <a:ext cx="10958052" cy="1200329"/>
          </a:xfrm>
          <a:prstGeom prst="rect">
            <a:avLst/>
          </a:prstGeom>
          <a:noFill/>
        </p:spPr>
        <p:txBody>
          <a:bodyPr wrap="square">
            <a:spAutoFit/>
          </a:bodyPr>
          <a:lstStyle/>
          <a:p>
            <a:pPr algn="just"/>
            <a:r>
              <a:rPr lang="en-GB" sz="1800" b="0" i="0" u="none" strike="noStrike" baseline="0" dirty="0">
                <a:solidFill>
                  <a:srgbClr val="221F1F"/>
                </a:solidFill>
                <a:latin typeface="CMR10"/>
              </a:rPr>
              <a:t>The problem with hierarchical clustering of a graph like that of Fig. 10.3 is that at some point we are likely to chose to combine </a:t>
            </a:r>
            <a:r>
              <a:rPr lang="en-GB" sz="1800" b="0" i="0" u="none" strike="noStrike" baseline="0" dirty="0">
                <a:solidFill>
                  <a:srgbClr val="221F1F"/>
                </a:solidFill>
                <a:latin typeface="CMMI10"/>
              </a:rPr>
              <a:t>B </a:t>
            </a:r>
            <a:r>
              <a:rPr lang="en-GB" sz="1800" b="0" i="0" u="none" strike="noStrike" baseline="0" dirty="0">
                <a:solidFill>
                  <a:srgbClr val="221F1F"/>
                </a:solidFill>
                <a:latin typeface="CMR10"/>
              </a:rPr>
              <a:t>and </a:t>
            </a:r>
            <a:r>
              <a:rPr lang="en-GB" sz="1800" b="0" i="0" u="none" strike="noStrike" baseline="0" dirty="0">
                <a:solidFill>
                  <a:srgbClr val="221F1F"/>
                </a:solidFill>
                <a:latin typeface="CMMI10"/>
              </a:rPr>
              <a:t>D</a:t>
            </a:r>
            <a:r>
              <a:rPr lang="en-GB" sz="1800" b="0" i="0" u="none" strike="noStrike" baseline="0" dirty="0">
                <a:solidFill>
                  <a:srgbClr val="221F1F"/>
                </a:solidFill>
                <a:latin typeface="CMR10"/>
              </a:rPr>
              <a:t>, even though they surely belong in different clusters. The reason we are likely to combine </a:t>
            </a:r>
            <a:r>
              <a:rPr lang="en-GB" sz="1800" b="0" i="0" u="none" strike="noStrike" baseline="0" dirty="0">
                <a:solidFill>
                  <a:srgbClr val="221F1F"/>
                </a:solidFill>
                <a:latin typeface="CMMI10"/>
              </a:rPr>
              <a:t>B </a:t>
            </a:r>
            <a:r>
              <a:rPr lang="en-GB" sz="1800" b="0" i="0" u="none" strike="noStrike" baseline="0" dirty="0">
                <a:solidFill>
                  <a:srgbClr val="221F1F"/>
                </a:solidFill>
                <a:latin typeface="CMR10"/>
              </a:rPr>
              <a:t>and </a:t>
            </a:r>
            <a:r>
              <a:rPr lang="en-GB" sz="1800" b="0" i="0" u="none" strike="noStrike" baseline="0" dirty="0">
                <a:solidFill>
                  <a:srgbClr val="221F1F"/>
                </a:solidFill>
                <a:latin typeface="CMMI10"/>
              </a:rPr>
              <a:t>D </a:t>
            </a:r>
            <a:r>
              <a:rPr lang="en-GB" sz="1800" b="0" i="0" u="none" strike="noStrike" baseline="0" dirty="0">
                <a:solidFill>
                  <a:srgbClr val="221F1F"/>
                </a:solidFill>
                <a:latin typeface="CMR10"/>
              </a:rPr>
              <a:t>is that </a:t>
            </a:r>
            <a:r>
              <a:rPr lang="en-GB" sz="1800" b="0" i="0" u="none" strike="noStrike" baseline="0" dirty="0">
                <a:solidFill>
                  <a:srgbClr val="221F1F"/>
                </a:solidFill>
                <a:latin typeface="CMMI10"/>
              </a:rPr>
              <a:t>D</a:t>
            </a:r>
            <a:r>
              <a:rPr lang="en-GB" sz="1800" b="0" i="0" u="none" strike="noStrike" baseline="0" dirty="0">
                <a:solidFill>
                  <a:srgbClr val="221F1F"/>
                </a:solidFill>
                <a:latin typeface="CMR10"/>
              </a:rPr>
              <a:t>, and any cluster containing it, is as close to </a:t>
            </a:r>
            <a:r>
              <a:rPr lang="en-GB" sz="1800" b="0" i="0" u="none" strike="noStrike" baseline="0" dirty="0">
                <a:solidFill>
                  <a:srgbClr val="221F1F"/>
                </a:solidFill>
                <a:latin typeface="CMMI10"/>
              </a:rPr>
              <a:t>B </a:t>
            </a:r>
            <a:r>
              <a:rPr lang="en-GB" sz="1800" b="0" i="0" u="none" strike="noStrike" baseline="0" dirty="0">
                <a:solidFill>
                  <a:srgbClr val="221F1F"/>
                </a:solidFill>
                <a:latin typeface="CMR10"/>
              </a:rPr>
              <a:t>and any cluster containing it, as </a:t>
            </a:r>
            <a:r>
              <a:rPr lang="en-GB" sz="1800" b="0" i="0" u="none" strike="noStrike" baseline="0" dirty="0">
                <a:solidFill>
                  <a:srgbClr val="221F1F"/>
                </a:solidFill>
                <a:latin typeface="CMMI10"/>
              </a:rPr>
              <a:t>A </a:t>
            </a:r>
            <a:r>
              <a:rPr lang="en-GB" sz="1800" b="0" i="0" u="none" strike="noStrike" baseline="0" dirty="0">
                <a:solidFill>
                  <a:srgbClr val="221F1F"/>
                </a:solidFill>
                <a:latin typeface="CMR10"/>
              </a:rPr>
              <a:t>and </a:t>
            </a:r>
            <a:r>
              <a:rPr lang="en-GB" sz="1800" b="0" i="0" u="none" strike="noStrike" baseline="0" dirty="0">
                <a:solidFill>
                  <a:srgbClr val="221F1F"/>
                </a:solidFill>
                <a:latin typeface="CMMI10"/>
              </a:rPr>
              <a:t>C </a:t>
            </a:r>
            <a:r>
              <a:rPr lang="en-GB" sz="1800" b="0" i="0" u="none" strike="noStrike" baseline="0" dirty="0">
                <a:solidFill>
                  <a:srgbClr val="221F1F"/>
                </a:solidFill>
                <a:latin typeface="CMR10"/>
              </a:rPr>
              <a:t>are to </a:t>
            </a:r>
            <a:r>
              <a:rPr lang="en-GB" sz="1800" b="0" i="0" u="none" strike="noStrike" baseline="0" dirty="0">
                <a:solidFill>
                  <a:srgbClr val="221F1F"/>
                </a:solidFill>
                <a:latin typeface="CMMI10"/>
              </a:rPr>
              <a:t>B</a:t>
            </a:r>
            <a:r>
              <a:rPr lang="en-GB" sz="1800" b="0" i="0" u="none" strike="noStrike" baseline="0" dirty="0">
                <a:solidFill>
                  <a:srgbClr val="221F1F"/>
                </a:solidFill>
                <a:latin typeface="CMR10"/>
              </a:rPr>
              <a:t>. There is even a 1/9 probability that the first thing we do is to combine </a:t>
            </a:r>
            <a:r>
              <a:rPr lang="en-GB" sz="1800" b="0" i="0" u="none" strike="noStrike" baseline="0" dirty="0">
                <a:solidFill>
                  <a:srgbClr val="221F1F"/>
                </a:solidFill>
                <a:latin typeface="CMMI10"/>
              </a:rPr>
              <a:t>B </a:t>
            </a:r>
            <a:r>
              <a:rPr lang="en-GB" sz="1800" b="0" i="0" u="none" strike="noStrike" baseline="0" dirty="0">
                <a:solidFill>
                  <a:srgbClr val="221F1F"/>
                </a:solidFill>
                <a:latin typeface="CMR10"/>
              </a:rPr>
              <a:t>and </a:t>
            </a:r>
            <a:r>
              <a:rPr lang="en-GB" sz="1800" b="0" i="0" u="none" strike="noStrike" baseline="0" dirty="0">
                <a:solidFill>
                  <a:srgbClr val="221F1F"/>
                </a:solidFill>
                <a:latin typeface="CMMI10"/>
              </a:rPr>
              <a:t>D </a:t>
            </a:r>
            <a:r>
              <a:rPr lang="en-GB" sz="1800" b="0" i="0" u="none" strike="noStrike" baseline="0" dirty="0">
                <a:solidFill>
                  <a:srgbClr val="221F1F"/>
                </a:solidFill>
                <a:latin typeface="CMR10"/>
              </a:rPr>
              <a:t>into one cluster.</a:t>
            </a:r>
            <a:endParaRPr lang="en-IN" dirty="0"/>
          </a:p>
        </p:txBody>
      </p:sp>
    </p:spTree>
    <p:extLst>
      <p:ext uri="{BB962C8B-B14F-4D97-AF65-F5344CB8AC3E}">
        <p14:creationId xmlns:p14="http://schemas.microsoft.com/office/powerpoint/2010/main" val="2992198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C52D17-E8CE-9F7B-4BA3-9BD1460BE5AA}"/>
              </a:ext>
            </a:extLst>
          </p:cNvPr>
          <p:cNvPicPr>
            <a:picLocks noChangeAspect="1"/>
          </p:cNvPicPr>
          <p:nvPr/>
        </p:nvPicPr>
        <p:blipFill>
          <a:blip r:embed="rId2"/>
          <a:stretch>
            <a:fillRect/>
          </a:stretch>
        </p:blipFill>
        <p:spPr>
          <a:xfrm>
            <a:off x="1066799" y="261256"/>
            <a:ext cx="10308771" cy="6063343"/>
          </a:xfrm>
          <a:prstGeom prst="rect">
            <a:avLst/>
          </a:prstGeom>
        </p:spPr>
      </p:pic>
    </p:spTree>
    <p:extLst>
      <p:ext uri="{BB962C8B-B14F-4D97-AF65-F5344CB8AC3E}">
        <p14:creationId xmlns:p14="http://schemas.microsoft.com/office/powerpoint/2010/main" val="3248065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AC210A-FB43-CD8D-EF96-3B4620874419}"/>
              </a:ext>
            </a:extLst>
          </p:cNvPr>
          <p:cNvSpPr txBox="1"/>
          <p:nvPr/>
        </p:nvSpPr>
        <p:spPr>
          <a:xfrm>
            <a:off x="664029" y="366623"/>
            <a:ext cx="10635342" cy="6124754"/>
          </a:xfrm>
          <a:prstGeom prst="rect">
            <a:avLst/>
          </a:prstGeom>
          <a:noFill/>
        </p:spPr>
        <p:txBody>
          <a:bodyPr wrap="square">
            <a:spAutoFit/>
          </a:bodyPr>
          <a:lstStyle/>
          <a:p>
            <a:pPr algn="just"/>
            <a:r>
              <a:rPr lang="en-GB" sz="2800" b="1" dirty="0"/>
              <a:t>3. Betweenness:</a:t>
            </a:r>
          </a:p>
          <a:p>
            <a:pPr algn="just"/>
            <a:endParaRPr lang="en-GB" sz="2800" dirty="0"/>
          </a:p>
          <a:p>
            <a:pPr algn="just"/>
            <a:r>
              <a:rPr lang="en-GB" sz="2800" dirty="0"/>
              <a:t>Since there are problems with standard clustering methods, several specialized clustering techniques have been developed to find communities in social networks. The simplest one is based on finding the edges that are least likely to be inside the community.</a:t>
            </a:r>
          </a:p>
          <a:p>
            <a:pPr algn="just"/>
            <a:endParaRPr lang="en-GB" sz="2800" dirty="0"/>
          </a:p>
          <a:p>
            <a:pPr algn="just"/>
            <a:r>
              <a:rPr lang="en-GB" sz="2800" dirty="0"/>
              <a:t>Define the betweenness of an edge (a, b) to be the number of pairs of nodes x and y such that the edge (a, b) lies on the shortest path between x and y. To be more precise, since there can be several shortest paths between x and y, edge (a, b) is credited with the fraction of those shortest paths that include the edge (a, b). As in golf, a high score is bad. It suggests that the edge (a, b) runs between two different communities; that is, a and b do not belong to the same community</a:t>
            </a:r>
            <a:endParaRPr lang="en-IN" sz="2800" dirty="0"/>
          </a:p>
        </p:txBody>
      </p:sp>
    </p:spTree>
    <p:extLst>
      <p:ext uri="{BB962C8B-B14F-4D97-AF65-F5344CB8AC3E}">
        <p14:creationId xmlns:p14="http://schemas.microsoft.com/office/powerpoint/2010/main" val="4051650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509143-F484-12A1-F98C-E9293175B304}"/>
              </a:ext>
            </a:extLst>
          </p:cNvPr>
          <p:cNvPicPr>
            <a:picLocks noChangeAspect="1"/>
          </p:cNvPicPr>
          <p:nvPr/>
        </p:nvPicPr>
        <p:blipFill>
          <a:blip r:embed="rId2"/>
          <a:stretch>
            <a:fillRect/>
          </a:stretch>
        </p:blipFill>
        <p:spPr>
          <a:xfrm>
            <a:off x="1698171" y="1019051"/>
            <a:ext cx="9514114" cy="5473824"/>
          </a:xfrm>
          <a:prstGeom prst="rect">
            <a:avLst/>
          </a:prstGeom>
        </p:spPr>
      </p:pic>
      <p:sp>
        <p:nvSpPr>
          <p:cNvPr id="7" name="TextBox 6">
            <a:extLst>
              <a:ext uri="{FF2B5EF4-FFF2-40B4-BE49-F238E27FC236}">
                <a16:creationId xmlns:a16="http://schemas.microsoft.com/office/drawing/2014/main" id="{E17921EB-84F4-5323-CD6F-512980D781D5}"/>
              </a:ext>
            </a:extLst>
          </p:cNvPr>
          <p:cNvSpPr txBox="1"/>
          <p:nvPr/>
        </p:nvSpPr>
        <p:spPr>
          <a:xfrm>
            <a:off x="533400" y="409059"/>
            <a:ext cx="6096000" cy="646331"/>
          </a:xfrm>
          <a:prstGeom prst="rect">
            <a:avLst/>
          </a:prstGeom>
          <a:noFill/>
        </p:spPr>
        <p:txBody>
          <a:bodyPr wrap="square">
            <a:spAutoFit/>
          </a:bodyPr>
          <a:lstStyle/>
          <a:p>
            <a:r>
              <a:rPr lang="en-IN" sz="3600" b="1" dirty="0"/>
              <a:t>Betweenness:</a:t>
            </a:r>
          </a:p>
        </p:txBody>
      </p:sp>
    </p:spTree>
    <p:extLst>
      <p:ext uri="{BB962C8B-B14F-4D97-AF65-F5344CB8AC3E}">
        <p14:creationId xmlns:p14="http://schemas.microsoft.com/office/powerpoint/2010/main" val="582328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67D019-4902-EE52-B60E-573250930B6B}"/>
              </a:ext>
            </a:extLst>
          </p:cNvPr>
          <p:cNvSpPr txBox="1"/>
          <p:nvPr/>
        </p:nvSpPr>
        <p:spPr>
          <a:xfrm>
            <a:off x="827314" y="612845"/>
            <a:ext cx="10907486" cy="6001643"/>
          </a:xfrm>
          <a:prstGeom prst="rect">
            <a:avLst/>
          </a:prstGeom>
          <a:noFill/>
        </p:spPr>
        <p:txBody>
          <a:bodyPr wrap="square">
            <a:spAutoFit/>
          </a:bodyPr>
          <a:lstStyle/>
          <a:p>
            <a:pPr algn="just"/>
            <a:r>
              <a:rPr lang="en-GB" sz="2400" b="1" dirty="0"/>
              <a:t>4. The Girvan-Newman Algorithm:</a:t>
            </a:r>
          </a:p>
          <a:p>
            <a:pPr algn="just"/>
            <a:endParaRPr lang="en-GB" sz="2400" dirty="0"/>
          </a:p>
          <a:p>
            <a:pPr algn="just"/>
            <a:r>
              <a:rPr lang="en-GB" sz="2400" dirty="0"/>
              <a:t>In order to exploit the betweenness of edges, we need to calculate the number of shortest paths going through each edge. We shall describe a method called the Girvan-Newman (GN) Algorithm, which visits each node X once and computes the number of shortest paths from X to each of the other nodes that go through each of the edges. The algorithm begins by performing a breadth-first search (BFS) of the graph, starting at the node X. Note that the level of each node in the BFS presentation is the length of the shortest path from X to that node. Thus, the edges that go between nodes at the same level can never be part of a shortest path from X.</a:t>
            </a:r>
          </a:p>
          <a:p>
            <a:pPr algn="just"/>
            <a:endParaRPr lang="en-GB" sz="2400" dirty="0"/>
          </a:p>
          <a:p>
            <a:pPr algn="just"/>
            <a:r>
              <a:rPr lang="en-GB" sz="2400" dirty="0"/>
              <a:t>Edges between levels are called DAG edges (“DAG” stands for directed, acyclic graph). Each DAG edge will be part of at least one shortest path from root X. If there is a DAG edge (Y, Z), where Y is at the level above Z (i.e., closer to the root), then we shall call Y a parent of Z and Z a child of Y, although parents are not necessarily unique in a DAG as they would be in a tree.</a:t>
            </a:r>
            <a:endParaRPr lang="en-IN" sz="2400" dirty="0"/>
          </a:p>
        </p:txBody>
      </p:sp>
    </p:spTree>
    <p:extLst>
      <p:ext uri="{BB962C8B-B14F-4D97-AF65-F5344CB8AC3E}">
        <p14:creationId xmlns:p14="http://schemas.microsoft.com/office/powerpoint/2010/main" val="3257537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9D65BCE-8B45-BF48-73E4-D4C942CB6AE7}"/>
              </a:ext>
            </a:extLst>
          </p:cNvPr>
          <p:cNvPicPr>
            <a:picLocks noGrp="1" noChangeAspect="1"/>
          </p:cNvPicPr>
          <p:nvPr>
            <p:ph idx="1"/>
          </p:nvPr>
        </p:nvPicPr>
        <p:blipFill>
          <a:blip r:embed="rId2"/>
          <a:stretch>
            <a:fillRect/>
          </a:stretch>
        </p:blipFill>
        <p:spPr>
          <a:xfrm>
            <a:off x="2084439" y="953140"/>
            <a:ext cx="9658512" cy="5515897"/>
          </a:xfrm>
        </p:spPr>
      </p:pic>
      <p:sp>
        <p:nvSpPr>
          <p:cNvPr id="3" name="Title 1">
            <a:extLst>
              <a:ext uri="{FF2B5EF4-FFF2-40B4-BE49-F238E27FC236}">
                <a16:creationId xmlns:a16="http://schemas.microsoft.com/office/drawing/2014/main" id="{F1B3CF05-49B4-0872-CC9A-3372FECAF0BA}"/>
              </a:ext>
            </a:extLst>
          </p:cNvPr>
          <p:cNvSpPr>
            <a:spLocks noGrp="1"/>
          </p:cNvSpPr>
          <p:nvPr>
            <p:ph type="title"/>
          </p:nvPr>
        </p:nvSpPr>
        <p:spPr>
          <a:xfrm>
            <a:off x="116306" y="0"/>
            <a:ext cx="10515600" cy="1049005"/>
          </a:xfrm>
        </p:spPr>
        <p:txBody>
          <a:bodyPr/>
          <a:lstStyle/>
          <a:p>
            <a:r>
              <a:rPr lang="en-GB" b="1" dirty="0"/>
              <a:t>Girvan Newman Algorithm</a:t>
            </a:r>
            <a:endParaRPr lang="en-IN" b="1" dirty="0"/>
          </a:p>
        </p:txBody>
      </p:sp>
      <p:sp>
        <p:nvSpPr>
          <p:cNvPr id="4" name="TextBox 3">
            <a:extLst>
              <a:ext uri="{FF2B5EF4-FFF2-40B4-BE49-F238E27FC236}">
                <a16:creationId xmlns:a16="http://schemas.microsoft.com/office/drawing/2014/main" id="{89CBF283-C9A1-9A3B-9E64-87BA27F00DDD}"/>
              </a:ext>
            </a:extLst>
          </p:cNvPr>
          <p:cNvSpPr txBox="1"/>
          <p:nvPr/>
        </p:nvSpPr>
        <p:spPr>
          <a:xfrm>
            <a:off x="0" y="1679763"/>
            <a:ext cx="2136057" cy="2031325"/>
          </a:xfrm>
          <a:prstGeom prst="rect">
            <a:avLst/>
          </a:prstGeom>
          <a:noFill/>
        </p:spPr>
        <p:txBody>
          <a:bodyPr wrap="square">
            <a:spAutoFit/>
          </a:bodyPr>
          <a:lstStyle/>
          <a:p>
            <a:pPr algn="just"/>
            <a:r>
              <a:rPr lang="en-GB" dirty="0"/>
              <a:t>A directed acyclic graph (DAG) is a graph with nodes connected by directed edges that don't form closed loops</a:t>
            </a:r>
            <a:endParaRPr lang="en-IN" dirty="0"/>
          </a:p>
        </p:txBody>
      </p:sp>
    </p:spTree>
    <p:extLst>
      <p:ext uri="{BB962C8B-B14F-4D97-AF65-F5344CB8AC3E}">
        <p14:creationId xmlns:p14="http://schemas.microsoft.com/office/powerpoint/2010/main" val="473378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9E191D-6F13-FF4E-6BE0-35B9C4CE1AF8}"/>
              </a:ext>
            </a:extLst>
          </p:cNvPr>
          <p:cNvPicPr>
            <a:picLocks noChangeAspect="1"/>
          </p:cNvPicPr>
          <p:nvPr/>
        </p:nvPicPr>
        <p:blipFill>
          <a:blip r:embed="rId2"/>
          <a:stretch>
            <a:fillRect/>
          </a:stretch>
        </p:blipFill>
        <p:spPr>
          <a:xfrm>
            <a:off x="1197430" y="413657"/>
            <a:ext cx="10243456" cy="5932714"/>
          </a:xfrm>
          <a:prstGeom prst="rect">
            <a:avLst/>
          </a:prstGeom>
        </p:spPr>
      </p:pic>
    </p:spTree>
    <p:extLst>
      <p:ext uri="{BB962C8B-B14F-4D97-AF65-F5344CB8AC3E}">
        <p14:creationId xmlns:p14="http://schemas.microsoft.com/office/powerpoint/2010/main" val="328559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DF1F40-16F8-AEC3-6C26-BEB29602FDA9}"/>
              </a:ext>
            </a:extLst>
          </p:cNvPr>
          <p:cNvSpPr>
            <a:spLocks noGrp="1"/>
          </p:cNvSpPr>
          <p:nvPr>
            <p:ph type="title"/>
          </p:nvPr>
        </p:nvSpPr>
        <p:spPr>
          <a:xfrm>
            <a:off x="116306" y="0"/>
            <a:ext cx="10515600" cy="1049005"/>
          </a:xfrm>
        </p:spPr>
        <p:txBody>
          <a:bodyPr/>
          <a:lstStyle/>
          <a:p>
            <a:r>
              <a:rPr lang="en-GB" b="1" dirty="0"/>
              <a:t>Girvan Newman Algorithm</a:t>
            </a:r>
            <a:endParaRPr lang="en-IN" b="1" dirty="0"/>
          </a:p>
        </p:txBody>
      </p:sp>
      <p:sp>
        <p:nvSpPr>
          <p:cNvPr id="10" name="TextBox 9">
            <a:extLst>
              <a:ext uri="{FF2B5EF4-FFF2-40B4-BE49-F238E27FC236}">
                <a16:creationId xmlns:a16="http://schemas.microsoft.com/office/drawing/2014/main" id="{18FDE8C8-402B-5D2E-E2E8-E774F48E9179}"/>
              </a:ext>
            </a:extLst>
          </p:cNvPr>
          <p:cNvSpPr txBox="1"/>
          <p:nvPr/>
        </p:nvSpPr>
        <p:spPr>
          <a:xfrm>
            <a:off x="1632857" y="1223176"/>
            <a:ext cx="9786257" cy="5159554"/>
          </a:xfrm>
          <a:prstGeom prst="rect">
            <a:avLst/>
          </a:prstGeom>
          <a:noFill/>
        </p:spPr>
        <p:txBody>
          <a:bodyPr wrap="square">
            <a:spAutoFit/>
          </a:bodyPr>
          <a:lstStyle/>
          <a:p>
            <a:pPr marL="342900" lvl="0" indent="-342900" algn="just">
              <a:lnSpc>
                <a:spcPct val="200000"/>
              </a:lnSpc>
              <a:buFont typeface="+mj-lt"/>
              <a:buAutoNum type="arabicPeriod"/>
            </a:pPr>
            <a:r>
              <a:rPr lang="en-IN" sz="2400" dirty="0"/>
              <a:t>Construct an undirected graph representing the network.</a:t>
            </a:r>
          </a:p>
          <a:p>
            <a:pPr marL="342900" lvl="0" indent="-342900" algn="just">
              <a:lnSpc>
                <a:spcPct val="200000"/>
              </a:lnSpc>
              <a:buFont typeface="+mj-lt"/>
              <a:buAutoNum type="arabicPeriod"/>
            </a:pPr>
            <a:r>
              <a:rPr lang="en-IN" sz="2400" dirty="0"/>
              <a:t>Run BFS from every vertex to find shortest paths to all other vertices.</a:t>
            </a:r>
          </a:p>
          <a:p>
            <a:pPr marL="342900" lvl="0" indent="-342900" algn="just">
              <a:lnSpc>
                <a:spcPct val="200000"/>
              </a:lnSpc>
              <a:buFont typeface="+mj-lt"/>
              <a:buAutoNum type="arabicPeriod"/>
            </a:pPr>
            <a:r>
              <a:rPr lang="en-IN" sz="2400" dirty="0"/>
              <a:t>Calculate edge betweenness centrality based on the shortest paths.</a:t>
            </a:r>
          </a:p>
          <a:p>
            <a:pPr marL="342900" lvl="0" indent="-342900" algn="just">
              <a:lnSpc>
                <a:spcPct val="200000"/>
              </a:lnSpc>
              <a:buFont typeface="+mj-lt"/>
              <a:buAutoNum type="arabicPeriod"/>
            </a:pPr>
            <a:r>
              <a:rPr lang="en-IN" sz="2400" dirty="0"/>
              <a:t>Remove the edge with the highest betweenness centrality.</a:t>
            </a:r>
          </a:p>
          <a:p>
            <a:pPr marL="342900" lvl="0" indent="-342900" algn="just">
              <a:lnSpc>
                <a:spcPct val="200000"/>
              </a:lnSpc>
              <a:buFont typeface="+mj-lt"/>
              <a:buAutoNum type="arabicPeriod"/>
            </a:pPr>
            <a:r>
              <a:rPr lang="en-IN" sz="2400" dirty="0"/>
              <a:t>Recalculate betweenness because removing an edge can change shortest paths.</a:t>
            </a:r>
          </a:p>
          <a:p>
            <a:pPr marL="342900" lvl="0" indent="-342900" algn="just">
              <a:lnSpc>
                <a:spcPct val="200000"/>
              </a:lnSpc>
              <a:buFont typeface="+mj-lt"/>
              <a:buAutoNum type="arabicPeriod"/>
            </a:pPr>
            <a:r>
              <a:rPr lang="en-IN" sz="2400" dirty="0"/>
              <a:t>Repeat until the desired communities are formed.</a:t>
            </a:r>
          </a:p>
        </p:txBody>
      </p:sp>
    </p:spTree>
    <p:extLst>
      <p:ext uri="{BB962C8B-B14F-4D97-AF65-F5344CB8AC3E}">
        <p14:creationId xmlns:p14="http://schemas.microsoft.com/office/powerpoint/2010/main" val="3616206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E8350D-9024-6BED-F395-118EF85ABA58}"/>
              </a:ext>
            </a:extLst>
          </p:cNvPr>
          <p:cNvPicPr>
            <a:picLocks noChangeAspect="1"/>
          </p:cNvPicPr>
          <p:nvPr/>
        </p:nvPicPr>
        <p:blipFill>
          <a:blip r:embed="rId2"/>
          <a:stretch>
            <a:fillRect/>
          </a:stretch>
        </p:blipFill>
        <p:spPr>
          <a:xfrm>
            <a:off x="1126671" y="108857"/>
            <a:ext cx="9938657" cy="6368143"/>
          </a:xfrm>
          <a:prstGeom prst="rect">
            <a:avLst/>
          </a:prstGeom>
        </p:spPr>
      </p:pic>
    </p:spTree>
    <p:extLst>
      <p:ext uri="{BB962C8B-B14F-4D97-AF65-F5344CB8AC3E}">
        <p14:creationId xmlns:p14="http://schemas.microsoft.com/office/powerpoint/2010/main" val="1555609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8EB5B9-ADD8-F496-6268-23960C9108D7}"/>
              </a:ext>
            </a:extLst>
          </p:cNvPr>
          <p:cNvPicPr>
            <a:picLocks noGrp="1" noChangeAspect="1"/>
          </p:cNvPicPr>
          <p:nvPr>
            <p:ph idx="1"/>
          </p:nvPr>
        </p:nvPicPr>
        <p:blipFill>
          <a:blip r:embed="rId2"/>
          <a:stretch>
            <a:fillRect/>
          </a:stretch>
        </p:blipFill>
        <p:spPr>
          <a:xfrm>
            <a:off x="838200" y="827314"/>
            <a:ext cx="10787743" cy="5164807"/>
          </a:xfrm>
        </p:spPr>
      </p:pic>
      <p:sp>
        <p:nvSpPr>
          <p:cNvPr id="2" name="TextBox 1">
            <a:extLst>
              <a:ext uri="{FF2B5EF4-FFF2-40B4-BE49-F238E27FC236}">
                <a16:creationId xmlns:a16="http://schemas.microsoft.com/office/drawing/2014/main" id="{39F5B2DA-356A-6F11-4616-B492DE405DBF}"/>
              </a:ext>
            </a:extLst>
          </p:cNvPr>
          <p:cNvSpPr txBox="1"/>
          <p:nvPr/>
        </p:nvSpPr>
        <p:spPr>
          <a:xfrm>
            <a:off x="0" y="117365"/>
            <a:ext cx="12192000" cy="830997"/>
          </a:xfrm>
          <a:prstGeom prst="rect">
            <a:avLst/>
          </a:prstGeom>
          <a:noFill/>
        </p:spPr>
        <p:txBody>
          <a:bodyPr wrap="square" rtlCol="0">
            <a:spAutoFit/>
          </a:bodyPr>
          <a:lstStyle/>
          <a:p>
            <a:r>
              <a:rPr lang="en-IN" sz="2400" b="1" dirty="0"/>
              <a:t> Example: Find Betweenness of edges using Girvan-Newman algorithm. Generate communities of SNG using betweenness.</a:t>
            </a:r>
          </a:p>
        </p:txBody>
      </p:sp>
    </p:spTree>
    <p:extLst>
      <p:ext uri="{BB962C8B-B14F-4D97-AF65-F5344CB8AC3E}">
        <p14:creationId xmlns:p14="http://schemas.microsoft.com/office/powerpoint/2010/main" val="3915738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1A1F3A-74F0-FE31-81CC-1D4094315B34}"/>
              </a:ext>
            </a:extLst>
          </p:cNvPr>
          <p:cNvPicPr>
            <a:picLocks noChangeAspect="1"/>
          </p:cNvPicPr>
          <p:nvPr/>
        </p:nvPicPr>
        <p:blipFill>
          <a:blip r:embed="rId2"/>
          <a:stretch>
            <a:fillRect/>
          </a:stretch>
        </p:blipFill>
        <p:spPr>
          <a:xfrm>
            <a:off x="538296" y="794657"/>
            <a:ext cx="4186104" cy="4800599"/>
          </a:xfrm>
          <a:prstGeom prst="rect">
            <a:avLst/>
          </a:prstGeom>
        </p:spPr>
      </p:pic>
      <p:pic>
        <p:nvPicPr>
          <p:cNvPr id="7" name="Picture 6">
            <a:extLst>
              <a:ext uri="{FF2B5EF4-FFF2-40B4-BE49-F238E27FC236}">
                <a16:creationId xmlns:a16="http://schemas.microsoft.com/office/drawing/2014/main" id="{FD58A6D4-3318-94E0-E3C5-E33BDE026C13}"/>
              </a:ext>
            </a:extLst>
          </p:cNvPr>
          <p:cNvPicPr>
            <a:picLocks noChangeAspect="1"/>
          </p:cNvPicPr>
          <p:nvPr/>
        </p:nvPicPr>
        <p:blipFill>
          <a:blip r:embed="rId3"/>
          <a:stretch>
            <a:fillRect/>
          </a:stretch>
        </p:blipFill>
        <p:spPr>
          <a:xfrm>
            <a:off x="6585857" y="1360714"/>
            <a:ext cx="4103914" cy="4038599"/>
          </a:xfrm>
          <a:prstGeom prst="rect">
            <a:avLst/>
          </a:prstGeom>
        </p:spPr>
      </p:pic>
    </p:spTree>
    <p:extLst>
      <p:ext uri="{BB962C8B-B14F-4D97-AF65-F5344CB8AC3E}">
        <p14:creationId xmlns:p14="http://schemas.microsoft.com/office/powerpoint/2010/main" val="3673084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DB5051D-8906-4942-C0B5-7746257DFDAE}"/>
              </a:ext>
            </a:extLst>
          </p:cNvPr>
          <p:cNvPicPr>
            <a:picLocks noGrp="1" noChangeAspect="1"/>
          </p:cNvPicPr>
          <p:nvPr>
            <p:ph idx="1"/>
          </p:nvPr>
        </p:nvPicPr>
        <p:blipFill>
          <a:blip r:embed="rId2"/>
          <a:stretch>
            <a:fillRect/>
          </a:stretch>
        </p:blipFill>
        <p:spPr>
          <a:xfrm>
            <a:off x="1179647" y="1921581"/>
            <a:ext cx="3562533" cy="3397425"/>
          </a:xfrm>
        </p:spPr>
      </p:pic>
      <p:pic>
        <p:nvPicPr>
          <p:cNvPr id="7" name="Picture 6">
            <a:extLst>
              <a:ext uri="{FF2B5EF4-FFF2-40B4-BE49-F238E27FC236}">
                <a16:creationId xmlns:a16="http://schemas.microsoft.com/office/drawing/2014/main" id="{FF3EC0FC-1694-EAA8-F71C-232651107FFE}"/>
              </a:ext>
            </a:extLst>
          </p:cNvPr>
          <p:cNvPicPr>
            <a:picLocks noChangeAspect="1"/>
          </p:cNvPicPr>
          <p:nvPr/>
        </p:nvPicPr>
        <p:blipFill>
          <a:blip r:embed="rId3"/>
          <a:stretch>
            <a:fillRect/>
          </a:stretch>
        </p:blipFill>
        <p:spPr>
          <a:xfrm>
            <a:off x="6245107" y="1621972"/>
            <a:ext cx="5337293" cy="3397424"/>
          </a:xfrm>
          <a:prstGeom prst="rect">
            <a:avLst/>
          </a:prstGeom>
        </p:spPr>
      </p:pic>
    </p:spTree>
    <p:extLst>
      <p:ext uri="{BB962C8B-B14F-4D97-AF65-F5344CB8AC3E}">
        <p14:creationId xmlns:p14="http://schemas.microsoft.com/office/powerpoint/2010/main" val="1493276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1DB4AD-5D83-C9E0-FB17-91D9B00D1F3E}"/>
              </a:ext>
            </a:extLst>
          </p:cNvPr>
          <p:cNvPicPr>
            <a:picLocks noGrp="1" noChangeAspect="1"/>
          </p:cNvPicPr>
          <p:nvPr>
            <p:ph idx="1"/>
          </p:nvPr>
        </p:nvPicPr>
        <p:blipFill>
          <a:blip r:embed="rId2"/>
          <a:stretch>
            <a:fillRect/>
          </a:stretch>
        </p:blipFill>
        <p:spPr>
          <a:xfrm>
            <a:off x="717904" y="809871"/>
            <a:ext cx="3854648" cy="3683189"/>
          </a:xfrm>
        </p:spPr>
      </p:pic>
      <p:pic>
        <p:nvPicPr>
          <p:cNvPr id="7" name="Picture 6">
            <a:extLst>
              <a:ext uri="{FF2B5EF4-FFF2-40B4-BE49-F238E27FC236}">
                <a16:creationId xmlns:a16="http://schemas.microsoft.com/office/drawing/2014/main" id="{9036F399-DAF0-6F01-3665-BF8D2519AFA1}"/>
              </a:ext>
            </a:extLst>
          </p:cNvPr>
          <p:cNvPicPr>
            <a:picLocks noChangeAspect="1"/>
          </p:cNvPicPr>
          <p:nvPr/>
        </p:nvPicPr>
        <p:blipFill>
          <a:blip r:embed="rId3"/>
          <a:stretch>
            <a:fillRect/>
          </a:stretch>
        </p:blipFill>
        <p:spPr>
          <a:xfrm>
            <a:off x="6548284" y="707571"/>
            <a:ext cx="4130601" cy="4054108"/>
          </a:xfrm>
          <a:prstGeom prst="rect">
            <a:avLst/>
          </a:prstGeom>
        </p:spPr>
      </p:pic>
    </p:spTree>
    <p:extLst>
      <p:ext uri="{BB962C8B-B14F-4D97-AF65-F5344CB8AC3E}">
        <p14:creationId xmlns:p14="http://schemas.microsoft.com/office/powerpoint/2010/main" val="3957144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8D4847-7624-8F1E-4E84-7B0DFDFA8BDF}"/>
              </a:ext>
            </a:extLst>
          </p:cNvPr>
          <p:cNvPicPr>
            <a:picLocks noGrp="1" noChangeAspect="1"/>
          </p:cNvPicPr>
          <p:nvPr>
            <p:ph idx="1"/>
          </p:nvPr>
        </p:nvPicPr>
        <p:blipFill>
          <a:blip r:embed="rId2"/>
          <a:stretch>
            <a:fillRect/>
          </a:stretch>
        </p:blipFill>
        <p:spPr>
          <a:xfrm>
            <a:off x="0" y="273616"/>
            <a:ext cx="6629721" cy="3683431"/>
          </a:xfrm>
        </p:spPr>
      </p:pic>
      <p:pic>
        <p:nvPicPr>
          <p:cNvPr id="3" name="Picture 2">
            <a:extLst>
              <a:ext uri="{FF2B5EF4-FFF2-40B4-BE49-F238E27FC236}">
                <a16:creationId xmlns:a16="http://schemas.microsoft.com/office/drawing/2014/main" id="{394B821F-14BF-90F7-54BD-0F41382A6A75}"/>
              </a:ext>
            </a:extLst>
          </p:cNvPr>
          <p:cNvPicPr>
            <a:picLocks noChangeAspect="1"/>
          </p:cNvPicPr>
          <p:nvPr/>
        </p:nvPicPr>
        <p:blipFill>
          <a:blip r:embed="rId3"/>
          <a:stretch>
            <a:fillRect/>
          </a:stretch>
        </p:blipFill>
        <p:spPr>
          <a:xfrm>
            <a:off x="1657350" y="4050734"/>
            <a:ext cx="8877300" cy="2533650"/>
          </a:xfrm>
          <a:prstGeom prst="rect">
            <a:avLst/>
          </a:prstGeom>
        </p:spPr>
      </p:pic>
    </p:spTree>
    <p:extLst>
      <p:ext uri="{BB962C8B-B14F-4D97-AF65-F5344CB8AC3E}">
        <p14:creationId xmlns:p14="http://schemas.microsoft.com/office/powerpoint/2010/main" val="2806307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187B9E-B6A2-2577-248A-519991FFFEC2}"/>
              </a:ext>
            </a:extLst>
          </p:cNvPr>
          <p:cNvPicPr>
            <a:picLocks noGrp="1" noChangeAspect="1"/>
          </p:cNvPicPr>
          <p:nvPr>
            <p:ph idx="1"/>
          </p:nvPr>
        </p:nvPicPr>
        <p:blipFill>
          <a:blip r:embed="rId2"/>
          <a:stretch>
            <a:fillRect/>
          </a:stretch>
        </p:blipFill>
        <p:spPr>
          <a:xfrm>
            <a:off x="1379620" y="3081929"/>
            <a:ext cx="3352799" cy="3158450"/>
          </a:xfrm>
        </p:spPr>
      </p:pic>
      <p:pic>
        <p:nvPicPr>
          <p:cNvPr id="7" name="Picture 6">
            <a:extLst>
              <a:ext uri="{FF2B5EF4-FFF2-40B4-BE49-F238E27FC236}">
                <a16:creationId xmlns:a16="http://schemas.microsoft.com/office/drawing/2014/main" id="{2B8F0EF7-B7A6-6CEE-04D9-566A3C22B974}"/>
              </a:ext>
            </a:extLst>
          </p:cNvPr>
          <p:cNvPicPr>
            <a:picLocks noChangeAspect="1"/>
          </p:cNvPicPr>
          <p:nvPr/>
        </p:nvPicPr>
        <p:blipFill>
          <a:blip r:embed="rId3"/>
          <a:stretch>
            <a:fillRect/>
          </a:stretch>
        </p:blipFill>
        <p:spPr>
          <a:xfrm>
            <a:off x="5056772" y="1419566"/>
            <a:ext cx="6220828" cy="4692476"/>
          </a:xfrm>
          <a:prstGeom prst="rect">
            <a:avLst/>
          </a:prstGeom>
        </p:spPr>
      </p:pic>
      <p:pic>
        <p:nvPicPr>
          <p:cNvPr id="8" name="Picture 7">
            <a:extLst>
              <a:ext uri="{FF2B5EF4-FFF2-40B4-BE49-F238E27FC236}">
                <a16:creationId xmlns:a16="http://schemas.microsoft.com/office/drawing/2014/main" id="{DE8358EA-6D22-38AA-801C-61C1FC3B9ABD}"/>
              </a:ext>
            </a:extLst>
          </p:cNvPr>
          <p:cNvPicPr>
            <a:picLocks noChangeAspect="1"/>
          </p:cNvPicPr>
          <p:nvPr/>
        </p:nvPicPr>
        <p:blipFill>
          <a:blip r:embed="rId4"/>
          <a:stretch>
            <a:fillRect/>
          </a:stretch>
        </p:blipFill>
        <p:spPr>
          <a:xfrm>
            <a:off x="1817154" y="864464"/>
            <a:ext cx="2477729" cy="2217465"/>
          </a:xfrm>
          <a:prstGeom prst="rect">
            <a:avLst/>
          </a:prstGeom>
        </p:spPr>
      </p:pic>
      <p:sp>
        <p:nvSpPr>
          <p:cNvPr id="9" name="Title 1">
            <a:extLst>
              <a:ext uri="{FF2B5EF4-FFF2-40B4-BE49-F238E27FC236}">
                <a16:creationId xmlns:a16="http://schemas.microsoft.com/office/drawing/2014/main" id="{CEBDE930-949D-52BC-B975-761402E95973}"/>
              </a:ext>
            </a:extLst>
          </p:cNvPr>
          <p:cNvSpPr>
            <a:spLocks noGrp="1"/>
          </p:cNvSpPr>
          <p:nvPr>
            <p:ph type="title"/>
          </p:nvPr>
        </p:nvSpPr>
        <p:spPr>
          <a:xfrm>
            <a:off x="0" y="-72800"/>
            <a:ext cx="12192000" cy="1325563"/>
          </a:xfrm>
        </p:spPr>
        <p:txBody>
          <a:bodyPr/>
          <a:lstStyle/>
          <a:p>
            <a:r>
              <a:rPr lang="en-IN" b="1" dirty="0"/>
              <a:t>Example: Find community detection for given graph</a:t>
            </a:r>
          </a:p>
        </p:txBody>
      </p:sp>
    </p:spTree>
    <p:extLst>
      <p:ext uri="{BB962C8B-B14F-4D97-AF65-F5344CB8AC3E}">
        <p14:creationId xmlns:p14="http://schemas.microsoft.com/office/powerpoint/2010/main" val="4101740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B2D09B-FD36-C118-A12A-686712662406}"/>
              </a:ext>
            </a:extLst>
          </p:cNvPr>
          <p:cNvPicPr>
            <a:picLocks noChangeAspect="1"/>
          </p:cNvPicPr>
          <p:nvPr/>
        </p:nvPicPr>
        <p:blipFill>
          <a:blip r:embed="rId2"/>
          <a:stretch>
            <a:fillRect/>
          </a:stretch>
        </p:blipFill>
        <p:spPr>
          <a:xfrm>
            <a:off x="433137" y="1042737"/>
            <a:ext cx="4940968" cy="4491789"/>
          </a:xfrm>
          <a:prstGeom prst="rect">
            <a:avLst/>
          </a:prstGeom>
        </p:spPr>
      </p:pic>
      <p:pic>
        <p:nvPicPr>
          <p:cNvPr id="7" name="Picture 6">
            <a:extLst>
              <a:ext uri="{FF2B5EF4-FFF2-40B4-BE49-F238E27FC236}">
                <a16:creationId xmlns:a16="http://schemas.microsoft.com/office/drawing/2014/main" id="{7F9E982F-E927-60CD-8770-725D9E8F0CF8}"/>
              </a:ext>
            </a:extLst>
          </p:cNvPr>
          <p:cNvPicPr>
            <a:picLocks noChangeAspect="1"/>
          </p:cNvPicPr>
          <p:nvPr/>
        </p:nvPicPr>
        <p:blipFill>
          <a:blip r:embed="rId3"/>
          <a:stretch>
            <a:fillRect/>
          </a:stretch>
        </p:blipFill>
        <p:spPr>
          <a:xfrm>
            <a:off x="6096000" y="802104"/>
            <a:ext cx="5406189" cy="4973053"/>
          </a:xfrm>
          <a:prstGeom prst="rect">
            <a:avLst/>
          </a:prstGeom>
        </p:spPr>
      </p:pic>
    </p:spTree>
    <p:extLst>
      <p:ext uri="{BB962C8B-B14F-4D97-AF65-F5344CB8AC3E}">
        <p14:creationId xmlns:p14="http://schemas.microsoft.com/office/powerpoint/2010/main" val="4039971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D52193-8E78-05F0-14FA-B4C87E746112}"/>
              </a:ext>
            </a:extLst>
          </p:cNvPr>
          <p:cNvPicPr>
            <a:picLocks noChangeAspect="1"/>
          </p:cNvPicPr>
          <p:nvPr/>
        </p:nvPicPr>
        <p:blipFill>
          <a:blip r:embed="rId2"/>
          <a:stretch>
            <a:fillRect/>
          </a:stretch>
        </p:blipFill>
        <p:spPr>
          <a:xfrm>
            <a:off x="513347" y="1219201"/>
            <a:ext cx="4914148" cy="4748462"/>
          </a:xfrm>
          <a:prstGeom prst="rect">
            <a:avLst/>
          </a:prstGeom>
        </p:spPr>
      </p:pic>
      <p:pic>
        <p:nvPicPr>
          <p:cNvPr id="7" name="Picture 6">
            <a:extLst>
              <a:ext uri="{FF2B5EF4-FFF2-40B4-BE49-F238E27FC236}">
                <a16:creationId xmlns:a16="http://schemas.microsoft.com/office/drawing/2014/main" id="{5F7F26AD-3267-460E-60A0-83C0FC82EEBD}"/>
              </a:ext>
            </a:extLst>
          </p:cNvPr>
          <p:cNvPicPr>
            <a:picLocks noChangeAspect="1"/>
          </p:cNvPicPr>
          <p:nvPr/>
        </p:nvPicPr>
        <p:blipFill>
          <a:blip r:embed="rId3"/>
          <a:stretch>
            <a:fillRect/>
          </a:stretch>
        </p:blipFill>
        <p:spPr>
          <a:xfrm>
            <a:off x="6561221" y="1090863"/>
            <a:ext cx="5438274" cy="4876799"/>
          </a:xfrm>
          <a:prstGeom prst="rect">
            <a:avLst/>
          </a:prstGeom>
        </p:spPr>
      </p:pic>
    </p:spTree>
    <p:extLst>
      <p:ext uri="{BB962C8B-B14F-4D97-AF65-F5344CB8AC3E}">
        <p14:creationId xmlns:p14="http://schemas.microsoft.com/office/powerpoint/2010/main" val="3400256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D3F540-B5D6-7CA0-AEEF-5BD181630185}"/>
              </a:ext>
            </a:extLst>
          </p:cNvPr>
          <p:cNvPicPr>
            <a:picLocks noChangeAspect="1"/>
          </p:cNvPicPr>
          <p:nvPr/>
        </p:nvPicPr>
        <p:blipFill>
          <a:blip r:embed="rId2"/>
          <a:stretch>
            <a:fillRect/>
          </a:stretch>
        </p:blipFill>
        <p:spPr>
          <a:xfrm>
            <a:off x="176463" y="641684"/>
            <a:ext cx="5919537" cy="5197641"/>
          </a:xfrm>
          <a:prstGeom prst="rect">
            <a:avLst/>
          </a:prstGeom>
        </p:spPr>
      </p:pic>
      <p:pic>
        <p:nvPicPr>
          <p:cNvPr id="7" name="Picture 6">
            <a:extLst>
              <a:ext uri="{FF2B5EF4-FFF2-40B4-BE49-F238E27FC236}">
                <a16:creationId xmlns:a16="http://schemas.microsoft.com/office/drawing/2014/main" id="{078DC481-B0C7-91F4-D673-4FAE796FE6A5}"/>
              </a:ext>
            </a:extLst>
          </p:cNvPr>
          <p:cNvPicPr>
            <a:picLocks noChangeAspect="1"/>
          </p:cNvPicPr>
          <p:nvPr/>
        </p:nvPicPr>
        <p:blipFill>
          <a:blip r:embed="rId3"/>
          <a:stretch>
            <a:fillRect/>
          </a:stretch>
        </p:blipFill>
        <p:spPr>
          <a:xfrm>
            <a:off x="6832432" y="1780674"/>
            <a:ext cx="4942473" cy="2198017"/>
          </a:xfrm>
          <a:prstGeom prst="rect">
            <a:avLst/>
          </a:prstGeom>
        </p:spPr>
      </p:pic>
    </p:spTree>
    <p:extLst>
      <p:ext uri="{BB962C8B-B14F-4D97-AF65-F5344CB8AC3E}">
        <p14:creationId xmlns:p14="http://schemas.microsoft.com/office/powerpoint/2010/main" val="3389635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A88A9-E174-E096-7382-916BAD67EC9A}"/>
              </a:ext>
            </a:extLst>
          </p:cNvPr>
          <p:cNvSpPr>
            <a:spLocks noGrp="1"/>
          </p:cNvSpPr>
          <p:nvPr>
            <p:ph type="title"/>
          </p:nvPr>
        </p:nvSpPr>
        <p:spPr>
          <a:xfrm>
            <a:off x="0" y="18256"/>
            <a:ext cx="10515600" cy="662782"/>
          </a:xfrm>
        </p:spPr>
        <p:txBody>
          <a:bodyPr>
            <a:normAutofit fontScale="90000"/>
          </a:bodyPr>
          <a:lstStyle/>
          <a:p>
            <a:r>
              <a:rPr lang="en-IN" b="1" dirty="0" err="1"/>
              <a:t>IInd</a:t>
            </a:r>
            <a:r>
              <a:rPr lang="en-IN" b="1" dirty="0"/>
              <a:t>- iteration</a:t>
            </a:r>
          </a:p>
        </p:txBody>
      </p:sp>
      <p:pic>
        <p:nvPicPr>
          <p:cNvPr id="5" name="Picture 4">
            <a:extLst>
              <a:ext uri="{FF2B5EF4-FFF2-40B4-BE49-F238E27FC236}">
                <a16:creationId xmlns:a16="http://schemas.microsoft.com/office/drawing/2014/main" id="{F9255731-096B-3B21-B79C-FD9B37B16F62}"/>
              </a:ext>
            </a:extLst>
          </p:cNvPr>
          <p:cNvPicPr>
            <a:picLocks noChangeAspect="1"/>
          </p:cNvPicPr>
          <p:nvPr/>
        </p:nvPicPr>
        <p:blipFill>
          <a:blip r:embed="rId2"/>
          <a:stretch>
            <a:fillRect/>
          </a:stretch>
        </p:blipFill>
        <p:spPr>
          <a:xfrm>
            <a:off x="191729" y="1219200"/>
            <a:ext cx="3738587" cy="3736257"/>
          </a:xfrm>
          <a:prstGeom prst="rect">
            <a:avLst/>
          </a:prstGeom>
        </p:spPr>
      </p:pic>
      <p:pic>
        <p:nvPicPr>
          <p:cNvPr id="7" name="Picture 6">
            <a:extLst>
              <a:ext uri="{FF2B5EF4-FFF2-40B4-BE49-F238E27FC236}">
                <a16:creationId xmlns:a16="http://schemas.microsoft.com/office/drawing/2014/main" id="{157B8A1B-20B3-F3D8-CB34-91C62C00D483}"/>
              </a:ext>
            </a:extLst>
          </p:cNvPr>
          <p:cNvPicPr>
            <a:picLocks noChangeAspect="1"/>
          </p:cNvPicPr>
          <p:nvPr/>
        </p:nvPicPr>
        <p:blipFill>
          <a:blip r:embed="rId3"/>
          <a:stretch>
            <a:fillRect/>
          </a:stretch>
        </p:blipFill>
        <p:spPr>
          <a:xfrm>
            <a:off x="3930315" y="1219201"/>
            <a:ext cx="3882189" cy="3736256"/>
          </a:xfrm>
          <a:prstGeom prst="rect">
            <a:avLst/>
          </a:prstGeom>
        </p:spPr>
      </p:pic>
      <p:pic>
        <p:nvPicPr>
          <p:cNvPr id="9" name="Picture 8">
            <a:extLst>
              <a:ext uri="{FF2B5EF4-FFF2-40B4-BE49-F238E27FC236}">
                <a16:creationId xmlns:a16="http://schemas.microsoft.com/office/drawing/2014/main" id="{9362BCD0-E1E5-BA27-7F2F-4BFD0B64A9E6}"/>
              </a:ext>
            </a:extLst>
          </p:cNvPr>
          <p:cNvPicPr>
            <a:picLocks noChangeAspect="1"/>
          </p:cNvPicPr>
          <p:nvPr/>
        </p:nvPicPr>
        <p:blipFill>
          <a:blip r:embed="rId4"/>
          <a:stretch>
            <a:fillRect/>
          </a:stretch>
        </p:blipFill>
        <p:spPr>
          <a:xfrm>
            <a:off x="7812505" y="1219201"/>
            <a:ext cx="4379495" cy="3736256"/>
          </a:xfrm>
          <a:prstGeom prst="rect">
            <a:avLst/>
          </a:prstGeom>
        </p:spPr>
      </p:pic>
    </p:spTree>
    <p:extLst>
      <p:ext uri="{BB962C8B-B14F-4D97-AF65-F5344CB8AC3E}">
        <p14:creationId xmlns:p14="http://schemas.microsoft.com/office/powerpoint/2010/main" val="2152575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B700E4-67E5-7832-995E-7C707F9C7970}"/>
              </a:ext>
            </a:extLst>
          </p:cNvPr>
          <p:cNvPicPr>
            <a:picLocks noChangeAspect="1"/>
          </p:cNvPicPr>
          <p:nvPr/>
        </p:nvPicPr>
        <p:blipFill>
          <a:blip r:embed="rId2"/>
          <a:stretch>
            <a:fillRect/>
          </a:stretch>
        </p:blipFill>
        <p:spPr>
          <a:xfrm>
            <a:off x="191729" y="89862"/>
            <a:ext cx="4099098" cy="3091614"/>
          </a:xfrm>
          <a:prstGeom prst="rect">
            <a:avLst/>
          </a:prstGeom>
        </p:spPr>
      </p:pic>
      <p:pic>
        <p:nvPicPr>
          <p:cNvPr id="7" name="Picture 6">
            <a:extLst>
              <a:ext uri="{FF2B5EF4-FFF2-40B4-BE49-F238E27FC236}">
                <a16:creationId xmlns:a16="http://schemas.microsoft.com/office/drawing/2014/main" id="{94B39EEE-BF3A-6BB3-AA96-53BFA6EFAF09}"/>
              </a:ext>
            </a:extLst>
          </p:cNvPr>
          <p:cNvPicPr>
            <a:picLocks noChangeAspect="1"/>
          </p:cNvPicPr>
          <p:nvPr/>
        </p:nvPicPr>
        <p:blipFill>
          <a:blip r:embed="rId3"/>
          <a:stretch>
            <a:fillRect/>
          </a:stretch>
        </p:blipFill>
        <p:spPr>
          <a:xfrm>
            <a:off x="2832643" y="2477730"/>
            <a:ext cx="4099099" cy="3987868"/>
          </a:xfrm>
          <a:prstGeom prst="rect">
            <a:avLst/>
          </a:prstGeom>
        </p:spPr>
      </p:pic>
      <p:pic>
        <p:nvPicPr>
          <p:cNvPr id="9" name="Picture 8">
            <a:extLst>
              <a:ext uri="{FF2B5EF4-FFF2-40B4-BE49-F238E27FC236}">
                <a16:creationId xmlns:a16="http://schemas.microsoft.com/office/drawing/2014/main" id="{6B44B2D8-4618-E7B4-F830-1CAFCF4157A7}"/>
              </a:ext>
            </a:extLst>
          </p:cNvPr>
          <p:cNvPicPr>
            <a:picLocks noChangeAspect="1"/>
          </p:cNvPicPr>
          <p:nvPr/>
        </p:nvPicPr>
        <p:blipFill>
          <a:blip r:embed="rId4"/>
          <a:stretch>
            <a:fillRect/>
          </a:stretch>
        </p:blipFill>
        <p:spPr>
          <a:xfrm>
            <a:off x="6550968" y="89862"/>
            <a:ext cx="5449303" cy="3505469"/>
          </a:xfrm>
          <a:prstGeom prst="rect">
            <a:avLst/>
          </a:prstGeom>
        </p:spPr>
      </p:pic>
      <p:pic>
        <p:nvPicPr>
          <p:cNvPr id="11" name="Picture 10">
            <a:extLst>
              <a:ext uri="{FF2B5EF4-FFF2-40B4-BE49-F238E27FC236}">
                <a16:creationId xmlns:a16="http://schemas.microsoft.com/office/drawing/2014/main" id="{FCB451DD-907A-B6D9-E9BE-196E199D9023}"/>
              </a:ext>
            </a:extLst>
          </p:cNvPr>
          <p:cNvPicPr>
            <a:picLocks noChangeAspect="1"/>
          </p:cNvPicPr>
          <p:nvPr/>
        </p:nvPicPr>
        <p:blipFill>
          <a:blip r:embed="rId5"/>
          <a:stretch>
            <a:fillRect/>
          </a:stretch>
        </p:blipFill>
        <p:spPr>
          <a:xfrm>
            <a:off x="7306551" y="3676526"/>
            <a:ext cx="4321594" cy="2982450"/>
          </a:xfrm>
          <a:prstGeom prst="rect">
            <a:avLst/>
          </a:prstGeom>
        </p:spPr>
      </p:pic>
    </p:spTree>
    <p:extLst>
      <p:ext uri="{BB962C8B-B14F-4D97-AF65-F5344CB8AC3E}">
        <p14:creationId xmlns:p14="http://schemas.microsoft.com/office/powerpoint/2010/main" val="2171317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5FEC3-76C4-7841-4F91-D1F748CF2E34}"/>
              </a:ext>
            </a:extLst>
          </p:cNvPr>
          <p:cNvSpPr>
            <a:spLocks noGrp="1"/>
          </p:cNvSpPr>
          <p:nvPr>
            <p:ph type="title"/>
          </p:nvPr>
        </p:nvSpPr>
        <p:spPr>
          <a:xfrm>
            <a:off x="0" y="18256"/>
            <a:ext cx="10515600" cy="799892"/>
          </a:xfrm>
        </p:spPr>
        <p:txBody>
          <a:bodyPr/>
          <a:lstStyle/>
          <a:p>
            <a:r>
              <a:rPr lang="en-GB" b="1" dirty="0"/>
              <a:t>Example: </a:t>
            </a:r>
            <a:endParaRPr lang="en-IN" b="1" dirty="0"/>
          </a:p>
        </p:txBody>
      </p:sp>
      <p:pic>
        <p:nvPicPr>
          <p:cNvPr id="5" name="Picture 4">
            <a:extLst>
              <a:ext uri="{FF2B5EF4-FFF2-40B4-BE49-F238E27FC236}">
                <a16:creationId xmlns:a16="http://schemas.microsoft.com/office/drawing/2014/main" id="{6D036D21-378E-74EC-6136-9B5749995CD4}"/>
              </a:ext>
            </a:extLst>
          </p:cNvPr>
          <p:cNvPicPr>
            <a:picLocks noChangeAspect="1"/>
          </p:cNvPicPr>
          <p:nvPr/>
        </p:nvPicPr>
        <p:blipFill>
          <a:blip r:embed="rId2"/>
          <a:stretch>
            <a:fillRect/>
          </a:stretch>
        </p:blipFill>
        <p:spPr>
          <a:xfrm>
            <a:off x="152400" y="818148"/>
            <a:ext cx="6328611" cy="3593431"/>
          </a:xfrm>
          <a:prstGeom prst="rect">
            <a:avLst/>
          </a:prstGeom>
        </p:spPr>
      </p:pic>
      <p:pic>
        <p:nvPicPr>
          <p:cNvPr id="7" name="Picture 6">
            <a:extLst>
              <a:ext uri="{FF2B5EF4-FFF2-40B4-BE49-F238E27FC236}">
                <a16:creationId xmlns:a16="http://schemas.microsoft.com/office/drawing/2014/main" id="{D7027EEC-2ABA-B25F-52BC-63C2F6D6C574}"/>
              </a:ext>
            </a:extLst>
          </p:cNvPr>
          <p:cNvPicPr>
            <a:picLocks noChangeAspect="1"/>
          </p:cNvPicPr>
          <p:nvPr/>
        </p:nvPicPr>
        <p:blipFill>
          <a:blip r:embed="rId3"/>
          <a:stretch>
            <a:fillRect/>
          </a:stretch>
        </p:blipFill>
        <p:spPr>
          <a:xfrm>
            <a:off x="7143750" y="418202"/>
            <a:ext cx="4895850" cy="2686050"/>
          </a:xfrm>
          <a:prstGeom prst="rect">
            <a:avLst/>
          </a:prstGeom>
        </p:spPr>
      </p:pic>
      <p:pic>
        <p:nvPicPr>
          <p:cNvPr id="9" name="Picture 8">
            <a:extLst>
              <a:ext uri="{FF2B5EF4-FFF2-40B4-BE49-F238E27FC236}">
                <a16:creationId xmlns:a16="http://schemas.microsoft.com/office/drawing/2014/main" id="{2ED41C4F-06E1-B925-655E-5C6C20C5D6CA}"/>
              </a:ext>
            </a:extLst>
          </p:cNvPr>
          <p:cNvPicPr>
            <a:picLocks noChangeAspect="1"/>
          </p:cNvPicPr>
          <p:nvPr/>
        </p:nvPicPr>
        <p:blipFill>
          <a:blip r:embed="rId4"/>
          <a:stretch>
            <a:fillRect/>
          </a:stretch>
        </p:blipFill>
        <p:spPr>
          <a:xfrm>
            <a:off x="5678906" y="2832937"/>
            <a:ext cx="4555958" cy="4025063"/>
          </a:xfrm>
          <a:prstGeom prst="rect">
            <a:avLst/>
          </a:prstGeom>
        </p:spPr>
      </p:pic>
    </p:spTree>
    <p:extLst>
      <p:ext uri="{BB962C8B-B14F-4D97-AF65-F5344CB8AC3E}">
        <p14:creationId xmlns:p14="http://schemas.microsoft.com/office/powerpoint/2010/main" val="664744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0490F-27EE-8605-1D78-C7BDC9F295E4}"/>
              </a:ext>
            </a:extLst>
          </p:cNvPr>
          <p:cNvSpPr>
            <a:spLocks noGrp="1"/>
          </p:cNvSpPr>
          <p:nvPr>
            <p:ph type="title"/>
          </p:nvPr>
        </p:nvSpPr>
        <p:spPr>
          <a:xfrm>
            <a:off x="0" y="44283"/>
            <a:ext cx="10515600" cy="886159"/>
          </a:xfrm>
        </p:spPr>
        <p:txBody>
          <a:bodyPr/>
          <a:lstStyle/>
          <a:p>
            <a:r>
              <a:rPr lang="en-GB" b="1" dirty="0"/>
              <a:t>Example: </a:t>
            </a:r>
            <a:r>
              <a:rPr lang="en-GB" b="1" dirty="0" err="1"/>
              <a:t>cont</a:t>
            </a:r>
            <a:r>
              <a:rPr lang="en-GB" b="1" dirty="0"/>
              <a:t>…..</a:t>
            </a:r>
            <a:endParaRPr lang="en-IN" b="1" dirty="0"/>
          </a:p>
        </p:txBody>
      </p:sp>
      <p:pic>
        <p:nvPicPr>
          <p:cNvPr id="5" name="Picture 4">
            <a:extLst>
              <a:ext uri="{FF2B5EF4-FFF2-40B4-BE49-F238E27FC236}">
                <a16:creationId xmlns:a16="http://schemas.microsoft.com/office/drawing/2014/main" id="{C056B117-E0D0-134D-DA71-654414C240A3}"/>
              </a:ext>
            </a:extLst>
          </p:cNvPr>
          <p:cNvPicPr>
            <a:picLocks noChangeAspect="1"/>
          </p:cNvPicPr>
          <p:nvPr/>
        </p:nvPicPr>
        <p:blipFill>
          <a:blip r:embed="rId2"/>
          <a:stretch>
            <a:fillRect/>
          </a:stretch>
        </p:blipFill>
        <p:spPr>
          <a:xfrm>
            <a:off x="1138989" y="1524000"/>
            <a:ext cx="4026569" cy="3336758"/>
          </a:xfrm>
          <a:prstGeom prst="rect">
            <a:avLst/>
          </a:prstGeom>
        </p:spPr>
      </p:pic>
      <p:pic>
        <p:nvPicPr>
          <p:cNvPr id="7" name="Picture 6">
            <a:extLst>
              <a:ext uri="{FF2B5EF4-FFF2-40B4-BE49-F238E27FC236}">
                <a16:creationId xmlns:a16="http://schemas.microsoft.com/office/drawing/2014/main" id="{7EE76F4B-F11D-00DD-0570-AB5A54813EC3}"/>
              </a:ext>
            </a:extLst>
          </p:cNvPr>
          <p:cNvPicPr>
            <a:picLocks noChangeAspect="1"/>
          </p:cNvPicPr>
          <p:nvPr/>
        </p:nvPicPr>
        <p:blipFill>
          <a:blip r:embed="rId3"/>
          <a:stretch>
            <a:fillRect/>
          </a:stretch>
        </p:blipFill>
        <p:spPr>
          <a:xfrm>
            <a:off x="5997991" y="930442"/>
            <a:ext cx="4814387" cy="4283242"/>
          </a:xfrm>
          <a:prstGeom prst="rect">
            <a:avLst/>
          </a:prstGeom>
        </p:spPr>
      </p:pic>
    </p:spTree>
    <p:extLst>
      <p:ext uri="{BB962C8B-B14F-4D97-AF65-F5344CB8AC3E}">
        <p14:creationId xmlns:p14="http://schemas.microsoft.com/office/powerpoint/2010/main" val="596183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D136-344F-2A8E-ABC2-C2561E8C9803}"/>
              </a:ext>
            </a:extLst>
          </p:cNvPr>
          <p:cNvSpPr>
            <a:spLocks noGrp="1"/>
          </p:cNvSpPr>
          <p:nvPr>
            <p:ph type="title"/>
          </p:nvPr>
        </p:nvSpPr>
        <p:spPr>
          <a:xfrm>
            <a:off x="0" y="18255"/>
            <a:ext cx="10515600" cy="831977"/>
          </a:xfrm>
        </p:spPr>
        <p:txBody>
          <a:bodyPr/>
          <a:lstStyle/>
          <a:p>
            <a:r>
              <a:rPr lang="en-GB" b="1" dirty="0"/>
              <a:t>Example Node C as root</a:t>
            </a:r>
            <a:endParaRPr lang="en-IN" b="1" dirty="0"/>
          </a:p>
        </p:txBody>
      </p:sp>
      <p:pic>
        <p:nvPicPr>
          <p:cNvPr id="5" name="Picture 4">
            <a:extLst>
              <a:ext uri="{FF2B5EF4-FFF2-40B4-BE49-F238E27FC236}">
                <a16:creationId xmlns:a16="http://schemas.microsoft.com/office/drawing/2014/main" id="{076BBB1E-C8C8-AF43-3E90-189D9BF1B917}"/>
              </a:ext>
            </a:extLst>
          </p:cNvPr>
          <p:cNvPicPr>
            <a:picLocks noChangeAspect="1"/>
          </p:cNvPicPr>
          <p:nvPr/>
        </p:nvPicPr>
        <p:blipFill>
          <a:blip r:embed="rId2"/>
          <a:stretch>
            <a:fillRect/>
          </a:stretch>
        </p:blipFill>
        <p:spPr>
          <a:xfrm>
            <a:off x="1676400" y="850232"/>
            <a:ext cx="9264316" cy="5791200"/>
          </a:xfrm>
          <a:prstGeom prst="rect">
            <a:avLst/>
          </a:prstGeom>
        </p:spPr>
      </p:pic>
    </p:spTree>
    <p:extLst>
      <p:ext uri="{BB962C8B-B14F-4D97-AF65-F5344CB8AC3E}">
        <p14:creationId xmlns:p14="http://schemas.microsoft.com/office/powerpoint/2010/main" val="25047680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80AA6-C518-0ABE-F464-8E292E2B9194}"/>
              </a:ext>
            </a:extLst>
          </p:cNvPr>
          <p:cNvSpPr>
            <a:spLocks noGrp="1"/>
          </p:cNvSpPr>
          <p:nvPr>
            <p:ph type="title"/>
          </p:nvPr>
        </p:nvSpPr>
        <p:spPr>
          <a:xfrm>
            <a:off x="0" y="44284"/>
            <a:ext cx="10515600" cy="757822"/>
          </a:xfrm>
        </p:spPr>
        <p:txBody>
          <a:bodyPr/>
          <a:lstStyle/>
          <a:p>
            <a:r>
              <a:rPr lang="en-GB" dirty="0"/>
              <a:t>Example</a:t>
            </a:r>
            <a:endParaRPr lang="en-IN" dirty="0"/>
          </a:p>
        </p:txBody>
      </p:sp>
      <p:pic>
        <p:nvPicPr>
          <p:cNvPr id="5" name="Picture 4">
            <a:extLst>
              <a:ext uri="{FF2B5EF4-FFF2-40B4-BE49-F238E27FC236}">
                <a16:creationId xmlns:a16="http://schemas.microsoft.com/office/drawing/2014/main" id="{2F0E6320-D8B4-20A4-768F-CA19748F6C26}"/>
              </a:ext>
            </a:extLst>
          </p:cNvPr>
          <p:cNvPicPr>
            <a:picLocks noChangeAspect="1"/>
          </p:cNvPicPr>
          <p:nvPr/>
        </p:nvPicPr>
        <p:blipFill>
          <a:blip r:embed="rId2"/>
          <a:stretch>
            <a:fillRect/>
          </a:stretch>
        </p:blipFill>
        <p:spPr>
          <a:xfrm>
            <a:off x="2037348" y="641684"/>
            <a:ext cx="8919410" cy="5743074"/>
          </a:xfrm>
          <a:prstGeom prst="rect">
            <a:avLst/>
          </a:prstGeom>
        </p:spPr>
      </p:pic>
    </p:spTree>
    <p:extLst>
      <p:ext uri="{BB962C8B-B14F-4D97-AF65-F5344CB8AC3E}">
        <p14:creationId xmlns:p14="http://schemas.microsoft.com/office/powerpoint/2010/main" val="3903763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4FE877-9B9C-1D65-F743-248DC22DEE41}"/>
              </a:ext>
            </a:extLst>
          </p:cNvPr>
          <p:cNvPicPr>
            <a:picLocks noChangeAspect="1"/>
          </p:cNvPicPr>
          <p:nvPr/>
        </p:nvPicPr>
        <p:blipFill>
          <a:blip r:embed="rId2"/>
          <a:stretch>
            <a:fillRect/>
          </a:stretch>
        </p:blipFill>
        <p:spPr>
          <a:xfrm>
            <a:off x="1588168" y="641684"/>
            <a:ext cx="8823158" cy="5807242"/>
          </a:xfrm>
          <a:prstGeom prst="rect">
            <a:avLst/>
          </a:prstGeom>
        </p:spPr>
      </p:pic>
    </p:spTree>
    <p:extLst>
      <p:ext uri="{BB962C8B-B14F-4D97-AF65-F5344CB8AC3E}">
        <p14:creationId xmlns:p14="http://schemas.microsoft.com/office/powerpoint/2010/main" val="30004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3C5D30-61C3-7F9B-62DF-928942DA73FB}"/>
              </a:ext>
            </a:extLst>
          </p:cNvPr>
          <p:cNvPicPr>
            <a:picLocks noChangeAspect="1"/>
          </p:cNvPicPr>
          <p:nvPr/>
        </p:nvPicPr>
        <p:blipFill>
          <a:blip r:embed="rId2"/>
          <a:stretch>
            <a:fillRect/>
          </a:stretch>
        </p:blipFill>
        <p:spPr>
          <a:xfrm>
            <a:off x="1475874" y="850232"/>
            <a:ext cx="9127958" cy="5550568"/>
          </a:xfrm>
          <a:prstGeom prst="rect">
            <a:avLst/>
          </a:prstGeom>
        </p:spPr>
      </p:pic>
    </p:spTree>
    <p:extLst>
      <p:ext uri="{BB962C8B-B14F-4D97-AF65-F5344CB8AC3E}">
        <p14:creationId xmlns:p14="http://schemas.microsoft.com/office/powerpoint/2010/main" val="2637204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1DD921-C378-E120-BB7E-9436C517D61E}"/>
              </a:ext>
            </a:extLst>
          </p:cNvPr>
          <p:cNvPicPr>
            <a:picLocks noChangeAspect="1"/>
          </p:cNvPicPr>
          <p:nvPr/>
        </p:nvPicPr>
        <p:blipFill>
          <a:blip r:embed="rId2"/>
          <a:stretch>
            <a:fillRect/>
          </a:stretch>
        </p:blipFill>
        <p:spPr>
          <a:xfrm>
            <a:off x="1" y="121068"/>
            <a:ext cx="5229726" cy="4700336"/>
          </a:xfrm>
          <a:prstGeom prst="rect">
            <a:avLst/>
          </a:prstGeom>
        </p:spPr>
      </p:pic>
      <p:pic>
        <p:nvPicPr>
          <p:cNvPr id="7" name="Picture 6">
            <a:extLst>
              <a:ext uri="{FF2B5EF4-FFF2-40B4-BE49-F238E27FC236}">
                <a16:creationId xmlns:a16="http://schemas.microsoft.com/office/drawing/2014/main" id="{79D9F774-8B79-25AF-B29F-54358F7DABD3}"/>
              </a:ext>
            </a:extLst>
          </p:cNvPr>
          <p:cNvPicPr>
            <a:picLocks noChangeAspect="1"/>
          </p:cNvPicPr>
          <p:nvPr/>
        </p:nvPicPr>
        <p:blipFill>
          <a:blip r:embed="rId3"/>
          <a:stretch>
            <a:fillRect/>
          </a:stretch>
        </p:blipFill>
        <p:spPr>
          <a:xfrm>
            <a:off x="7931067" y="0"/>
            <a:ext cx="4074695" cy="4700337"/>
          </a:xfrm>
          <a:prstGeom prst="rect">
            <a:avLst/>
          </a:prstGeom>
        </p:spPr>
      </p:pic>
      <p:pic>
        <p:nvPicPr>
          <p:cNvPr id="9" name="Picture 8">
            <a:extLst>
              <a:ext uri="{FF2B5EF4-FFF2-40B4-BE49-F238E27FC236}">
                <a16:creationId xmlns:a16="http://schemas.microsoft.com/office/drawing/2014/main" id="{55F52141-40F9-FDC4-1E7E-22F8DE106EEB}"/>
              </a:ext>
            </a:extLst>
          </p:cNvPr>
          <p:cNvPicPr>
            <a:picLocks noChangeAspect="1"/>
          </p:cNvPicPr>
          <p:nvPr/>
        </p:nvPicPr>
        <p:blipFill>
          <a:blip r:embed="rId4"/>
          <a:stretch>
            <a:fillRect/>
          </a:stretch>
        </p:blipFill>
        <p:spPr>
          <a:xfrm>
            <a:off x="5229727" y="3721768"/>
            <a:ext cx="3076575" cy="3136232"/>
          </a:xfrm>
          <a:prstGeom prst="rect">
            <a:avLst/>
          </a:prstGeom>
        </p:spPr>
      </p:pic>
    </p:spTree>
    <p:extLst>
      <p:ext uri="{BB962C8B-B14F-4D97-AF65-F5344CB8AC3E}">
        <p14:creationId xmlns:p14="http://schemas.microsoft.com/office/powerpoint/2010/main" val="1123290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30937D-DF70-FC6A-ABAF-AC38C1178991}"/>
              </a:ext>
            </a:extLst>
          </p:cNvPr>
          <p:cNvPicPr>
            <a:picLocks noGrp="1" noChangeAspect="1"/>
          </p:cNvPicPr>
          <p:nvPr>
            <p:ph idx="1"/>
          </p:nvPr>
        </p:nvPicPr>
        <p:blipFill>
          <a:blip r:embed="rId2"/>
          <a:stretch>
            <a:fillRect/>
          </a:stretch>
        </p:blipFill>
        <p:spPr>
          <a:xfrm>
            <a:off x="1012371" y="424543"/>
            <a:ext cx="10504715" cy="5998028"/>
          </a:xfrm>
        </p:spPr>
      </p:pic>
    </p:spTree>
    <p:extLst>
      <p:ext uri="{BB962C8B-B14F-4D97-AF65-F5344CB8AC3E}">
        <p14:creationId xmlns:p14="http://schemas.microsoft.com/office/powerpoint/2010/main" val="4183980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45E15846-8C77-49D9-13D7-CDD7B1F916C3}"/>
              </a:ext>
            </a:extLst>
          </p:cNvPr>
          <p:cNvPicPr>
            <a:picLocks noGrp="1" noChangeAspect="1"/>
          </p:cNvPicPr>
          <p:nvPr>
            <p:ph idx="1"/>
          </p:nvPr>
        </p:nvPicPr>
        <p:blipFill>
          <a:blip r:embed="rId2"/>
          <a:stretch>
            <a:fillRect/>
          </a:stretch>
        </p:blipFill>
        <p:spPr>
          <a:xfrm>
            <a:off x="751114" y="435429"/>
            <a:ext cx="10918372" cy="5856514"/>
          </a:xfrm>
        </p:spPr>
      </p:pic>
    </p:spTree>
    <p:extLst>
      <p:ext uri="{BB962C8B-B14F-4D97-AF65-F5344CB8AC3E}">
        <p14:creationId xmlns:p14="http://schemas.microsoft.com/office/powerpoint/2010/main" val="202515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264832-EF9F-FC64-6919-B3143A0C9CA3}"/>
              </a:ext>
            </a:extLst>
          </p:cNvPr>
          <p:cNvPicPr>
            <a:picLocks noGrp="1" noChangeAspect="1"/>
          </p:cNvPicPr>
          <p:nvPr>
            <p:ph idx="1"/>
          </p:nvPr>
        </p:nvPicPr>
        <p:blipFill>
          <a:blip r:embed="rId2"/>
          <a:stretch>
            <a:fillRect/>
          </a:stretch>
        </p:blipFill>
        <p:spPr>
          <a:xfrm>
            <a:off x="685801" y="468087"/>
            <a:ext cx="10863942" cy="5910942"/>
          </a:xfrm>
        </p:spPr>
      </p:pic>
    </p:spTree>
    <p:extLst>
      <p:ext uri="{BB962C8B-B14F-4D97-AF65-F5344CB8AC3E}">
        <p14:creationId xmlns:p14="http://schemas.microsoft.com/office/powerpoint/2010/main" val="1671238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3689</TotalTime>
  <Words>2034</Words>
  <Application>Microsoft Office PowerPoint</Application>
  <PresentationFormat>Widescreen</PresentationFormat>
  <Paragraphs>114</Paragraphs>
  <Slides>45</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45</vt:i4>
      </vt:variant>
    </vt:vector>
  </HeadingPairs>
  <TitlesOfParts>
    <vt:vector size="59" baseType="lpstr">
      <vt:lpstr>ＭＳ Ｐゴシック</vt:lpstr>
      <vt:lpstr>Arial</vt:lpstr>
      <vt:lpstr>Calibri</vt:lpstr>
      <vt:lpstr>Calibri Light</vt:lpstr>
      <vt:lpstr>CMMI10</vt:lpstr>
      <vt:lpstr>CMR10</vt:lpstr>
      <vt:lpstr>CMSS10</vt:lpstr>
      <vt:lpstr>CMSSBX10</vt:lpstr>
      <vt:lpstr>CMTI10</vt:lpstr>
      <vt:lpstr>Nunito Sans</vt:lpstr>
      <vt:lpstr>Source Sans Pro</vt:lpstr>
      <vt:lpstr>Times New Roman</vt:lpstr>
      <vt:lpstr>Verdana</vt:lpstr>
      <vt:lpstr>Office Theme</vt:lpstr>
      <vt:lpstr>Data Science UNIT-V  Prescriptive Analysis  </vt:lpstr>
      <vt:lpstr>   UNIT-1: Contents</vt:lpstr>
      <vt:lpstr>Graph Analytics</vt:lpstr>
      <vt:lpstr> Graph Analytics</vt:lpstr>
      <vt:lpstr> Types of Graph Analytics</vt:lpstr>
      <vt:lpstr>PowerPoint Presentation</vt:lpstr>
      <vt:lpstr>PowerPoint Presentation</vt:lpstr>
      <vt:lpstr>PowerPoint Presentation</vt:lpstr>
      <vt:lpstr>PowerPoint Presentation</vt:lpstr>
      <vt:lpstr>PowerPoint Presentation</vt:lpstr>
      <vt:lpstr>Social Networks as Graphs </vt:lpstr>
      <vt:lpstr>Social Networks as Graphs </vt:lpstr>
      <vt:lpstr>Social Networks as Graphs </vt:lpstr>
      <vt:lpstr>Social Networks as Graphs </vt:lpstr>
      <vt:lpstr>Clustering of Social-Network Graphs</vt:lpstr>
      <vt:lpstr>2. Applying Standard Clustering Methods</vt:lpstr>
      <vt:lpstr>PowerPoint Presentation</vt:lpstr>
      <vt:lpstr>PowerPoint Presentation</vt:lpstr>
      <vt:lpstr>PowerPoint Presentation</vt:lpstr>
      <vt:lpstr>PowerPoint Presentation</vt:lpstr>
      <vt:lpstr>Girvan Newman Algorithm</vt:lpstr>
      <vt:lpstr>PowerPoint Presentation</vt:lpstr>
      <vt:lpstr>Girvan Newman Algorithm</vt:lpstr>
      <vt:lpstr>PowerPoint Presentation</vt:lpstr>
      <vt:lpstr>PowerPoint Presentation</vt:lpstr>
      <vt:lpstr>PowerPoint Presentation</vt:lpstr>
      <vt:lpstr>PowerPoint Presentation</vt:lpstr>
      <vt:lpstr>PowerPoint Presentation</vt:lpstr>
      <vt:lpstr>PowerPoint Presentation</vt:lpstr>
      <vt:lpstr>Example: Find community detection for given graph</vt:lpstr>
      <vt:lpstr>PowerPoint Presentation</vt:lpstr>
      <vt:lpstr>PowerPoint Presentation</vt:lpstr>
      <vt:lpstr>PowerPoint Presentation</vt:lpstr>
      <vt:lpstr>IInd- iteration</vt:lpstr>
      <vt:lpstr>PowerPoint Presentation</vt:lpstr>
      <vt:lpstr>Example: </vt:lpstr>
      <vt:lpstr>Example: cont…..</vt:lpstr>
      <vt:lpstr>Example Node C as root</vt:lpstr>
      <vt:lpstr>Example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DS-UNIT-1  Data Preprocessing -Data Cleaning, Data Integration, Data Reduction, Data Transformation and Data Discretization, </dc:title>
  <dc:creator>K Dhanasree</dc:creator>
  <cp:lastModifiedBy>SIddhartha Institutions</cp:lastModifiedBy>
  <cp:revision>119</cp:revision>
  <cp:lastPrinted>2024-10-22T04:35:21Z</cp:lastPrinted>
  <dcterms:created xsi:type="dcterms:W3CDTF">2021-02-20T06:42:21Z</dcterms:created>
  <dcterms:modified xsi:type="dcterms:W3CDTF">2026-10-11T09:43:47Z</dcterms:modified>
</cp:coreProperties>
</file>