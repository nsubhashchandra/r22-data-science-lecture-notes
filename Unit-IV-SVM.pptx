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9" r:id="rId3"/>
    <p:sldId id="281" r:id="rId4"/>
    <p:sldId id="282" r:id="rId5"/>
    <p:sldId id="283" r:id="rId6"/>
    <p:sldId id="287" r:id="rId7"/>
    <p:sldId id="285" r:id="rId8"/>
    <p:sldId id="284" r:id="rId9"/>
    <p:sldId id="289" r:id="rId10"/>
    <p:sldId id="288" r:id="rId11"/>
    <p:sldId id="293" r:id="rId12"/>
    <p:sldId id="292" r:id="rId13"/>
    <p:sldId id="301" r:id="rId14"/>
    <p:sldId id="305" r:id="rId15"/>
    <p:sldId id="304" r:id="rId16"/>
    <p:sldId id="310" r:id="rId17"/>
    <p:sldId id="311" r:id="rId18"/>
    <p:sldId id="302" r:id="rId19"/>
    <p:sldId id="306" r:id="rId20"/>
    <p:sldId id="307" r:id="rId21"/>
    <p:sldId id="309" r:id="rId22"/>
    <p:sldId id="295" r:id="rId23"/>
    <p:sldId id="299" r:id="rId24"/>
    <p:sldId id="298" r:id="rId25"/>
    <p:sldId id="296" r:id="rId26"/>
    <p:sldId id="300" r:id="rId27"/>
    <p:sldId id="275" r:id="rId28"/>
    <p:sldId id="26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E5997-A0B0-49BE-8E56-B04EB2CFB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94B1A-8EEF-4A0F-B8AF-6F3983CFD8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A2C58-7AD9-40BE-B479-0FEFA034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D064F-639A-4B9B-84FD-1AFCE603E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2A1D9-4D45-4A55-BCDA-C6BA2C7C3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89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50A56-D242-430D-8D9E-D0E41330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7696C-B0B8-45E9-ABF2-47AB284D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E0B33-64E2-4036-ADF0-C33A9485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772EF-EF8B-4B0D-8FB1-C46E74DB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90DCD-FB30-4CFC-9A14-3693061E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0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FA5F8-0975-48C5-BA03-76DC5E562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8359C-A17E-4FF0-BBB1-E1F2B178C0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018DE-B294-4FB1-9671-7F934759E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DF7AD-0EFE-41BB-B317-106F76F79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A4B43-425D-4DD7-9242-0C9B1427A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04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61719-806B-4B7A-BEC1-B2B97F3B6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35BDD-BC52-4A1F-8CBA-C726FDC576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58A04A-ED7F-4623-9932-1C2A3CAD3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0B4F2-9A99-4001-84EC-762B39FCA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CC186-0DAE-4373-8F29-13A2BA7F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D6CCF2-2282-4350-8A44-4C7DF4F2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212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82F5-0782-4636-8825-385A4683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39DB5-3C29-4D4D-A82A-74775D5B4E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C7B08-D982-443B-91EF-C3F08DF6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E3AF24-AFEE-4E52-BEDD-908EBCEE0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F664CA-C8F0-47E1-AE17-639C6BC4F3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E92A3-18DC-46FE-A948-D0148E9F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A1B458-4036-4004-AE08-C73205F7A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19A10D-F137-4B7F-95CE-248FEE10D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99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67F32-162B-4DF7-B50A-5BB59604E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38008-F387-41F7-B488-8EB77875C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770585-C7A7-4A8C-BF53-4F4E9A955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1A71F5-253D-45A6-9DCE-EDC6CFD36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6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4225E1-4C4E-4D01-8DA6-8E9A2E4B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5C4BC-A5E1-412F-85F9-FCCAE0D07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1135C-83C2-4E72-A1F8-AF52EEBB9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73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3DBF-566F-4749-9B50-AA78ABB6C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4CCDD-4954-4237-8A9B-8588A8CF7D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546CC0-A9A7-493F-BFEC-110D6B9B9C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AE93B-5762-476B-84E8-DF81619EC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1F6435-B55F-4930-AA79-E5C6E018C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43381-1235-4178-9D0F-87556CE4F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6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31637-5314-4D61-82CD-517CEC504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27F3D-FED0-4BBA-AAA5-FF724A2575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727D3-8922-48CC-92AA-224917CB7E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40206-914A-48D5-A2E6-E6F1EBDB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96DBE-D6B6-4633-8DF9-254100D28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40843-7BDF-4FE4-B4BA-38A84139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6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FD5E2-E3D8-40A2-9D77-36B9A15A8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A892A-7D6F-41EB-ACB3-D8F2B8D8A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8754D-6652-4B7B-9CD0-49ECA10B9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3B508-5BC0-4DDA-9FC3-146B52CE2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D6C6A-FED1-479F-A9BF-B7BC991AB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8673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1184BC-98E8-4CE0-A0CD-B042218604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65AAA6-DE04-4B73-BECC-E2D7D7A61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B4DCB5-7137-4159-A377-A70CFB9B4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1203-E569-47F5-AFFF-15C193CD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C7649-FFC5-4E0D-9C07-28C6C457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938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554ADD-3969-49F1-9A60-5F7341C3D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2ED2F-BBF7-4F3D-8FE7-0DFF0C235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29BCA-208A-4C7C-94E6-0380C7F94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59623-D2A0-45B1-8BC7-87F8FA7C28C7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C2D8C-3588-4B51-AA7C-CD6F53004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5BACF-62BF-4431-97CF-962FB42FCC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B0B506-7189-4F28-A25E-95A094F331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765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B563-803C-4BC2-9684-052C932676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60228"/>
            <a:ext cx="9144000" cy="2387600"/>
          </a:xfrm>
        </p:spPr>
        <p:txBody>
          <a:bodyPr/>
          <a:lstStyle/>
          <a:p>
            <a:r>
              <a:rPr lang="en-GB" b="1" dirty="0"/>
              <a:t>Data Science </a:t>
            </a:r>
            <a:br>
              <a:rPr lang="en-GB" b="1" dirty="0"/>
            </a:br>
            <a:r>
              <a:rPr lang="en-GB" b="1" dirty="0"/>
              <a:t>Unit-IV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D4B5E-212D-4E7C-B169-F381BC05D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48122"/>
            <a:ext cx="9144000" cy="1655762"/>
          </a:xfrm>
        </p:spPr>
        <p:txBody>
          <a:bodyPr>
            <a:normAutofit/>
          </a:bodyPr>
          <a:lstStyle/>
          <a:p>
            <a:r>
              <a:rPr lang="en-GB" sz="3200" b="1" dirty="0"/>
              <a:t>Support Vector Machine (SVM) </a:t>
            </a:r>
          </a:p>
          <a:p>
            <a:r>
              <a:rPr lang="en-GB" sz="3200" b="1" dirty="0"/>
              <a:t>Classifier</a:t>
            </a:r>
          </a:p>
          <a:p>
            <a:endParaRPr lang="en-US" sz="32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E5947B-ACCC-42F0-ABCD-F37F9A23F3D3}"/>
              </a:ext>
            </a:extLst>
          </p:cNvPr>
          <p:cNvSpPr/>
          <p:nvPr/>
        </p:nvSpPr>
        <p:spPr>
          <a:xfrm>
            <a:off x="119270" y="106017"/>
            <a:ext cx="11926956" cy="662608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9E5AB2-E0C8-C256-6D79-8C0C3FE697ED}"/>
              </a:ext>
            </a:extLst>
          </p:cNvPr>
          <p:cNvSpPr txBox="1"/>
          <p:nvPr/>
        </p:nvSpPr>
        <p:spPr>
          <a:xfrm>
            <a:off x="968992" y="4796346"/>
            <a:ext cx="1038812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b="1" dirty="0"/>
              <a:t>The Support Vector Machine (SVM) classifier was invented by Vladimir </a:t>
            </a:r>
            <a:r>
              <a:rPr lang="en-GB" sz="2000" b="1" dirty="0" err="1"/>
              <a:t>Vapnik</a:t>
            </a:r>
            <a:r>
              <a:rPr lang="en-GB" sz="2000" b="1" dirty="0"/>
              <a:t> and his colleague Alexey </a:t>
            </a:r>
            <a:r>
              <a:rPr lang="en-GB" sz="2000" b="1" dirty="0" err="1"/>
              <a:t>Chervonenkis</a:t>
            </a:r>
            <a:r>
              <a:rPr lang="en-GB" sz="2000" b="1" dirty="0"/>
              <a:t> in the 1960s while working at the Institute of Control Sciences in Moscow.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5741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1B67-F70C-4077-9F2A-76181353E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139148"/>
            <a:ext cx="10515600" cy="1325563"/>
          </a:xfrm>
        </p:spPr>
        <p:txBody>
          <a:bodyPr/>
          <a:lstStyle/>
          <a:p>
            <a:r>
              <a:rPr lang="en-US" b="0" i="0" dirty="0">
                <a:solidFill>
                  <a:srgbClr val="610B38"/>
                </a:solidFill>
                <a:effectLst/>
                <a:latin typeface="erdana"/>
              </a:rPr>
              <a:t>Support Vector Machine </a:t>
            </a:r>
            <a:br>
              <a:rPr lang="en-US" b="0" i="0" dirty="0">
                <a:solidFill>
                  <a:srgbClr val="610B38"/>
                </a:solidFill>
                <a:effectLst/>
                <a:latin typeface="erdana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3047E-F043-4C54-806A-4089C869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002" y="1418353"/>
            <a:ext cx="6808304" cy="4827702"/>
          </a:xfrm>
        </p:spPr>
        <p:txBody>
          <a:bodyPr>
            <a:normAutofit/>
          </a:bodyPr>
          <a:lstStyle/>
          <a:p>
            <a:pPr algn="just"/>
            <a:r>
              <a:rPr lang="en-GB" sz="2400" b="0" i="0" dirty="0">
                <a:solidFill>
                  <a:srgbClr val="000000"/>
                </a:solidFill>
                <a:effectLst/>
              </a:rPr>
              <a:t>It is </a:t>
            </a:r>
            <a:r>
              <a:rPr lang="en-GB" sz="2400" b="1" i="0" dirty="0">
                <a:solidFill>
                  <a:srgbClr val="000000"/>
                </a:solidFill>
                <a:effectLst/>
              </a:rPr>
              <a:t>Supervised Learning 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algorithms.</a:t>
            </a:r>
          </a:p>
          <a:p>
            <a:pPr algn="just"/>
            <a:r>
              <a:rPr lang="en-GB" sz="2400" dirty="0">
                <a:solidFill>
                  <a:srgbClr val="000000"/>
                </a:solidFill>
              </a:rPr>
              <a:t>It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 is used for Classification as well as Regression problems. </a:t>
            </a:r>
          </a:p>
          <a:p>
            <a:pPr algn="just"/>
            <a:r>
              <a:rPr lang="en-GB" sz="2400" b="0" i="0" dirty="0">
                <a:solidFill>
                  <a:srgbClr val="000000"/>
                </a:solidFill>
                <a:effectLst/>
              </a:rPr>
              <a:t>The goal of the SVM algorithm is to create the best line or </a:t>
            </a:r>
            <a:r>
              <a:rPr lang="en-GB" sz="2400" b="1" i="0" dirty="0">
                <a:solidFill>
                  <a:srgbClr val="000000"/>
                </a:solidFill>
                <a:effectLst/>
              </a:rPr>
              <a:t>decision boundary 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that can segregate n-dimensional space into classes.</a:t>
            </a:r>
          </a:p>
          <a:p>
            <a:pPr algn="just"/>
            <a:r>
              <a:rPr lang="en-GB" sz="2400" b="0" i="0" dirty="0">
                <a:solidFill>
                  <a:srgbClr val="000000"/>
                </a:solidFill>
                <a:effectLst/>
              </a:rPr>
              <a:t>This best decision boundary is called a </a:t>
            </a:r>
            <a:r>
              <a:rPr lang="en-GB" sz="2400" b="1" i="0" dirty="0">
                <a:solidFill>
                  <a:srgbClr val="000000"/>
                </a:solidFill>
                <a:effectLst/>
              </a:rPr>
              <a:t>hyperplane.</a:t>
            </a:r>
          </a:p>
          <a:p>
            <a:pPr algn="just"/>
            <a:r>
              <a:rPr lang="en-GB" sz="2400" b="0" i="0" dirty="0">
                <a:solidFill>
                  <a:srgbClr val="000000"/>
                </a:solidFill>
                <a:effectLst/>
              </a:rPr>
              <a:t>SVM chooses the </a:t>
            </a:r>
            <a:r>
              <a:rPr lang="en-GB" sz="2400" b="1" i="0" dirty="0">
                <a:solidFill>
                  <a:srgbClr val="000000"/>
                </a:solidFill>
                <a:effectLst/>
              </a:rPr>
              <a:t>extreme points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/vectors that help in creating the hyperplane. </a:t>
            </a:r>
          </a:p>
          <a:p>
            <a:pPr algn="just"/>
            <a:r>
              <a:rPr lang="en-GB" sz="2400" b="0" i="0" dirty="0">
                <a:solidFill>
                  <a:srgbClr val="000000"/>
                </a:solidFill>
                <a:effectLst/>
              </a:rPr>
              <a:t>These extreme cases are called as </a:t>
            </a:r>
            <a:r>
              <a:rPr lang="en-GB" sz="2400" b="1" i="0" dirty="0">
                <a:solidFill>
                  <a:srgbClr val="000000"/>
                </a:solidFill>
                <a:effectLst/>
              </a:rPr>
              <a:t>support vectors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, and hence algorithm is termed as Support Vector Machine.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 descr="Diagram, schematic&#10;&#10;Description automatically generated">
            <a:extLst>
              <a:ext uri="{FF2B5EF4-FFF2-40B4-BE49-F238E27FC236}">
                <a16:creationId xmlns:a16="http://schemas.microsoft.com/office/drawing/2014/main" id="{A228068F-DAA9-4FB5-890E-1262A96CED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0"/>
          <a:stretch/>
        </p:blipFill>
        <p:spPr>
          <a:xfrm>
            <a:off x="7427743" y="1690688"/>
            <a:ext cx="4287179" cy="407900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85AE5A1-FE70-4CE9-9AE9-2669345FBD90}"/>
              </a:ext>
            </a:extLst>
          </p:cNvPr>
          <p:cNvSpPr/>
          <p:nvPr/>
        </p:nvSpPr>
        <p:spPr>
          <a:xfrm>
            <a:off x="166468" y="158261"/>
            <a:ext cx="11859065" cy="6541477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3201FC-2C50-434C-BF51-302048EE58E5}"/>
              </a:ext>
            </a:extLst>
          </p:cNvPr>
          <p:cNvCxnSpPr/>
          <p:nvPr/>
        </p:nvCxnSpPr>
        <p:spPr>
          <a:xfrm>
            <a:off x="166468" y="984176"/>
            <a:ext cx="11859065" cy="0"/>
          </a:xfrm>
          <a:prstGeom prst="line">
            <a:avLst/>
          </a:prstGeom>
          <a:ln w="762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634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C5D02-9805-4AAC-B70C-8CA7F5E95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93457"/>
            <a:ext cx="11714921" cy="1325563"/>
          </a:xfrm>
        </p:spPr>
        <p:txBody>
          <a:bodyPr>
            <a:normAutofit fontScale="90000"/>
          </a:bodyPr>
          <a:lstStyle/>
          <a:p>
            <a:r>
              <a:rPr lang="en-GB" b="0" i="0" dirty="0">
                <a:solidFill>
                  <a:srgbClr val="610B4B"/>
                </a:solidFill>
                <a:effectLst/>
                <a:latin typeface="erdana"/>
              </a:rPr>
              <a:t>Hyperplane and Support Vectors in the SVM algorithm:</a:t>
            </a:r>
            <a:br>
              <a:rPr lang="en-GB" b="0" i="0" dirty="0">
                <a:solidFill>
                  <a:srgbClr val="610B4B"/>
                </a:solidFill>
                <a:effectLst/>
                <a:latin typeface="erdana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DD1CE-9FE9-4D4D-B8EF-3F24DA809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816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GB" sz="2400" b="1" i="0" dirty="0">
                <a:solidFill>
                  <a:srgbClr val="000000"/>
                </a:solidFill>
                <a:effectLst/>
              </a:rPr>
              <a:t>Hyperplane: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 There can be multiple lines/decision boundaries to segregate the classes in n-dimensional space, but we need to find out the best decision boundary that helps to classify the data points. This best boundary is known as the hyperplane of SVM.</a:t>
            </a:r>
          </a:p>
          <a:p>
            <a:pPr algn="just"/>
            <a:r>
              <a:rPr lang="en-GB" sz="2400" b="0" i="0" dirty="0">
                <a:solidFill>
                  <a:srgbClr val="000000"/>
                </a:solidFill>
                <a:effectLst/>
              </a:rPr>
              <a:t>The dimensions of the hyperplane depend on the features present in the dataset, which means if there are 2 features (as shown in image), then hyperplane will be a straight line. And if there are 3 features, then hyperplane will be a 2-dimension plane.</a:t>
            </a:r>
          </a:p>
          <a:p>
            <a:pPr algn="just"/>
            <a:r>
              <a:rPr lang="en-GB" sz="2400" b="1" i="0" dirty="0">
                <a:solidFill>
                  <a:srgbClr val="000000"/>
                </a:solidFill>
                <a:effectLst/>
              </a:rPr>
              <a:t>Goal: </a:t>
            </a:r>
            <a:r>
              <a:rPr lang="en-GB" sz="2400" dirty="0">
                <a:solidFill>
                  <a:srgbClr val="000000"/>
                </a:solidFill>
              </a:rPr>
              <a:t>A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lways create a hyperplane that has a </a:t>
            </a:r>
            <a:r>
              <a:rPr lang="en-GB" sz="2400" b="1" i="0" dirty="0">
                <a:solidFill>
                  <a:srgbClr val="000000"/>
                </a:solidFill>
                <a:effectLst/>
              </a:rPr>
              <a:t>maximum margin</a:t>
            </a:r>
            <a:r>
              <a:rPr lang="en-GB" sz="2400" b="0" i="0" dirty="0">
                <a:solidFill>
                  <a:srgbClr val="000000"/>
                </a:solidFill>
                <a:effectLst/>
              </a:rPr>
              <a:t>, which means the maximum distance between the data points.</a:t>
            </a:r>
          </a:p>
          <a:p>
            <a:pPr algn="just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8F0DAE-2580-49BD-B4FB-6E5A17F02508}"/>
              </a:ext>
            </a:extLst>
          </p:cNvPr>
          <p:cNvSpPr/>
          <p:nvPr/>
        </p:nvSpPr>
        <p:spPr>
          <a:xfrm>
            <a:off x="106017" y="159026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80409FC-5A6B-494B-8661-41C1A68ED0F5}"/>
              </a:ext>
            </a:extLst>
          </p:cNvPr>
          <p:cNvCxnSpPr/>
          <p:nvPr/>
        </p:nvCxnSpPr>
        <p:spPr>
          <a:xfrm>
            <a:off x="106017" y="980660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4010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A6BD8557-86E0-4501-BE08-AD7D82C11D3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04" r="4" b="15925"/>
          <a:stretch/>
        </p:blipFill>
        <p:spPr>
          <a:xfrm>
            <a:off x="2817006" y="2958847"/>
            <a:ext cx="2890634" cy="259912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1242625-21BD-4EAE-A28C-B6D5CB2337F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73" r="4" b="7298"/>
          <a:stretch/>
        </p:blipFill>
        <p:spPr>
          <a:xfrm>
            <a:off x="5985725" y="3269378"/>
            <a:ext cx="2728712" cy="2443851"/>
          </a:xfrm>
          <a:custGeom>
            <a:avLst/>
            <a:gdLst/>
            <a:ahLst/>
            <a:cxnLst/>
            <a:rect l="l" t="t" r="r" b="b"/>
            <a:pathLst>
              <a:path w="4810310" h="3401568">
                <a:moveTo>
                  <a:pt x="781270" y="0"/>
                </a:moveTo>
                <a:lnTo>
                  <a:pt x="4810310" y="0"/>
                </a:lnTo>
                <a:lnTo>
                  <a:pt x="4810310" y="3401568"/>
                </a:lnTo>
                <a:lnTo>
                  <a:pt x="0" y="3401568"/>
                </a:lnTo>
                <a:lnTo>
                  <a:pt x="1963" y="3397912"/>
                </a:lnTo>
                <a:cubicBezTo>
                  <a:pt x="454182" y="2512619"/>
                  <a:pt x="736170" y="1430108"/>
                  <a:pt x="776876" y="254399"/>
                </a:cubicBezTo>
                <a:close/>
              </a:path>
            </a:pathLst>
          </a:cu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0EF310E-2BEC-4B7B-A440-7E40A6422F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43" r="-3" b="10006"/>
          <a:stretch/>
        </p:blipFill>
        <p:spPr>
          <a:xfrm>
            <a:off x="9179921" y="3424631"/>
            <a:ext cx="2461847" cy="2133344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54FD401-4275-4D2E-ABC6-783C53D37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69" y="34695"/>
            <a:ext cx="8163109" cy="1325563"/>
          </a:xfrm>
        </p:spPr>
        <p:txBody>
          <a:bodyPr>
            <a:normAutofit/>
          </a:bodyPr>
          <a:lstStyle/>
          <a:p>
            <a:r>
              <a:rPr lang="en-US" sz="3200" b="1" i="0" dirty="0">
                <a:effectLst/>
              </a:rPr>
              <a:t>Support Vector Machine-Types</a:t>
            </a:r>
            <a:br>
              <a:rPr lang="en-US" sz="3200" b="1" i="0" dirty="0">
                <a:effectLst/>
              </a:rPr>
            </a:br>
            <a:endParaRPr lang="en-US" sz="3200" b="1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CF1822C-24D6-4E4E-AC5D-965573934A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787" y="1010785"/>
            <a:ext cx="10988111" cy="1761957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sz="2000" b="1" dirty="0">
                <a:effectLst/>
              </a:rPr>
              <a:t>Linear SVM:</a:t>
            </a:r>
            <a:r>
              <a:rPr lang="en-GB" sz="2000" b="0" dirty="0">
                <a:effectLst/>
              </a:rPr>
              <a:t> A dataset can be classified into two classes by using a single straight line, then such data is termed as linearly separable data, and classifier is used called as Linear SVM classifier.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sz="2000" b="1" dirty="0">
                <a:effectLst/>
              </a:rPr>
              <a:t>Non-linear SVM:</a:t>
            </a:r>
            <a:r>
              <a:rPr lang="en-GB" sz="2000" b="0" dirty="0">
                <a:effectLst/>
              </a:rPr>
              <a:t> A dataset cannot be classified by using a straight line, then such data is termed as non-linear data and classifier used is called as Non-linear SVM classifier.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6F99F09-74E5-4A12-89B0-235D83408F2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76" t="13698" r="4" b="11856"/>
          <a:stretch/>
        </p:blipFill>
        <p:spPr>
          <a:xfrm>
            <a:off x="415183" y="3315807"/>
            <a:ext cx="2392342" cy="2242168"/>
          </a:xfrm>
          <a:custGeom>
            <a:avLst/>
            <a:gdLst/>
            <a:ahLst/>
            <a:cxnLst/>
            <a:rect l="l" t="t" r="r" b="b"/>
            <a:pathLst>
              <a:path w="4787628" h="3401568">
                <a:moveTo>
                  <a:pt x="0" y="0"/>
                </a:moveTo>
                <a:lnTo>
                  <a:pt x="4787628" y="0"/>
                </a:lnTo>
                <a:lnTo>
                  <a:pt x="4787628" y="3401568"/>
                </a:lnTo>
                <a:lnTo>
                  <a:pt x="762748" y="3401568"/>
                </a:lnTo>
                <a:lnTo>
                  <a:pt x="751436" y="2963954"/>
                </a:lnTo>
                <a:cubicBezTo>
                  <a:pt x="698408" y="1942163"/>
                  <a:pt x="463174" y="995044"/>
                  <a:pt x="93264" y="192283"/>
                </a:cubicBezTo>
                <a:close/>
              </a:path>
            </a:pathLst>
          </a:cu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D988B50-D394-446C-A3A5-73DE541E2B06}"/>
              </a:ext>
            </a:extLst>
          </p:cNvPr>
          <p:cNvSpPr/>
          <p:nvPr/>
        </p:nvSpPr>
        <p:spPr>
          <a:xfrm>
            <a:off x="106017" y="132522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48E53F8-DB4C-4FC6-B267-9DCD2A4E35CB}"/>
              </a:ext>
            </a:extLst>
          </p:cNvPr>
          <p:cNvCxnSpPr/>
          <p:nvPr/>
        </p:nvCxnSpPr>
        <p:spPr>
          <a:xfrm>
            <a:off x="106017" y="954156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32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2A876-C9CA-4CA2-B219-0A1F38146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883" y="1"/>
            <a:ext cx="5669133" cy="1012874"/>
          </a:xfrm>
        </p:spPr>
        <p:txBody>
          <a:bodyPr/>
          <a:lstStyle/>
          <a:p>
            <a:r>
              <a:rPr lang="en-GB" b="1" dirty="0"/>
              <a:t>SVM How it works?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D586A78-AA5C-4399-A5BE-66F797EE8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24083" b="6372"/>
          <a:stretch/>
        </p:blipFill>
        <p:spPr>
          <a:xfrm>
            <a:off x="834072" y="1132144"/>
            <a:ext cx="7301946" cy="1782215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FE7620-7DD5-428B-91F4-E205F7353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072" y="3298362"/>
            <a:ext cx="5845024" cy="29800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24CAB4E-2FCA-4449-A820-AEEB4FB25D7A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BCEF80-6AA0-40EB-B441-0A66F372F8E2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AC2678A6-F14D-45A8-9E16-A571C097C2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1060" y="3033628"/>
            <a:ext cx="4936454" cy="314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93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CE048-1521-414E-AD54-98D54BBD5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0"/>
            <a:ext cx="10515600" cy="1325563"/>
          </a:xfrm>
        </p:spPr>
        <p:txBody>
          <a:bodyPr/>
          <a:lstStyle/>
          <a:p>
            <a:r>
              <a:rPr lang="en-GB" b="1" dirty="0"/>
              <a:t>SVM Model</a:t>
            </a:r>
            <a:endParaRPr lang="en-US" b="1" dirty="0"/>
          </a:p>
        </p:txBody>
      </p:sp>
      <p:pic>
        <p:nvPicPr>
          <p:cNvPr id="5" name="Content Placeholder 4" descr="A picture containing text, sky, antenna&#10;&#10;Description automatically generated">
            <a:extLst>
              <a:ext uri="{FF2B5EF4-FFF2-40B4-BE49-F238E27FC236}">
                <a16:creationId xmlns:a16="http://schemas.microsoft.com/office/drawing/2014/main" id="{E980EC20-44A2-4DAB-88CA-6A01C9178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561" y="1550503"/>
            <a:ext cx="7776561" cy="3955937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255CEC4-E8D6-4A91-A66A-765AAEEBDE6F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8F70EFF-8727-4681-BB7B-53174CE660CF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121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14F2E-D5C9-4ACC-A0CD-BBD653F4C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45067"/>
            <a:ext cx="10515600" cy="801066"/>
          </a:xfrm>
        </p:spPr>
        <p:txBody>
          <a:bodyPr/>
          <a:lstStyle/>
          <a:p>
            <a:r>
              <a:rPr lang="en-GB" b="1" dirty="0"/>
              <a:t>Advantages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0A80AB-B7A4-4BB8-91D7-91C087E091CA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EC733A8-CD07-4972-A83B-B7CE2C9EB79D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A59EF1D-9917-A05E-0263-BE86B2F06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3982" y="1373043"/>
            <a:ext cx="9441872" cy="4351338"/>
          </a:xfrm>
        </p:spPr>
        <p:txBody>
          <a:bodyPr>
            <a:normAutofit fontScale="92500"/>
          </a:bodyPr>
          <a:lstStyle/>
          <a:p>
            <a:pPr algn="just" fontAlgn="base"/>
            <a:r>
              <a:rPr lang="en-GB" dirty="0"/>
              <a:t>Support vector machine is very effective even with high dimensional data.</a:t>
            </a:r>
          </a:p>
          <a:p>
            <a:pPr algn="just" fontAlgn="base"/>
            <a:r>
              <a:rPr lang="en-GB" dirty="0"/>
              <a:t>When you have a data set where number of features is more than the number of rows of data, SVM can perform in that case as well.</a:t>
            </a:r>
          </a:p>
          <a:p>
            <a:pPr algn="just" fontAlgn="base"/>
            <a:r>
              <a:rPr lang="en-GB" dirty="0"/>
              <a:t>When classes in the data are points are well separated SVM works really well.</a:t>
            </a:r>
          </a:p>
          <a:p>
            <a:pPr algn="just" fontAlgn="base"/>
            <a:r>
              <a:rPr lang="en-GB" dirty="0"/>
              <a:t>SVM can be used for both regression and classification problem.</a:t>
            </a:r>
          </a:p>
          <a:p>
            <a:pPr algn="just" fontAlgn="base"/>
            <a:r>
              <a:rPr lang="en-GB" dirty="0"/>
              <a:t>And last but not the least SVM can work well with image data as well.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81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24E77-16F3-4539-84B9-827650180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6100"/>
            <a:ext cx="10515600" cy="933588"/>
          </a:xfrm>
        </p:spPr>
        <p:txBody>
          <a:bodyPr/>
          <a:lstStyle/>
          <a:p>
            <a:r>
              <a:rPr lang="en-GB" b="1" dirty="0"/>
              <a:t>Disadvantages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61D537-EC8B-4F44-8E58-8BE0DEDEA092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ED7A486-5239-4A90-AE3B-F614819A3D72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067711D-5CE3-EF73-32AA-776CBD796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6817" y="1565758"/>
            <a:ext cx="9647383" cy="4351338"/>
          </a:xfrm>
        </p:spPr>
        <p:txBody>
          <a:bodyPr/>
          <a:lstStyle/>
          <a:p>
            <a:pPr algn="just" fontAlgn="base"/>
            <a:r>
              <a:rPr lang="en-GB" dirty="0"/>
              <a:t>When classes in the data are points are not well separated, which means overlapping classes are there, SVM does not perform well.</a:t>
            </a:r>
          </a:p>
          <a:p>
            <a:pPr algn="just" fontAlgn="base"/>
            <a:r>
              <a:rPr lang="en-GB" dirty="0"/>
              <a:t>SVM on large data set comparatively takes more time to train.</a:t>
            </a:r>
          </a:p>
          <a:p>
            <a:pPr algn="just" fontAlgn="base"/>
            <a:r>
              <a:rPr lang="en-GB" dirty="0"/>
              <a:t>SVM or Support vector machine is not a probabilistic model so we can not explanation the classification in terms of probability.</a:t>
            </a:r>
          </a:p>
          <a:p>
            <a:pPr algn="just" fontAlgn="base"/>
            <a:r>
              <a:rPr lang="en-GB" dirty="0"/>
              <a:t>It is difficult to understand and interpret the SVM model compared to Decision tree as SVM is more complex.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6388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A4B45-10BC-41D1-ADAF-F2AF4DD7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4" y="0"/>
            <a:ext cx="5800731" cy="1325563"/>
          </a:xfrm>
        </p:spPr>
        <p:txBody>
          <a:bodyPr/>
          <a:lstStyle/>
          <a:p>
            <a:r>
              <a:rPr lang="en-GB" b="1" dirty="0"/>
              <a:t>Linear SVM : Example</a:t>
            </a:r>
            <a:endParaRPr lang="en-US" b="1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00E2337F-BBEA-4D77-B6B0-3CB3B6197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4" y="4006130"/>
            <a:ext cx="6443003" cy="2712721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471506-35E8-4FCD-BAAA-1407A9C21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0967" y="1286070"/>
            <a:ext cx="5050302" cy="428585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8B89849-2E21-4323-8208-752A5BF8E313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7703A1-E8B4-4F67-B378-78216F83BF94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CDEC51-E754-6A17-BF27-FAA5415988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830271"/>
              </p:ext>
            </p:extLst>
          </p:nvPr>
        </p:nvGraphicFramePr>
        <p:xfrm>
          <a:off x="132522" y="1060175"/>
          <a:ext cx="2021385" cy="2945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795">
                  <a:extLst>
                    <a:ext uri="{9D8B030D-6E8A-4147-A177-3AD203B41FA5}">
                      <a16:colId xmlns:a16="http://schemas.microsoft.com/office/drawing/2014/main" val="1468101090"/>
                    </a:ext>
                  </a:extLst>
                </a:gridCol>
                <a:gridCol w="673795">
                  <a:extLst>
                    <a:ext uri="{9D8B030D-6E8A-4147-A177-3AD203B41FA5}">
                      <a16:colId xmlns:a16="http://schemas.microsoft.com/office/drawing/2014/main" val="2996714439"/>
                    </a:ext>
                  </a:extLst>
                </a:gridCol>
                <a:gridCol w="673795">
                  <a:extLst>
                    <a:ext uri="{9D8B030D-6E8A-4147-A177-3AD203B41FA5}">
                      <a16:colId xmlns:a16="http://schemas.microsoft.com/office/drawing/2014/main" val="1738734668"/>
                    </a:ext>
                  </a:extLst>
                </a:gridCol>
              </a:tblGrid>
              <a:tr h="368244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353227"/>
                  </a:ext>
                </a:extLst>
              </a:tr>
              <a:tr h="368244"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68369"/>
                  </a:ext>
                </a:extLst>
              </a:tr>
              <a:tr h="368244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857474"/>
                  </a:ext>
                </a:extLst>
              </a:tr>
              <a:tr h="368244"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+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87705"/>
                  </a:ext>
                </a:extLst>
              </a:tr>
              <a:tr h="368244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61168"/>
                  </a:ext>
                </a:extLst>
              </a:tr>
              <a:tr h="368244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820387"/>
                  </a:ext>
                </a:extLst>
              </a:tr>
              <a:tr h="368244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066571"/>
                  </a:ext>
                </a:extLst>
              </a:tr>
              <a:tr h="368244"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0558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16DC390-BA12-3A63-05BD-D41A77E3A659}"/>
              </a:ext>
            </a:extLst>
          </p:cNvPr>
          <p:cNvSpPr txBox="1"/>
          <p:nvPr/>
        </p:nvSpPr>
        <p:spPr>
          <a:xfrm>
            <a:off x="2421308" y="1167536"/>
            <a:ext cx="3485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Design SVM classifier to classify the following dataset as positive and negative class.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66316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E5C3-F84E-410F-B433-F133ABFD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22" y="126509"/>
            <a:ext cx="3034748" cy="807156"/>
          </a:xfrm>
        </p:spPr>
        <p:txBody>
          <a:bodyPr/>
          <a:lstStyle/>
          <a:p>
            <a:r>
              <a:rPr lang="en-GB" b="1" dirty="0"/>
              <a:t>Example</a:t>
            </a:r>
            <a:endParaRPr lang="en-US" b="1" dirty="0"/>
          </a:p>
        </p:txBody>
      </p:sp>
      <p:pic>
        <p:nvPicPr>
          <p:cNvPr id="9" name="Content Placeholder 8" descr="Diagram, text&#10;&#10;Description automatically generated">
            <a:extLst>
              <a:ext uri="{FF2B5EF4-FFF2-40B4-BE49-F238E27FC236}">
                <a16:creationId xmlns:a16="http://schemas.microsoft.com/office/drawing/2014/main" id="{761B1769-085E-4C34-BD9B-593126F2B7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40" y="1426779"/>
            <a:ext cx="5545060" cy="1829055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5DCF30-8162-4ABC-9C58-F602C6B607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2"/>
          <a:stretch>
            <a:fillRect/>
          </a:stretch>
        </p:blipFill>
        <p:spPr>
          <a:xfrm>
            <a:off x="6485060" y="1625600"/>
            <a:ext cx="5474211" cy="42914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B5C32B-76DD-4E5A-BD5D-A37776E3A2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95" y="3602167"/>
            <a:ext cx="5763065" cy="295317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90C146A-34C2-4C2B-B41C-B96158483283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4180F4-EAE4-4A65-9D7B-D20057C06937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6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14DD-ECD1-42F1-9C99-7CC72FDAA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-19878"/>
            <a:ext cx="10515600" cy="1325563"/>
          </a:xfrm>
        </p:spPr>
        <p:txBody>
          <a:bodyPr/>
          <a:lstStyle/>
          <a:p>
            <a:r>
              <a:rPr lang="en-GB" b="1" dirty="0"/>
              <a:t>Example</a:t>
            </a:r>
            <a:endParaRPr lang="en-US" b="1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A3BD8386-EF6B-4DE3-9B46-0502D7A53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54"/>
          <a:stretch/>
        </p:blipFill>
        <p:spPr>
          <a:xfrm>
            <a:off x="1255642" y="1080052"/>
            <a:ext cx="10515600" cy="5361687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2744AB7-098C-496B-9ED5-AE3CB96E4096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B731C1-46E7-439C-98C8-8D6B5917199F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8542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44961-B128-44A4-BE29-1CBF30A88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7" y="0"/>
            <a:ext cx="10515600" cy="1325563"/>
          </a:xfrm>
        </p:spPr>
        <p:txBody>
          <a:bodyPr/>
          <a:lstStyle/>
          <a:p>
            <a:r>
              <a:rPr lang="en-GB" b="1" dirty="0"/>
              <a:t>Example:</a:t>
            </a:r>
            <a:endParaRPr lang="en-US" b="1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67F57F1A-14D3-409E-9D2A-81F74F01F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3" r="1666"/>
          <a:stretch/>
        </p:blipFill>
        <p:spPr>
          <a:xfrm>
            <a:off x="132522" y="1347703"/>
            <a:ext cx="9664891" cy="4983263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1EEBDA2-8E50-4478-8683-9C34CC6A29E5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0E4E3E0-6FCC-41CB-BF2D-AFA390ADF5BE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FE973178-689B-BDA6-54BE-4710C1AC6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274" y="662781"/>
            <a:ext cx="4786204" cy="298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544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24A70DF-D4AE-40C0-8F79-090A896EC6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7" t="4398" r="8695" b="5574"/>
          <a:stretch/>
        </p:blipFill>
        <p:spPr>
          <a:xfrm>
            <a:off x="2377440" y="1336432"/>
            <a:ext cx="7765365" cy="5283052"/>
          </a:xfr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73FB3703-F64B-413D-97F3-F4770B9B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748" y="10869"/>
            <a:ext cx="10515600" cy="1325563"/>
          </a:xfrm>
        </p:spPr>
        <p:txBody>
          <a:bodyPr/>
          <a:lstStyle/>
          <a:p>
            <a:r>
              <a:rPr lang="en-GB" b="1" dirty="0"/>
              <a:t>Non-Linear SVM : Example 1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075522-A55F-4868-AE97-C6CF2C6F8D73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A3C38D-5400-4481-AC3A-95FE4EF9D2E3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0687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16EDE4C-3020-40FA-AD25-8DACCD049708}"/>
              </a:ext>
            </a:extLst>
          </p:cNvPr>
          <p:cNvSpPr txBox="1">
            <a:spLocks/>
          </p:cNvSpPr>
          <p:nvPr/>
        </p:nvSpPr>
        <p:spPr>
          <a:xfrm>
            <a:off x="248836" y="-3677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Non-Linear SVM : Example 2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64D58E-2AFD-4356-B789-1EA0A3C17CC3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78D8B6-0DB9-49E2-AA9B-4F8FDB55F37E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254CB4-0965-B095-59A3-615DEC489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4918466"/>
              </p:ext>
            </p:extLst>
          </p:nvPr>
        </p:nvGraphicFramePr>
        <p:xfrm>
          <a:off x="248836" y="1096945"/>
          <a:ext cx="2021385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3795">
                  <a:extLst>
                    <a:ext uri="{9D8B030D-6E8A-4147-A177-3AD203B41FA5}">
                      <a16:colId xmlns:a16="http://schemas.microsoft.com/office/drawing/2014/main" val="1468101090"/>
                    </a:ext>
                  </a:extLst>
                </a:gridCol>
                <a:gridCol w="673795">
                  <a:extLst>
                    <a:ext uri="{9D8B030D-6E8A-4147-A177-3AD203B41FA5}">
                      <a16:colId xmlns:a16="http://schemas.microsoft.com/office/drawing/2014/main" val="2996714439"/>
                    </a:ext>
                  </a:extLst>
                </a:gridCol>
                <a:gridCol w="673795">
                  <a:extLst>
                    <a:ext uri="{9D8B030D-6E8A-4147-A177-3AD203B41FA5}">
                      <a16:colId xmlns:a16="http://schemas.microsoft.com/office/drawing/2014/main" val="17387346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6353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68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885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7487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36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82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-2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0665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00558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9FE8B97-CDCD-CD02-4F2E-724562DD8F03}"/>
              </a:ext>
            </a:extLst>
          </p:cNvPr>
          <p:cNvSpPr txBox="1"/>
          <p:nvPr/>
        </p:nvSpPr>
        <p:spPr>
          <a:xfrm>
            <a:off x="2421308" y="1167536"/>
            <a:ext cx="34854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Design Non-Linear SVM classifier to classify the following dataset as Blue and red class.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9028E7F-03CF-2655-5953-290522F60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055" y="1855728"/>
            <a:ext cx="7176654" cy="4644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214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314DF8-C088-4F0A-9C05-13B8C93190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690" y="1237681"/>
            <a:ext cx="9253431" cy="5163120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89C46198-90DF-48A1-B4D8-C91F673CB7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52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Non-Linear SVM : Example 2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4160BE-1A9D-49D9-B752-4FD0B2B6676C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9E8CA0-915B-46CF-B840-D71D75FE623C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711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3C35F-03B8-7384-4F27-E9B2C88F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58DA4FE-8066-597C-52F7-2762DD0EB0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52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Non-Linear SVM : Example 2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2259A7-D607-55B7-1895-6F4394106CA5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596724C-5656-0920-1FB5-36F7E4A98C59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915F1DBC-DDF2-E501-7D2E-5EA6BDAD4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473" y="1325563"/>
            <a:ext cx="8640618" cy="492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519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9D411-E332-7384-FBD1-076A176ED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5438BE2F-5B7E-0444-6B26-302296792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2522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Non-Linear SVM : Example 2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F0B0B0-84DB-8FCE-86A3-92D30C0CCA77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8E31BF-4C76-947F-9A0B-2772A9A5147D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0B60CF5-9D4A-002B-2C21-3E2358CB7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23" y="1555028"/>
            <a:ext cx="6219354" cy="44579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68692D0-B7C7-CA0C-5BE0-365B6DB75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27" y="2031482"/>
            <a:ext cx="5372100" cy="3981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09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D184A2F-74E3-4E59-965C-96EEA9A99D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-74235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Non-Linear SVM : Example 2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EB7CF2-9753-4F85-9E4D-57762D9C5A98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7381185-57D5-401A-9447-F457901A6905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076FBB4-6AAC-A309-4E6C-2125A012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70372"/>
            <a:ext cx="6682509" cy="44549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BCBEF23-3B79-548B-4D22-70EE4C294B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356"/>
          <a:stretch>
            <a:fillRect/>
          </a:stretch>
        </p:blipFill>
        <p:spPr>
          <a:xfrm>
            <a:off x="6990773" y="1548642"/>
            <a:ext cx="5068705" cy="445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9653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4AABCF-0B89-426B-89F1-F3EB7A3BE7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870051"/>
            <a:ext cx="5782115" cy="372553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0D10F5-8F10-47D3-A479-70FF9EDE97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6915" y="1870051"/>
            <a:ext cx="5572125" cy="355758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546A6E6C-42AB-408B-B8E7-4F5AE34A5D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017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Non-Linear SVM : Example 2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237E6B-0B4E-4FB7-9E61-D96E85236316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65FAF9C-514B-4334-95E5-A589426FAB54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2437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4954F6-2C26-437C-B8B4-3E6E2D0D72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22" y="1597266"/>
            <a:ext cx="5448300" cy="2617270"/>
          </a:xfr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16300C61-5D48-4A29-9711-4BE664158F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Non-Linear SVM : Example 2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2A7DB8-ABD2-4676-804A-70AE8B1AA7EA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D478F73-9DBE-4EA8-956E-26D08D7C1900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CAB2039-FA6F-E817-5029-1825BFAE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309" y="1570037"/>
            <a:ext cx="6588269" cy="4124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593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68F193-43A5-4576-B5CA-BF6236F66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9563" y="1924335"/>
            <a:ext cx="5981699" cy="335003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01C952-E7FB-45C9-9248-173102110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4367" y="1762540"/>
            <a:ext cx="5981700" cy="398316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5C3874B-5320-4EAB-BCF3-E9FFC6D3AD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017" y="2615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Non-Linear SVM : Example 2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16CFDD-3013-4EA0-BD64-85E5D0E04CA6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2323F59-F664-4C27-86BD-D4AFA6D98FA3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00390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2FD6A-5CD5-4D68-A66C-4C67D4ACB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7" y="0"/>
            <a:ext cx="10515600" cy="1325563"/>
          </a:xfrm>
        </p:spPr>
        <p:txBody>
          <a:bodyPr/>
          <a:lstStyle/>
          <a:p>
            <a:r>
              <a:rPr lang="en-GB" b="1" dirty="0"/>
              <a:t>Non-Linear SVM : Example 3 </a:t>
            </a:r>
            <a:endParaRPr lang="en-US" b="1" dirty="0"/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084EE2B5-EF37-471A-A541-51EA9B05A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68557"/>
            <a:ext cx="6546574" cy="278146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4E6134-BFC6-4748-A31C-67C7660DB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889" y="1465862"/>
            <a:ext cx="5256908" cy="43102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9E1705-ECF2-41B2-BADC-ABB8875EA017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654EDA6-B063-46EF-8F72-243FC61B5592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04930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CF567-B5B1-4226-93EE-518C19632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17" y="-13252"/>
            <a:ext cx="10515600" cy="1325563"/>
          </a:xfrm>
        </p:spPr>
        <p:txBody>
          <a:bodyPr/>
          <a:lstStyle/>
          <a:p>
            <a:r>
              <a:rPr lang="en-GB" b="1" dirty="0"/>
              <a:t>Example 3</a:t>
            </a:r>
            <a:endParaRPr lang="en-US" b="1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569FAB42-C86E-45F5-9185-1282B7A23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009" y="1391478"/>
            <a:ext cx="9316277" cy="4319792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DF5E663-4E72-40F7-AB36-4C2138C120A1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CE5FDF0-BF50-41A5-9A77-A999014FB45B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02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E5596-1404-4C3A-B71D-10C9FD939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09" y="0"/>
            <a:ext cx="10515600" cy="1325563"/>
          </a:xfrm>
        </p:spPr>
        <p:txBody>
          <a:bodyPr/>
          <a:lstStyle/>
          <a:p>
            <a:r>
              <a:rPr lang="en-GB" b="1" dirty="0"/>
              <a:t>Example</a:t>
            </a:r>
            <a:endParaRPr lang="en-US" b="1" dirty="0"/>
          </a:p>
        </p:txBody>
      </p:sp>
      <p:pic>
        <p:nvPicPr>
          <p:cNvPr id="5" name="Content Placeholder 4" descr="Text, letter&#10;&#10;Description automatically generated">
            <a:extLst>
              <a:ext uri="{FF2B5EF4-FFF2-40B4-BE49-F238E27FC236}">
                <a16:creationId xmlns:a16="http://schemas.microsoft.com/office/drawing/2014/main" id="{1F3FC10A-65D2-44D5-8F7D-9C518B1E65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496" y="1630017"/>
            <a:ext cx="9303026" cy="4181279"/>
          </a:xfr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11DE15E-C7E3-4137-BC8E-AF08CBBA9AB6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7989967-3A31-45E0-80D5-33E8FB333145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130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6798E-315A-4650-AEBC-8DBDA982E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0052" y="0"/>
            <a:ext cx="10515600" cy="1325563"/>
          </a:xfrm>
        </p:spPr>
        <p:txBody>
          <a:bodyPr/>
          <a:lstStyle/>
          <a:p>
            <a:r>
              <a:rPr lang="en-GB" b="1" dirty="0"/>
              <a:t>Example</a:t>
            </a:r>
            <a:endParaRPr lang="en-US" b="1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64E315B6-4852-42E7-9240-1E14C7692B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79"/>
          <a:stretch/>
        </p:blipFill>
        <p:spPr>
          <a:xfrm>
            <a:off x="236801" y="926660"/>
            <a:ext cx="6110991" cy="2441074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0F76A83-E49D-4438-961B-790DEAA69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22" y="3490267"/>
            <a:ext cx="6997148" cy="33348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5DA4F0F-41FD-49D6-A498-7151E353E1F0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BB334E5-84D6-4BCA-975B-B37816651861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59D82AE-DEBF-83C4-3A37-9515BF9C7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1165" y="311452"/>
            <a:ext cx="5202348" cy="367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7053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BCBE7-E492-4D34-B843-7475C6AB5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-219178"/>
            <a:ext cx="10515600" cy="1325563"/>
          </a:xfrm>
        </p:spPr>
        <p:txBody>
          <a:bodyPr/>
          <a:lstStyle/>
          <a:p>
            <a:r>
              <a:rPr lang="en-GB" b="1" dirty="0"/>
              <a:t>Example</a:t>
            </a:r>
            <a:endParaRPr lang="en-US" b="1" dirty="0"/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B41B4B70-7103-40A0-945A-0304250812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59" y="2597427"/>
            <a:ext cx="7047914" cy="3457914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EEDE89-E060-4468-A42A-E27985892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743" y="501346"/>
            <a:ext cx="5073748" cy="367900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43CC174-FF7F-4076-B5A5-4FBA60C81586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7F6C72-163A-448B-B242-B4B0CB90B711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93919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537E4-9DB4-41F4-9D38-27F362B74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1" y="191120"/>
            <a:ext cx="3419061" cy="643767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Exercise</a:t>
            </a:r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C67174-C723-48D4-995A-2A666BCFD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255" y="4111153"/>
            <a:ext cx="9531926" cy="271371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304334-2F17-41EB-9218-071FE05A8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37" y="1098173"/>
            <a:ext cx="9855199" cy="317078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8E12C0-A2FD-474E-8EE6-A4694F5DE50E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0C1919-B976-41E7-A1F1-B884EA3DC3E5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7181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8370A-1E3F-45D8-B93B-09CCFA0FE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22" y="0"/>
            <a:ext cx="10515600" cy="1325563"/>
          </a:xfrm>
        </p:spPr>
        <p:txBody>
          <a:bodyPr/>
          <a:lstStyle/>
          <a:p>
            <a:r>
              <a:rPr lang="en-GB" dirty="0"/>
              <a:t>Exercise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EA7973-ABF6-4E9C-AEAA-42774E9F9B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395" y="1325563"/>
            <a:ext cx="5875606" cy="279627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52FB91-79E9-4E82-A108-15FDB8013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345" y="1325563"/>
            <a:ext cx="5940261" cy="44140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F8A0C0F-CBA5-4868-B39E-B38647D06B48}"/>
              </a:ext>
            </a:extLst>
          </p:cNvPr>
          <p:cNvSpPr/>
          <p:nvPr/>
        </p:nvSpPr>
        <p:spPr>
          <a:xfrm>
            <a:off x="106017" y="119270"/>
            <a:ext cx="11953461" cy="65995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A4AF50-B105-46C3-AFF2-85DEEAAF3969}"/>
              </a:ext>
            </a:extLst>
          </p:cNvPr>
          <p:cNvCxnSpPr/>
          <p:nvPr/>
        </p:nvCxnSpPr>
        <p:spPr>
          <a:xfrm>
            <a:off x="106017" y="940904"/>
            <a:ext cx="119534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579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655</Words>
  <Application>Microsoft Office PowerPoint</Application>
  <PresentationFormat>Widescreen</PresentationFormat>
  <Paragraphs>101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erdana</vt:lpstr>
      <vt:lpstr>Office Theme</vt:lpstr>
      <vt:lpstr>Data Science  Unit-IV</vt:lpstr>
      <vt:lpstr>Support Vector Machine  </vt:lpstr>
      <vt:lpstr>Hyperplane and Support Vectors in the SVM algorithm: </vt:lpstr>
      <vt:lpstr>Support Vector Machine-Types </vt:lpstr>
      <vt:lpstr>SVM How it works?</vt:lpstr>
      <vt:lpstr>SVM Model</vt:lpstr>
      <vt:lpstr>Advantages</vt:lpstr>
      <vt:lpstr>Disadvantages</vt:lpstr>
      <vt:lpstr>Linear SVM : Example</vt:lpstr>
      <vt:lpstr>Example</vt:lpstr>
      <vt:lpstr>Example</vt:lpstr>
      <vt:lpstr>Example:</vt:lpstr>
      <vt:lpstr>Non-Linear SVM : Example 1</vt:lpstr>
      <vt:lpstr>PowerPoint Presentation</vt:lpstr>
      <vt:lpstr>Non-Linear SVM : Example 2</vt:lpstr>
      <vt:lpstr>Non-Linear SVM : Example 2</vt:lpstr>
      <vt:lpstr>Non-Linear SVM : Example 2</vt:lpstr>
      <vt:lpstr>Non-Linear SVM : Example 2</vt:lpstr>
      <vt:lpstr>Non-Linear SVM : Example 2</vt:lpstr>
      <vt:lpstr>Non-Linear SVM : Example 2</vt:lpstr>
      <vt:lpstr>Non-Linear SVM : Example 2</vt:lpstr>
      <vt:lpstr>Non-Linear SVM : Example 3 </vt:lpstr>
      <vt:lpstr>Example 3</vt:lpstr>
      <vt:lpstr>Example</vt:lpstr>
      <vt:lpstr>Example</vt:lpstr>
      <vt:lpstr>Example</vt:lpstr>
      <vt:lpstr>Exercise</vt:lpstr>
      <vt:lpstr>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Subhash Chandra N</dc:creator>
  <cp:lastModifiedBy>Subhash Chandra N</cp:lastModifiedBy>
  <cp:revision>50</cp:revision>
  <dcterms:created xsi:type="dcterms:W3CDTF">2021-03-27T13:37:51Z</dcterms:created>
  <dcterms:modified xsi:type="dcterms:W3CDTF">2026-09-15T05:17:08Z</dcterms:modified>
</cp:coreProperties>
</file>