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8" r:id="rId3"/>
    <p:sldId id="266" r:id="rId4"/>
    <p:sldId id="267" r:id="rId5"/>
    <p:sldId id="287" r:id="rId6"/>
    <p:sldId id="288" r:id="rId7"/>
    <p:sldId id="292" r:id="rId8"/>
    <p:sldId id="29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FDA0A-90E5-4082-8D94-32F92AE23260}"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2985A9-204F-4B85-B2B0-418F0C56D3E9}" type="slidenum">
              <a:rPr lang="en-US" smtClean="0"/>
              <a:t>‹#›</a:t>
            </a:fld>
            <a:endParaRPr lang="en-US"/>
          </a:p>
        </p:txBody>
      </p:sp>
    </p:spTree>
    <p:extLst>
      <p:ext uri="{BB962C8B-B14F-4D97-AF65-F5344CB8AC3E}">
        <p14:creationId xmlns:p14="http://schemas.microsoft.com/office/powerpoint/2010/main" val="2889963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2641C-EA29-4810-99E3-90524386AC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091162-5A70-4438-A1BD-028D4B9060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EE5034-C5D0-484E-B15A-897A90BD1C40}"/>
              </a:ext>
            </a:extLst>
          </p:cNvPr>
          <p:cNvSpPr>
            <a:spLocks noGrp="1"/>
          </p:cNvSpPr>
          <p:nvPr>
            <p:ph type="dt" sz="half" idx="10"/>
          </p:nvPr>
        </p:nvSpPr>
        <p:spPr/>
        <p:txBody>
          <a:bodyPr/>
          <a:lstStyle/>
          <a:p>
            <a:fld id="{C86392BC-0C74-4BE6-8512-97CE022AC1BF}" type="datetime1">
              <a:rPr lang="en-US" smtClean="0"/>
              <a:t>10/14/2025</a:t>
            </a:fld>
            <a:endParaRPr lang="en-US"/>
          </a:p>
        </p:txBody>
      </p:sp>
      <p:sp>
        <p:nvSpPr>
          <p:cNvPr id="5" name="Footer Placeholder 4">
            <a:extLst>
              <a:ext uri="{FF2B5EF4-FFF2-40B4-BE49-F238E27FC236}">
                <a16:creationId xmlns:a16="http://schemas.microsoft.com/office/drawing/2014/main" id="{FA224955-76C6-4373-854F-BCB0BB460C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7040B8-E0D7-4E66-A961-9F269D6429D1}"/>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559660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547D5-C33C-4723-9AD1-9581DC6F68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DB487A-E2D1-45DD-B59A-718A33E90F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59D885-FAFD-47B5-8C78-CAFD56BA23DC}"/>
              </a:ext>
            </a:extLst>
          </p:cNvPr>
          <p:cNvSpPr>
            <a:spLocks noGrp="1"/>
          </p:cNvSpPr>
          <p:nvPr>
            <p:ph type="dt" sz="half" idx="10"/>
          </p:nvPr>
        </p:nvSpPr>
        <p:spPr/>
        <p:txBody>
          <a:bodyPr/>
          <a:lstStyle/>
          <a:p>
            <a:fld id="{7D2D5A47-B5C4-4BE0-B929-169D7B8EE11C}" type="datetime1">
              <a:rPr lang="en-US" smtClean="0"/>
              <a:t>10/14/2025</a:t>
            </a:fld>
            <a:endParaRPr lang="en-US"/>
          </a:p>
        </p:txBody>
      </p:sp>
      <p:sp>
        <p:nvSpPr>
          <p:cNvPr id="5" name="Footer Placeholder 4">
            <a:extLst>
              <a:ext uri="{FF2B5EF4-FFF2-40B4-BE49-F238E27FC236}">
                <a16:creationId xmlns:a16="http://schemas.microsoft.com/office/drawing/2014/main" id="{F91B421F-0782-40C5-A167-33AF23B4F1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2B8987-8B42-40C6-B122-C56CEF974FE5}"/>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1516645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248AE-AEAE-47A9-9549-B0C4C74966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A2CF30-9A61-43C7-9538-31F1E9A4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C23E23-330C-42D8-9A5C-F7BDCE622AB8}"/>
              </a:ext>
            </a:extLst>
          </p:cNvPr>
          <p:cNvSpPr>
            <a:spLocks noGrp="1"/>
          </p:cNvSpPr>
          <p:nvPr>
            <p:ph type="dt" sz="half" idx="10"/>
          </p:nvPr>
        </p:nvSpPr>
        <p:spPr/>
        <p:txBody>
          <a:bodyPr/>
          <a:lstStyle/>
          <a:p>
            <a:fld id="{CF297E1A-FEA4-400E-BE5C-71B24DE54401}" type="datetime1">
              <a:rPr lang="en-US" smtClean="0"/>
              <a:t>10/14/2025</a:t>
            </a:fld>
            <a:endParaRPr lang="en-US"/>
          </a:p>
        </p:txBody>
      </p:sp>
      <p:sp>
        <p:nvSpPr>
          <p:cNvPr id="5" name="Footer Placeholder 4">
            <a:extLst>
              <a:ext uri="{FF2B5EF4-FFF2-40B4-BE49-F238E27FC236}">
                <a16:creationId xmlns:a16="http://schemas.microsoft.com/office/drawing/2014/main" id="{220C32D1-C165-4119-8D7E-3C291A9341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CF9A1E-FC77-4E0A-AD3C-F63F5A2B831F}"/>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2144360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76D70-AA94-472B-9DCF-50F0B71985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F88C16-A2A7-4E42-B50B-75F19E4A88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89EBB1-466B-4A8B-8B49-9AC1A85427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B3B404-52EA-4305-9E53-5F759216408A}"/>
              </a:ext>
            </a:extLst>
          </p:cNvPr>
          <p:cNvSpPr>
            <a:spLocks noGrp="1"/>
          </p:cNvSpPr>
          <p:nvPr>
            <p:ph type="dt" sz="half" idx="10"/>
          </p:nvPr>
        </p:nvSpPr>
        <p:spPr/>
        <p:txBody>
          <a:bodyPr/>
          <a:lstStyle/>
          <a:p>
            <a:fld id="{43DD0A65-7F3E-412E-87FF-C41B10148115}" type="datetime1">
              <a:rPr lang="en-US" smtClean="0"/>
              <a:t>10/14/2025</a:t>
            </a:fld>
            <a:endParaRPr lang="en-US"/>
          </a:p>
        </p:txBody>
      </p:sp>
      <p:sp>
        <p:nvSpPr>
          <p:cNvPr id="6" name="Footer Placeholder 5">
            <a:extLst>
              <a:ext uri="{FF2B5EF4-FFF2-40B4-BE49-F238E27FC236}">
                <a16:creationId xmlns:a16="http://schemas.microsoft.com/office/drawing/2014/main" id="{5D7269B4-3E7D-44D5-AE6C-246B7EFA41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317CF0-723D-4219-B279-65C40E6CDE93}"/>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330920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F3A1-711E-4A27-ADCA-934F44D309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409AAC-F71E-4F39-883D-FFC064C49E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B8E404-4304-4577-9CD4-4E964CE438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00393C-3619-4211-8372-5A1A43920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33182A-B51C-4A24-AFBC-4971F98F32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AEC582-F361-4ECA-84C4-4BB28B737224}"/>
              </a:ext>
            </a:extLst>
          </p:cNvPr>
          <p:cNvSpPr>
            <a:spLocks noGrp="1"/>
          </p:cNvSpPr>
          <p:nvPr>
            <p:ph type="dt" sz="half" idx="10"/>
          </p:nvPr>
        </p:nvSpPr>
        <p:spPr/>
        <p:txBody>
          <a:bodyPr/>
          <a:lstStyle/>
          <a:p>
            <a:fld id="{1BD028F5-52B7-4755-9B7A-C2625308E320}" type="datetime1">
              <a:rPr lang="en-US" smtClean="0"/>
              <a:t>10/14/2025</a:t>
            </a:fld>
            <a:endParaRPr lang="en-US"/>
          </a:p>
        </p:txBody>
      </p:sp>
      <p:sp>
        <p:nvSpPr>
          <p:cNvPr id="8" name="Footer Placeholder 7">
            <a:extLst>
              <a:ext uri="{FF2B5EF4-FFF2-40B4-BE49-F238E27FC236}">
                <a16:creationId xmlns:a16="http://schemas.microsoft.com/office/drawing/2014/main" id="{43674846-31C7-4BEC-AA8D-09663E3EC6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57E60F-12A6-4537-91E5-6995B58E9EFD}"/>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3281588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34EEC-7E5A-472D-B54A-47461BF30D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5DFD07E-E07F-4C67-ADC4-B0634ED299FB}"/>
              </a:ext>
            </a:extLst>
          </p:cNvPr>
          <p:cNvSpPr>
            <a:spLocks noGrp="1"/>
          </p:cNvSpPr>
          <p:nvPr>
            <p:ph type="dt" sz="half" idx="10"/>
          </p:nvPr>
        </p:nvSpPr>
        <p:spPr/>
        <p:txBody>
          <a:bodyPr/>
          <a:lstStyle/>
          <a:p>
            <a:fld id="{D045EED4-4ADE-4F32-9D90-289823E3460D}" type="datetime1">
              <a:rPr lang="en-US" smtClean="0"/>
              <a:t>10/14/2025</a:t>
            </a:fld>
            <a:endParaRPr lang="en-US"/>
          </a:p>
        </p:txBody>
      </p:sp>
      <p:sp>
        <p:nvSpPr>
          <p:cNvPr id="4" name="Footer Placeholder 3">
            <a:extLst>
              <a:ext uri="{FF2B5EF4-FFF2-40B4-BE49-F238E27FC236}">
                <a16:creationId xmlns:a16="http://schemas.microsoft.com/office/drawing/2014/main" id="{0F877B5D-545A-4255-9C8F-D6689A4311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A49B79-D977-4AB2-B254-FF6E4B62A383}"/>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2172696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BF6B27-F7B2-4B07-8AD7-E8F51E3307D1}"/>
              </a:ext>
            </a:extLst>
          </p:cNvPr>
          <p:cNvSpPr>
            <a:spLocks noGrp="1"/>
          </p:cNvSpPr>
          <p:nvPr>
            <p:ph type="dt" sz="half" idx="10"/>
          </p:nvPr>
        </p:nvSpPr>
        <p:spPr/>
        <p:txBody>
          <a:bodyPr/>
          <a:lstStyle/>
          <a:p>
            <a:fld id="{40685626-140B-4453-AF3B-6CF1116B6740}" type="datetime1">
              <a:rPr lang="en-US" smtClean="0"/>
              <a:t>10/14/2025</a:t>
            </a:fld>
            <a:endParaRPr lang="en-US"/>
          </a:p>
        </p:txBody>
      </p:sp>
      <p:sp>
        <p:nvSpPr>
          <p:cNvPr id="3" name="Footer Placeholder 2">
            <a:extLst>
              <a:ext uri="{FF2B5EF4-FFF2-40B4-BE49-F238E27FC236}">
                <a16:creationId xmlns:a16="http://schemas.microsoft.com/office/drawing/2014/main" id="{1D53E120-A0DF-4E55-B98E-22B2E5CDD9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08C472-3E9B-4572-88D4-7BC98A44251C}"/>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18299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A9801-71AD-4DC5-B03E-9E888177B6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02AAE0-7D83-4FE3-868F-F350EFE37F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D13D8A-856E-40B8-A750-D73677748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1D4204-D46B-48FC-9B94-C9A90E1BF7F9}"/>
              </a:ext>
            </a:extLst>
          </p:cNvPr>
          <p:cNvSpPr>
            <a:spLocks noGrp="1"/>
          </p:cNvSpPr>
          <p:nvPr>
            <p:ph type="dt" sz="half" idx="10"/>
          </p:nvPr>
        </p:nvSpPr>
        <p:spPr/>
        <p:txBody>
          <a:bodyPr/>
          <a:lstStyle/>
          <a:p>
            <a:fld id="{4E8F1C56-14D6-4ADB-A5A8-E45A3211A1F1}" type="datetime1">
              <a:rPr lang="en-US" smtClean="0"/>
              <a:t>10/14/2025</a:t>
            </a:fld>
            <a:endParaRPr lang="en-US"/>
          </a:p>
        </p:txBody>
      </p:sp>
      <p:sp>
        <p:nvSpPr>
          <p:cNvPr id="6" name="Footer Placeholder 5">
            <a:extLst>
              <a:ext uri="{FF2B5EF4-FFF2-40B4-BE49-F238E27FC236}">
                <a16:creationId xmlns:a16="http://schemas.microsoft.com/office/drawing/2014/main" id="{CA6C9CBF-9DDE-4F00-B981-A9C7F110E1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F216F1-9072-46E4-A336-7A51F9D83B84}"/>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2969342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1E600-90C0-44A0-AD62-A364BFE79D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435443-A888-460A-8B9C-2E2436FB5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3E29A4-E9F9-4279-9FE3-35AD750F81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8DE38E-4870-4A0D-84A3-BEA30725D18F}"/>
              </a:ext>
            </a:extLst>
          </p:cNvPr>
          <p:cNvSpPr>
            <a:spLocks noGrp="1"/>
          </p:cNvSpPr>
          <p:nvPr>
            <p:ph type="dt" sz="half" idx="10"/>
          </p:nvPr>
        </p:nvSpPr>
        <p:spPr/>
        <p:txBody>
          <a:bodyPr/>
          <a:lstStyle/>
          <a:p>
            <a:fld id="{021C1085-4687-4710-92CF-879AEADFB116}" type="datetime1">
              <a:rPr lang="en-US" smtClean="0"/>
              <a:t>10/14/2025</a:t>
            </a:fld>
            <a:endParaRPr lang="en-US"/>
          </a:p>
        </p:txBody>
      </p:sp>
      <p:sp>
        <p:nvSpPr>
          <p:cNvPr id="6" name="Footer Placeholder 5">
            <a:extLst>
              <a:ext uri="{FF2B5EF4-FFF2-40B4-BE49-F238E27FC236}">
                <a16:creationId xmlns:a16="http://schemas.microsoft.com/office/drawing/2014/main" id="{1D5239CD-9373-4D81-A144-D4AA42B811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EEA427-B96B-48B7-BFC9-F4F77DB3BC76}"/>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2234831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B2549-7F51-4A8B-BAD4-337DB805FE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789CC0-CAFB-47A9-9862-5F22F67526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8A4E6B-F86B-4342-826F-74D7D54B5843}"/>
              </a:ext>
            </a:extLst>
          </p:cNvPr>
          <p:cNvSpPr>
            <a:spLocks noGrp="1"/>
          </p:cNvSpPr>
          <p:nvPr>
            <p:ph type="dt" sz="half" idx="10"/>
          </p:nvPr>
        </p:nvSpPr>
        <p:spPr/>
        <p:txBody>
          <a:bodyPr/>
          <a:lstStyle/>
          <a:p>
            <a:fld id="{7E7F8AE8-A59B-47B0-9170-48863B8765D8}" type="datetime1">
              <a:rPr lang="en-US" smtClean="0"/>
              <a:t>10/14/2025</a:t>
            </a:fld>
            <a:endParaRPr lang="en-US"/>
          </a:p>
        </p:txBody>
      </p:sp>
      <p:sp>
        <p:nvSpPr>
          <p:cNvPr id="5" name="Footer Placeholder 4">
            <a:extLst>
              <a:ext uri="{FF2B5EF4-FFF2-40B4-BE49-F238E27FC236}">
                <a16:creationId xmlns:a16="http://schemas.microsoft.com/office/drawing/2014/main" id="{20598DC8-8B8D-4781-A75B-BF73B032D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712EB6-5BF3-4FE9-93E9-7C6D5396E9FD}"/>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3208179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2E59FA-F740-4410-845D-05BCD63D75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AAE596-8AAC-43F3-A468-61F76C546C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DAF631-4947-41F7-9F4D-31034F4A6D0A}"/>
              </a:ext>
            </a:extLst>
          </p:cNvPr>
          <p:cNvSpPr>
            <a:spLocks noGrp="1"/>
          </p:cNvSpPr>
          <p:nvPr>
            <p:ph type="dt" sz="half" idx="10"/>
          </p:nvPr>
        </p:nvSpPr>
        <p:spPr/>
        <p:txBody>
          <a:bodyPr/>
          <a:lstStyle/>
          <a:p>
            <a:fld id="{4D265A52-B104-4FEB-9EED-A6FB84697EAE}" type="datetime1">
              <a:rPr lang="en-US" smtClean="0"/>
              <a:t>10/14/2025</a:t>
            </a:fld>
            <a:endParaRPr lang="en-US"/>
          </a:p>
        </p:txBody>
      </p:sp>
      <p:sp>
        <p:nvSpPr>
          <p:cNvPr id="5" name="Footer Placeholder 4">
            <a:extLst>
              <a:ext uri="{FF2B5EF4-FFF2-40B4-BE49-F238E27FC236}">
                <a16:creationId xmlns:a16="http://schemas.microsoft.com/office/drawing/2014/main" id="{A6AE100B-9046-42DF-9DA9-4C9FA46DD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72CCC0-3227-42A1-9098-0990FA791BC2}"/>
              </a:ext>
            </a:extLst>
          </p:cNvPr>
          <p:cNvSpPr>
            <a:spLocks noGrp="1"/>
          </p:cNvSpPr>
          <p:nvPr>
            <p:ph type="sldNum" sz="quarter" idx="12"/>
          </p:nvPr>
        </p:nvSpPr>
        <p:spPr/>
        <p:txBody>
          <a:bodyPr/>
          <a:lstStyle/>
          <a:p>
            <a:fld id="{2EBD257C-DDB9-4445-AD9A-AE1AF229B381}" type="slidenum">
              <a:rPr lang="en-US" smtClean="0"/>
              <a:t>‹#›</a:t>
            </a:fld>
            <a:endParaRPr lang="en-US"/>
          </a:p>
        </p:txBody>
      </p:sp>
    </p:spTree>
    <p:extLst>
      <p:ext uri="{BB962C8B-B14F-4D97-AF65-F5344CB8AC3E}">
        <p14:creationId xmlns:p14="http://schemas.microsoft.com/office/powerpoint/2010/main" val="3430465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014BCF-1BD4-4BFF-8B20-FDD58BBC33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9B671F-E9BE-4F0B-8592-12C9F1265D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9F8C20-0368-48CD-A306-887A9FE8D2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1978E0-8DDD-4F0E-A868-3D21B6DB2CC6}" type="datetime1">
              <a:rPr lang="en-US" smtClean="0"/>
              <a:t>10/14/2025</a:t>
            </a:fld>
            <a:endParaRPr lang="en-US"/>
          </a:p>
        </p:txBody>
      </p:sp>
      <p:sp>
        <p:nvSpPr>
          <p:cNvPr id="5" name="Footer Placeholder 4">
            <a:extLst>
              <a:ext uri="{FF2B5EF4-FFF2-40B4-BE49-F238E27FC236}">
                <a16:creationId xmlns:a16="http://schemas.microsoft.com/office/drawing/2014/main" id="{37ACF7FC-8DAB-4A49-8FDF-4D259E86C2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F0F0FC4-82DE-48F8-8D41-4C1B0A7DA8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BD257C-DDB9-4445-AD9A-AE1AF229B381}" type="slidenum">
              <a:rPr lang="en-US" smtClean="0"/>
              <a:t>‹#›</a:t>
            </a:fld>
            <a:endParaRPr lang="en-US"/>
          </a:p>
        </p:txBody>
      </p:sp>
    </p:spTree>
    <p:extLst>
      <p:ext uri="{BB962C8B-B14F-4D97-AF65-F5344CB8AC3E}">
        <p14:creationId xmlns:p14="http://schemas.microsoft.com/office/powerpoint/2010/main" val="1653416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557A3D-EB15-4DD6-A00E-12FF3FDC0C3B}"/>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1F2A628-432E-460D-9C3F-8B83EE4EB5A2}"/>
              </a:ext>
            </a:extLst>
          </p:cNvPr>
          <p:cNvCxnSpPr>
            <a:stCxn id="4" idx="1"/>
            <a:endCxn id="4" idx="3"/>
          </p:cNvCxnSpPr>
          <p:nvPr/>
        </p:nvCxnSpPr>
        <p:spPr>
          <a:xfrm>
            <a:off x="168812" y="3425484"/>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123C614-6896-4D6E-A0A5-9F5AFF02E9D9}"/>
              </a:ext>
            </a:extLst>
          </p:cNvPr>
          <p:cNvSpPr txBox="1"/>
          <p:nvPr/>
        </p:nvSpPr>
        <p:spPr>
          <a:xfrm>
            <a:off x="3419061" y="1417982"/>
            <a:ext cx="5751442" cy="1446550"/>
          </a:xfrm>
          <a:prstGeom prst="rect">
            <a:avLst/>
          </a:prstGeom>
          <a:noFill/>
        </p:spPr>
        <p:txBody>
          <a:bodyPr wrap="square" rtlCol="0">
            <a:spAutoFit/>
          </a:bodyPr>
          <a:lstStyle/>
          <a:p>
            <a:pPr algn="ctr"/>
            <a:r>
              <a:rPr lang="en-GB" sz="4400" b="1" dirty="0"/>
              <a:t>Data Science</a:t>
            </a:r>
          </a:p>
          <a:p>
            <a:pPr algn="ctr"/>
            <a:r>
              <a:rPr lang="en-GB" sz="4400" b="1" dirty="0"/>
              <a:t>Unit-IV</a:t>
            </a:r>
            <a:endParaRPr lang="en-US" sz="4400" b="1" dirty="0"/>
          </a:p>
        </p:txBody>
      </p:sp>
      <p:sp>
        <p:nvSpPr>
          <p:cNvPr id="5" name="TextBox 4">
            <a:extLst>
              <a:ext uri="{FF2B5EF4-FFF2-40B4-BE49-F238E27FC236}">
                <a16:creationId xmlns:a16="http://schemas.microsoft.com/office/drawing/2014/main" id="{E3B312C8-AD28-4A30-94F6-111AC88D4A2B}"/>
              </a:ext>
            </a:extLst>
          </p:cNvPr>
          <p:cNvSpPr txBox="1"/>
          <p:nvPr/>
        </p:nvSpPr>
        <p:spPr>
          <a:xfrm>
            <a:off x="1948070" y="3787410"/>
            <a:ext cx="8680173" cy="830997"/>
          </a:xfrm>
          <a:prstGeom prst="rect">
            <a:avLst/>
          </a:prstGeom>
          <a:noFill/>
        </p:spPr>
        <p:txBody>
          <a:bodyPr wrap="square" rtlCol="0">
            <a:spAutoFit/>
          </a:bodyPr>
          <a:lstStyle/>
          <a:p>
            <a:pPr algn="ctr"/>
            <a:r>
              <a:rPr lang="en-US" sz="2400" b="1" dirty="0"/>
              <a:t>Nonlinear boundaries, Kernel functions</a:t>
            </a:r>
          </a:p>
          <a:p>
            <a:pPr algn="ctr"/>
            <a:r>
              <a:rPr lang="en-US" sz="2400" b="1" dirty="0"/>
              <a:t>Source: Web resources</a:t>
            </a:r>
          </a:p>
        </p:txBody>
      </p:sp>
      <p:sp>
        <p:nvSpPr>
          <p:cNvPr id="3" name="Slide Number Placeholder 2">
            <a:extLst>
              <a:ext uri="{FF2B5EF4-FFF2-40B4-BE49-F238E27FC236}">
                <a16:creationId xmlns:a16="http://schemas.microsoft.com/office/drawing/2014/main" id="{70715FC6-9530-4615-A56B-301F40E16599}"/>
              </a:ext>
            </a:extLst>
          </p:cNvPr>
          <p:cNvSpPr>
            <a:spLocks noGrp="1"/>
          </p:cNvSpPr>
          <p:nvPr>
            <p:ph type="sldNum" sz="quarter" idx="12"/>
          </p:nvPr>
        </p:nvSpPr>
        <p:spPr/>
        <p:txBody>
          <a:bodyPr/>
          <a:lstStyle/>
          <a:p>
            <a:fld id="{2EBD257C-DDB9-4445-AD9A-AE1AF229B381}" type="slidenum">
              <a:rPr lang="en-US" smtClean="0"/>
              <a:t>1</a:t>
            </a:fld>
            <a:endParaRPr lang="en-US"/>
          </a:p>
        </p:txBody>
      </p:sp>
    </p:spTree>
    <p:extLst>
      <p:ext uri="{BB962C8B-B14F-4D97-AF65-F5344CB8AC3E}">
        <p14:creationId xmlns:p14="http://schemas.microsoft.com/office/powerpoint/2010/main" val="3254089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85AE5A1-FE70-4CE9-9AE9-2669345FBD90}"/>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7D3201FC-2C50-434C-BF51-302048EE58E5}"/>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6042238-FD99-41AD-AAF2-62F6AA67F41D}"/>
              </a:ext>
            </a:extLst>
          </p:cNvPr>
          <p:cNvSpPr txBox="1"/>
          <p:nvPr/>
        </p:nvSpPr>
        <p:spPr>
          <a:xfrm>
            <a:off x="310359" y="343497"/>
            <a:ext cx="6183206" cy="523220"/>
          </a:xfrm>
          <a:prstGeom prst="rect">
            <a:avLst/>
          </a:prstGeom>
          <a:noFill/>
        </p:spPr>
        <p:txBody>
          <a:bodyPr wrap="square" rtlCol="0">
            <a:spAutoFit/>
          </a:bodyPr>
          <a:lstStyle/>
          <a:p>
            <a:r>
              <a:rPr lang="en-US" sz="2800" b="1" dirty="0"/>
              <a:t>Nonlinear boundaries  : </a:t>
            </a:r>
            <a:r>
              <a:rPr lang="en-GB" sz="2800" b="1" dirty="0">
                <a:latin typeface="+mj-lt"/>
              </a:rPr>
              <a:t>Introduction</a:t>
            </a:r>
            <a:endParaRPr lang="en-US" sz="2800" b="1" dirty="0">
              <a:latin typeface="+mj-lt"/>
            </a:endParaRPr>
          </a:p>
        </p:txBody>
      </p:sp>
      <p:sp>
        <p:nvSpPr>
          <p:cNvPr id="2" name="Slide Number Placeholder 1">
            <a:extLst>
              <a:ext uri="{FF2B5EF4-FFF2-40B4-BE49-F238E27FC236}">
                <a16:creationId xmlns:a16="http://schemas.microsoft.com/office/drawing/2014/main" id="{CFE5B7A1-07A5-4CD8-9E6D-D001C6F2569C}"/>
              </a:ext>
            </a:extLst>
          </p:cNvPr>
          <p:cNvSpPr>
            <a:spLocks noGrp="1"/>
          </p:cNvSpPr>
          <p:nvPr>
            <p:ph type="sldNum" sz="quarter" idx="12"/>
          </p:nvPr>
        </p:nvSpPr>
        <p:spPr/>
        <p:txBody>
          <a:bodyPr/>
          <a:lstStyle/>
          <a:p>
            <a:fld id="{2EBD257C-DDB9-4445-AD9A-AE1AF229B381}" type="slidenum">
              <a:rPr lang="en-US" smtClean="0"/>
              <a:t>2</a:t>
            </a:fld>
            <a:endParaRPr lang="en-US"/>
          </a:p>
        </p:txBody>
      </p:sp>
      <p:sp>
        <p:nvSpPr>
          <p:cNvPr id="9" name="TextBox 8">
            <a:extLst>
              <a:ext uri="{FF2B5EF4-FFF2-40B4-BE49-F238E27FC236}">
                <a16:creationId xmlns:a16="http://schemas.microsoft.com/office/drawing/2014/main" id="{29BD67F1-C451-7D75-9852-FCB519678803}"/>
              </a:ext>
            </a:extLst>
          </p:cNvPr>
          <p:cNvSpPr txBox="1"/>
          <p:nvPr/>
        </p:nvSpPr>
        <p:spPr>
          <a:xfrm>
            <a:off x="609600" y="1344183"/>
            <a:ext cx="6096000" cy="2031325"/>
          </a:xfrm>
          <a:prstGeom prst="rect">
            <a:avLst/>
          </a:prstGeom>
          <a:noFill/>
        </p:spPr>
        <p:txBody>
          <a:bodyPr wrap="square">
            <a:spAutoFit/>
          </a:bodyPr>
          <a:lstStyle/>
          <a:p>
            <a:pPr algn="just"/>
            <a:r>
              <a:rPr lang="en-GB" b="0" i="0" dirty="0">
                <a:solidFill>
                  <a:srgbClr val="242424"/>
                </a:solidFill>
                <a:effectLst/>
                <a:latin typeface="source-serif-pro"/>
              </a:rPr>
              <a:t>If the decision boundary cannot be described by a linear equation, more complex functions are used. For example, polynomial functions or kernel methods in SVMs can create non-linear decision boundaries. </a:t>
            </a:r>
          </a:p>
          <a:p>
            <a:pPr algn="just"/>
            <a:r>
              <a:rPr lang="en-GB" b="0" i="0" dirty="0">
                <a:solidFill>
                  <a:srgbClr val="242424"/>
                </a:solidFill>
                <a:effectLst/>
                <a:latin typeface="source-serif-pro"/>
              </a:rPr>
              <a:t>These methods effectively map the original feature space into a higher-dimensional space where a linear boundary might be sufficient</a:t>
            </a:r>
            <a:endParaRPr lang="en-IN" dirty="0"/>
          </a:p>
        </p:txBody>
      </p:sp>
      <p:pic>
        <p:nvPicPr>
          <p:cNvPr id="10" name="Picture 9">
            <a:extLst>
              <a:ext uri="{FF2B5EF4-FFF2-40B4-BE49-F238E27FC236}">
                <a16:creationId xmlns:a16="http://schemas.microsoft.com/office/drawing/2014/main" id="{FB42DD7E-CCF3-48E0-BF5E-CE20450DAF89}"/>
              </a:ext>
            </a:extLst>
          </p:cNvPr>
          <p:cNvPicPr>
            <a:picLocks noChangeAspect="1"/>
          </p:cNvPicPr>
          <p:nvPr/>
        </p:nvPicPr>
        <p:blipFill>
          <a:blip r:embed="rId2"/>
          <a:stretch>
            <a:fillRect/>
          </a:stretch>
        </p:blipFill>
        <p:spPr>
          <a:xfrm>
            <a:off x="5069032" y="3152578"/>
            <a:ext cx="6210300" cy="3076575"/>
          </a:xfrm>
          <a:prstGeom prst="rect">
            <a:avLst/>
          </a:prstGeom>
        </p:spPr>
      </p:pic>
    </p:spTree>
    <p:extLst>
      <p:ext uri="{BB962C8B-B14F-4D97-AF65-F5344CB8AC3E}">
        <p14:creationId xmlns:p14="http://schemas.microsoft.com/office/powerpoint/2010/main" val="2620623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85AE5A1-FE70-4CE9-9AE9-2669345FBD90}"/>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7D3201FC-2C50-434C-BF51-302048EE58E5}"/>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6CC75BF3-B85F-4FB4-A563-310AD3CF16F4}"/>
              </a:ext>
            </a:extLst>
          </p:cNvPr>
          <p:cNvSpPr>
            <a:spLocks noGrp="1"/>
          </p:cNvSpPr>
          <p:nvPr>
            <p:ph type="sldNum" sz="quarter" idx="12"/>
          </p:nvPr>
        </p:nvSpPr>
        <p:spPr/>
        <p:txBody>
          <a:bodyPr/>
          <a:lstStyle/>
          <a:p>
            <a:fld id="{2EBD257C-DDB9-4445-AD9A-AE1AF229B381}" type="slidenum">
              <a:rPr lang="en-US" smtClean="0"/>
              <a:t>3</a:t>
            </a:fld>
            <a:endParaRPr lang="en-US"/>
          </a:p>
        </p:txBody>
      </p:sp>
      <p:sp>
        <p:nvSpPr>
          <p:cNvPr id="8" name="TextBox 7">
            <a:extLst>
              <a:ext uri="{FF2B5EF4-FFF2-40B4-BE49-F238E27FC236}">
                <a16:creationId xmlns:a16="http://schemas.microsoft.com/office/drawing/2014/main" id="{B7028A79-BA2E-D102-1200-64F10BBFE39B}"/>
              </a:ext>
            </a:extLst>
          </p:cNvPr>
          <p:cNvSpPr txBox="1"/>
          <p:nvPr/>
        </p:nvSpPr>
        <p:spPr>
          <a:xfrm>
            <a:off x="491836" y="1602640"/>
            <a:ext cx="6137562" cy="1477328"/>
          </a:xfrm>
          <a:prstGeom prst="rect">
            <a:avLst/>
          </a:prstGeom>
          <a:noFill/>
        </p:spPr>
        <p:txBody>
          <a:bodyPr wrap="square">
            <a:spAutoFit/>
          </a:bodyPr>
          <a:lstStyle/>
          <a:p>
            <a:pPr algn="just"/>
            <a:r>
              <a:rPr lang="en-GB" b="0" i="0" dirty="0">
                <a:solidFill>
                  <a:srgbClr val="242424"/>
                </a:solidFill>
                <a:effectLst/>
                <a:latin typeface="source-serif-pro"/>
              </a:rPr>
              <a:t>A non linear decision boundary cannot be separated by a line, plane or a hyperplane. It may have curves, bends or other complex patterns. Models that have non linear decision boundary classification are SVM, Decision Trees and Neural Networks.</a:t>
            </a:r>
            <a:endParaRPr lang="en-IN" dirty="0"/>
          </a:p>
        </p:txBody>
      </p:sp>
      <p:pic>
        <p:nvPicPr>
          <p:cNvPr id="9" name="Picture 8">
            <a:extLst>
              <a:ext uri="{FF2B5EF4-FFF2-40B4-BE49-F238E27FC236}">
                <a16:creationId xmlns:a16="http://schemas.microsoft.com/office/drawing/2014/main" id="{3D2649F8-6095-90E6-F7D2-AE5575DF7519}"/>
              </a:ext>
            </a:extLst>
          </p:cNvPr>
          <p:cNvPicPr>
            <a:picLocks noChangeAspect="1"/>
          </p:cNvPicPr>
          <p:nvPr/>
        </p:nvPicPr>
        <p:blipFill>
          <a:blip r:embed="rId2"/>
          <a:stretch>
            <a:fillRect/>
          </a:stretch>
        </p:blipFill>
        <p:spPr>
          <a:xfrm>
            <a:off x="4529570" y="3031694"/>
            <a:ext cx="6457950" cy="3324656"/>
          </a:xfrm>
          <a:prstGeom prst="rect">
            <a:avLst/>
          </a:prstGeom>
        </p:spPr>
      </p:pic>
      <p:sp>
        <p:nvSpPr>
          <p:cNvPr id="12" name="TextBox 11">
            <a:extLst>
              <a:ext uri="{FF2B5EF4-FFF2-40B4-BE49-F238E27FC236}">
                <a16:creationId xmlns:a16="http://schemas.microsoft.com/office/drawing/2014/main" id="{1A041F53-275A-703C-A337-84BD14323C07}"/>
              </a:ext>
            </a:extLst>
          </p:cNvPr>
          <p:cNvSpPr txBox="1"/>
          <p:nvPr/>
        </p:nvSpPr>
        <p:spPr>
          <a:xfrm>
            <a:off x="310359" y="343497"/>
            <a:ext cx="6183206" cy="523220"/>
          </a:xfrm>
          <a:prstGeom prst="rect">
            <a:avLst/>
          </a:prstGeom>
          <a:noFill/>
        </p:spPr>
        <p:txBody>
          <a:bodyPr wrap="square" rtlCol="0">
            <a:spAutoFit/>
          </a:bodyPr>
          <a:lstStyle/>
          <a:p>
            <a:r>
              <a:rPr lang="en-US" sz="2800" b="1" dirty="0"/>
              <a:t>Nonlinear boundaries  : </a:t>
            </a:r>
            <a:r>
              <a:rPr lang="en-GB" sz="2800" b="1" dirty="0">
                <a:latin typeface="+mj-lt"/>
              </a:rPr>
              <a:t>Introduction</a:t>
            </a:r>
            <a:endParaRPr lang="en-US" sz="2800" b="1" dirty="0">
              <a:latin typeface="+mj-lt"/>
            </a:endParaRPr>
          </a:p>
        </p:txBody>
      </p:sp>
    </p:spTree>
    <p:extLst>
      <p:ext uri="{BB962C8B-B14F-4D97-AF65-F5344CB8AC3E}">
        <p14:creationId xmlns:p14="http://schemas.microsoft.com/office/powerpoint/2010/main" val="41721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EFD0AD7-FD75-4F68-96A5-4ADB35E49661}"/>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D920F30D-52D5-4117-9916-0F9764354328}"/>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43BF8089-AE9E-4998-9975-26370F2E283D}"/>
              </a:ext>
            </a:extLst>
          </p:cNvPr>
          <p:cNvSpPr>
            <a:spLocks noGrp="1"/>
          </p:cNvSpPr>
          <p:nvPr>
            <p:ph type="sldNum" sz="quarter" idx="12"/>
          </p:nvPr>
        </p:nvSpPr>
        <p:spPr/>
        <p:txBody>
          <a:bodyPr/>
          <a:lstStyle/>
          <a:p>
            <a:fld id="{2EBD257C-DDB9-4445-AD9A-AE1AF229B381}" type="slidenum">
              <a:rPr lang="en-US" smtClean="0"/>
              <a:t>4</a:t>
            </a:fld>
            <a:endParaRPr lang="en-US"/>
          </a:p>
        </p:txBody>
      </p:sp>
      <p:sp>
        <p:nvSpPr>
          <p:cNvPr id="4" name="TextBox 3">
            <a:extLst>
              <a:ext uri="{FF2B5EF4-FFF2-40B4-BE49-F238E27FC236}">
                <a16:creationId xmlns:a16="http://schemas.microsoft.com/office/drawing/2014/main" id="{22E101E1-1E9F-13EB-6159-A6AAAE039D5D}"/>
              </a:ext>
            </a:extLst>
          </p:cNvPr>
          <p:cNvSpPr txBox="1"/>
          <p:nvPr/>
        </p:nvSpPr>
        <p:spPr>
          <a:xfrm>
            <a:off x="1847273" y="1722827"/>
            <a:ext cx="6096000" cy="1477328"/>
          </a:xfrm>
          <a:prstGeom prst="rect">
            <a:avLst/>
          </a:prstGeom>
          <a:noFill/>
        </p:spPr>
        <p:txBody>
          <a:bodyPr wrap="square">
            <a:spAutoFit/>
          </a:bodyPr>
          <a:lstStyle/>
          <a:p>
            <a:pPr algn="just"/>
            <a:r>
              <a:rPr lang="en-GB" b="0" i="0" dirty="0">
                <a:solidFill>
                  <a:srgbClr val="242424"/>
                </a:solidFill>
                <a:effectLst/>
                <a:latin typeface="source-serif-pro"/>
              </a:rPr>
              <a:t>Adding polynomial terms with higher order powers may induce non linearity or curves that may capture the complex relationship well. Models like Decision Trees, Random Forests, and Gradient Boosting can handle non-linear boundaries naturally by splitting the feature space into regions.</a:t>
            </a:r>
            <a:endParaRPr lang="en-IN" dirty="0"/>
          </a:p>
        </p:txBody>
      </p:sp>
      <p:sp>
        <p:nvSpPr>
          <p:cNvPr id="7" name="TextBox 6">
            <a:extLst>
              <a:ext uri="{FF2B5EF4-FFF2-40B4-BE49-F238E27FC236}">
                <a16:creationId xmlns:a16="http://schemas.microsoft.com/office/drawing/2014/main" id="{8A48F782-F994-8FF7-8F7A-61A7D01D9CF4}"/>
              </a:ext>
            </a:extLst>
          </p:cNvPr>
          <p:cNvSpPr txBox="1"/>
          <p:nvPr/>
        </p:nvSpPr>
        <p:spPr>
          <a:xfrm>
            <a:off x="310359" y="343497"/>
            <a:ext cx="6183206" cy="523220"/>
          </a:xfrm>
          <a:prstGeom prst="rect">
            <a:avLst/>
          </a:prstGeom>
          <a:noFill/>
        </p:spPr>
        <p:txBody>
          <a:bodyPr wrap="square" rtlCol="0">
            <a:spAutoFit/>
          </a:bodyPr>
          <a:lstStyle/>
          <a:p>
            <a:r>
              <a:rPr lang="en-US" sz="2800" b="1" dirty="0"/>
              <a:t>Nonlinear boundaries  : </a:t>
            </a:r>
            <a:r>
              <a:rPr lang="en-GB" sz="2800" b="1" dirty="0">
                <a:latin typeface="+mj-lt"/>
              </a:rPr>
              <a:t>Introduction</a:t>
            </a:r>
            <a:endParaRPr lang="en-US" sz="2800" b="1"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Rectangle 1026">
            <a:extLst>
              <a:ext uri="{FF2B5EF4-FFF2-40B4-BE49-F238E27FC236}">
                <a16:creationId xmlns:a16="http://schemas.microsoft.com/office/drawing/2014/main" id="{8BF8196A-40F9-4800-9CA2-A2E308DEFE42}"/>
              </a:ext>
            </a:extLst>
          </p:cNvPr>
          <p:cNvSpPr>
            <a:spLocks noGrp="1" noChangeArrowheads="1"/>
          </p:cNvSpPr>
          <p:nvPr>
            <p:ph type="title"/>
          </p:nvPr>
        </p:nvSpPr>
        <p:spPr>
          <a:xfrm>
            <a:off x="210942" y="161778"/>
            <a:ext cx="7877175" cy="922338"/>
          </a:xfrm>
        </p:spPr>
        <p:txBody>
          <a:bodyPr/>
          <a:lstStyle/>
          <a:p>
            <a:r>
              <a:rPr lang="en-US" altLang="en-US" sz="3200" b="1" dirty="0">
                <a:solidFill>
                  <a:srgbClr val="800080"/>
                </a:solidFill>
              </a:rPr>
              <a:t>Kernel Functions</a:t>
            </a:r>
          </a:p>
        </p:txBody>
      </p:sp>
      <p:sp>
        <p:nvSpPr>
          <p:cNvPr id="7" name="Rectangle 6">
            <a:extLst>
              <a:ext uri="{FF2B5EF4-FFF2-40B4-BE49-F238E27FC236}">
                <a16:creationId xmlns:a16="http://schemas.microsoft.com/office/drawing/2014/main" id="{4D17E9EF-455F-4F25-8F23-8624A6243A44}"/>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5A120C7F-4F28-49EC-B9DF-9DB95EFF2C5E}"/>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BAFC51BC-1EC2-4395-B5DA-B98973668A51}"/>
              </a:ext>
            </a:extLst>
          </p:cNvPr>
          <p:cNvSpPr>
            <a:spLocks noGrp="1"/>
          </p:cNvSpPr>
          <p:nvPr>
            <p:ph type="sldNum" sz="quarter" idx="12"/>
          </p:nvPr>
        </p:nvSpPr>
        <p:spPr/>
        <p:txBody>
          <a:bodyPr/>
          <a:lstStyle/>
          <a:p>
            <a:fld id="{2EBD257C-DDB9-4445-AD9A-AE1AF229B381}" type="slidenum">
              <a:rPr lang="en-US" smtClean="0"/>
              <a:t>5</a:t>
            </a:fld>
            <a:endParaRPr lang="en-US"/>
          </a:p>
        </p:txBody>
      </p:sp>
      <p:sp>
        <p:nvSpPr>
          <p:cNvPr id="6" name="TextBox 5">
            <a:extLst>
              <a:ext uri="{FF2B5EF4-FFF2-40B4-BE49-F238E27FC236}">
                <a16:creationId xmlns:a16="http://schemas.microsoft.com/office/drawing/2014/main" id="{1A78CB77-1F63-8153-DDD8-6CB7A419BBDD}"/>
              </a:ext>
            </a:extLst>
          </p:cNvPr>
          <p:cNvSpPr txBox="1"/>
          <p:nvPr/>
        </p:nvSpPr>
        <p:spPr>
          <a:xfrm>
            <a:off x="1182253" y="1461619"/>
            <a:ext cx="9827491" cy="3693319"/>
          </a:xfrm>
          <a:prstGeom prst="rect">
            <a:avLst/>
          </a:prstGeom>
          <a:noFill/>
        </p:spPr>
        <p:txBody>
          <a:bodyPr wrap="square">
            <a:spAutoFit/>
          </a:bodyPr>
          <a:lstStyle/>
          <a:p>
            <a:pPr algn="just"/>
            <a:r>
              <a:rPr lang="en-GB" b="1" dirty="0"/>
              <a:t>Kernel Function</a:t>
            </a:r>
            <a:r>
              <a:rPr lang="en-GB" dirty="0"/>
              <a:t> is a method </a:t>
            </a:r>
            <a:r>
              <a:rPr lang="en-GB" b="1" i="1" dirty="0"/>
              <a:t>used to take data as input and transform it into the required form of processing data.</a:t>
            </a:r>
            <a:endParaRPr lang="en-GB" b="0" i="0" dirty="0">
              <a:solidFill>
                <a:srgbClr val="001D35"/>
              </a:solidFill>
              <a:effectLst/>
              <a:latin typeface="Google Sans"/>
            </a:endParaRPr>
          </a:p>
          <a:p>
            <a:pPr algn="just"/>
            <a:endParaRPr lang="en-GB" dirty="0">
              <a:solidFill>
                <a:srgbClr val="001D35"/>
              </a:solidFill>
              <a:latin typeface="Google Sans"/>
            </a:endParaRPr>
          </a:p>
          <a:p>
            <a:pPr algn="just"/>
            <a:r>
              <a:rPr lang="en-GB" b="0" i="0" dirty="0">
                <a:solidFill>
                  <a:srgbClr val="001D35"/>
                </a:solidFill>
                <a:effectLst/>
                <a:latin typeface="Google Sans"/>
              </a:rPr>
              <a:t>In machine learning, a kernel function, or kernel trick, is a mathematical function that computes the dot product of two data points in a higher-dimensional feature space without explicitly transforming the data into that space. </a:t>
            </a:r>
          </a:p>
          <a:p>
            <a:pPr algn="just"/>
            <a:endParaRPr lang="en-GB" dirty="0">
              <a:solidFill>
                <a:srgbClr val="001D35"/>
              </a:solidFill>
              <a:latin typeface="Google Sans"/>
            </a:endParaRPr>
          </a:p>
          <a:p>
            <a:pPr algn="just"/>
            <a:r>
              <a:rPr lang="en-GB" dirty="0"/>
              <a:t> Kernels are used to make non-linear data linearly separable, allowing linear classifiers like Support Vector Machines (SVMs) to work on complex, non-linear problems. </a:t>
            </a:r>
          </a:p>
          <a:p>
            <a:pPr algn="just"/>
            <a:endParaRPr lang="en-GB" dirty="0"/>
          </a:p>
          <a:p>
            <a:pPr algn="just"/>
            <a:r>
              <a:rPr lang="en-GB" dirty="0"/>
              <a:t>They do this by providing a similarity measure between data points that effectively operates in the higher-dimensional space, enabling algorithms to find patterns and relationships that are not obvious in the original low-dimensional space.</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56674"/>
                                        </p:tgtEl>
                                        <p:attrNameLst>
                                          <p:attrName>style.visibility</p:attrName>
                                        </p:attrNameLst>
                                      </p:cBhvr>
                                      <p:to>
                                        <p:strVal val="visible"/>
                                      </p:to>
                                    </p:set>
                                    <p:anim calcmode="lin" valueType="num">
                                      <p:cBhvr additive="base">
                                        <p:cTn id="7" dur="500" fill="hold"/>
                                        <p:tgtEl>
                                          <p:spTgt spid="156674"/>
                                        </p:tgtEl>
                                        <p:attrNameLst>
                                          <p:attrName>ppt_x</p:attrName>
                                        </p:attrNameLst>
                                      </p:cBhvr>
                                      <p:tavLst>
                                        <p:tav tm="0">
                                          <p:val>
                                            <p:strVal val="0-#ppt_w/2"/>
                                          </p:val>
                                        </p:tav>
                                        <p:tav tm="100000">
                                          <p:val>
                                            <p:strVal val="#ppt_x"/>
                                          </p:val>
                                        </p:tav>
                                      </p:tavLst>
                                    </p:anim>
                                    <p:anim calcmode="lin" valueType="num">
                                      <p:cBhvr additive="base">
                                        <p:cTn id="8" dur="500" fill="hold"/>
                                        <p:tgtEl>
                                          <p:spTgt spid="1566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DF529431-A96A-41F0-AF33-5009D657AC45}"/>
              </a:ext>
            </a:extLst>
          </p:cNvPr>
          <p:cNvSpPr>
            <a:spLocks noGrp="1" noChangeArrowheads="1"/>
          </p:cNvSpPr>
          <p:nvPr>
            <p:ph type="title"/>
          </p:nvPr>
        </p:nvSpPr>
        <p:spPr>
          <a:xfrm>
            <a:off x="540371" y="204344"/>
            <a:ext cx="5250829" cy="733425"/>
          </a:xfrm>
        </p:spPr>
        <p:txBody>
          <a:bodyPr/>
          <a:lstStyle/>
          <a:p>
            <a:pPr algn="ctr"/>
            <a:r>
              <a:rPr lang="en-US" altLang="en-US" sz="3200" b="1" dirty="0">
                <a:solidFill>
                  <a:srgbClr val="800080"/>
                </a:solidFill>
              </a:rPr>
              <a:t>Types of Kernel functions</a:t>
            </a:r>
          </a:p>
        </p:txBody>
      </p:sp>
      <p:sp>
        <p:nvSpPr>
          <p:cNvPr id="26" name="Rectangle 25">
            <a:extLst>
              <a:ext uri="{FF2B5EF4-FFF2-40B4-BE49-F238E27FC236}">
                <a16:creationId xmlns:a16="http://schemas.microsoft.com/office/drawing/2014/main" id="{8D608A3E-A3FC-4AD6-A451-E1E37F4F79A5}"/>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86BC1F04-B6C9-42DD-B420-80C5B7FA9702}"/>
              </a:ext>
            </a:extLst>
          </p:cNvPr>
          <p:cNvCxnSpPr/>
          <p:nvPr/>
        </p:nvCxnSpPr>
        <p:spPr>
          <a:xfrm>
            <a:off x="166467" y="993913"/>
            <a:ext cx="1185906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6533C229-CCCE-4CE0-B830-B8016A7EACC3}"/>
              </a:ext>
            </a:extLst>
          </p:cNvPr>
          <p:cNvSpPr>
            <a:spLocks noGrp="1"/>
          </p:cNvSpPr>
          <p:nvPr>
            <p:ph type="sldNum" sz="quarter" idx="12"/>
          </p:nvPr>
        </p:nvSpPr>
        <p:spPr/>
        <p:txBody>
          <a:bodyPr/>
          <a:lstStyle/>
          <a:p>
            <a:fld id="{2EBD257C-DDB9-4445-AD9A-AE1AF229B381}" type="slidenum">
              <a:rPr lang="en-US" smtClean="0"/>
              <a:t>6</a:t>
            </a:fld>
            <a:endParaRPr lang="en-US"/>
          </a:p>
        </p:txBody>
      </p:sp>
      <p:pic>
        <p:nvPicPr>
          <p:cNvPr id="4" name="Picture 3">
            <a:extLst>
              <a:ext uri="{FF2B5EF4-FFF2-40B4-BE49-F238E27FC236}">
                <a16:creationId xmlns:a16="http://schemas.microsoft.com/office/drawing/2014/main" id="{D9EC805A-DB11-3651-684B-5A02F005C5BC}"/>
              </a:ext>
            </a:extLst>
          </p:cNvPr>
          <p:cNvPicPr>
            <a:picLocks noChangeAspect="1"/>
          </p:cNvPicPr>
          <p:nvPr/>
        </p:nvPicPr>
        <p:blipFill>
          <a:blip r:embed="rId2"/>
          <a:stretch>
            <a:fillRect/>
          </a:stretch>
        </p:blipFill>
        <p:spPr>
          <a:xfrm>
            <a:off x="838200" y="1252981"/>
            <a:ext cx="10334625" cy="54006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6978"/>
                                        </p:tgtEl>
                                        <p:attrNameLst>
                                          <p:attrName>style.visibility</p:attrName>
                                        </p:attrNameLst>
                                      </p:cBhvr>
                                      <p:to>
                                        <p:strVal val="visible"/>
                                      </p:to>
                                    </p:set>
                                    <p:anim calcmode="lin" valueType="num">
                                      <p:cBhvr additive="base">
                                        <p:cTn id="7" dur="500" fill="hold"/>
                                        <p:tgtEl>
                                          <p:spTgt spid="126978"/>
                                        </p:tgtEl>
                                        <p:attrNameLst>
                                          <p:attrName>ppt_x</p:attrName>
                                        </p:attrNameLst>
                                      </p:cBhvr>
                                      <p:tavLst>
                                        <p:tav tm="0">
                                          <p:val>
                                            <p:strVal val="0-#ppt_w/2"/>
                                          </p:val>
                                        </p:tav>
                                        <p:tav tm="100000">
                                          <p:val>
                                            <p:strVal val="#ppt_x"/>
                                          </p:val>
                                        </p:tav>
                                      </p:tavLst>
                                    </p:anim>
                                    <p:anim calcmode="lin" valueType="num">
                                      <p:cBhvr additive="base">
                                        <p:cTn id="8" dur="500" fill="hold"/>
                                        <p:tgtEl>
                                          <p:spTgt spid="1269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EB47C6-8BAC-4453-A01A-EE9CA42465AF}"/>
              </a:ext>
            </a:extLst>
          </p:cNvPr>
          <p:cNvSpPr/>
          <p:nvPr/>
        </p:nvSpPr>
        <p:spPr>
          <a:xfrm>
            <a:off x="168812" y="154745"/>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4251B583-9374-4690-82B8-C0AE05118B61}"/>
              </a:ext>
            </a:extLst>
          </p:cNvPr>
          <p:cNvSpPr>
            <a:spLocks noGrp="1"/>
          </p:cNvSpPr>
          <p:nvPr>
            <p:ph type="sldNum" sz="quarter" idx="12"/>
          </p:nvPr>
        </p:nvSpPr>
        <p:spPr/>
        <p:txBody>
          <a:bodyPr/>
          <a:lstStyle/>
          <a:p>
            <a:fld id="{2EBD257C-DDB9-4445-AD9A-AE1AF229B381}" type="slidenum">
              <a:rPr lang="en-US" smtClean="0"/>
              <a:t>7</a:t>
            </a:fld>
            <a:endParaRPr lang="en-US"/>
          </a:p>
        </p:txBody>
      </p:sp>
      <p:pic>
        <p:nvPicPr>
          <p:cNvPr id="10" name="Picture 9">
            <a:extLst>
              <a:ext uri="{FF2B5EF4-FFF2-40B4-BE49-F238E27FC236}">
                <a16:creationId xmlns:a16="http://schemas.microsoft.com/office/drawing/2014/main" id="{185A9715-3AD1-6FDE-8A7C-2EB72D98D57A}"/>
              </a:ext>
            </a:extLst>
          </p:cNvPr>
          <p:cNvPicPr>
            <a:picLocks noChangeAspect="1"/>
          </p:cNvPicPr>
          <p:nvPr/>
        </p:nvPicPr>
        <p:blipFill>
          <a:blip r:embed="rId2"/>
          <a:stretch>
            <a:fillRect/>
          </a:stretch>
        </p:blipFill>
        <p:spPr>
          <a:xfrm>
            <a:off x="809625" y="642937"/>
            <a:ext cx="10572750" cy="5572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198846E-AF82-4747-9EC6-18C397DA3BA7}"/>
              </a:ext>
            </a:extLst>
          </p:cNvPr>
          <p:cNvSpPr/>
          <p:nvPr/>
        </p:nvSpPr>
        <p:spPr>
          <a:xfrm>
            <a:off x="166467" y="188969"/>
            <a:ext cx="11859065" cy="6541477"/>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7D87F92-48C5-40A9-B9F7-55E74F4DEDE1}"/>
              </a:ext>
            </a:extLst>
          </p:cNvPr>
          <p:cNvSpPr>
            <a:spLocks noGrp="1"/>
          </p:cNvSpPr>
          <p:nvPr>
            <p:ph type="sldNum" sz="quarter" idx="12"/>
          </p:nvPr>
        </p:nvSpPr>
        <p:spPr/>
        <p:txBody>
          <a:bodyPr/>
          <a:lstStyle/>
          <a:p>
            <a:fld id="{2EBD257C-DDB9-4445-AD9A-AE1AF229B381}" type="slidenum">
              <a:rPr lang="en-US" smtClean="0"/>
              <a:t>8</a:t>
            </a:fld>
            <a:endParaRPr lang="en-US"/>
          </a:p>
        </p:txBody>
      </p:sp>
      <p:pic>
        <p:nvPicPr>
          <p:cNvPr id="11" name="Picture 10">
            <a:extLst>
              <a:ext uri="{FF2B5EF4-FFF2-40B4-BE49-F238E27FC236}">
                <a16:creationId xmlns:a16="http://schemas.microsoft.com/office/drawing/2014/main" id="{B698009E-D456-3DAF-B955-03D55414B75D}"/>
              </a:ext>
            </a:extLst>
          </p:cNvPr>
          <p:cNvPicPr>
            <a:picLocks noChangeAspect="1"/>
          </p:cNvPicPr>
          <p:nvPr/>
        </p:nvPicPr>
        <p:blipFill>
          <a:blip r:embed="rId2"/>
          <a:stretch>
            <a:fillRect/>
          </a:stretch>
        </p:blipFill>
        <p:spPr>
          <a:xfrm>
            <a:off x="842962" y="495300"/>
            <a:ext cx="10506075" cy="5867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855</TotalTime>
  <Words>307</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Google Sans</vt:lpstr>
      <vt:lpstr>source-serif-pro</vt:lpstr>
      <vt:lpstr>Office Theme</vt:lpstr>
      <vt:lpstr>PowerPoint Presentation</vt:lpstr>
      <vt:lpstr>PowerPoint Presentation</vt:lpstr>
      <vt:lpstr>PowerPoint Presentation</vt:lpstr>
      <vt:lpstr>PowerPoint Presentation</vt:lpstr>
      <vt:lpstr>Kernel Functions</vt:lpstr>
      <vt:lpstr>Types of Kernel functions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Subhash Chandra N</dc:creator>
  <cp:lastModifiedBy>Subhash Chandra N</cp:lastModifiedBy>
  <cp:revision>54</cp:revision>
  <dcterms:created xsi:type="dcterms:W3CDTF">2021-04-16T13:40:43Z</dcterms:created>
  <dcterms:modified xsi:type="dcterms:W3CDTF">2025-10-14T09:26:57Z</dcterms:modified>
</cp:coreProperties>
</file>