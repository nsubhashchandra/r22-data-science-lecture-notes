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7" r:id="rId2"/>
    <p:sldId id="266" r:id="rId3"/>
    <p:sldId id="258" r:id="rId4"/>
    <p:sldId id="343" r:id="rId5"/>
    <p:sldId id="267" r:id="rId6"/>
    <p:sldId id="345" r:id="rId7"/>
    <p:sldId id="344" r:id="rId8"/>
    <p:sldId id="287" r:id="rId9"/>
    <p:sldId id="288" r:id="rId10"/>
    <p:sldId id="292" r:id="rId11"/>
    <p:sldId id="293" r:id="rId12"/>
    <p:sldId id="294" r:id="rId13"/>
    <p:sldId id="295" r:id="rId14"/>
    <p:sldId id="320" r:id="rId15"/>
    <p:sldId id="321" r:id="rId16"/>
    <p:sldId id="313" r:id="rId17"/>
    <p:sldId id="297" r:id="rId18"/>
    <p:sldId id="337" r:id="rId19"/>
    <p:sldId id="334" r:id="rId20"/>
    <p:sldId id="335" r:id="rId21"/>
    <p:sldId id="289" r:id="rId22"/>
    <p:sldId id="290" r:id="rId23"/>
    <p:sldId id="291" r:id="rId24"/>
    <p:sldId id="296" r:id="rId25"/>
    <p:sldId id="312" r:id="rId26"/>
    <p:sldId id="314" r:id="rId27"/>
    <p:sldId id="338" r:id="rId28"/>
    <p:sldId id="339" r:id="rId29"/>
    <p:sldId id="340" r:id="rId30"/>
    <p:sldId id="341" r:id="rId31"/>
    <p:sldId id="342" r:id="rId32"/>
    <p:sldId id="316" r:id="rId33"/>
    <p:sldId id="317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FDA0A-90E5-4082-8D94-32F92AE23260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2985A9-204F-4B85-B2B0-418F0C56D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963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2641C-EA29-4810-99E3-90524386AC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091162-5A70-4438-A1BD-028D4B9060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E5034-C5D0-484E-B15A-897A90BD1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392BC-0C74-4BE6-8512-97CE022AC1BF}" type="datetime1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224955-76C6-4373-854F-BCB0BB460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7040B8-E0D7-4E66-A961-9F269D642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D257C-DDB9-4445-AD9A-AE1AF229B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660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547D5-C33C-4723-9AD1-9581DC6F6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B487A-E2D1-45DD-B59A-718A33E90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9D885-FAFD-47B5-8C78-CAFD56BA2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5A47-B5C4-4BE0-B929-169D7B8EE11C}" type="datetime1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1B421F-0782-40C5-A167-33AF23B4F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2B8987-8B42-40C6-B122-C56CEF974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D257C-DDB9-4445-AD9A-AE1AF229B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645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248AE-AEAE-47A9-9549-B0C4C7496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A2CF30-9A61-43C7-9538-31F1E9A4F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C23E23-330C-42D8-9A5C-F7BDCE622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97E1A-FEA4-400E-BE5C-71B24DE54401}" type="datetime1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C32D1-C165-4119-8D7E-3C291A934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F9A1E-FC77-4E0A-AD3C-F63F5A2B8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D257C-DDB9-4445-AD9A-AE1AF229B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360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76D70-AA94-472B-9DCF-50F0B7198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88C16-A2A7-4E42-B50B-75F19E4A88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89EBB1-466B-4A8B-8B49-9AC1A85427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B3B404-52EA-4305-9E53-5F7592164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D0A65-7F3E-412E-87FF-C41B10148115}" type="datetime1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7269B4-3E7D-44D5-AE6C-246B7EFA4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17CF0-723D-4219-B279-65C40E6CD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D257C-DDB9-4445-AD9A-AE1AF229B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20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FF3A1-711E-4A27-ADCA-934F44D30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409AAC-F71E-4F39-883D-FFC064C49E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B8E404-4304-4577-9CD4-4E964CE438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00393C-3619-4211-8372-5A1A43920C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33182A-B51C-4A24-AFBC-4971F98F32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AEC582-F361-4ECA-84C4-4BB28B737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028F5-52B7-4755-9B7A-C2625308E320}" type="datetime1">
              <a:rPr lang="en-US" smtClean="0"/>
              <a:t>10/17/2025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674846-31C7-4BEC-AA8D-09663E3EC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57E60F-12A6-4537-91E5-6995B58E9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D257C-DDB9-4445-AD9A-AE1AF229B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588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34EEC-7E5A-472D-B54A-47461BF30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DFD07E-E07F-4C67-ADC4-B0634ED29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5EED4-4ADE-4F32-9D90-289823E3460D}" type="datetime1">
              <a:rPr lang="en-US" smtClean="0"/>
              <a:t>10/17/2025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877B5D-545A-4255-9C8F-D6689A431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A49B79-D977-4AB2-B254-FF6E4B62A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D257C-DDB9-4445-AD9A-AE1AF229B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696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BF6B27-F7B2-4B07-8AD7-E8F51E330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85626-140B-4453-AF3B-6CF1116B6740}" type="datetime1">
              <a:rPr lang="en-US" smtClean="0"/>
              <a:t>10/17/2025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53E120-A0DF-4E55-B98E-22B2E5CDD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08C472-3E9B-4572-88D4-7BC98A442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D257C-DDB9-4445-AD9A-AE1AF229B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935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A9801-71AD-4DC5-B03E-9E888177B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2AAE0-7D83-4FE3-868F-F350EFE37F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D13D8A-856E-40B8-A750-D736777484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1D4204-D46B-48FC-9B94-C9A90E1BF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F1C56-14D6-4ADB-A5A8-E45A3211A1F1}" type="datetime1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6C9CBF-9DDE-4F00-B981-A9C7F110E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F216F1-9072-46E4-A336-7A51F9D83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D257C-DDB9-4445-AD9A-AE1AF229B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342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1E600-90C0-44A0-AD62-A364BFE79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435443-A888-460A-8B9C-2E2436FB5C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3E29A4-E9F9-4279-9FE3-35AD750F81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DE38E-4870-4A0D-84A3-BEA30725D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C1085-4687-4710-92CF-879AEADFB116}" type="datetime1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5239CD-9373-4D81-A144-D4AA42B81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EEA427-B96B-48B7-BFC9-F4F77DB3B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D257C-DDB9-4445-AD9A-AE1AF229B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831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B2549-7F51-4A8B-BAD4-337DB805F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789CC0-CAFB-47A9-9862-5F22F67526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A4E6B-F86B-4342-826F-74D7D54B5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F8AE8-A59B-47B0-9170-48863B8765D8}" type="datetime1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98DC8-8B8D-4781-A75B-BF73B032D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12EB6-5BF3-4FE9-93E9-7C6D5396E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D257C-DDB9-4445-AD9A-AE1AF229B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179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2E59FA-F740-4410-845D-05BCD63D75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AAE596-8AAC-43F3-A468-61F76C546C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AF631-4947-41F7-9F4D-31034F4A6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65A52-B104-4FEB-9EED-A6FB84697EAE}" type="datetime1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E100B-9046-42DF-9DA9-4C9FA46DD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2CCC0-3227-42A1-9098-0990FA791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D257C-DDB9-4445-AD9A-AE1AF229B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465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014BCF-1BD4-4BFF-8B20-FDD58BBC3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9B671F-E9BE-4F0B-8592-12C9F1265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F8C20-0368-48CD-A306-887A9FE8D2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1978E0-8DDD-4F0E-A868-3D21B6DB2CC6}" type="datetime1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CF7FC-8DAB-4A49-8FDF-4D259E86C2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F0FC4-82DE-48F8-8D41-4C1B0A7DA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BD257C-DDB9-4445-AD9A-AE1AF229B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416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557A3D-EB15-4DD6-A00E-12FF3FDC0C3B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1F2A628-432E-460D-9C3F-8B83EE4EB5A2}"/>
              </a:ext>
            </a:extLst>
          </p:cNvPr>
          <p:cNvCxnSpPr>
            <a:stCxn id="4" idx="1"/>
            <a:endCxn id="4" idx="3"/>
          </p:cNvCxnSpPr>
          <p:nvPr/>
        </p:nvCxnSpPr>
        <p:spPr>
          <a:xfrm>
            <a:off x="168812" y="3425484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123C614-6896-4D6E-A0A5-9F5AFF02E9D9}"/>
              </a:ext>
            </a:extLst>
          </p:cNvPr>
          <p:cNvSpPr txBox="1"/>
          <p:nvPr/>
        </p:nvSpPr>
        <p:spPr>
          <a:xfrm>
            <a:off x="3419061" y="1417982"/>
            <a:ext cx="575144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dirty="0"/>
              <a:t>Data Science</a:t>
            </a:r>
          </a:p>
          <a:p>
            <a:pPr algn="ctr"/>
            <a:r>
              <a:rPr lang="en-GB" sz="4400" b="1" dirty="0"/>
              <a:t>Unit-III</a:t>
            </a:r>
            <a:endParaRPr lang="en-US" sz="4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B312C8-AD28-4A30-94F6-111AC88D4A2B}"/>
              </a:ext>
            </a:extLst>
          </p:cNvPr>
          <p:cNvSpPr txBox="1"/>
          <p:nvPr/>
        </p:nvSpPr>
        <p:spPr>
          <a:xfrm>
            <a:off x="1948070" y="3787410"/>
            <a:ext cx="8680173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Multidimensional Scaling </a:t>
            </a:r>
          </a:p>
          <a:p>
            <a:pPr algn="ctr"/>
            <a:r>
              <a:rPr lang="en-US" sz="2400" b="1" dirty="0"/>
              <a:t>Source: Web resources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715FC6-9530-4615-A56B-301F40E1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D257C-DDB9-4445-AD9A-AE1AF229B38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089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5AE5A1-FE70-4CE9-9AE9-2669345FBD90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D3201FC-2C50-434C-BF51-302048EE58E5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">
            <a:extLst>
              <a:ext uri="{FF2B5EF4-FFF2-40B4-BE49-F238E27FC236}">
                <a16:creationId xmlns:a16="http://schemas.microsoft.com/office/drawing/2014/main" id="{BD214D9F-FBE6-4FFA-B909-2F50625807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4123" y="207617"/>
            <a:ext cx="7793037" cy="733425"/>
          </a:xfrm>
        </p:spPr>
        <p:txBody>
          <a:bodyPr/>
          <a:lstStyle/>
          <a:p>
            <a:r>
              <a:rPr lang="en-US" altLang="en-US" b="1" dirty="0">
                <a:solidFill>
                  <a:srgbClr val="800080"/>
                </a:solidFill>
                <a:cs typeface="Times New Roman" panose="02020603050405020304" pitchFamily="18" charset="0"/>
              </a:rPr>
              <a:t>Multidimensional Scaling (MDS)</a:t>
            </a:r>
            <a:r>
              <a:rPr lang="en-US" altLang="en-US" b="1" dirty="0">
                <a:solidFill>
                  <a:srgbClr val="800080"/>
                </a:solidFill>
              </a:rPr>
              <a:t> 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307D0FB-6051-4D61-A77A-03B8D57B8A64}"/>
              </a:ext>
            </a:extLst>
          </p:cNvPr>
          <p:cNvSpPr txBox="1">
            <a:spLocks noChangeArrowheads="1"/>
          </p:cNvSpPr>
          <p:nvPr/>
        </p:nvSpPr>
        <p:spPr>
          <a:xfrm>
            <a:off x="799719" y="1295852"/>
            <a:ext cx="10592559" cy="499268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ct val="50000"/>
              </a:spcBef>
              <a:buClr>
                <a:srgbClr val="CC0000"/>
              </a:buClr>
            </a:pPr>
            <a:r>
              <a:rPr lang="en-GB" dirty="0"/>
              <a:t>MDS is a method for </a:t>
            </a:r>
            <a:r>
              <a:rPr lang="en-GB" b="1" dirty="0"/>
              <a:t>visualizing similarities or dissimilarities</a:t>
            </a:r>
            <a:r>
              <a:rPr lang="en-GB" dirty="0"/>
              <a:t> between items. </a:t>
            </a:r>
            <a:endParaRPr lang="en-US" altLang="en-US" dirty="0">
              <a:solidFill>
                <a:srgbClr val="800080"/>
              </a:solidFill>
              <a:cs typeface="Times New Roman" panose="02020603050405020304" pitchFamily="18" charset="0"/>
            </a:endParaRPr>
          </a:p>
          <a:p>
            <a:pPr algn="just">
              <a:spcBef>
                <a:spcPct val="50000"/>
              </a:spcBef>
              <a:buClr>
                <a:srgbClr val="CC0000"/>
              </a:buClr>
            </a:pPr>
            <a:r>
              <a:rPr lang="en-GB" dirty="0"/>
              <a:t>Given a matrix of pairwise distances (or dissimilarities), MDS aims to place each item as a point in a lower-dimensional space (often 2D or 3D) such that the projected distances approximate the original distances.</a:t>
            </a:r>
            <a:endParaRPr lang="en-US" altLang="en-US" dirty="0">
              <a:solidFill>
                <a:srgbClr val="800080"/>
              </a:solidFill>
              <a:cs typeface="Times New Roman" panose="02020603050405020304" pitchFamily="18" charset="0"/>
            </a:endParaRPr>
          </a:p>
          <a:p>
            <a:pPr algn="just">
              <a:spcBef>
                <a:spcPct val="50000"/>
              </a:spcBef>
              <a:buClr>
                <a:srgbClr val="CC0000"/>
              </a:buClr>
            </a:pPr>
            <a:r>
              <a:rPr lang="en-US" altLang="en-US" dirty="0">
                <a:solidFill>
                  <a:srgbClr val="800080"/>
                </a:solidFill>
                <a:cs typeface="Times New Roman" panose="02020603050405020304" pitchFamily="18" charset="0"/>
              </a:rPr>
              <a:t>It is Supervised learning Dimensionality reduction.</a:t>
            </a:r>
          </a:p>
          <a:p>
            <a:pPr algn="just">
              <a:spcBef>
                <a:spcPct val="50000"/>
              </a:spcBef>
              <a:buClr>
                <a:srgbClr val="CC0000"/>
              </a:buClr>
            </a:pPr>
            <a:r>
              <a:rPr lang="en-US" altLang="en-US" dirty="0">
                <a:solidFill>
                  <a:srgbClr val="800080"/>
                </a:solidFill>
                <a:cs typeface="Times New Roman" panose="02020603050405020304" pitchFamily="18" charset="0"/>
              </a:rPr>
              <a:t>Used for Non-linear type data, Many-fold data</a:t>
            </a:r>
          </a:p>
          <a:p>
            <a:pPr algn="just">
              <a:spcBef>
                <a:spcPct val="50000"/>
              </a:spcBef>
              <a:buClr>
                <a:srgbClr val="CC0000"/>
              </a:buClr>
            </a:pPr>
            <a:r>
              <a:rPr lang="en-US" altLang="en-US" dirty="0">
                <a:solidFill>
                  <a:srgbClr val="800080"/>
                </a:solidFill>
                <a:cs typeface="Times New Roman" panose="02020603050405020304" pitchFamily="18" charset="0"/>
              </a:rPr>
              <a:t>It reduces n-dimensionality to lower dimensionality while preserving distances b/w samples.</a:t>
            </a:r>
          </a:p>
          <a:p>
            <a:pPr algn="just">
              <a:spcBef>
                <a:spcPct val="50000"/>
              </a:spcBef>
              <a:buClr>
                <a:srgbClr val="CC0000"/>
              </a:buClr>
            </a:pPr>
            <a:r>
              <a:rPr lang="en-US" altLang="en-US" b="1" dirty="0">
                <a:solidFill>
                  <a:srgbClr val="800080"/>
                </a:solidFill>
                <a:cs typeface="Times New Roman" panose="02020603050405020304" pitchFamily="18" charset="0"/>
              </a:rPr>
              <a:t>MDS</a:t>
            </a:r>
            <a:r>
              <a:rPr lang="en-US" altLang="en-US" dirty="0">
                <a:solidFill>
                  <a:srgbClr val="CC0000"/>
                </a:solidFill>
                <a:cs typeface="Times New Roman" panose="02020603050405020304" pitchFamily="18" charset="0"/>
              </a:rPr>
              <a:t> uses similarity  or dissimilarity measure( Euclidian distance)</a:t>
            </a:r>
          </a:p>
          <a:p>
            <a:pPr algn="just">
              <a:spcBef>
                <a:spcPct val="50000"/>
              </a:spcBef>
              <a:buClr>
                <a:srgbClr val="CC0000"/>
              </a:buClr>
            </a:pPr>
            <a:r>
              <a:rPr lang="en-US" altLang="en-US" dirty="0">
                <a:solidFill>
                  <a:srgbClr val="CC0000"/>
                </a:solidFill>
                <a:cs typeface="Times New Roman" panose="02020603050405020304" pitchFamily="18" charset="0"/>
              </a:rPr>
              <a:t>In this case two Methods can used</a:t>
            </a:r>
          </a:p>
          <a:p>
            <a:pPr lvl="1" algn="just">
              <a:spcBef>
                <a:spcPct val="50000"/>
              </a:spcBef>
              <a:buClr>
                <a:srgbClr val="CC0000"/>
              </a:buClr>
            </a:pPr>
            <a:r>
              <a:rPr lang="en-US" altLang="en-US" dirty="0">
                <a:solidFill>
                  <a:srgbClr val="CC0000"/>
                </a:solidFill>
                <a:cs typeface="Times New Roman" panose="02020603050405020304" pitchFamily="18" charset="0"/>
              </a:rPr>
              <a:t>1. MDS</a:t>
            </a:r>
          </a:p>
          <a:p>
            <a:pPr lvl="1" algn="just">
              <a:spcBef>
                <a:spcPct val="50000"/>
              </a:spcBef>
              <a:buClr>
                <a:srgbClr val="CC0000"/>
              </a:buClr>
            </a:pPr>
            <a:r>
              <a:rPr lang="en-US" altLang="en-US" dirty="0">
                <a:solidFill>
                  <a:srgbClr val="CC0000"/>
                </a:solidFill>
                <a:cs typeface="Times New Roman" panose="02020603050405020304" pitchFamily="18" charset="0"/>
              </a:rPr>
              <a:t>2. </a:t>
            </a:r>
            <a:r>
              <a:rPr lang="en-US" altLang="en-US" dirty="0" err="1">
                <a:solidFill>
                  <a:srgbClr val="CC0000"/>
                </a:solidFill>
                <a:cs typeface="Times New Roman" panose="02020603050405020304" pitchFamily="18" charset="0"/>
              </a:rPr>
              <a:t>Isomaps</a:t>
            </a:r>
            <a:endParaRPr lang="en-US" altLang="en-US" dirty="0">
              <a:solidFill>
                <a:srgbClr val="CC0000"/>
              </a:solidFill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C75BF3-B85F-4FB4-A563-310AD3CF1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D257C-DDB9-4445-AD9A-AE1AF229B38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507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5AE5A1-FE70-4CE9-9AE9-2669345FBD90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D3201FC-2C50-434C-BF51-302048EE58E5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634AF4E-B894-4134-8875-B0EE5D14D6A2}"/>
              </a:ext>
            </a:extLst>
          </p:cNvPr>
          <p:cNvSpPr txBox="1"/>
          <p:nvPr/>
        </p:nvSpPr>
        <p:spPr>
          <a:xfrm>
            <a:off x="463825" y="1055470"/>
            <a:ext cx="651028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2400" dirty="0"/>
              <a:t>Dimensionality Reduction: PCA, Linear Discriminant Analysis(LDA).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2400" dirty="0"/>
              <a:t>Multidimensional scaling (MDS) is a technique that creates a </a:t>
            </a:r>
            <a:r>
              <a:rPr lang="en-GB" sz="2400" b="1" dirty="0"/>
              <a:t>map displaying the relative positions of several objects</a:t>
            </a:r>
            <a:r>
              <a:rPr lang="en-GB" sz="2400" dirty="0"/>
              <a:t>, given only a table of the distances between them.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2400" dirty="0"/>
              <a:t>The map may consist of one, two, three, or even more dimensions.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2400" dirty="0"/>
              <a:t>The program calculates either the metric or the non-metric solution.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2400" dirty="0"/>
              <a:t>The table of distances is known as the proximity matrix. It arises either directly from experiments or indirectly as a correlation matrix. 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042238-FD99-41AD-AAF2-62F6AA67F41D}"/>
              </a:ext>
            </a:extLst>
          </p:cNvPr>
          <p:cNvSpPr txBox="1"/>
          <p:nvPr/>
        </p:nvSpPr>
        <p:spPr>
          <a:xfrm>
            <a:off x="310359" y="343497"/>
            <a:ext cx="61832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+mj-lt"/>
              </a:rPr>
              <a:t>Introduction</a:t>
            </a:r>
            <a:endParaRPr lang="en-US" sz="2800" b="1" dirty="0"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0352A0-20A8-4A2B-B479-5AF256F16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4108" y="1616767"/>
            <a:ext cx="4873335" cy="337086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E5B7A1-07A5-4CD8-9E6D-D001C6F25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D257C-DDB9-4445-AD9A-AE1AF229B38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623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8" name="Rectangle 4">
            <a:extLst>
              <a:ext uri="{FF2B5EF4-FFF2-40B4-BE49-F238E27FC236}">
                <a16:creationId xmlns:a16="http://schemas.microsoft.com/office/drawing/2014/main" id="{CAFA5000-A2D0-4855-A3AD-4E60D77379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5982" y="-3969"/>
            <a:ext cx="8105775" cy="922338"/>
          </a:xfrm>
          <a:noFill/>
          <a:ln/>
        </p:spPr>
        <p:txBody>
          <a:bodyPr>
            <a:normAutofit/>
          </a:bodyPr>
          <a:lstStyle/>
          <a:p>
            <a:r>
              <a:rPr lang="en-US" altLang="en-US" sz="3200" b="1" dirty="0">
                <a:solidFill>
                  <a:srgbClr val="800080"/>
                </a:solidFill>
              </a:rPr>
              <a:t>Example: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A1D66A-0BF0-461C-A6A7-221FF06CD857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7CF581C-DFE7-41C1-B615-34B89B845526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4CCA6E-1F98-4D39-9E82-C8179237D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D257C-DDB9-4445-AD9A-AE1AF229B381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B7B9C7-45ED-BFB6-37AC-BCCA09DA1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761" y="1422400"/>
            <a:ext cx="8372475" cy="493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469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48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4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68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id="{8CBAF426-5E9E-4C7F-A012-5CA08CBC33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4123" y="241439"/>
            <a:ext cx="8715375" cy="733425"/>
          </a:xfrm>
        </p:spPr>
        <p:txBody>
          <a:bodyPr>
            <a:normAutofit/>
          </a:bodyPr>
          <a:lstStyle/>
          <a:p>
            <a:pPr algn="ctr"/>
            <a:r>
              <a:rPr lang="en-US" altLang="en-US" b="1" dirty="0">
                <a:solidFill>
                  <a:srgbClr val="800080"/>
                </a:solidFill>
              </a:rPr>
              <a:t>Types of Multidimensional Scaling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EFD0AD7-FD75-4F68-96A5-4ADB35E49661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920F30D-52D5-4117-9916-0F9764354328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BF8089-AE9E-4998-9975-26370F2E2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D257C-DDB9-4445-AD9A-AE1AF229B381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97FFD4-91CB-7CB2-C3A5-3AEC68B65A96}"/>
              </a:ext>
            </a:extLst>
          </p:cNvPr>
          <p:cNvSpPr txBox="1"/>
          <p:nvPr/>
        </p:nvSpPr>
        <p:spPr>
          <a:xfrm>
            <a:off x="2272145" y="1833082"/>
            <a:ext cx="7823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GB" sz="2400" b="1" dirty="0"/>
              <a:t>Classical (metric) MDS</a:t>
            </a:r>
            <a:r>
              <a:rPr lang="en-GB" sz="2400" dirty="0"/>
              <a:t>: Assumes the dissimilarities are Euclidean distances and tries to preserve them linearly.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sz="2400" b="1" dirty="0"/>
              <a:t>Nonmetric MDS</a:t>
            </a:r>
            <a:r>
              <a:rPr lang="en-GB" sz="2400" dirty="0"/>
              <a:t>: Only the rank ordering of distances matters (i.e. relative closeness). It is more flexible when the dissimilarities are ordinal rather than metric.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sz="2400" b="1" dirty="0"/>
              <a:t>Generalized / non-Euclidean MDS</a:t>
            </a:r>
            <a:r>
              <a:rPr lang="en-GB" sz="2400" dirty="0"/>
              <a:t>: Embeds into spaces other than flat Euclidean space (e.g. curved surfaces).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GB" sz="2400" b="1" dirty="0"/>
              <a:t>Majorization methods</a:t>
            </a:r>
            <a:r>
              <a:rPr lang="en-GB" sz="2400" dirty="0"/>
              <a:t>: Optimization techniques to iteratively reduce the stress (error) function. </a:t>
            </a:r>
            <a:endParaRPr lang="en-IN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59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59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4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9727BB7-6009-A123-FD05-7DB766EF7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id="{81CF20B8-2334-F762-AE54-22A0C7C679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4123" y="241439"/>
            <a:ext cx="8715375" cy="733425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b="1" dirty="0">
                <a:solidFill>
                  <a:srgbClr val="800080"/>
                </a:solidFill>
              </a:rPr>
              <a:t>Multidimensional Scaling: How it works ??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6959806-E476-5497-3C42-3BB87A7DE538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557D16F-47DC-BBF0-4D04-E03164408C90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5FB4B2-76D3-7148-40D9-4F073A751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D257C-DDB9-4445-AD9A-AE1AF229B381}" type="slidenum">
              <a:rPr lang="en-US" smtClean="0"/>
              <a:t>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B438E1D-6A7B-D226-9783-8D329739941E}"/>
                  </a:ext>
                </a:extLst>
              </p:cNvPr>
              <p:cNvSpPr txBox="1"/>
              <p:nvPr/>
            </p:nvSpPr>
            <p:spPr>
              <a:xfrm>
                <a:off x="535709" y="1061558"/>
                <a:ext cx="6668654" cy="53553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GB" b="1" dirty="0"/>
                  <a:t>Measure or define dissimilarities</a:t>
                </a:r>
                <a:br>
                  <a:rPr lang="en-GB" dirty="0"/>
                </a:br>
                <a:r>
                  <a:rPr lang="en-GB" dirty="0"/>
                  <a:t>You need a distance (or dissimilarity) matrix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GB" dirty="0"/>
                  <a:t>among all pairs of items.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b="1" dirty="0" err="1"/>
                  <a:t>Centering</a:t>
                </a:r>
                <a:r>
                  <a:rPr lang="en-GB" b="1" dirty="0"/>
                  <a:t> and transformation</a:t>
                </a:r>
                <a:br>
                  <a:rPr lang="en-GB" dirty="0"/>
                </a:br>
                <a:r>
                  <a:rPr lang="en-GB" dirty="0"/>
                  <a:t>Use operations (like </a:t>
                </a:r>
                <a:r>
                  <a:rPr lang="en-GB" b="1" dirty="0"/>
                  <a:t>double </a:t>
                </a:r>
                <a:r>
                  <a:rPr lang="en-GB" b="1" dirty="0" err="1"/>
                  <a:t>centering</a:t>
                </a:r>
                <a:r>
                  <a:rPr lang="en-GB" dirty="0"/>
                  <a:t>) to convert distances into a form suitable for embedding (especially in the “classical” MDS).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b="1" dirty="0"/>
                  <a:t>Eigen-decomposition / SVD</a:t>
                </a:r>
                <a:br>
                  <a:rPr lang="en-GB" dirty="0"/>
                </a:br>
                <a:r>
                  <a:rPr lang="en-GB" dirty="0"/>
                  <a:t>Perform </a:t>
                </a:r>
                <a:r>
                  <a:rPr lang="en-GB" b="1" dirty="0"/>
                  <a:t>eigenvalue decomposition </a:t>
                </a:r>
                <a:r>
                  <a:rPr lang="en-GB" dirty="0"/>
                  <a:t>or singular value decomposition on the transformed matrix to extract coordinates in lower dimensions. 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b="1" dirty="0"/>
                  <a:t>Choose dimensions and plot</a:t>
                </a:r>
                <a:br>
                  <a:rPr lang="en-GB" dirty="0"/>
                </a:br>
                <a:r>
                  <a:rPr lang="en-GB" dirty="0"/>
                  <a:t>Pick how many dimensions to retain (commonly 2 or 3), and use the resulting coordinates to create a scatter plot. The closer two points are in the plot, the more similar they are (according to the original data).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b="1" dirty="0"/>
                  <a:t>Evaluate fit / stress</a:t>
                </a:r>
                <a:br>
                  <a:rPr lang="en-GB" dirty="0"/>
                </a:br>
                <a:r>
                  <a:rPr lang="en-GB" dirty="0"/>
                  <a:t>Compute a “stress” or error metric that indicates how well the low-dimensional distances match the original ones. Lower stress = better fit.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B438E1D-6A7B-D226-9783-8D32973994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709" y="1061558"/>
                <a:ext cx="6668654" cy="5355312"/>
              </a:xfrm>
              <a:prstGeom prst="rect">
                <a:avLst/>
              </a:prstGeom>
              <a:blipFill>
                <a:blip r:embed="rId2"/>
                <a:stretch>
                  <a:fillRect l="-823" t="-569" r="-1280" b="-7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9AA79F2-1E63-C598-95F0-5FF9EAD0A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4363" y="1336242"/>
            <a:ext cx="4574509" cy="370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184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59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59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4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6D849FA-38A0-647D-BC49-E0CECF604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id="{A4D9B40E-02DA-1DDE-CD3A-DEAD93DD73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4123" y="241439"/>
            <a:ext cx="8715375" cy="733425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b="1" dirty="0">
                <a:solidFill>
                  <a:srgbClr val="800080"/>
                </a:solidFill>
              </a:rPr>
              <a:t>Procedure for Multidimensional Scaling</a:t>
            </a:r>
          </a:p>
        </p:txBody>
      </p:sp>
      <p:sp>
        <p:nvSpPr>
          <p:cNvPr id="125961" name="Rectangle 9">
            <a:extLst>
              <a:ext uri="{FF2B5EF4-FFF2-40B4-BE49-F238E27FC236}">
                <a16:creationId xmlns:a16="http://schemas.microsoft.com/office/drawing/2014/main" id="{43DD67D6-17F7-A7DC-5419-12AFAC14D1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0700" y="2070101"/>
            <a:ext cx="6540500" cy="3476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5967" name="Line 15">
            <a:extLst>
              <a:ext uri="{FF2B5EF4-FFF2-40B4-BE49-F238E27FC236}">
                <a16:creationId xmlns:a16="http://schemas.microsoft.com/office/drawing/2014/main" id="{BEA7B68E-A6E5-0E39-09D4-1C7585ED1D35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3000" y="2462213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5968" name="Rectangle 16">
            <a:extLst>
              <a:ext uri="{FF2B5EF4-FFF2-40B4-BE49-F238E27FC236}">
                <a16:creationId xmlns:a16="http://schemas.microsoft.com/office/drawing/2014/main" id="{2ADFB432-146F-BE3C-5553-DFD09CC39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4501" y="2057401"/>
            <a:ext cx="40116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altLang="en-US" sz="1600" b="1">
                <a:solidFill>
                  <a:srgbClr val="CC0000"/>
                </a:solidFill>
              </a:rPr>
              <a:t>              Formulate the Problem</a:t>
            </a:r>
          </a:p>
        </p:txBody>
      </p:sp>
      <p:sp>
        <p:nvSpPr>
          <p:cNvPr id="125960" name="Rectangle 8">
            <a:extLst>
              <a:ext uri="{FF2B5EF4-FFF2-40B4-BE49-F238E27FC236}">
                <a16:creationId xmlns:a16="http://schemas.microsoft.com/office/drawing/2014/main" id="{1B6B1188-C58F-5F99-34F9-14C6CC1705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0700" y="2811463"/>
            <a:ext cx="6540500" cy="347662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5966" name="Line 14">
            <a:extLst>
              <a:ext uri="{FF2B5EF4-FFF2-40B4-BE49-F238E27FC236}">
                <a16:creationId xmlns:a16="http://schemas.microsoft.com/office/drawing/2014/main" id="{F86EB6D6-131B-A40A-05C5-16D6FD9C8929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3000" y="3200400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5969" name="Rectangle 17">
            <a:extLst>
              <a:ext uri="{FF2B5EF4-FFF2-40B4-BE49-F238E27FC236}">
                <a16:creationId xmlns:a16="http://schemas.microsoft.com/office/drawing/2014/main" id="{44044D21-EB66-2855-B5A0-27477E3D4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5313" y="2816226"/>
            <a:ext cx="236090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en-US" sz="1600" b="1">
                <a:solidFill>
                  <a:srgbClr val="CC0000"/>
                </a:solidFill>
              </a:rPr>
              <a:t>              Obtain Input Data</a:t>
            </a:r>
          </a:p>
        </p:txBody>
      </p:sp>
      <p:sp>
        <p:nvSpPr>
          <p:cNvPr id="125963" name="Rectangle 11">
            <a:extLst>
              <a:ext uri="{FF2B5EF4-FFF2-40B4-BE49-F238E27FC236}">
                <a16:creationId xmlns:a16="http://schemas.microsoft.com/office/drawing/2014/main" id="{075B37E7-0597-4BC6-B738-5F3377629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0700" y="4186237"/>
            <a:ext cx="6540500" cy="488389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5964" name="Line 12">
            <a:extLst>
              <a:ext uri="{FF2B5EF4-FFF2-40B4-BE49-F238E27FC236}">
                <a16:creationId xmlns:a16="http://schemas.microsoft.com/office/drawing/2014/main" id="{6EB85F14-5AFB-CDED-D2A3-2C4D367D9274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3000" y="4538663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5970" name="Rectangle 18">
            <a:extLst>
              <a:ext uri="{FF2B5EF4-FFF2-40B4-BE49-F238E27FC236}">
                <a16:creationId xmlns:a16="http://schemas.microsoft.com/office/drawing/2014/main" id="{29C1CC1A-61F8-21BA-D8E1-2230443E5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6264" y="4154594"/>
            <a:ext cx="6665913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/>
            <a:r>
              <a:rPr lang="en-US" altLang="en-US" sz="1600" b="1" dirty="0">
                <a:solidFill>
                  <a:srgbClr val="CC0000"/>
                </a:solidFill>
              </a:rPr>
              <a:t>  Decide on the Number of Dimensions (generate New dimensions(lower) with         1. Eigen Decomposition method, 2. Optimizer method </a:t>
            </a:r>
          </a:p>
        </p:txBody>
      </p:sp>
      <p:sp>
        <p:nvSpPr>
          <p:cNvPr id="125958" name="Line 6">
            <a:extLst>
              <a:ext uri="{FF2B5EF4-FFF2-40B4-BE49-F238E27FC236}">
                <a16:creationId xmlns:a16="http://schemas.microsoft.com/office/drawing/2014/main" id="{396A7990-702E-D722-581E-7296C15B9228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3000" y="3849688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5959" name="Rectangle 7">
            <a:extLst>
              <a:ext uri="{FF2B5EF4-FFF2-40B4-BE49-F238E27FC236}">
                <a16:creationId xmlns:a16="http://schemas.microsoft.com/office/drawing/2014/main" id="{1FBBF3D6-1FB6-33A4-B13E-C0877EF0F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0700" y="3498851"/>
            <a:ext cx="6540500" cy="488389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5971" name="Rectangle 19">
            <a:extLst>
              <a:ext uri="{FF2B5EF4-FFF2-40B4-BE49-F238E27FC236}">
                <a16:creationId xmlns:a16="http://schemas.microsoft.com/office/drawing/2014/main" id="{80B0DAEB-E24C-C835-8263-91A6B883B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2036" y="3442102"/>
            <a:ext cx="6416460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r>
              <a:rPr lang="en-US" altLang="en-US" sz="1600" b="1" dirty="0">
                <a:solidFill>
                  <a:srgbClr val="CC0000"/>
                </a:solidFill>
              </a:rPr>
              <a:t>Select an MDS Procedure( Calculate Proximity matrix with similarity or dissimilarity values with Euclidian Distance  )</a:t>
            </a:r>
          </a:p>
        </p:txBody>
      </p:sp>
      <p:sp>
        <p:nvSpPr>
          <p:cNvPr id="125972" name="Rectangle 20">
            <a:extLst>
              <a:ext uri="{FF2B5EF4-FFF2-40B4-BE49-F238E27FC236}">
                <a16:creationId xmlns:a16="http://schemas.microsoft.com/office/drawing/2014/main" id="{711A5AC4-015D-DE6F-F1D5-5CAFDBAB6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3400" y="4873625"/>
            <a:ext cx="6515100" cy="64770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5973" name="Rectangle 21">
            <a:extLst>
              <a:ext uri="{FF2B5EF4-FFF2-40B4-BE49-F238E27FC236}">
                <a16:creationId xmlns:a16="http://schemas.microsoft.com/office/drawing/2014/main" id="{5534AF51-C003-69D0-43B3-62EB0FB6B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6264" y="4859338"/>
            <a:ext cx="6288087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/>
            <a:r>
              <a:rPr lang="en-US" altLang="en-US" sz="1600" b="1" dirty="0">
                <a:solidFill>
                  <a:srgbClr val="CC0000"/>
                </a:solidFill>
              </a:rPr>
              <a:t>Label the Dimensions and Interpret</a:t>
            </a:r>
          </a:p>
          <a:p>
            <a:pPr algn="ctr"/>
            <a:r>
              <a:rPr lang="en-US" altLang="en-US" sz="1600" b="1" dirty="0">
                <a:solidFill>
                  <a:srgbClr val="CC0000"/>
                </a:solidFill>
              </a:rPr>
              <a:t> the Configuration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EAEE69-B691-FF6E-363D-3BEFB6B168F5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EBF68D9-3143-E337-A049-838B7DA896C1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994768-2B44-F619-7886-6E33F1BFC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D257C-DDB9-4445-AD9A-AE1AF229B38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994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59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59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4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1026">
            <a:extLst>
              <a:ext uri="{FF2B5EF4-FFF2-40B4-BE49-F238E27FC236}">
                <a16:creationId xmlns:a16="http://schemas.microsoft.com/office/drawing/2014/main" id="{8BF8196A-40F9-4800-9CA2-A2E308DEFE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0942" y="161778"/>
            <a:ext cx="7877175" cy="922338"/>
          </a:xfrm>
        </p:spPr>
        <p:txBody>
          <a:bodyPr/>
          <a:lstStyle/>
          <a:p>
            <a:r>
              <a:rPr lang="en-US" altLang="en-US" sz="3200" b="1" dirty="0">
                <a:solidFill>
                  <a:srgbClr val="800080"/>
                </a:solidFill>
              </a:rPr>
              <a:t>1. Formulate the Problem</a:t>
            </a:r>
          </a:p>
        </p:txBody>
      </p:sp>
      <p:sp>
        <p:nvSpPr>
          <p:cNvPr id="156675" name="Rectangle 1027">
            <a:extLst>
              <a:ext uri="{FF2B5EF4-FFF2-40B4-BE49-F238E27FC236}">
                <a16:creationId xmlns:a16="http://schemas.microsoft.com/office/drawing/2014/main" id="{5CF66F01-992D-4B3A-839E-8C968DD7B7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81226" y="2017714"/>
            <a:ext cx="8334375" cy="4154487"/>
          </a:xfrm>
        </p:spPr>
        <p:txBody>
          <a:bodyPr/>
          <a:lstStyle/>
          <a:p>
            <a:pPr algn="just">
              <a:spcBef>
                <a:spcPct val="100000"/>
              </a:spcBef>
              <a:buClr>
                <a:srgbClr val="CC0000"/>
              </a:buClr>
            </a:pPr>
            <a:r>
              <a:rPr lang="en-US" altLang="en-US" dirty="0">
                <a:cs typeface="Times New Roman" panose="02020603050405020304" pitchFamily="18" charset="0"/>
              </a:rPr>
              <a:t>Specify the purpose of MDS.</a:t>
            </a:r>
          </a:p>
          <a:p>
            <a:pPr algn="just">
              <a:spcBef>
                <a:spcPct val="100000"/>
              </a:spcBef>
              <a:buClr>
                <a:srgbClr val="CC0000"/>
              </a:buClr>
            </a:pPr>
            <a:r>
              <a:rPr lang="en-US" altLang="en-US" dirty="0">
                <a:cs typeface="Times New Roman" panose="02020603050405020304" pitchFamily="18" charset="0"/>
              </a:rPr>
              <a:t>Select the brands to be included in the analysis.  Usually varies between 8 and 25 brands.</a:t>
            </a:r>
          </a:p>
          <a:p>
            <a:pPr algn="just">
              <a:spcBef>
                <a:spcPct val="100000"/>
              </a:spcBef>
              <a:buClr>
                <a:srgbClr val="CC0000"/>
              </a:buClr>
            </a:pPr>
            <a:r>
              <a:rPr lang="en-US" altLang="en-US" dirty="0">
                <a:cs typeface="Times New Roman" panose="02020603050405020304" pitchFamily="18" charset="0"/>
              </a:rPr>
              <a:t>The choice of number and specific brands should be based on the marketing research problem, theory, and the judgment of the researcher.</a:t>
            </a:r>
            <a:endParaRPr lang="en-US" alt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17E9EF-455F-4F25-8F23-8624A6243A44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A120C7F-4F28-49EC-B9DF-9DB95EFF2C5E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FC51BC-1EC2-4395-B5DA-B98973668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D257C-DDB9-4445-AD9A-AE1AF229B381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6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6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66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66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4" grpId="0" autoUpdateAnimBg="0"/>
      <p:bldP spid="156675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DF529431-A96A-41F0-AF33-5009D657AC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0371" y="204344"/>
            <a:ext cx="6997079" cy="733425"/>
          </a:xfrm>
        </p:spPr>
        <p:txBody>
          <a:bodyPr/>
          <a:lstStyle/>
          <a:p>
            <a:pPr algn="ctr"/>
            <a:r>
              <a:rPr lang="en-US" altLang="en-US" sz="3200" b="1" dirty="0">
                <a:solidFill>
                  <a:srgbClr val="800080"/>
                </a:solidFill>
              </a:rPr>
              <a:t>2. Input Data for Multidimensional Scaling</a:t>
            </a:r>
          </a:p>
        </p:txBody>
      </p:sp>
      <p:grpSp>
        <p:nvGrpSpPr>
          <p:cNvPr id="127006" name="Group 30">
            <a:extLst>
              <a:ext uri="{FF2B5EF4-FFF2-40B4-BE49-F238E27FC236}">
                <a16:creationId xmlns:a16="http://schemas.microsoft.com/office/drawing/2014/main" id="{789CA849-8ADF-45F7-A38C-57591E3FD27E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2133600"/>
            <a:ext cx="7708900" cy="3581400"/>
            <a:chOff x="384" y="1064"/>
            <a:chExt cx="4856" cy="1945"/>
          </a:xfrm>
        </p:grpSpPr>
        <p:sp>
          <p:nvSpPr>
            <p:cNvPr id="126989" name="Rectangle 13">
              <a:extLst>
                <a:ext uri="{FF2B5EF4-FFF2-40B4-BE49-F238E27FC236}">
                  <a16:creationId xmlns:a16="http://schemas.microsoft.com/office/drawing/2014/main" id="{234C4E85-F0CA-48FB-95DF-25B75F0AC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576"/>
              <a:ext cx="1328" cy="433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6992" name="Rectangle 16">
              <a:extLst>
                <a:ext uri="{FF2B5EF4-FFF2-40B4-BE49-F238E27FC236}">
                  <a16:creationId xmlns:a16="http://schemas.microsoft.com/office/drawing/2014/main" id="{08829E34-D6E2-4723-A0F0-A765402B2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" y="2574"/>
              <a:ext cx="1311" cy="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r>
                <a:rPr lang="en-US" altLang="en-US">
                  <a:solidFill>
                    <a:srgbClr val="CC0000"/>
                  </a:solidFill>
                </a:rPr>
                <a:t>Direct (Similarity Judgments)</a:t>
              </a:r>
            </a:p>
          </p:txBody>
        </p:sp>
        <p:sp>
          <p:nvSpPr>
            <p:cNvPr id="126994" name="Rectangle 18">
              <a:extLst>
                <a:ext uri="{FF2B5EF4-FFF2-40B4-BE49-F238E27FC236}">
                  <a16:creationId xmlns:a16="http://schemas.microsoft.com/office/drawing/2014/main" id="{07E89DC6-202B-4A74-8507-676D4B676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2576"/>
              <a:ext cx="1392" cy="433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6995" name="Rectangle 19">
              <a:extLst>
                <a:ext uri="{FF2B5EF4-FFF2-40B4-BE49-F238E27FC236}">
                  <a16:creationId xmlns:a16="http://schemas.microsoft.com/office/drawing/2014/main" id="{4FFF0452-0F02-47D1-BDFB-88EF99E9B9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8" y="2544"/>
              <a:ext cx="1408" cy="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r>
                <a:rPr lang="en-US" altLang="en-US">
                  <a:solidFill>
                    <a:srgbClr val="CC0000"/>
                  </a:solidFill>
                </a:rPr>
                <a:t>Derived (Attribute Ratings) </a:t>
              </a:r>
            </a:p>
          </p:txBody>
        </p:sp>
        <p:sp>
          <p:nvSpPr>
            <p:cNvPr id="126981" name="Line 5">
              <a:extLst>
                <a:ext uri="{FF2B5EF4-FFF2-40B4-BE49-F238E27FC236}">
                  <a16:creationId xmlns:a16="http://schemas.microsoft.com/office/drawing/2014/main" id="{F54328BB-F6D8-4834-8918-29941AE527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348"/>
              <a:ext cx="0" cy="284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6984" name="Line 8">
              <a:extLst>
                <a:ext uri="{FF2B5EF4-FFF2-40B4-BE49-F238E27FC236}">
                  <a16:creationId xmlns:a16="http://schemas.microsoft.com/office/drawing/2014/main" id="{D571F2D0-0A78-4EF4-B218-0A01FAA06B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1636"/>
              <a:ext cx="0" cy="204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6985" name="Line 9">
              <a:extLst>
                <a:ext uri="{FF2B5EF4-FFF2-40B4-BE49-F238E27FC236}">
                  <a16:creationId xmlns:a16="http://schemas.microsoft.com/office/drawing/2014/main" id="{595DB4F1-B070-4064-BD8F-81583ACAE4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1632"/>
              <a:ext cx="0" cy="20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6988" name="Rectangle 12">
              <a:extLst>
                <a:ext uri="{FF2B5EF4-FFF2-40B4-BE49-F238E27FC236}">
                  <a16:creationId xmlns:a16="http://schemas.microsoft.com/office/drawing/2014/main" id="{3862D838-04C4-4E5E-9576-A0A3CFC8A3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2" y="1064"/>
              <a:ext cx="2378" cy="277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6990" name="Rectangle 14">
              <a:extLst>
                <a:ext uri="{FF2B5EF4-FFF2-40B4-BE49-F238E27FC236}">
                  <a16:creationId xmlns:a16="http://schemas.microsoft.com/office/drawing/2014/main" id="{86C474EB-40E7-443B-A296-672F08A963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1078"/>
              <a:ext cx="1052" cy="1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en-US">
                  <a:solidFill>
                    <a:srgbClr val="CC0000"/>
                  </a:solidFill>
                </a:rPr>
                <a:t>MDS Input Data</a:t>
              </a:r>
            </a:p>
          </p:txBody>
        </p:sp>
        <p:sp>
          <p:nvSpPr>
            <p:cNvPr id="126997" name="Line 21">
              <a:extLst>
                <a:ext uri="{FF2B5EF4-FFF2-40B4-BE49-F238E27FC236}">
                  <a16:creationId xmlns:a16="http://schemas.microsoft.com/office/drawing/2014/main" id="{8D73D1FC-CE25-4ABC-9D21-2117E2390C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1632"/>
              <a:ext cx="2784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6980" name="Line 4">
              <a:extLst>
                <a:ext uri="{FF2B5EF4-FFF2-40B4-BE49-F238E27FC236}">
                  <a16:creationId xmlns:a16="http://schemas.microsoft.com/office/drawing/2014/main" id="{8957B1A7-62CD-411A-AE85-B19E2DD1F6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2068"/>
              <a:ext cx="0" cy="284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6982" name="Line 6">
              <a:extLst>
                <a:ext uri="{FF2B5EF4-FFF2-40B4-BE49-F238E27FC236}">
                  <a16:creationId xmlns:a16="http://schemas.microsoft.com/office/drawing/2014/main" id="{75364DAE-8E8F-4D85-ACDA-8CD0503DD1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2356"/>
              <a:ext cx="0" cy="204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6983" name="Line 7">
              <a:extLst>
                <a:ext uri="{FF2B5EF4-FFF2-40B4-BE49-F238E27FC236}">
                  <a16:creationId xmlns:a16="http://schemas.microsoft.com/office/drawing/2014/main" id="{68DAEFA9-8178-4A97-AE71-A8B4D38BA3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356"/>
              <a:ext cx="0" cy="204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6986" name="Rectangle 10">
              <a:extLst>
                <a:ext uri="{FF2B5EF4-FFF2-40B4-BE49-F238E27FC236}">
                  <a16:creationId xmlns:a16="http://schemas.microsoft.com/office/drawing/2014/main" id="{04E6EF0C-D4B8-4590-8401-EB5EAE3024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8" y="1854"/>
              <a:ext cx="1212" cy="218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6987" name="Rectangle 11">
              <a:extLst>
                <a:ext uri="{FF2B5EF4-FFF2-40B4-BE49-F238E27FC236}">
                  <a16:creationId xmlns:a16="http://schemas.microsoft.com/office/drawing/2014/main" id="{9631DE6D-FFDA-4EC2-BDF1-EB2C35502B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1856"/>
              <a:ext cx="1208" cy="218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6991" name="Rectangle 15">
              <a:extLst>
                <a:ext uri="{FF2B5EF4-FFF2-40B4-BE49-F238E27FC236}">
                  <a16:creationId xmlns:a16="http://schemas.microsoft.com/office/drawing/2014/main" id="{A5B85BA5-EE49-4F58-8A70-06D8FD6C87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2" y="1840"/>
              <a:ext cx="810" cy="1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en-US">
                  <a:solidFill>
                    <a:srgbClr val="CC0000"/>
                  </a:solidFill>
                </a:rPr>
                <a:t>Perceptions</a:t>
              </a:r>
            </a:p>
          </p:txBody>
        </p:sp>
        <p:sp>
          <p:nvSpPr>
            <p:cNvPr id="126993" name="Rectangle 17">
              <a:extLst>
                <a:ext uri="{FF2B5EF4-FFF2-40B4-BE49-F238E27FC236}">
                  <a16:creationId xmlns:a16="http://schemas.microsoft.com/office/drawing/2014/main" id="{B5BE7F0B-8BD2-42A6-991F-13C5EFD3D7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3" y="1840"/>
              <a:ext cx="946" cy="1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en-US"/>
                <a:t>  </a:t>
              </a:r>
              <a:r>
                <a:rPr lang="en-US" altLang="en-US">
                  <a:solidFill>
                    <a:srgbClr val="CC0000"/>
                  </a:solidFill>
                </a:rPr>
                <a:t>Preferences</a:t>
              </a:r>
              <a:r>
                <a:rPr lang="en-US" altLang="en-US"/>
                <a:t>  </a:t>
              </a:r>
            </a:p>
          </p:txBody>
        </p:sp>
        <p:sp>
          <p:nvSpPr>
            <p:cNvPr id="126998" name="Line 22">
              <a:extLst>
                <a:ext uri="{FF2B5EF4-FFF2-40B4-BE49-F238E27FC236}">
                  <a16:creationId xmlns:a16="http://schemas.microsoft.com/office/drawing/2014/main" id="{6F755C52-039D-48D2-AF47-B14862CD28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352"/>
              <a:ext cx="1920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8D608A3E-A3FC-4AD6-A451-E1E37F4F79A5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6BC1F04-B6C9-42DD-B420-80C5B7FA9702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33C229-CCCE-4CE0-B830-B8016A7EA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D257C-DDB9-4445-AD9A-AE1AF229B381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69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69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70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70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78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7" name="Rectangle 3">
            <a:extLst>
              <a:ext uri="{FF2B5EF4-FFF2-40B4-BE49-F238E27FC236}">
                <a16:creationId xmlns:a16="http://schemas.microsoft.com/office/drawing/2014/main" id="{38D5EDDD-A3B3-4B43-B2C5-F4A9EA69C0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9930" y="1559788"/>
            <a:ext cx="10349948" cy="4230688"/>
          </a:xfrm>
        </p:spPr>
        <p:txBody>
          <a:bodyPr/>
          <a:lstStyle/>
          <a:p>
            <a:pPr algn="just">
              <a:spcBef>
                <a:spcPct val="100000"/>
              </a:spcBef>
              <a:buClr>
                <a:srgbClr val="CC0000"/>
              </a:buClr>
            </a:pPr>
            <a:r>
              <a:rPr lang="en-US" altLang="en-US" sz="2400" dirty="0">
                <a:cs typeface="Times New Roman" panose="02020603050405020304" pitchFamily="18" charset="0"/>
              </a:rPr>
              <a:t>The direct approach has the following advantages and disadvantages:</a:t>
            </a:r>
          </a:p>
          <a:p>
            <a:pPr algn="just">
              <a:spcBef>
                <a:spcPct val="100000"/>
              </a:spcBef>
              <a:buClr>
                <a:srgbClr val="CC0000"/>
              </a:buClr>
              <a:buFont typeface="Wingdings" panose="05000000000000000000" pitchFamily="2" charset="2"/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	1.The researcher does not have to identify a set of salient attributes.  </a:t>
            </a:r>
          </a:p>
          <a:p>
            <a:pPr algn="just">
              <a:spcBef>
                <a:spcPct val="100000"/>
              </a:spcBef>
              <a:buClr>
                <a:srgbClr val="CC0000"/>
              </a:buClr>
              <a:buFont typeface="Wingdings" panose="05000000000000000000" pitchFamily="2" charset="2"/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	2. The disadvantages are that the criteria are influenced by the brands or stimuli being evaluated.  </a:t>
            </a:r>
          </a:p>
          <a:p>
            <a:pPr algn="just">
              <a:spcBef>
                <a:spcPct val="100000"/>
              </a:spcBef>
              <a:buClr>
                <a:srgbClr val="CC0000"/>
              </a:buClr>
              <a:buFont typeface="Wingdings" panose="05000000000000000000" pitchFamily="2" charset="2"/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	3. Furthermore, it may be difficult to label the dimensions of the spatial map.</a:t>
            </a:r>
          </a:p>
        </p:txBody>
      </p:sp>
      <p:sp>
        <p:nvSpPr>
          <p:cNvPr id="159749" name="Rectangle 5">
            <a:extLst>
              <a:ext uri="{FF2B5EF4-FFF2-40B4-BE49-F238E27FC236}">
                <a16:creationId xmlns:a16="http://schemas.microsoft.com/office/drawing/2014/main" id="{D4BEA27E-5C66-43A8-8E75-31A520E22F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29492"/>
            <a:ext cx="9525000" cy="962025"/>
          </a:xfrm>
          <a:noFill/>
          <a:ln/>
        </p:spPr>
        <p:txBody>
          <a:bodyPr>
            <a:normAutofit/>
          </a:bodyPr>
          <a:lstStyle/>
          <a:p>
            <a:r>
              <a:rPr lang="en-US" altLang="en-US" sz="3200" b="1" dirty="0">
                <a:solidFill>
                  <a:srgbClr val="800080"/>
                </a:solidFill>
              </a:rPr>
              <a:t> Direct Approach: </a:t>
            </a:r>
            <a:r>
              <a:rPr lang="en-US" altLang="en-US" sz="3200" b="1" dirty="0">
                <a:cs typeface="Times New Roman" panose="02020603050405020304" pitchFamily="18" charset="0"/>
              </a:rPr>
              <a:t>Advantages and disadvantages</a:t>
            </a:r>
            <a:endParaRPr lang="en-US" altLang="en-US" sz="3200" b="1" dirty="0">
              <a:solidFill>
                <a:srgbClr val="80008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EB47C6-8BAC-4453-A01A-EE9CA42465AF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3F9C7E4-2404-433C-AC8B-ED2067190733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51B583-9374-4690-82B8-C0AE05118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D257C-DDB9-4445-AD9A-AE1AF229B381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9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9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9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97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47" grpId="0" autoUpdateAnimBg="0"/>
      <p:bldP spid="159749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1" name="Rectangle 3">
            <a:extLst>
              <a:ext uri="{FF2B5EF4-FFF2-40B4-BE49-F238E27FC236}">
                <a16:creationId xmlns:a16="http://schemas.microsoft.com/office/drawing/2014/main" id="{58013BE5-4312-4D9C-885B-AFF6E02A04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295400"/>
            <a:ext cx="10515600" cy="5562600"/>
          </a:xfrm>
        </p:spPr>
        <p:txBody>
          <a:bodyPr/>
          <a:lstStyle/>
          <a:p>
            <a:pPr algn="just">
              <a:spcBef>
                <a:spcPct val="30000"/>
              </a:spcBef>
              <a:buClr>
                <a:srgbClr val="CC0000"/>
              </a:buClr>
            </a:pPr>
            <a:r>
              <a:rPr lang="en-US" altLang="en-US" dirty="0">
                <a:cs typeface="Times New Roman" panose="02020603050405020304" pitchFamily="18" charset="0"/>
              </a:rPr>
              <a:t>The attribute-based approach has the following advantages and disadvantages:</a:t>
            </a:r>
          </a:p>
          <a:p>
            <a:pPr algn="just">
              <a:spcBef>
                <a:spcPct val="30000"/>
              </a:spcBef>
              <a:buClr>
                <a:srgbClr val="CC0000"/>
              </a:buClr>
              <a:buFont typeface="Wingdings" panose="05000000000000000000" pitchFamily="2" charset="2"/>
              <a:buNone/>
            </a:pPr>
            <a:r>
              <a:rPr lang="en-US" altLang="en-US" dirty="0">
                <a:cs typeface="Times New Roman" panose="02020603050405020304" pitchFamily="18" charset="0"/>
              </a:rPr>
              <a:t>	1. It is easier to label the dimensions.  </a:t>
            </a:r>
          </a:p>
          <a:p>
            <a:pPr algn="just">
              <a:spcBef>
                <a:spcPct val="30000"/>
              </a:spcBef>
              <a:buClr>
                <a:srgbClr val="CC0000"/>
              </a:buClr>
              <a:buFont typeface="Wingdings" panose="05000000000000000000" pitchFamily="2" charset="2"/>
              <a:buNone/>
            </a:pPr>
            <a:r>
              <a:rPr lang="en-US" altLang="en-US" dirty="0">
                <a:cs typeface="Times New Roman" panose="02020603050405020304" pitchFamily="18" charset="0"/>
              </a:rPr>
              <a:t>	2. A disadvantage is that the researcher must identify all the salient attributes, a difficult task.  </a:t>
            </a:r>
          </a:p>
          <a:p>
            <a:pPr marL="0" indent="0" algn="just">
              <a:spcBef>
                <a:spcPct val="30000"/>
              </a:spcBef>
              <a:buClr>
                <a:srgbClr val="CC0000"/>
              </a:buClr>
              <a:buNone/>
            </a:pPr>
            <a:endParaRPr lang="en-US" altLang="en-US" dirty="0">
              <a:cs typeface="Times New Roman" panose="02020603050405020304" pitchFamily="18" charset="0"/>
            </a:endParaRPr>
          </a:p>
          <a:p>
            <a:pPr algn="just">
              <a:spcBef>
                <a:spcPct val="30000"/>
              </a:spcBef>
              <a:buClr>
                <a:srgbClr val="CC0000"/>
              </a:buClr>
            </a:pPr>
            <a:r>
              <a:rPr lang="en-US" altLang="en-US" dirty="0">
                <a:cs typeface="Times New Roman" panose="02020603050405020304" pitchFamily="18" charset="0"/>
              </a:rPr>
              <a:t>Use both these approaches. Direct similarity judgments  used for obtaining the spatial map, and attribute ratings used to interpret dimensions of the perceptual map.</a:t>
            </a:r>
            <a:r>
              <a:rPr lang="en-US" altLang="en-US" sz="3500" dirty="0">
                <a:cs typeface="Times New Roman" panose="02020603050405020304" pitchFamily="18" charset="0"/>
              </a:rPr>
              <a:t> </a:t>
            </a:r>
            <a:endParaRPr lang="en-US" altLang="en-US" sz="35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98846E-AF82-4747-9EC6-18C397DA3BA7}"/>
              </a:ext>
            </a:extLst>
          </p:cNvPr>
          <p:cNvSpPr/>
          <p:nvPr/>
        </p:nvSpPr>
        <p:spPr>
          <a:xfrm>
            <a:off x="166467" y="188969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D41BCDB-1AEE-4D77-BF74-04F53AB626F6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5">
            <a:extLst>
              <a:ext uri="{FF2B5EF4-FFF2-40B4-BE49-F238E27FC236}">
                <a16:creationId xmlns:a16="http://schemas.microsoft.com/office/drawing/2014/main" id="{5830849F-0547-4E21-B21E-CEB58F4A0D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29492"/>
            <a:ext cx="9525000" cy="962025"/>
          </a:xfrm>
          <a:noFill/>
          <a:ln/>
        </p:spPr>
        <p:txBody>
          <a:bodyPr>
            <a:normAutofit/>
          </a:bodyPr>
          <a:lstStyle/>
          <a:p>
            <a:r>
              <a:rPr lang="en-US" altLang="en-US" sz="3200" b="1" dirty="0">
                <a:solidFill>
                  <a:srgbClr val="800080"/>
                </a:solidFill>
              </a:rPr>
              <a:t> Derived Approach: </a:t>
            </a:r>
            <a:r>
              <a:rPr lang="en-US" altLang="en-US" sz="3200" b="1" dirty="0">
                <a:cs typeface="Times New Roman" panose="02020603050405020304" pitchFamily="18" charset="0"/>
              </a:rPr>
              <a:t>Advantages and disadvantages</a:t>
            </a:r>
            <a:endParaRPr lang="en-US" altLang="en-US" sz="3200" b="1" dirty="0">
              <a:solidFill>
                <a:srgbClr val="80008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D87F92-48C5-40A9-B9F7-55E74F4DE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D257C-DDB9-4445-AD9A-AE1AF229B381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07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07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1" grpId="0" autoUpdateAnimBg="0"/>
      <p:bldP spid="9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3F6AA-DD80-491C-8277-26B8743EC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21-</a:t>
            </a:r>
            <a:fld id="{C616B45B-64B0-415A-8C92-41A4C761673D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163843" name="Rectangle 3">
            <a:extLst>
              <a:ext uri="{FF2B5EF4-FFF2-40B4-BE49-F238E27FC236}">
                <a16:creationId xmlns:a16="http://schemas.microsoft.com/office/drawing/2014/main" id="{764704D6-3C69-4C5D-A192-B4CE1112FF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92696" y="1117273"/>
            <a:ext cx="10161104" cy="5181600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  <a:spcBef>
                <a:spcPct val="50000"/>
              </a:spcBef>
              <a:buClr>
                <a:srgbClr val="CC0000"/>
              </a:buClr>
            </a:pPr>
            <a:r>
              <a:rPr lang="en-US" altLang="en-US" sz="2000" dirty="0">
                <a:solidFill>
                  <a:srgbClr val="CC0000"/>
                </a:solidFill>
                <a:cs typeface="Times New Roman" panose="02020603050405020304" pitchFamily="18" charset="0"/>
              </a:rPr>
              <a:t>Whether perception or preference data are being scaled, or whether the analysis requires both kinds of data.  </a:t>
            </a:r>
          </a:p>
          <a:p>
            <a:pPr algn="just">
              <a:lnSpc>
                <a:spcPct val="90000"/>
              </a:lnSpc>
              <a:spcBef>
                <a:spcPct val="50000"/>
              </a:spcBef>
              <a:buClr>
                <a:srgbClr val="CC0000"/>
              </a:buClr>
            </a:pPr>
            <a:r>
              <a:rPr lang="en-US" altLang="en-US" sz="2000" dirty="0">
                <a:solidFill>
                  <a:srgbClr val="CC0000"/>
                </a:solidFill>
                <a:cs typeface="Times New Roman" panose="02020603050405020304" pitchFamily="18" charset="0"/>
              </a:rPr>
              <a:t>The nature of the input data is also a determining factor.  </a:t>
            </a:r>
          </a:p>
          <a:p>
            <a:pPr lvl="1" algn="just">
              <a:lnSpc>
                <a:spcPct val="90000"/>
              </a:lnSpc>
              <a:spcBef>
                <a:spcPct val="50000"/>
              </a:spcBef>
              <a:buClr>
                <a:srgbClr val="CC0000"/>
              </a:buClr>
              <a:buSzPct val="60000"/>
            </a:pPr>
            <a:r>
              <a:rPr lang="en-US" altLang="en-US" sz="2000" b="1" dirty="0">
                <a:solidFill>
                  <a:srgbClr val="800080"/>
                </a:solidFill>
                <a:cs typeface="Times New Roman" panose="02020603050405020304" pitchFamily="18" charset="0"/>
              </a:rPr>
              <a:t>Non-metric MDS</a:t>
            </a:r>
            <a:r>
              <a:rPr lang="en-US" altLang="en-US" sz="2000" dirty="0">
                <a:solidFill>
                  <a:srgbClr val="CC0000"/>
                </a:solidFill>
                <a:cs typeface="Times New Roman" panose="02020603050405020304" pitchFamily="18" charset="0"/>
              </a:rPr>
              <a:t> procedures assume that the input data are </a:t>
            </a:r>
            <a:r>
              <a:rPr lang="en-US" altLang="en-US" sz="2000" b="1" dirty="0">
                <a:solidFill>
                  <a:srgbClr val="CC0000"/>
                </a:solidFill>
                <a:cs typeface="Times New Roman" panose="02020603050405020304" pitchFamily="18" charset="0"/>
              </a:rPr>
              <a:t>ordinal</a:t>
            </a:r>
            <a:r>
              <a:rPr lang="en-US" altLang="en-US" sz="2000" dirty="0">
                <a:solidFill>
                  <a:srgbClr val="CC0000"/>
                </a:solidFill>
                <a:cs typeface="Times New Roman" panose="02020603050405020304" pitchFamily="18" charset="0"/>
              </a:rPr>
              <a:t>, but they result in metric output.  </a:t>
            </a:r>
          </a:p>
          <a:p>
            <a:pPr lvl="1" algn="just">
              <a:lnSpc>
                <a:spcPct val="90000"/>
              </a:lnSpc>
              <a:spcBef>
                <a:spcPct val="50000"/>
              </a:spcBef>
              <a:buClr>
                <a:srgbClr val="CC0000"/>
              </a:buClr>
              <a:buSzPct val="60000"/>
            </a:pPr>
            <a:r>
              <a:rPr lang="en-US" altLang="en-US" sz="2000" b="1" dirty="0">
                <a:solidFill>
                  <a:srgbClr val="800080"/>
                </a:solidFill>
                <a:cs typeface="Times New Roman" panose="02020603050405020304" pitchFamily="18" charset="0"/>
              </a:rPr>
              <a:t>Metric MDS</a:t>
            </a:r>
            <a:r>
              <a:rPr lang="en-US" altLang="en-US" sz="2000" dirty="0">
                <a:solidFill>
                  <a:srgbClr val="CC0000"/>
                </a:solidFill>
                <a:cs typeface="Times New Roman" panose="02020603050405020304" pitchFamily="18" charset="0"/>
              </a:rPr>
              <a:t> methods assume that input data are </a:t>
            </a:r>
            <a:r>
              <a:rPr lang="en-US" altLang="en-US" sz="2000" b="1" dirty="0">
                <a:solidFill>
                  <a:srgbClr val="CC0000"/>
                </a:solidFill>
                <a:cs typeface="Times New Roman" panose="02020603050405020304" pitchFamily="18" charset="0"/>
              </a:rPr>
              <a:t>metric  (Interval scaled, Ratio scaled attributes)</a:t>
            </a:r>
            <a:r>
              <a:rPr lang="en-US" altLang="en-US" sz="2000" dirty="0">
                <a:solidFill>
                  <a:srgbClr val="CC0000"/>
                </a:solidFill>
                <a:cs typeface="Times New Roman" panose="02020603050405020304" pitchFamily="18" charset="0"/>
              </a:rPr>
              <a:t>.  Since the output is also metric, a stronger relationship between the output and input data exists. </a:t>
            </a:r>
          </a:p>
          <a:p>
            <a:pPr lvl="1" algn="just">
              <a:spcBef>
                <a:spcPct val="50000"/>
              </a:spcBef>
              <a:buClr>
                <a:srgbClr val="CC0000"/>
              </a:buClr>
              <a:buSzPct val="60000"/>
            </a:pPr>
            <a:r>
              <a:rPr lang="en-US" altLang="en-US" sz="2000" dirty="0">
                <a:solidFill>
                  <a:srgbClr val="CC0000"/>
                </a:solidFill>
                <a:cs typeface="Times New Roman" panose="02020603050405020304" pitchFamily="18" charset="0"/>
              </a:rPr>
              <a:t>Classical MDS: </a:t>
            </a:r>
            <a:r>
              <a:rPr lang="en-GB" sz="2000" dirty="0"/>
              <a:t>Also known as Principal Coordinates Analysis (</a:t>
            </a:r>
            <a:r>
              <a:rPr lang="en-GB" sz="2000" dirty="0" err="1"/>
              <a:t>PCoA</a:t>
            </a:r>
            <a:r>
              <a:rPr lang="en-GB" sz="2000" dirty="0"/>
              <a:t>), it uses eigenvalue decomposition of the distance matrix.</a:t>
            </a:r>
          </a:p>
          <a:p>
            <a:pPr lvl="1" algn="just">
              <a:lnSpc>
                <a:spcPct val="90000"/>
              </a:lnSpc>
              <a:spcBef>
                <a:spcPct val="50000"/>
              </a:spcBef>
              <a:buClr>
                <a:srgbClr val="CC0000"/>
              </a:buClr>
              <a:buSzPct val="60000"/>
            </a:pPr>
            <a:r>
              <a:rPr lang="en-US" altLang="en-US" sz="2000" dirty="0">
                <a:solidFill>
                  <a:srgbClr val="CC0000"/>
                </a:solidFill>
                <a:cs typeface="Times New Roman" panose="02020603050405020304" pitchFamily="18" charset="0"/>
              </a:rPr>
              <a:t> ( One matrix), Weighted MDS (several Matrices used)</a:t>
            </a:r>
          </a:p>
          <a:p>
            <a:pPr lvl="1" algn="just">
              <a:lnSpc>
                <a:spcPct val="90000"/>
              </a:lnSpc>
              <a:spcBef>
                <a:spcPct val="50000"/>
              </a:spcBef>
              <a:buClr>
                <a:srgbClr val="CC0000"/>
              </a:buClr>
              <a:buSzPct val="60000"/>
            </a:pPr>
            <a:r>
              <a:rPr lang="en-US" altLang="en-US" sz="2000" dirty="0">
                <a:solidFill>
                  <a:srgbClr val="CC0000"/>
                </a:solidFill>
                <a:cs typeface="Times New Roman" panose="02020603050405020304" pitchFamily="18" charset="0"/>
              </a:rPr>
              <a:t>The metric and non-metric methods produce similar results.</a:t>
            </a:r>
          </a:p>
          <a:p>
            <a:pPr algn="just">
              <a:lnSpc>
                <a:spcPct val="90000"/>
              </a:lnSpc>
              <a:spcBef>
                <a:spcPct val="50000"/>
              </a:spcBef>
              <a:buClr>
                <a:srgbClr val="CC0000"/>
              </a:buClr>
            </a:pPr>
            <a:r>
              <a:rPr lang="en-US" altLang="en-US" sz="2000" dirty="0">
                <a:solidFill>
                  <a:srgbClr val="CC0000"/>
                </a:solidFill>
                <a:cs typeface="Times New Roman" panose="02020603050405020304" pitchFamily="18" charset="0"/>
              </a:rPr>
              <a:t>Another factor influencing the selection of a procedure is whether the MDS analysis will be conducted at the individual respondent level or at an aggregate level.</a:t>
            </a:r>
            <a:endParaRPr lang="en-US" altLang="en-US" sz="2000" dirty="0">
              <a:solidFill>
                <a:srgbClr val="CC0000"/>
              </a:solidFill>
            </a:endParaRPr>
          </a:p>
        </p:txBody>
      </p:sp>
      <p:sp>
        <p:nvSpPr>
          <p:cNvPr id="163844" name="Rectangle 4">
            <a:extLst>
              <a:ext uri="{FF2B5EF4-FFF2-40B4-BE49-F238E27FC236}">
                <a16:creationId xmlns:a16="http://schemas.microsoft.com/office/drawing/2014/main" id="{FCCA3BA4-8491-4F48-8A09-11928B661A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0942" y="129492"/>
            <a:ext cx="7877175" cy="922338"/>
          </a:xfrm>
          <a:noFill/>
          <a:ln/>
        </p:spPr>
        <p:txBody>
          <a:bodyPr/>
          <a:lstStyle/>
          <a:p>
            <a:r>
              <a:rPr lang="en-US" altLang="en-US" sz="3200" b="1" dirty="0">
                <a:solidFill>
                  <a:srgbClr val="800080"/>
                </a:solidFill>
              </a:rPr>
              <a:t>3. Select an MDS Procedure: Types of MDS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9EA774-8C2A-4C3A-9BC1-2DE064118260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C7528F7-33A9-454E-94B6-15A7EA9DDAC9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3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43" grpId="0" autoUpdateAnimBg="0"/>
      <p:bldP spid="163844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80482-999D-4DA3-B2ED-3827AB1C3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21-</a:t>
            </a:r>
            <a:fld id="{4C3EB497-769B-4552-A212-0DD7C9CDBD0A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164867" name="Rectangle 3">
            <a:extLst>
              <a:ext uri="{FF2B5EF4-FFF2-40B4-BE49-F238E27FC236}">
                <a16:creationId xmlns:a16="http://schemas.microsoft.com/office/drawing/2014/main" id="{69722E13-1A50-4CEA-9F0D-384CF6DD2A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85461" y="1152628"/>
            <a:ext cx="10068339" cy="5433701"/>
          </a:xfrm>
        </p:spPr>
        <p:txBody>
          <a:bodyPr>
            <a:normAutofit/>
          </a:bodyPr>
          <a:lstStyle/>
          <a:p>
            <a:pPr algn="just">
              <a:spcBef>
                <a:spcPct val="50000"/>
              </a:spcBef>
              <a:buClr>
                <a:srgbClr val="CC0000"/>
              </a:buClr>
            </a:pPr>
            <a:r>
              <a:rPr lang="en-US" altLang="en-US" sz="2400" b="1" dirty="0">
                <a:solidFill>
                  <a:srgbClr val="800080"/>
                </a:solidFill>
                <a:cs typeface="Times New Roman" panose="02020603050405020304" pitchFamily="18" charset="0"/>
              </a:rPr>
              <a:t>To generate new lower dimension , we can use two methods:         	                                   </a:t>
            </a:r>
            <a:r>
              <a:rPr lang="en-US" altLang="en-US" sz="2200" dirty="0">
                <a:solidFill>
                  <a:srgbClr val="800080"/>
                </a:solidFill>
                <a:cs typeface="Times New Roman" panose="02020603050405020304" pitchFamily="18" charset="0"/>
              </a:rPr>
              <a:t>a. </a:t>
            </a:r>
            <a:r>
              <a:rPr lang="en-US" altLang="en-US" sz="2200" b="1" dirty="0">
                <a:solidFill>
                  <a:srgbClr val="800080"/>
                </a:solidFill>
                <a:cs typeface="Times New Roman" panose="02020603050405020304" pitchFamily="18" charset="0"/>
              </a:rPr>
              <a:t>Eigen Decomposition</a:t>
            </a:r>
            <a:r>
              <a:rPr lang="en-US" altLang="en-US" sz="2200" dirty="0">
                <a:solidFill>
                  <a:srgbClr val="800080"/>
                </a:solidFill>
                <a:cs typeface="Times New Roman" panose="02020603050405020304" pitchFamily="18" charset="0"/>
              </a:rPr>
              <a:t>: Calculate eigen vector for Proximity matrix. Calculate new 	lower dimension with multiply Eigen vector with original data. </a:t>
            </a:r>
          </a:p>
          <a:p>
            <a:pPr marL="0" indent="0" algn="just">
              <a:spcBef>
                <a:spcPct val="50000"/>
              </a:spcBef>
              <a:buClr>
                <a:srgbClr val="CC0000"/>
              </a:buClr>
              <a:buNone/>
            </a:pPr>
            <a:r>
              <a:rPr lang="en-US" altLang="en-US" sz="2200" dirty="0">
                <a:solidFill>
                  <a:srgbClr val="800080"/>
                </a:solidFill>
                <a:cs typeface="Times New Roman" panose="02020603050405020304" pitchFamily="18" charset="0"/>
              </a:rPr>
              <a:t>   b. </a:t>
            </a:r>
            <a:r>
              <a:rPr lang="en-US" altLang="en-US" sz="2200" b="1" dirty="0">
                <a:solidFill>
                  <a:srgbClr val="800080"/>
                </a:solidFill>
                <a:cs typeface="Times New Roman" panose="02020603050405020304" pitchFamily="18" charset="0"/>
              </a:rPr>
              <a:t>Optimizer method</a:t>
            </a:r>
            <a:r>
              <a:rPr lang="en-US" altLang="en-US" sz="2200" dirty="0">
                <a:solidFill>
                  <a:srgbClr val="800080"/>
                </a:solidFill>
                <a:cs typeface="Times New Roman" panose="02020603050405020304" pitchFamily="18" charset="0"/>
              </a:rPr>
              <a:t>:  Use Stress function calculate goodness-fit</a:t>
            </a:r>
          </a:p>
          <a:p>
            <a:pPr marL="0" indent="0" algn="just">
              <a:spcBef>
                <a:spcPct val="50000"/>
              </a:spcBef>
              <a:buClr>
                <a:srgbClr val="CC0000"/>
              </a:buClr>
              <a:buNone/>
            </a:pPr>
            <a:r>
              <a:rPr lang="en-US" altLang="en-US" sz="2200" dirty="0">
                <a:solidFill>
                  <a:srgbClr val="800080"/>
                </a:solidFill>
                <a:cs typeface="Times New Roman" panose="02020603050405020304" pitchFamily="18" charset="0"/>
              </a:rPr>
              <a:t>	In stress function: It calculate predicted and actual distances- it should be 	minimize the difference</a:t>
            </a:r>
          </a:p>
          <a:p>
            <a:pPr algn="just">
              <a:spcBef>
                <a:spcPct val="50000"/>
              </a:spcBef>
              <a:buClr>
                <a:srgbClr val="CC0000"/>
              </a:buClr>
            </a:pPr>
            <a:r>
              <a:rPr lang="en-US" altLang="en-US" b="1" i="1" dirty="0">
                <a:solidFill>
                  <a:srgbClr val="800080"/>
                </a:solidFill>
                <a:cs typeface="Times New Roman" panose="02020603050405020304" pitchFamily="18" charset="0"/>
              </a:rPr>
              <a:t>A priori</a:t>
            </a:r>
            <a:r>
              <a:rPr lang="en-US" altLang="en-US" b="1" dirty="0">
                <a:solidFill>
                  <a:srgbClr val="800080"/>
                </a:solidFill>
                <a:cs typeface="Times New Roman" panose="02020603050405020304" pitchFamily="18" charset="0"/>
              </a:rPr>
              <a:t> knowledge</a:t>
            </a:r>
            <a:r>
              <a:rPr lang="en-US" altLang="en-US" b="1" dirty="0">
                <a:solidFill>
                  <a:srgbClr val="CC0000"/>
                </a:solidFill>
                <a:cs typeface="Times New Roman" panose="02020603050405020304" pitchFamily="18" charset="0"/>
              </a:rPr>
              <a:t> - </a:t>
            </a:r>
            <a:r>
              <a:rPr lang="en-US" altLang="en-US" dirty="0">
                <a:solidFill>
                  <a:srgbClr val="CC0000"/>
                </a:solidFill>
                <a:cs typeface="Times New Roman" panose="02020603050405020304" pitchFamily="18" charset="0"/>
              </a:rPr>
              <a:t>Theory or past research</a:t>
            </a:r>
          </a:p>
          <a:p>
            <a:pPr algn="just">
              <a:spcBef>
                <a:spcPct val="50000"/>
              </a:spcBef>
              <a:buClr>
                <a:srgbClr val="CC0000"/>
              </a:buClr>
            </a:pPr>
            <a:r>
              <a:rPr lang="en-US" altLang="en-US" b="1" dirty="0">
                <a:solidFill>
                  <a:srgbClr val="800080"/>
                </a:solidFill>
                <a:cs typeface="Times New Roman" panose="02020603050405020304" pitchFamily="18" charset="0"/>
              </a:rPr>
              <a:t>Interpretability of the spatial map -</a:t>
            </a:r>
            <a:r>
              <a:rPr lang="en-US" altLang="en-US" b="1" dirty="0">
                <a:solidFill>
                  <a:srgbClr val="CC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rgbClr val="CC0000"/>
                </a:solidFill>
                <a:cs typeface="Times New Roman" panose="02020603050405020304" pitchFamily="18" charset="0"/>
              </a:rPr>
              <a:t>Difficult to interpret in more than three dimensions.</a:t>
            </a:r>
          </a:p>
          <a:p>
            <a:pPr algn="just">
              <a:spcBef>
                <a:spcPct val="50000"/>
              </a:spcBef>
              <a:buClr>
                <a:srgbClr val="CC0000"/>
              </a:buClr>
            </a:pPr>
            <a:r>
              <a:rPr lang="en-US" altLang="en-US" b="1" dirty="0">
                <a:solidFill>
                  <a:srgbClr val="800080"/>
                </a:solidFill>
                <a:cs typeface="Times New Roman" panose="02020603050405020304" pitchFamily="18" charset="0"/>
              </a:rPr>
              <a:t>Elbow criterion -</a:t>
            </a:r>
            <a:r>
              <a:rPr lang="en-US" altLang="en-US" dirty="0">
                <a:solidFill>
                  <a:srgbClr val="CC0000"/>
                </a:solidFill>
                <a:cs typeface="Times New Roman" panose="02020603050405020304" pitchFamily="18" charset="0"/>
              </a:rPr>
              <a:t> A plot of stress versus dimensionality.  </a:t>
            </a:r>
          </a:p>
          <a:p>
            <a:pPr algn="just">
              <a:spcBef>
                <a:spcPct val="50000"/>
              </a:spcBef>
              <a:buClr>
                <a:srgbClr val="CC0000"/>
              </a:buClr>
            </a:pPr>
            <a:r>
              <a:rPr lang="en-US" altLang="en-US" b="1" dirty="0">
                <a:solidFill>
                  <a:srgbClr val="800080"/>
                </a:solidFill>
                <a:cs typeface="Times New Roman" panose="02020603050405020304" pitchFamily="18" charset="0"/>
              </a:rPr>
              <a:t>Statistical approaches -</a:t>
            </a:r>
            <a:r>
              <a:rPr lang="en-US" altLang="en-US" dirty="0">
                <a:solidFill>
                  <a:srgbClr val="CC0000"/>
                </a:solidFill>
                <a:cs typeface="Times New Roman" panose="02020603050405020304" pitchFamily="18" charset="0"/>
              </a:rPr>
              <a:t> Statistical approaches are also available for determining the dimensionality.</a:t>
            </a:r>
            <a:endParaRPr lang="en-US" altLang="en-US" dirty="0">
              <a:solidFill>
                <a:srgbClr val="CC0000"/>
              </a:solidFill>
            </a:endParaRPr>
          </a:p>
        </p:txBody>
      </p:sp>
      <p:sp>
        <p:nvSpPr>
          <p:cNvPr id="164868" name="Rectangle 4">
            <a:extLst>
              <a:ext uri="{FF2B5EF4-FFF2-40B4-BE49-F238E27FC236}">
                <a16:creationId xmlns:a16="http://schemas.microsoft.com/office/drawing/2014/main" id="{CAFA5000-A2D0-4855-A3AD-4E60D77379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5982" y="-3969"/>
            <a:ext cx="8105775" cy="922338"/>
          </a:xfrm>
          <a:noFill/>
          <a:ln/>
        </p:spPr>
        <p:txBody>
          <a:bodyPr>
            <a:normAutofit fontScale="90000"/>
          </a:bodyPr>
          <a:lstStyle/>
          <a:p>
            <a:br>
              <a:rPr lang="en-US" altLang="en-US" sz="3200" b="1" dirty="0">
                <a:solidFill>
                  <a:srgbClr val="800080"/>
                </a:solidFill>
              </a:rPr>
            </a:br>
            <a:r>
              <a:rPr lang="en-US" altLang="en-US" sz="3200" b="1" dirty="0">
                <a:solidFill>
                  <a:srgbClr val="800080"/>
                </a:solidFill>
              </a:rPr>
              <a:t>4. Identify  the Number of Dimensions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A1D66A-0BF0-461C-A6A7-221FF06CD857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7CF581C-DFE7-41C1-B615-34B89B845526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48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4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48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48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67" grpId="0" autoUpdateAnimBg="0"/>
      <p:bldP spid="164868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7" name="Rectangle 3">
            <a:extLst>
              <a:ext uri="{FF2B5EF4-FFF2-40B4-BE49-F238E27FC236}">
                <a16:creationId xmlns:a16="http://schemas.microsoft.com/office/drawing/2014/main" id="{69722E13-1A50-4CEA-9F0D-384CF6DD2A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79443" y="1351687"/>
            <a:ext cx="9952383" cy="1312000"/>
          </a:xfrm>
        </p:spPr>
        <p:txBody>
          <a:bodyPr>
            <a:normAutofit/>
          </a:bodyPr>
          <a:lstStyle/>
          <a:p>
            <a:pPr algn="just">
              <a:spcBef>
                <a:spcPct val="50000"/>
              </a:spcBef>
              <a:buClr>
                <a:srgbClr val="CC0000"/>
              </a:buClr>
            </a:pPr>
            <a:r>
              <a:rPr lang="en-GB" sz="2000" dirty="0"/>
              <a:t>In the case of MDS, you are trying to model the distances. Hence, the most obvious choice for a </a:t>
            </a:r>
            <a:r>
              <a:rPr lang="en-GB" sz="2000" b="1" dirty="0"/>
              <a:t>goodness-of-fit</a:t>
            </a:r>
            <a:r>
              <a:rPr lang="en-GB" sz="2000" dirty="0"/>
              <a:t> statistic is one based on the differences between the actual distances and their predicted values. Such a measure is called stress and is calculated as values</a:t>
            </a:r>
            <a:endParaRPr lang="en-US" altLang="en-US" sz="2000" dirty="0">
              <a:solidFill>
                <a:srgbClr val="CC0000"/>
              </a:solidFill>
            </a:endParaRPr>
          </a:p>
        </p:txBody>
      </p:sp>
      <p:sp>
        <p:nvSpPr>
          <p:cNvPr id="164868" name="Rectangle 4">
            <a:extLst>
              <a:ext uri="{FF2B5EF4-FFF2-40B4-BE49-F238E27FC236}">
                <a16:creationId xmlns:a16="http://schemas.microsoft.com/office/drawing/2014/main" id="{CAFA5000-A2D0-4855-A3AD-4E60D77379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5981" y="-3969"/>
            <a:ext cx="11465202" cy="922338"/>
          </a:xfrm>
          <a:noFill/>
          <a:ln/>
        </p:spPr>
        <p:txBody>
          <a:bodyPr>
            <a:normAutofit fontScale="90000"/>
          </a:bodyPr>
          <a:lstStyle/>
          <a:p>
            <a:br>
              <a:rPr lang="en-US" altLang="en-US" sz="3200" b="1" dirty="0">
                <a:solidFill>
                  <a:srgbClr val="800080"/>
                </a:solidFill>
              </a:rPr>
            </a:br>
            <a:r>
              <a:rPr lang="en-US" altLang="en-US" sz="3200" b="1" dirty="0">
                <a:solidFill>
                  <a:srgbClr val="800080"/>
                </a:solidFill>
              </a:rPr>
              <a:t>Identify the Number of Dimensions: b. Optimizer method:  Stress function Goodness-of-fit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A1D66A-0BF0-461C-A6A7-221FF06CD857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7CF581C-DFE7-41C1-B615-34B89B845526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6A246712-D937-48AC-95CD-45FA082C5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288" y="2252870"/>
            <a:ext cx="9604512" cy="410347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148563-894B-40B1-A3D7-5767DBC4F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D257C-DDB9-4445-AD9A-AE1AF229B38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4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48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4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48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48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67" grpId="0" autoUpdateAnimBg="0"/>
      <p:bldP spid="164868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8" name="Rectangle 4">
            <a:extLst>
              <a:ext uri="{FF2B5EF4-FFF2-40B4-BE49-F238E27FC236}">
                <a16:creationId xmlns:a16="http://schemas.microsoft.com/office/drawing/2014/main" id="{CAFA5000-A2D0-4855-A3AD-4E60D77379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5982" y="-3969"/>
            <a:ext cx="8105775" cy="922338"/>
          </a:xfrm>
          <a:noFill/>
          <a:ln/>
        </p:spPr>
        <p:txBody>
          <a:bodyPr>
            <a:normAutofit fontScale="90000"/>
          </a:bodyPr>
          <a:lstStyle/>
          <a:p>
            <a:br>
              <a:rPr lang="en-US" altLang="en-US" sz="3200" b="1" dirty="0">
                <a:solidFill>
                  <a:srgbClr val="800080"/>
                </a:solidFill>
              </a:rPr>
            </a:br>
            <a:r>
              <a:rPr lang="en-US" altLang="en-US" sz="3200" b="1" dirty="0">
                <a:solidFill>
                  <a:srgbClr val="800080"/>
                </a:solidFill>
              </a:rPr>
              <a:t>Identify  the Number of Dimensions: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A1D66A-0BF0-461C-A6A7-221FF06CD857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7CF581C-DFE7-41C1-B615-34B89B845526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76B98-B64C-43A8-AE8B-9E54FF137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9814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GB" sz="2400" dirty="0"/>
              <a:t>One of the goals of the MDS analysis is to keep the </a:t>
            </a:r>
            <a:r>
              <a:rPr lang="en-GB" sz="2400" b="1" dirty="0"/>
              <a:t>number of dimensions as small as possible. </a:t>
            </a:r>
          </a:p>
          <a:p>
            <a:pPr algn="just"/>
            <a:r>
              <a:rPr lang="en-GB" sz="2400" dirty="0"/>
              <a:t>Usually, the analyst will anticipate select two or, at most, three dimensions. </a:t>
            </a:r>
          </a:p>
          <a:p>
            <a:pPr algn="just"/>
            <a:r>
              <a:rPr lang="en-GB" sz="2400" dirty="0"/>
              <a:t>If more are required, you may decide that MDS is not appropriate for your data</a:t>
            </a:r>
          </a:p>
          <a:p>
            <a:pPr algn="just"/>
            <a:r>
              <a:rPr lang="en-GB" sz="2400" dirty="0"/>
              <a:t>The usual technique is to solve the MDS problem for a number of dimension values and adopt the smallest number of dimensions that achieves a </a:t>
            </a:r>
            <a:r>
              <a:rPr lang="en-GB" sz="2400" b="1" dirty="0"/>
              <a:t>reasonably small value of stress.</a:t>
            </a:r>
          </a:p>
          <a:p>
            <a:pPr algn="just"/>
            <a:r>
              <a:rPr lang="en-GB" sz="2400" dirty="0"/>
              <a:t>The program displays a simple bar chart of the stress values to aid in the selection of the number of dimensions</a:t>
            </a:r>
            <a:endParaRPr lang="en-US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A50587-915F-4E22-8D02-75EF47F1E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D257C-DDB9-4445-AD9A-AE1AF229B38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396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48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4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68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1" name="Rectangle 3">
            <a:extLst>
              <a:ext uri="{FF2B5EF4-FFF2-40B4-BE49-F238E27FC236}">
                <a16:creationId xmlns:a16="http://schemas.microsoft.com/office/drawing/2014/main" id="{3EBC785E-DE2C-466A-84C0-423674A028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0574" y="1331914"/>
            <a:ext cx="11039061" cy="3862938"/>
          </a:xfrm>
        </p:spPr>
        <p:txBody>
          <a:bodyPr/>
          <a:lstStyle/>
          <a:p>
            <a:pPr algn="just">
              <a:spcBef>
                <a:spcPct val="50000"/>
              </a:spcBef>
              <a:buClr>
                <a:srgbClr val="CC0000"/>
              </a:buClr>
            </a:pPr>
            <a:r>
              <a:rPr lang="en-US" altLang="en-US" dirty="0">
                <a:cs typeface="Times New Roman" panose="02020603050405020304" pitchFamily="18" charset="0"/>
              </a:rPr>
              <a:t>Even with direct similarity judgments, ratings of the brands on attributes may still be collected. These attribute vectors may be fitted in the spatial map.</a:t>
            </a:r>
          </a:p>
          <a:p>
            <a:pPr algn="just">
              <a:spcBef>
                <a:spcPct val="50000"/>
              </a:spcBef>
              <a:buClr>
                <a:srgbClr val="CC0000"/>
              </a:buClr>
            </a:pPr>
            <a:r>
              <a:rPr lang="en-US" altLang="en-US" dirty="0">
                <a:cs typeface="Times New Roman" panose="02020603050405020304" pitchFamily="18" charset="0"/>
              </a:rPr>
              <a:t>Respondents may be asked to indicate the criteria they used in making their evaluations.  </a:t>
            </a:r>
          </a:p>
          <a:p>
            <a:pPr algn="just">
              <a:spcBef>
                <a:spcPct val="50000"/>
              </a:spcBef>
              <a:buClr>
                <a:srgbClr val="CC0000"/>
              </a:buClr>
            </a:pPr>
            <a:r>
              <a:rPr lang="en-US" altLang="en-US" dirty="0">
                <a:cs typeface="Times New Roman" panose="02020603050405020304" pitchFamily="18" charset="0"/>
              </a:rPr>
              <a:t>If objective characteristics of the brands are available these could be used to in interpreting the subjective dimensions of the spatial maps.</a:t>
            </a:r>
            <a:r>
              <a:rPr lang="en-US" altLang="en-US" dirty="0"/>
              <a:t> </a:t>
            </a:r>
          </a:p>
        </p:txBody>
      </p:sp>
      <p:sp>
        <p:nvSpPr>
          <p:cNvPr id="165892" name="Rectangle 4">
            <a:extLst>
              <a:ext uri="{FF2B5EF4-FFF2-40B4-BE49-F238E27FC236}">
                <a16:creationId xmlns:a16="http://schemas.microsoft.com/office/drawing/2014/main" id="{47ACACAC-F981-4745-94A3-89D97FAA4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8235" y="84827"/>
            <a:ext cx="7924800" cy="922338"/>
          </a:xfrm>
          <a:noFill/>
          <a:ln/>
        </p:spPr>
        <p:txBody>
          <a:bodyPr/>
          <a:lstStyle/>
          <a:p>
            <a:r>
              <a:rPr lang="en-US" altLang="en-US" b="1" dirty="0">
                <a:solidFill>
                  <a:srgbClr val="800080"/>
                </a:solidFill>
                <a:cs typeface="Times New Roman" panose="02020603050405020304" pitchFamily="18" charset="0"/>
              </a:rPr>
              <a:t>5. Label and Interpret Dimensions </a:t>
            </a:r>
            <a:endParaRPr lang="en-US" altLang="en-US" sz="2800" b="1" dirty="0">
              <a:solidFill>
                <a:srgbClr val="80008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8A88E8-CCC9-4616-B5D3-9FDCF76FE6D5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34D2BE5-4FA2-4652-B020-56F0836ED9D6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448357-B4FF-45AF-B5CF-4BAB2843A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D257C-DDB9-4445-AD9A-AE1AF229B381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5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5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58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5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91" grpId="0" autoUpdateAnimBg="0"/>
      <p:bldP spid="165892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5" name="Rectangle 3">
            <a:extLst>
              <a:ext uri="{FF2B5EF4-FFF2-40B4-BE49-F238E27FC236}">
                <a16:creationId xmlns:a16="http://schemas.microsoft.com/office/drawing/2014/main" id="{5E87D698-D07F-474F-8FE7-434D22E8B7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94452" y="1479545"/>
            <a:ext cx="8421688" cy="4546600"/>
          </a:xfrm>
        </p:spPr>
        <p:txBody>
          <a:bodyPr/>
          <a:lstStyle/>
          <a:p>
            <a:pPr algn="just">
              <a:spcBef>
                <a:spcPct val="30000"/>
              </a:spcBef>
              <a:buClr>
                <a:srgbClr val="CC0000"/>
              </a:buClr>
            </a:pPr>
            <a:r>
              <a:rPr lang="en-US" altLang="en-US" dirty="0">
                <a:solidFill>
                  <a:srgbClr val="CC0000"/>
                </a:solidFill>
                <a:cs typeface="Times New Roman" panose="02020603050405020304" pitchFamily="18" charset="0"/>
              </a:rPr>
              <a:t>On the </a:t>
            </a:r>
            <a:r>
              <a:rPr lang="en-US" altLang="en-US" b="1" dirty="0">
                <a:solidFill>
                  <a:srgbClr val="800080"/>
                </a:solidFill>
                <a:cs typeface="Times New Roman" panose="02020603050405020304" pitchFamily="18" charset="0"/>
              </a:rPr>
              <a:t>index of fit</a:t>
            </a:r>
            <a:r>
              <a:rPr lang="en-US" altLang="en-US" dirty="0">
                <a:solidFill>
                  <a:srgbClr val="800080"/>
                </a:solidFill>
                <a:cs typeface="Times New Roman" panose="02020603050405020304" pitchFamily="18" charset="0"/>
              </a:rPr>
              <a:t>,</a:t>
            </a:r>
            <a:r>
              <a:rPr lang="en-US" altLang="en-US" dirty="0">
                <a:solidFill>
                  <a:srgbClr val="CC0000"/>
                </a:solidFill>
                <a:cs typeface="Times New Roman" panose="02020603050405020304" pitchFamily="18" charset="0"/>
              </a:rPr>
              <a:t> or </a:t>
            </a:r>
            <a:r>
              <a:rPr lang="en-US" altLang="en-US" i="1" dirty="0">
                <a:solidFill>
                  <a:srgbClr val="CC0000"/>
                </a:solidFill>
                <a:cs typeface="Times New Roman" panose="02020603050405020304" pitchFamily="18" charset="0"/>
              </a:rPr>
              <a:t>R-square</a:t>
            </a:r>
            <a:r>
              <a:rPr lang="en-US" altLang="en-US" dirty="0">
                <a:solidFill>
                  <a:srgbClr val="CC0000"/>
                </a:solidFill>
                <a:cs typeface="Times New Roman" panose="02020603050405020304" pitchFamily="18" charset="0"/>
              </a:rPr>
              <a:t> values of 0.60 or better are considered acceptable.</a:t>
            </a:r>
          </a:p>
          <a:p>
            <a:pPr algn="just">
              <a:spcBef>
                <a:spcPct val="30000"/>
              </a:spcBef>
              <a:buClr>
                <a:srgbClr val="CC0000"/>
              </a:buClr>
            </a:pPr>
            <a:endParaRPr lang="en-US" altLang="en-US" b="1" dirty="0">
              <a:solidFill>
                <a:srgbClr val="800080"/>
              </a:solidFill>
              <a:cs typeface="Times New Roman" panose="02020603050405020304" pitchFamily="18" charset="0"/>
            </a:endParaRPr>
          </a:p>
          <a:p>
            <a:pPr algn="just">
              <a:spcBef>
                <a:spcPct val="30000"/>
              </a:spcBef>
              <a:buClr>
                <a:srgbClr val="CC0000"/>
              </a:buClr>
            </a:pPr>
            <a:r>
              <a:rPr lang="en-US" altLang="en-US" b="1" dirty="0">
                <a:solidFill>
                  <a:srgbClr val="800080"/>
                </a:solidFill>
                <a:cs typeface="Times New Roman" panose="02020603050405020304" pitchFamily="18" charset="0"/>
              </a:rPr>
              <a:t>Stress values</a:t>
            </a:r>
            <a:r>
              <a:rPr lang="en-US" altLang="en-US" dirty="0">
                <a:solidFill>
                  <a:srgbClr val="CC0000"/>
                </a:solidFill>
                <a:cs typeface="Times New Roman" panose="02020603050405020304" pitchFamily="18" charset="0"/>
              </a:rPr>
              <a:t> measure badness-of-fit, or the proportion of variance of data that is not accounted for by the MDS model.  Stress values of less than 10% are considered acceptable.</a:t>
            </a:r>
          </a:p>
          <a:p>
            <a:pPr algn="just">
              <a:spcBef>
                <a:spcPct val="30000"/>
              </a:spcBef>
              <a:buClr>
                <a:srgbClr val="CC0000"/>
              </a:buClr>
            </a:pPr>
            <a:endParaRPr lang="en-US" altLang="en-US" dirty="0">
              <a:solidFill>
                <a:srgbClr val="CC0000"/>
              </a:solidFill>
              <a:cs typeface="Times New Roman" panose="02020603050405020304" pitchFamily="18" charset="0"/>
            </a:endParaRPr>
          </a:p>
          <a:p>
            <a:pPr algn="just">
              <a:spcBef>
                <a:spcPct val="30000"/>
              </a:spcBef>
              <a:buClr>
                <a:srgbClr val="CC0000"/>
              </a:buClr>
            </a:pPr>
            <a:endParaRPr lang="en-US" altLang="en-US" dirty="0">
              <a:solidFill>
                <a:srgbClr val="CC0000"/>
              </a:solidFill>
            </a:endParaRPr>
          </a:p>
        </p:txBody>
      </p:sp>
      <p:sp>
        <p:nvSpPr>
          <p:cNvPr id="166916" name="Rectangle 4">
            <a:extLst>
              <a:ext uri="{FF2B5EF4-FFF2-40B4-BE49-F238E27FC236}">
                <a16:creationId xmlns:a16="http://schemas.microsoft.com/office/drawing/2014/main" id="{800233FC-EA45-4A12-81D6-4707F90ED5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9040" y="-88909"/>
            <a:ext cx="7824787" cy="990600"/>
          </a:xfrm>
          <a:noFill/>
          <a:ln/>
        </p:spPr>
        <p:txBody>
          <a:bodyPr/>
          <a:lstStyle/>
          <a:p>
            <a:br>
              <a:rPr lang="en-US" altLang="en-US" sz="3200" b="1" dirty="0">
                <a:solidFill>
                  <a:srgbClr val="800080"/>
                </a:solidFill>
              </a:rPr>
            </a:br>
            <a:r>
              <a:rPr lang="en-US" altLang="en-US" sz="3200" b="1" dirty="0">
                <a:solidFill>
                  <a:srgbClr val="800080"/>
                </a:solidFill>
                <a:cs typeface="Times New Roman" panose="02020603050405020304" pitchFamily="18" charset="0"/>
              </a:rPr>
              <a:t>Assess Reliability and Validity</a:t>
            </a:r>
            <a:endParaRPr lang="en-US" altLang="en-US" sz="3200" b="1" dirty="0">
              <a:solidFill>
                <a:srgbClr val="80008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6C8F14-14B7-469B-8810-8A29A8EC06AB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402DB70-7671-4876-8D24-6289DB85BAD9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A47919-201E-4593-A11C-1AC4032C5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D257C-DDB9-4445-AD9A-AE1AF229B381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69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69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6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6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5" grpId="0" autoUpdateAnimBg="0"/>
      <p:bldP spid="166916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>
            <a:extLst>
              <a:ext uri="{FF2B5EF4-FFF2-40B4-BE49-F238E27FC236}">
                <a16:creationId xmlns:a16="http://schemas.microsoft.com/office/drawing/2014/main" id="{551CC586-B2E7-40BB-B2B4-4E15D51CB0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4124" y="207617"/>
            <a:ext cx="5839112" cy="733425"/>
          </a:xfrm>
        </p:spPr>
        <p:txBody>
          <a:bodyPr>
            <a:normAutofit/>
          </a:bodyPr>
          <a:lstStyle/>
          <a:p>
            <a:pPr algn="ctr"/>
            <a:r>
              <a:rPr lang="en-US" altLang="en-US" b="1" dirty="0">
                <a:solidFill>
                  <a:srgbClr val="800080"/>
                </a:solidFill>
              </a:rPr>
              <a:t>Applications of the MDS</a:t>
            </a:r>
          </a:p>
        </p:txBody>
      </p:sp>
      <p:sp>
        <p:nvSpPr>
          <p:cNvPr id="168963" name="Rectangle 3">
            <a:extLst>
              <a:ext uri="{FF2B5EF4-FFF2-40B4-BE49-F238E27FC236}">
                <a16:creationId xmlns:a16="http://schemas.microsoft.com/office/drawing/2014/main" id="{442D34CA-3A08-4131-9830-16921373B2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58957" y="1371600"/>
            <a:ext cx="9568069" cy="4992688"/>
          </a:xfrm>
        </p:spPr>
        <p:txBody>
          <a:bodyPr>
            <a:normAutofit/>
          </a:bodyPr>
          <a:lstStyle/>
          <a:p>
            <a:pPr algn="just">
              <a:spcBef>
                <a:spcPct val="70000"/>
              </a:spcBef>
              <a:buClr>
                <a:srgbClr val="CC0000"/>
              </a:buClr>
            </a:pPr>
            <a:r>
              <a:rPr lang="en-US" altLang="en-US" sz="2400" dirty="0">
                <a:cs typeface="Times New Roman" panose="02020603050405020304" pitchFamily="18" charset="0"/>
              </a:rPr>
              <a:t>Image measurement</a:t>
            </a:r>
          </a:p>
          <a:p>
            <a:pPr algn="just">
              <a:spcBef>
                <a:spcPct val="70000"/>
              </a:spcBef>
              <a:buClr>
                <a:srgbClr val="CC0000"/>
              </a:buClr>
            </a:pPr>
            <a:r>
              <a:rPr lang="en-US" altLang="en-US" sz="2400" dirty="0">
                <a:cs typeface="Times New Roman" panose="02020603050405020304" pitchFamily="18" charset="0"/>
              </a:rPr>
              <a:t>Brand positioning</a:t>
            </a:r>
          </a:p>
          <a:p>
            <a:pPr algn="just">
              <a:spcBef>
                <a:spcPct val="70000"/>
              </a:spcBef>
              <a:buClr>
                <a:srgbClr val="CC0000"/>
              </a:buClr>
            </a:pPr>
            <a:r>
              <a:rPr lang="en-GB" altLang="en-US" sz="2400" dirty="0">
                <a:cs typeface="Times New Roman" panose="02020603050405020304" pitchFamily="18" charset="0"/>
              </a:rPr>
              <a:t>market segmentation</a:t>
            </a:r>
          </a:p>
          <a:p>
            <a:pPr algn="just">
              <a:spcBef>
                <a:spcPct val="70000"/>
              </a:spcBef>
              <a:buClr>
                <a:srgbClr val="CC0000"/>
              </a:buClr>
            </a:pPr>
            <a:r>
              <a:rPr lang="en-GB" altLang="en-US" sz="2400" dirty="0">
                <a:cs typeface="Times New Roman" panose="02020603050405020304" pitchFamily="18" charset="0"/>
              </a:rPr>
              <a:t>New product development</a:t>
            </a:r>
          </a:p>
          <a:p>
            <a:pPr algn="just">
              <a:spcBef>
                <a:spcPct val="70000"/>
              </a:spcBef>
              <a:buClr>
                <a:srgbClr val="CC0000"/>
              </a:buClr>
            </a:pPr>
            <a:r>
              <a:rPr lang="en-US" altLang="en-US" sz="2400" dirty="0">
                <a:cs typeface="Times New Roman" panose="02020603050405020304" pitchFamily="18" charset="0"/>
              </a:rPr>
              <a:t>Assessing Adverting effectiveness</a:t>
            </a:r>
          </a:p>
          <a:p>
            <a:pPr algn="just">
              <a:spcBef>
                <a:spcPct val="70000"/>
              </a:spcBef>
              <a:buClr>
                <a:srgbClr val="CC0000"/>
              </a:buClr>
            </a:pPr>
            <a:r>
              <a:rPr lang="en-US" altLang="en-US" sz="2400" dirty="0">
                <a:cs typeface="Times New Roman" panose="02020603050405020304" pitchFamily="18" charset="0"/>
              </a:rPr>
              <a:t>Pricing Analysis</a:t>
            </a:r>
          </a:p>
          <a:p>
            <a:pPr algn="just">
              <a:spcBef>
                <a:spcPct val="70000"/>
              </a:spcBef>
              <a:buClr>
                <a:srgbClr val="CC0000"/>
              </a:buClr>
            </a:pPr>
            <a:r>
              <a:rPr lang="en-US" altLang="en-US" sz="2400" dirty="0">
                <a:cs typeface="Times New Roman" panose="02020603050405020304" pitchFamily="18" charset="0"/>
              </a:rPr>
              <a:t>Channel Decisions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CBFE4A-02B7-4DF0-B7CC-ECFC35AAD746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1CDBA6-AE86-4266-9177-E48C671420E6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150756-ED90-468C-B619-1774F9032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D257C-DDB9-4445-AD9A-AE1AF229B38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843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8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8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89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89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62" grpId="0" autoUpdateAnimBg="0"/>
      <p:bldP spid="168963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8" name="Rectangle 4">
            <a:extLst>
              <a:ext uri="{FF2B5EF4-FFF2-40B4-BE49-F238E27FC236}">
                <a16:creationId xmlns:a16="http://schemas.microsoft.com/office/drawing/2014/main" id="{CAFA5000-A2D0-4855-A3AD-4E60D77379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5982" y="-3969"/>
            <a:ext cx="8105775" cy="922338"/>
          </a:xfrm>
          <a:noFill/>
          <a:ln/>
        </p:spPr>
        <p:txBody>
          <a:bodyPr>
            <a:normAutofit fontScale="90000"/>
          </a:bodyPr>
          <a:lstStyle/>
          <a:p>
            <a:br>
              <a:rPr lang="en-US" altLang="en-US" sz="3200" b="1" dirty="0"/>
            </a:br>
            <a:r>
              <a:rPr lang="en-US" altLang="en-US" sz="3200" b="1" dirty="0"/>
              <a:t>The steps in the classical </a:t>
            </a:r>
            <a:r>
              <a:rPr lang="en-GB" sz="3200" b="1" dirty="0"/>
              <a:t>MDS algorithm</a:t>
            </a:r>
            <a:r>
              <a:rPr lang="en-US" altLang="en-US" sz="3200" b="1" dirty="0"/>
              <a:t>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A1D66A-0BF0-461C-A6A7-221FF06CD857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7CF581C-DFE7-41C1-B615-34B89B845526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7DB350F-596F-42C2-B7C5-BC06FCAEC6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8557" y="2586831"/>
            <a:ext cx="9024729" cy="3562173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AFB128B-7F92-4660-A038-BA511604D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4282" y="1213957"/>
            <a:ext cx="8753475" cy="137287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287808-EDAF-45CF-AB2F-558DD2411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D257C-DDB9-4445-AD9A-AE1AF229B38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967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48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4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68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8" name="Rectangle 4">
            <a:extLst>
              <a:ext uri="{FF2B5EF4-FFF2-40B4-BE49-F238E27FC236}">
                <a16:creationId xmlns:a16="http://schemas.microsoft.com/office/drawing/2014/main" id="{CAFA5000-A2D0-4855-A3AD-4E60D77379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5982" y="-3969"/>
            <a:ext cx="8105775" cy="922338"/>
          </a:xfrm>
          <a:noFill/>
          <a:ln/>
        </p:spPr>
        <p:txBody>
          <a:bodyPr>
            <a:normAutofit/>
          </a:bodyPr>
          <a:lstStyle/>
          <a:p>
            <a:r>
              <a:rPr lang="en-US" altLang="en-US" sz="3200" b="1" dirty="0">
                <a:solidFill>
                  <a:srgbClr val="800080"/>
                </a:solidFill>
              </a:rPr>
              <a:t>Non- Metric MDS: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A1D66A-0BF0-461C-A6A7-221FF06CD857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7CF581C-DFE7-41C1-B615-34B89B845526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A64BDDB-1A55-4F2A-9546-AA85FFCE19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8470" y="1757537"/>
            <a:ext cx="9647582" cy="3993902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4CCA6E-1F98-4D39-9E82-C8179237D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D257C-DDB9-4445-AD9A-AE1AF229B38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221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48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4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68" grpId="0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01" name="Rectangle 5">
            <a:extLst>
              <a:ext uri="{FF2B5EF4-FFF2-40B4-BE49-F238E27FC236}">
                <a16:creationId xmlns:a16="http://schemas.microsoft.com/office/drawing/2014/main" id="{5D3C4238-1EB7-4D90-A387-89E0045DDC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9300" y="2971800"/>
            <a:ext cx="8001000" cy="2565400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7699" name="Rectangle 3">
            <a:extLst>
              <a:ext uri="{FF2B5EF4-FFF2-40B4-BE49-F238E27FC236}">
                <a16:creationId xmlns:a16="http://schemas.microsoft.com/office/drawing/2014/main" id="{F9042261-7676-4DFA-8721-63FAECFD7D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11388" y="1573214"/>
            <a:ext cx="7772400" cy="4992687"/>
          </a:xfrm>
        </p:spPr>
        <p:txBody>
          <a:bodyPr>
            <a:normAutofit lnSpcReduction="10000"/>
          </a:bodyPr>
          <a:lstStyle/>
          <a:p>
            <a:pPr algn="just">
              <a:buClr>
                <a:srgbClr val="CC0000"/>
              </a:buClr>
            </a:pPr>
            <a:r>
              <a:rPr lang="en-US" altLang="en-US" sz="2000" b="1" dirty="0">
                <a:solidFill>
                  <a:srgbClr val="800080"/>
                </a:solidFill>
                <a:cs typeface="Times New Roman" panose="02020603050405020304" pitchFamily="18" charset="0"/>
              </a:rPr>
              <a:t>Perception Data: Direct Approaches:</a:t>
            </a:r>
            <a:r>
              <a:rPr lang="en-US" altLang="en-US" sz="2000" b="1" dirty="0">
                <a:solidFill>
                  <a:srgbClr val="CC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rgbClr val="CC0000"/>
                </a:solidFill>
                <a:cs typeface="Times New Roman" panose="02020603050405020304" pitchFamily="18" charset="0"/>
              </a:rPr>
              <a:t>respondents are asked to judge how similar or dissimilar the various brands are.  These data are referred to as similarity judgments.  </a:t>
            </a:r>
          </a:p>
          <a:p>
            <a:pPr algn="just">
              <a:buClr>
                <a:srgbClr val="CC0000"/>
              </a:buClr>
            </a:pPr>
            <a:r>
              <a:rPr lang="en-US" altLang="en-US" sz="2000" dirty="0">
                <a:solidFill>
                  <a:srgbClr val="CC0000"/>
                </a:solidFill>
                <a:cs typeface="Times New Roman" panose="02020603050405020304" pitchFamily="18" charset="0"/>
              </a:rPr>
              <a:t>Consider similarity ratings of various toothpaste brands:</a:t>
            </a:r>
          </a:p>
          <a:p>
            <a:pPr algn="just">
              <a:buClr>
                <a:srgbClr val="CC0000"/>
              </a:buClr>
              <a:buFont typeface="Wingdings" panose="05000000000000000000" pitchFamily="2" charset="2"/>
              <a:buNone/>
            </a:pPr>
            <a:r>
              <a:rPr lang="en-US" altLang="en-US" sz="1400" dirty="0">
                <a:solidFill>
                  <a:srgbClr val="CC0000"/>
                </a:solidFill>
                <a:cs typeface="Times New Roman" panose="02020603050405020304" pitchFamily="18" charset="0"/>
              </a:rPr>
              <a:t>			</a:t>
            </a:r>
            <a:r>
              <a:rPr lang="en-US" altLang="en-US" sz="1400" b="1" dirty="0">
                <a:solidFill>
                  <a:srgbClr val="800080"/>
                </a:solidFill>
                <a:cs typeface="Times New Roman" panose="02020603050405020304" pitchFamily="18" charset="0"/>
              </a:rPr>
              <a:t>Very					            Very</a:t>
            </a:r>
          </a:p>
          <a:p>
            <a:pPr algn="just">
              <a:buClr>
                <a:srgbClr val="CC0000"/>
              </a:buClr>
              <a:buFont typeface="Wingdings" panose="05000000000000000000" pitchFamily="2" charset="2"/>
              <a:buNone/>
            </a:pPr>
            <a:r>
              <a:rPr lang="en-US" altLang="en-US" sz="1400" b="1" dirty="0">
                <a:solidFill>
                  <a:srgbClr val="800080"/>
                </a:solidFill>
                <a:cs typeface="Times New Roman" panose="02020603050405020304" pitchFamily="18" charset="0"/>
              </a:rPr>
              <a:t>			</a:t>
            </a:r>
            <a:r>
              <a:rPr lang="en-US" altLang="en-US" sz="1400" b="1" u="sng" dirty="0">
                <a:solidFill>
                  <a:srgbClr val="800080"/>
                </a:solidFill>
                <a:cs typeface="Times New Roman" panose="02020603050405020304" pitchFamily="18" charset="0"/>
              </a:rPr>
              <a:t>Dissimilar</a:t>
            </a:r>
            <a:r>
              <a:rPr lang="en-US" altLang="en-US" sz="1400" b="1" dirty="0">
                <a:solidFill>
                  <a:srgbClr val="800080"/>
                </a:solidFill>
                <a:cs typeface="Times New Roman" panose="02020603050405020304" pitchFamily="18" charset="0"/>
              </a:rPr>
              <a:t>					          </a:t>
            </a:r>
            <a:r>
              <a:rPr lang="en-US" altLang="en-US" sz="1400" b="1" u="sng" dirty="0">
                <a:solidFill>
                  <a:srgbClr val="800080"/>
                </a:solidFill>
                <a:cs typeface="Times New Roman" panose="02020603050405020304" pitchFamily="18" charset="0"/>
              </a:rPr>
              <a:t>Similar</a:t>
            </a:r>
            <a:endParaRPr lang="en-US" altLang="en-US" sz="1400" b="1" dirty="0">
              <a:solidFill>
                <a:srgbClr val="800080"/>
              </a:solidFill>
              <a:cs typeface="Times New Roman" panose="02020603050405020304" pitchFamily="18" charset="0"/>
            </a:endParaRPr>
          </a:p>
          <a:p>
            <a:pPr algn="just">
              <a:buClr>
                <a:srgbClr val="CC0000"/>
              </a:buClr>
              <a:buFont typeface="Wingdings" panose="05000000000000000000" pitchFamily="2" charset="2"/>
              <a:buNone/>
            </a:pPr>
            <a:r>
              <a:rPr lang="en-US" altLang="en-US" sz="1400" b="1" dirty="0">
                <a:solidFill>
                  <a:srgbClr val="CC0000"/>
                </a:solidFill>
                <a:cs typeface="Times New Roman" panose="02020603050405020304" pitchFamily="18" charset="0"/>
              </a:rPr>
              <a:t>Crest vs. Colgate</a:t>
            </a:r>
            <a:r>
              <a:rPr lang="en-US" altLang="en-US" sz="1400" dirty="0">
                <a:solidFill>
                  <a:srgbClr val="CC0000"/>
                </a:solidFill>
                <a:cs typeface="Times New Roman" panose="02020603050405020304" pitchFamily="18" charset="0"/>
              </a:rPr>
              <a:t>           	  1	   2 	3	4	5	6	7</a:t>
            </a:r>
          </a:p>
          <a:p>
            <a:pPr algn="just">
              <a:buClr>
                <a:srgbClr val="CC0000"/>
              </a:buClr>
              <a:buFont typeface="Wingdings" panose="05000000000000000000" pitchFamily="2" charset="2"/>
              <a:buNone/>
            </a:pPr>
            <a:r>
              <a:rPr lang="en-US" altLang="en-US" sz="1400" b="1" dirty="0">
                <a:solidFill>
                  <a:srgbClr val="CC0000"/>
                </a:solidFill>
                <a:cs typeface="Times New Roman" panose="02020603050405020304" pitchFamily="18" charset="0"/>
              </a:rPr>
              <a:t>Aqua-Fresh vs. Crest</a:t>
            </a:r>
            <a:r>
              <a:rPr lang="en-US" altLang="en-US" sz="1400" dirty="0">
                <a:solidFill>
                  <a:srgbClr val="CC0000"/>
                </a:solidFill>
                <a:cs typeface="Times New Roman" panose="02020603050405020304" pitchFamily="18" charset="0"/>
              </a:rPr>
              <a:t>       	  1 	  2	3	4	5	6	7</a:t>
            </a:r>
          </a:p>
          <a:p>
            <a:pPr algn="just">
              <a:buClr>
                <a:srgbClr val="CC0000"/>
              </a:buClr>
              <a:buFont typeface="Wingdings" panose="05000000000000000000" pitchFamily="2" charset="2"/>
              <a:buNone/>
            </a:pPr>
            <a:r>
              <a:rPr lang="en-US" altLang="en-US" sz="1400" b="1" dirty="0">
                <a:solidFill>
                  <a:srgbClr val="CC0000"/>
                </a:solidFill>
                <a:cs typeface="Times New Roman" panose="02020603050405020304" pitchFamily="18" charset="0"/>
              </a:rPr>
              <a:t>Crest vs. Aim</a:t>
            </a:r>
            <a:r>
              <a:rPr lang="en-US" altLang="en-US" sz="1400" dirty="0">
                <a:solidFill>
                  <a:srgbClr val="CC0000"/>
                </a:solidFill>
                <a:cs typeface="Times New Roman" panose="02020603050405020304" pitchFamily="18" charset="0"/>
              </a:rPr>
              <a:t>	  1	   2	3	4	5	6	7</a:t>
            </a:r>
          </a:p>
          <a:p>
            <a:pPr algn="just">
              <a:buClr>
                <a:srgbClr val="CC0000"/>
              </a:buClr>
              <a:buFont typeface="Wingdings" panose="05000000000000000000" pitchFamily="2" charset="2"/>
              <a:buNone/>
            </a:pPr>
            <a:r>
              <a:rPr lang="en-US" altLang="en-US" sz="1400" dirty="0">
                <a:solidFill>
                  <a:srgbClr val="CC0000"/>
                </a:solidFill>
                <a:cs typeface="Times New Roman" panose="02020603050405020304" pitchFamily="18" charset="0"/>
              </a:rPr>
              <a:t>.</a:t>
            </a:r>
          </a:p>
          <a:p>
            <a:pPr algn="just">
              <a:buClr>
                <a:srgbClr val="CC0000"/>
              </a:buClr>
              <a:buFont typeface="Wingdings" panose="05000000000000000000" pitchFamily="2" charset="2"/>
              <a:buNone/>
            </a:pPr>
            <a:r>
              <a:rPr lang="en-US" altLang="en-US" sz="1400" dirty="0">
                <a:solidFill>
                  <a:srgbClr val="CC0000"/>
                </a:solidFill>
                <a:cs typeface="Times New Roman" panose="02020603050405020304" pitchFamily="18" charset="0"/>
              </a:rPr>
              <a:t>.</a:t>
            </a:r>
          </a:p>
          <a:p>
            <a:pPr algn="just">
              <a:buClr>
                <a:srgbClr val="CC0000"/>
              </a:buClr>
              <a:buFont typeface="Wingdings" panose="05000000000000000000" pitchFamily="2" charset="2"/>
              <a:buNone/>
            </a:pPr>
            <a:r>
              <a:rPr lang="en-US" altLang="en-US" sz="1400" dirty="0">
                <a:solidFill>
                  <a:srgbClr val="CC0000"/>
                </a:solidFill>
                <a:cs typeface="Times New Roman" panose="02020603050405020304" pitchFamily="18" charset="0"/>
              </a:rPr>
              <a:t>.</a:t>
            </a:r>
          </a:p>
          <a:p>
            <a:pPr algn="just">
              <a:buClr>
                <a:srgbClr val="CC0000"/>
              </a:buClr>
              <a:buFont typeface="Wingdings" panose="05000000000000000000" pitchFamily="2" charset="2"/>
              <a:buNone/>
            </a:pPr>
            <a:r>
              <a:rPr lang="en-US" altLang="en-US" sz="1400" b="1" dirty="0">
                <a:solidFill>
                  <a:srgbClr val="CC0000"/>
                </a:solidFill>
                <a:cs typeface="Times New Roman" panose="02020603050405020304" pitchFamily="18" charset="0"/>
              </a:rPr>
              <a:t>Colgate vs. Aqua-Fresh</a:t>
            </a:r>
            <a:r>
              <a:rPr lang="en-US" altLang="en-US" sz="1400" dirty="0">
                <a:solidFill>
                  <a:srgbClr val="CC0000"/>
                </a:solidFill>
                <a:cs typeface="Times New Roman" panose="02020603050405020304" pitchFamily="18" charset="0"/>
              </a:rPr>
              <a:t>   1	   2	3	4	5	6	7</a:t>
            </a:r>
          </a:p>
          <a:p>
            <a:pPr algn="just">
              <a:buClr>
                <a:srgbClr val="CC0000"/>
              </a:buClr>
              <a:buFont typeface="Wingdings" panose="05000000000000000000" pitchFamily="2" charset="2"/>
              <a:buNone/>
            </a:pPr>
            <a:r>
              <a:rPr lang="en-US" altLang="en-US" sz="1400" dirty="0">
                <a:solidFill>
                  <a:srgbClr val="CC0000"/>
                </a:solidFill>
                <a:cs typeface="Times New Roman" panose="02020603050405020304" pitchFamily="18" charset="0"/>
              </a:rPr>
              <a:t> </a:t>
            </a:r>
          </a:p>
          <a:p>
            <a:pPr algn="just">
              <a:buClr>
                <a:srgbClr val="CC0000"/>
              </a:buClr>
            </a:pPr>
            <a:r>
              <a:rPr lang="en-US" altLang="en-US" sz="2000" dirty="0">
                <a:solidFill>
                  <a:srgbClr val="CC0000"/>
                </a:solidFill>
                <a:cs typeface="Times New Roman" panose="02020603050405020304" pitchFamily="18" charset="0"/>
              </a:rPr>
              <a:t>The number of pairs to be evaluated is </a:t>
            </a:r>
            <a:r>
              <a:rPr lang="en-US" altLang="en-US" sz="2000" i="1" dirty="0">
                <a:solidFill>
                  <a:srgbClr val="CC0000"/>
                </a:solidFill>
                <a:cs typeface="Times New Roman" panose="02020603050405020304" pitchFamily="18" charset="0"/>
              </a:rPr>
              <a:t>n </a:t>
            </a:r>
            <a:r>
              <a:rPr lang="en-US" altLang="en-US" sz="2000" dirty="0">
                <a:solidFill>
                  <a:srgbClr val="CC0000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sz="2000" i="1" dirty="0">
                <a:solidFill>
                  <a:srgbClr val="CC0000"/>
                </a:solidFill>
                <a:cs typeface="Times New Roman" panose="02020603050405020304" pitchFamily="18" charset="0"/>
              </a:rPr>
              <a:t>n </a:t>
            </a:r>
            <a:r>
              <a:rPr lang="en-US" altLang="en-US" sz="2000" dirty="0">
                <a:solidFill>
                  <a:srgbClr val="CC0000"/>
                </a:solidFill>
                <a:cs typeface="Times New Roman" panose="02020603050405020304" pitchFamily="18" charset="0"/>
              </a:rPr>
              <a:t>-1)/2, where </a:t>
            </a:r>
            <a:r>
              <a:rPr lang="en-US" altLang="en-US" sz="2000" i="1" dirty="0">
                <a:solidFill>
                  <a:srgbClr val="CC0000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000" dirty="0">
                <a:solidFill>
                  <a:srgbClr val="CC0000"/>
                </a:solidFill>
                <a:cs typeface="Times New Roman" panose="02020603050405020304" pitchFamily="18" charset="0"/>
              </a:rPr>
              <a:t> is the number of stimuli.</a:t>
            </a:r>
            <a:endParaRPr lang="en-US" altLang="en-US" sz="2000" dirty="0">
              <a:solidFill>
                <a:srgbClr val="CC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690A4E-B480-4A36-9DEB-02FE0FFCDE53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65B8C9-5811-4DDE-92D5-4D78BE1DB3D6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D74C46-78B1-4932-9C16-7427F742D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D257C-DDB9-4445-AD9A-AE1AF229B381}" type="slidenum">
              <a:rPr lang="en-US" smtClean="0"/>
              <a:t>21</a:t>
            </a:fld>
            <a:endParaRPr 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90CDAB87-5BF9-440C-BF9C-0B9E006D90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4122" y="319155"/>
            <a:ext cx="12027878" cy="733425"/>
          </a:xfrm>
        </p:spPr>
        <p:txBody>
          <a:bodyPr>
            <a:normAutofit/>
          </a:bodyPr>
          <a:lstStyle/>
          <a:p>
            <a:r>
              <a:rPr lang="en-US" altLang="en-US" sz="3600" b="1" dirty="0"/>
              <a:t>MDS: Case study Perceptual mapping of Toothpaste</a:t>
            </a:r>
          </a:p>
        </p:txBody>
      </p:sp>
    </p:spTree>
    <p:extLst>
      <p:ext uri="{BB962C8B-B14F-4D97-AF65-F5344CB8AC3E}">
        <p14:creationId xmlns:p14="http://schemas.microsoft.com/office/powerpoint/2010/main" val="1893524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7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7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7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7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699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63D7D738-94BC-45C8-ABAA-01DC2B9CD3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3027" y="171658"/>
            <a:ext cx="8757477" cy="733425"/>
          </a:xfrm>
        </p:spPr>
        <p:txBody>
          <a:bodyPr>
            <a:normAutofit/>
          </a:bodyPr>
          <a:lstStyle/>
          <a:p>
            <a:pPr algn="ctr"/>
            <a:r>
              <a:rPr lang="en-US" altLang="en-US" sz="3200" b="1" dirty="0">
                <a:solidFill>
                  <a:srgbClr val="800080"/>
                </a:solidFill>
              </a:rPr>
              <a:t>Case study: Similarity Rating Of Toothpaste Brands</a:t>
            </a:r>
          </a:p>
        </p:txBody>
      </p:sp>
      <p:grpSp>
        <p:nvGrpSpPr>
          <p:cNvPr id="128016" name="Group 16">
            <a:extLst>
              <a:ext uri="{FF2B5EF4-FFF2-40B4-BE49-F238E27FC236}">
                <a16:creationId xmlns:a16="http://schemas.microsoft.com/office/drawing/2014/main" id="{E7FD7E83-4BA9-448B-AA59-1F193F8A1AF6}"/>
              </a:ext>
            </a:extLst>
          </p:cNvPr>
          <p:cNvGrpSpPr>
            <a:grpSpLocks/>
          </p:cNvGrpSpPr>
          <p:nvPr/>
        </p:nvGrpSpPr>
        <p:grpSpPr bwMode="auto">
          <a:xfrm>
            <a:off x="742122" y="1905000"/>
            <a:ext cx="10813774" cy="3959082"/>
            <a:chOff x="72" y="1200"/>
            <a:chExt cx="5612" cy="1921"/>
          </a:xfrm>
        </p:grpSpPr>
        <p:sp>
          <p:nvSpPr>
            <p:cNvPr id="128004" name="Rectangle 4">
              <a:extLst>
                <a:ext uri="{FF2B5EF4-FFF2-40B4-BE49-F238E27FC236}">
                  <a16:creationId xmlns:a16="http://schemas.microsoft.com/office/drawing/2014/main" id="{DD5B1A32-E68E-4A12-9777-A5DD48E91E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" y="1200"/>
              <a:ext cx="5612" cy="192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28015" name="Object 15">
              <a:extLst>
                <a:ext uri="{FF2B5EF4-FFF2-40B4-BE49-F238E27FC236}">
                  <a16:creationId xmlns:a16="http://schemas.microsoft.com/office/drawing/2014/main" id="{9A1E0FE4-EE1C-4644-B5C7-DED43D4D642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1" y="1286"/>
            <a:ext cx="5465" cy="18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Worksheet" r:id="rId2" imgW="8391347" imgH="2762119" progId="Excel.Sheet.8">
                    <p:embed/>
                  </p:oleObj>
                </mc:Choice>
                <mc:Fallback>
                  <p:oleObj name="Worksheet" r:id="rId2" imgW="8391347" imgH="2762119" progId="Excel.Sheet.8">
                    <p:embed/>
                    <p:pic>
                      <p:nvPicPr>
                        <p:cNvPr id="128015" name="Object 15">
                          <a:extLst>
                            <a:ext uri="{FF2B5EF4-FFF2-40B4-BE49-F238E27FC236}">
                              <a16:creationId xmlns:a16="http://schemas.microsoft.com/office/drawing/2014/main" id="{9A1E0FE4-EE1C-4644-B5C7-DED43D4D642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" y="1286"/>
                          <a:ext cx="5465" cy="18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B18DAB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1EFC679D-689D-48E0-B53F-0C4F0EBB8DCE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4189C86-477F-43B6-867E-1B5427534689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592C82-0E7D-4A83-8AC2-C3C0635CF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D257C-DDB9-4445-AD9A-AE1AF229B38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483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8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8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80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80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2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4" name="Rectangle 4">
            <a:extLst>
              <a:ext uri="{FF2B5EF4-FFF2-40B4-BE49-F238E27FC236}">
                <a16:creationId xmlns:a16="http://schemas.microsoft.com/office/drawing/2014/main" id="{178EB8E3-4716-40DA-904B-74E1DB634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6600" y="2590800"/>
            <a:ext cx="7620000" cy="2590800"/>
          </a:xfrm>
          <a:prstGeom prst="rect">
            <a:avLst/>
          </a:prstGeom>
          <a:solidFill>
            <a:srgbClr val="FFFFCC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8723" name="Rectangle 3">
            <a:extLst>
              <a:ext uri="{FF2B5EF4-FFF2-40B4-BE49-F238E27FC236}">
                <a16:creationId xmlns:a16="http://schemas.microsoft.com/office/drawing/2014/main" id="{4B37DE0B-0FFC-473B-93A9-87E38304EB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90788" y="1408114"/>
            <a:ext cx="7772400" cy="4992687"/>
          </a:xfrm>
        </p:spPr>
        <p:txBody>
          <a:bodyPr>
            <a:normAutofit lnSpcReduction="10000"/>
          </a:bodyPr>
          <a:lstStyle/>
          <a:p>
            <a:pPr marL="401638" indent="-401638" algn="just">
              <a:buClr>
                <a:srgbClr val="CC0000"/>
              </a:buClr>
            </a:pPr>
            <a:r>
              <a:rPr lang="en-US" altLang="en-US" sz="1800" b="1" dirty="0">
                <a:solidFill>
                  <a:srgbClr val="800080"/>
                </a:solidFill>
                <a:cs typeface="Times New Roman" panose="02020603050405020304" pitchFamily="18" charset="0"/>
              </a:rPr>
              <a:t>Perception Data: Derived Approaches:</a:t>
            </a:r>
            <a:r>
              <a:rPr lang="en-US" altLang="en-US" sz="1800" b="1" dirty="0">
                <a:solidFill>
                  <a:srgbClr val="CC0000"/>
                </a:solidFill>
                <a:cs typeface="Times New Roman" panose="02020603050405020304" pitchFamily="18" charset="0"/>
              </a:rPr>
              <a:t>  A</a:t>
            </a:r>
            <a:r>
              <a:rPr lang="en-US" altLang="en-US" sz="1800" dirty="0">
                <a:solidFill>
                  <a:srgbClr val="CC0000"/>
                </a:solidFill>
                <a:cs typeface="Times New Roman" panose="02020603050405020304" pitchFamily="18" charset="0"/>
              </a:rPr>
              <a:t>ttribute-based approaches requiring the respondents to rate the brands on the identified attributes using semantic differential or Likert scales.  </a:t>
            </a:r>
          </a:p>
          <a:p>
            <a:pPr marL="401638" indent="-401638" algn="just">
              <a:buClr>
                <a:srgbClr val="CC0000"/>
              </a:buClr>
            </a:pPr>
            <a:endParaRPr lang="en-US" altLang="en-US" sz="1800" dirty="0">
              <a:solidFill>
                <a:srgbClr val="CC0000"/>
              </a:solidFill>
              <a:cs typeface="Times New Roman" panose="02020603050405020304" pitchFamily="18" charset="0"/>
            </a:endParaRPr>
          </a:p>
          <a:p>
            <a:pPr marL="401638" indent="-401638" algn="just">
              <a:buClr>
                <a:srgbClr val="CC0000"/>
              </a:buClr>
              <a:buNone/>
            </a:pPr>
            <a:r>
              <a:rPr lang="en-US" altLang="en-US" sz="1200" b="1" dirty="0">
                <a:solidFill>
                  <a:srgbClr val="CC0000"/>
                </a:solidFill>
                <a:cs typeface="Times New Roman" panose="02020603050405020304" pitchFamily="18" charset="0"/>
              </a:rPr>
              <a:t>Whitens            			                       Does not</a:t>
            </a:r>
          </a:p>
          <a:p>
            <a:pPr marL="401638" indent="-401638" algn="just">
              <a:buClr>
                <a:srgbClr val="CC0000"/>
              </a:buClr>
              <a:buNone/>
            </a:pPr>
            <a:r>
              <a:rPr lang="en-US" altLang="en-US" sz="1200" b="1" dirty="0">
                <a:solidFill>
                  <a:srgbClr val="CC0000"/>
                </a:solidFill>
                <a:cs typeface="Times New Roman" panose="02020603050405020304" pitchFamily="18" charset="0"/>
              </a:rPr>
              <a:t>teeth 	___  ___  ___  ___  ___  ___  ___  ___  ___  ___  whiten teeth</a:t>
            </a:r>
          </a:p>
          <a:p>
            <a:pPr marL="401638" indent="-401638" algn="just">
              <a:buClr>
                <a:srgbClr val="CC0000"/>
              </a:buClr>
              <a:buNone/>
            </a:pPr>
            <a:r>
              <a:rPr lang="en-US" altLang="en-US" sz="1200" b="1" dirty="0">
                <a:solidFill>
                  <a:srgbClr val="CC0000"/>
                </a:solidFill>
                <a:cs typeface="Times New Roman" panose="02020603050405020304" pitchFamily="18" charset="0"/>
              </a:rPr>
              <a:t> </a:t>
            </a:r>
          </a:p>
          <a:p>
            <a:pPr marL="401638" indent="-401638" algn="just">
              <a:buClr>
                <a:srgbClr val="CC0000"/>
              </a:buClr>
              <a:buNone/>
            </a:pPr>
            <a:r>
              <a:rPr lang="en-US" altLang="en-US" sz="1200" b="1" dirty="0">
                <a:solidFill>
                  <a:srgbClr val="CC0000"/>
                </a:solidFill>
                <a:cs typeface="Times New Roman" panose="02020603050405020304" pitchFamily="18" charset="0"/>
              </a:rPr>
              <a:t>Prevents tooth			               	  Does not prevent</a:t>
            </a:r>
          </a:p>
          <a:p>
            <a:pPr marL="401638" indent="-401638" algn="just">
              <a:buClr>
                <a:srgbClr val="CC0000"/>
              </a:buClr>
              <a:buNone/>
            </a:pPr>
            <a:r>
              <a:rPr lang="en-US" altLang="en-US" sz="1200" b="1" dirty="0">
                <a:solidFill>
                  <a:srgbClr val="CC0000"/>
                </a:solidFill>
                <a:cs typeface="Times New Roman" panose="02020603050405020304" pitchFamily="18" charset="0"/>
              </a:rPr>
              <a:t>decay  	___  ___  ___  ___  ___  ___  ___  ___  ___  ___   tooth decay</a:t>
            </a:r>
          </a:p>
          <a:p>
            <a:pPr marL="401638" indent="-401638" algn="just">
              <a:buClr>
                <a:srgbClr val="CC0000"/>
              </a:buClr>
              <a:buNone/>
            </a:pPr>
            <a:r>
              <a:rPr lang="en-US" altLang="en-US" sz="1200" b="1" dirty="0">
                <a:solidFill>
                  <a:srgbClr val="CC0000"/>
                </a:solidFill>
                <a:cs typeface="Times New Roman" panose="02020603050405020304" pitchFamily="18" charset="0"/>
              </a:rPr>
              <a:t>		.</a:t>
            </a:r>
          </a:p>
          <a:p>
            <a:pPr marL="401638" indent="-401638" algn="just">
              <a:buClr>
                <a:srgbClr val="CC0000"/>
              </a:buClr>
              <a:buNone/>
            </a:pPr>
            <a:r>
              <a:rPr lang="en-US" altLang="en-US" sz="1200" b="1" dirty="0">
                <a:solidFill>
                  <a:srgbClr val="CC0000"/>
                </a:solidFill>
                <a:cs typeface="Times New Roman" panose="02020603050405020304" pitchFamily="18" charset="0"/>
              </a:rPr>
              <a:t>		.</a:t>
            </a:r>
          </a:p>
          <a:p>
            <a:pPr marL="401638" indent="-401638" algn="just">
              <a:buClr>
                <a:srgbClr val="CC0000"/>
              </a:buClr>
              <a:buNone/>
            </a:pPr>
            <a:r>
              <a:rPr lang="en-US" altLang="en-US" sz="1200" b="1" dirty="0">
                <a:solidFill>
                  <a:srgbClr val="CC0000"/>
                </a:solidFill>
                <a:cs typeface="Times New Roman" panose="02020603050405020304" pitchFamily="18" charset="0"/>
              </a:rPr>
              <a:t>		.</a:t>
            </a:r>
          </a:p>
          <a:p>
            <a:pPr marL="401638" indent="-401638" algn="just">
              <a:buClr>
                <a:srgbClr val="CC0000"/>
              </a:buClr>
              <a:buNone/>
            </a:pPr>
            <a:r>
              <a:rPr lang="en-US" altLang="en-US" sz="1200" b="1" dirty="0">
                <a:solidFill>
                  <a:srgbClr val="CC0000"/>
                </a:solidFill>
                <a:cs typeface="Times New Roman" panose="02020603050405020304" pitchFamily="18" charset="0"/>
              </a:rPr>
              <a:t>Pleasant					  Unpleasant</a:t>
            </a:r>
          </a:p>
          <a:p>
            <a:pPr marL="401638" indent="-401638" algn="just">
              <a:buClr>
                <a:srgbClr val="CC0000"/>
              </a:buClr>
              <a:buNone/>
            </a:pPr>
            <a:r>
              <a:rPr lang="en-US" altLang="en-US" sz="1200" b="1" dirty="0">
                <a:solidFill>
                  <a:srgbClr val="CC0000"/>
                </a:solidFill>
                <a:cs typeface="Times New Roman" panose="02020603050405020304" pitchFamily="18" charset="0"/>
              </a:rPr>
              <a:t>tasting      	___  ___  ___  ___  ___  ___  ___ ___  ___  ___   tasting</a:t>
            </a:r>
          </a:p>
          <a:p>
            <a:pPr marL="401638" indent="-401638" algn="just">
              <a:buClr>
                <a:srgbClr val="CC0000"/>
              </a:buClr>
              <a:buNone/>
            </a:pPr>
            <a:endParaRPr lang="en-US" altLang="en-US" sz="1200" b="1" dirty="0">
              <a:solidFill>
                <a:srgbClr val="CC0000"/>
              </a:solidFill>
              <a:cs typeface="Times New Roman" panose="02020603050405020304" pitchFamily="18" charset="0"/>
            </a:endParaRPr>
          </a:p>
          <a:p>
            <a:pPr marL="401638" indent="-401638" algn="just">
              <a:buClr>
                <a:srgbClr val="CC0000"/>
              </a:buClr>
            </a:pPr>
            <a:r>
              <a:rPr lang="en-US" altLang="en-US" sz="1800" dirty="0">
                <a:solidFill>
                  <a:srgbClr val="CC0000"/>
                </a:solidFill>
                <a:cs typeface="Times New Roman" panose="02020603050405020304" pitchFamily="18" charset="0"/>
              </a:rPr>
              <a:t>If attribute ratings are obtained, a similarity measure (such as Euclidean distance) is derived for each pair of brands.</a:t>
            </a:r>
            <a:endParaRPr lang="en-US" altLang="en-US" sz="1000" dirty="0">
              <a:solidFill>
                <a:srgbClr val="CC0000"/>
              </a:solidFill>
            </a:endParaRPr>
          </a:p>
        </p:txBody>
      </p:sp>
      <p:sp>
        <p:nvSpPr>
          <p:cNvPr id="158725" name="Rectangle 5">
            <a:extLst>
              <a:ext uri="{FF2B5EF4-FFF2-40B4-BE49-F238E27FC236}">
                <a16:creationId xmlns:a16="http://schemas.microsoft.com/office/drawing/2014/main" id="{25BD15F2-6544-4154-B6F8-51D5B78CE6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4123" y="71575"/>
            <a:ext cx="4818694" cy="922338"/>
          </a:xfrm>
          <a:noFill/>
          <a:ln/>
        </p:spPr>
        <p:txBody>
          <a:bodyPr>
            <a:normAutofit/>
          </a:bodyPr>
          <a:lstStyle/>
          <a:p>
            <a:r>
              <a:rPr lang="en-US" altLang="en-US" sz="3200" b="1" dirty="0">
                <a:solidFill>
                  <a:srgbClr val="800080"/>
                </a:solidFill>
              </a:rPr>
              <a:t> Case study: Input Data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27223D-E96A-4C34-9A96-87DBCFD497EE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8999183-71EB-4201-9329-CA5811245692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A366F4-19ED-4B68-917B-9875FF268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D257C-DDB9-4445-AD9A-AE1AF229B38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930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8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8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8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8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87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87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3" grpId="0" autoUpdateAnimBg="0"/>
      <p:bldP spid="158725" grpId="0" animBg="1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3E29E4E9-DEFE-4312-A8CA-F55581B38C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331" y="241302"/>
            <a:ext cx="8715375" cy="733425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800080"/>
                </a:solidFill>
              </a:rPr>
              <a:t>Plot of Stress Versus Dimensionality </a:t>
            </a:r>
          </a:p>
        </p:txBody>
      </p:sp>
      <p:sp>
        <p:nvSpPr>
          <p:cNvPr id="129038" name="Rectangle 14">
            <a:extLst>
              <a:ext uri="{FF2B5EF4-FFF2-40B4-BE49-F238E27FC236}">
                <a16:creationId xmlns:a16="http://schemas.microsoft.com/office/drawing/2014/main" id="{0F227DC5-3C0C-4F77-B3A3-CE0C5E3C78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78288" y="6286500"/>
            <a:ext cx="4037012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500">
                <a:solidFill>
                  <a:srgbClr val="CC0000"/>
                </a:solidFill>
              </a:rPr>
              <a:t> Number of Dimensions</a:t>
            </a:r>
          </a:p>
        </p:txBody>
      </p:sp>
      <p:grpSp>
        <p:nvGrpSpPr>
          <p:cNvPr id="129067" name="Group 43">
            <a:extLst>
              <a:ext uri="{FF2B5EF4-FFF2-40B4-BE49-F238E27FC236}">
                <a16:creationId xmlns:a16="http://schemas.microsoft.com/office/drawing/2014/main" id="{2CFF91D1-1152-4A7C-ACE4-69E4780F495D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1219201"/>
            <a:ext cx="6732588" cy="5224463"/>
            <a:chOff x="768" y="768"/>
            <a:chExt cx="4241" cy="3291"/>
          </a:xfrm>
        </p:grpSpPr>
        <p:sp>
          <p:nvSpPr>
            <p:cNvPr id="129028" name="Line 4">
              <a:extLst>
                <a:ext uri="{FF2B5EF4-FFF2-40B4-BE49-F238E27FC236}">
                  <a16:creationId xmlns:a16="http://schemas.microsoft.com/office/drawing/2014/main" id="{459657A3-94FB-4208-8C10-E2B1A45B59D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477" y="3794"/>
              <a:ext cx="325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29" name="Rectangle 5">
              <a:extLst>
                <a:ext uri="{FF2B5EF4-FFF2-40B4-BE49-F238E27FC236}">
                  <a16:creationId xmlns:a16="http://schemas.microsoft.com/office/drawing/2014/main" id="{9AA21E6B-F991-48B2-B289-13B4EDB2EEA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58" y="2645"/>
              <a:ext cx="430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solidFill>
                    <a:schemeClr val="tx2"/>
                  </a:solidFill>
                </a:rPr>
                <a:t>0.1</a:t>
              </a:r>
            </a:p>
          </p:txBody>
        </p:sp>
        <p:sp>
          <p:nvSpPr>
            <p:cNvPr id="129030" name="Line 6">
              <a:extLst>
                <a:ext uri="{FF2B5EF4-FFF2-40B4-BE49-F238E27FC236}">
                  <a16:creationId xmlns:a16="http://schemas.microsoft.com/office/drawing/2014/main" id="{C0A0E0BF-4829-426C-8442-F6B54AAF1F3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441" y="879"/>
              <a:ext cx="17" cy="28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31" name="Line 7">
              <a:extLst>
                <a:ext uri="{FF2B5EF4-FFF2-40B4-BE49-F238E27FC236}">
                  <a16:creationId xmlns:a16="http://schemas.microsoft.com/office/drawing/2014/main" id="{13D798D6-B044-49B6-B22C-25E160A8206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448" y="3271"/>
              <a:ext cx="1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32" name="Line 8">
              <a:extLst>
                <a:ext uri="{FF2B5EF4-FFF2-40B4-BE49-F238E27FC236}">
                  <a16:creationId xmlns:a16="http://schemas.microsoft.com/office/drawing/2014/main" id="{91698EFD-6BB9-495A-8024-D34A2645DB2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448" y="1802"/>
              <a:ext cx="1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33" name="Line 9">
              <a:extLst>
                <a:ext uri="{FF2B5EF4-FFF2-40B4-BE49-F238E27FC236}">
                  <a16:creationId xmlns:a16="http://schemas.microsoft.com/office/drawing/2014/main" id="{02AB56BC-A251-4934-A6B9-43F2543E1F5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448" y="2292"/>
              <a:ext cx="1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34" name="Line 10">
              <a:extLst>
                <a:ext uri="{FF2B5EF4-FFF2-40B4-BE49-F238E27FC236}">
                  <a16:creationId xmlns:a16="http://schemas.microsoft.com/office/drawing/2014/main" id="{B5855C7B-49DB-42B6-89D7-81EB22B1058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477" y="856"/>
              <a:ext cx="325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35" name="Line 11">
              <a:extLst>
                <a:ext uri="{FF2B5EF4-FFF2-40B4-BE49-F238E27FC236}">
                  <a16:creationId xmlns:a16="http://schemas.microsoft.com/office/drawing/2014/main" id="{2636D1E2-DF69-4AEB-9677-49829650EF6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4758" y="859"/>
              <a:ext cx="0" cy="29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36" name="Rectangle 12">
              <a:extLst>
                <a:ext uri="{FF2B5EF4-FFF2-40B4-BE49-F238E27FC236}">
                  <a16:creationId xmlns:a16="http://schemas.microsoft.com/office/drawing/2014/main" id="{B05A1D35-3318-499E-B5F5-B69A202A66D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08" y="1666"/>
              <a:ext cx="485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solidFill>
                    <a:schemeClr val="tx2"/>
                  </a:solidFill>
                </a:rPr>
                <a:t> 0.2</a:t>
              </a:r>
            </a:p>
          </p:txBody>
        </p:sp>
        <p:sp>
          <p:nvSpPr>
            <p:cNvPr id="129037" name="Rectangle 13">
              <a:extLst>
                <a:ext uri="{FF2B5EF4-FFF2-40B4-BE49-F238E27FC236}">
                  <a16:creationId xmlns:a16="http://schemas.microsoft.com/office/drawing/2014/main" id="{1FF8B0B2-C0AD-4840-9594-21C54FFF57F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85" y="3770"/>
              <a:ext cx="381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129039" name="Rectangle 15">
              <a:extLst>
                <a:ext uri="{FF2B5EF4-FFF2-40B4-BE49-F238E27FC236}">
                  <a16:creationId xmlns:a16="http://schemas.microsoft.com/office/drawing/2014/main" id="{1B50B84A-30CD-4A09-8652-DD8E794038D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28" y="3770"/>
              <a:ext cx="381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solidFill>
                    <a:schemeClr val="tx2"/>
                  </a:solidFill>
                </a:rPr>
                <a:t>  4</a:t>
              </a:r>
            </a:p>
          </p:txBody>
        </p:sp>
        <p:sp>
          <p:nvSpPr>
            <p:cNvPr id="129040" name="Rectangle 16">
              <a:extLst>
                <a:ext uri="{FF2B5EF4-FFF2-40B4-BE49-F238E27FC236}">
                  <a16:creationId xmlns:a16="http://schemas.microsoft.com/office/drawing/2014/main" id="{2D0F9599-E25C-49D4-91D7-8703671E3D2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57" y="3770"/>
              <a:ext cx="380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129041" name="Rectangle 17">
              <a:extLst>
                <a:ext uri="{FF2B5EF4-FFF2-40B4-BE49-F238E27FC236}">
                  <a16:creationId xmlns:a16="http://schemas.microsoft.com/office/drawing/2014/main" id="{CBA9CA4B-CC7A-4596-AD12-F83E354C2F7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63" y="3770"/>
              <a:ext cx="381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29042" name="Rectangle 18">
              <a:extLst>
                <a:ext uri="{FF2B5EF4-FFF2-40B4-BE49-F238E27FC236}">
                  <a16:creationId xmlns:a16="http://schemas.microsoft.com/office/drawing/2014/main" id="{69B68896-B5DA-4B22-9ADE-3807E1B1B7D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628" y="3770"/>
              <a:ext cx="381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solidFill>
                    <a:schemeClr val="tx2"/>
                  </a:solidFill>
                </a:rPr>
                <a:t> 5</a:t>
              </a:r>
            </a:p>
          </p:txBody>
        </p:sp>
        <p:sp>
          <p:nvSpPr>
            <p:cNvPr id="129043" name="Line 19">
              <a:extLst>
                <a:ext uri="{FF2B5EF4-FFF2-40B4-BE49-F238E27FC236}">
                  <a16:creationId xmlns:a16="http://schemas.microsoft.com/office/drawing/2014/main" id="{D49A0DFD-6155-4585-AE23-3D558B48112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448" y="1313"/>
              <a:ext cx="1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44" name="Line 20">
              <a:extLst>
                <a:ext uri="{FF2B5EF4-FFF2-40B4-BE49-F238E27FC236}">
                  <a16:creationId xmlns:a16="http://schemas.microsoft.com/office/drawing/2014/main" id="{B1C53052-ECC2-438D-B9A5-66F458CFC6A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448" y="2782"/>
              <a:ext cx="1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45" name="Rectangle 21">
              <a:extLst>
                <a:ext uri="{FF2B5EF4-FFF2-40B4-BE49-F238E27FC236}">
                  <a16:creationId xmlns:a16="http://schemas.microsoft.com/office/drawing/2014/main" id="{A021DD11-6C5C-4CD1-9952-9BC589FEA66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16" y="3770"/>
              <a:ext cx="381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solidFill>
                    <a:schemeClr val="tx2"/>
                  </a:solidFill>
                </a:rPr>
                <a:t>0</a:t>
              </a:r>
            </a:p>
          </p:txBody>
        </p:sp>
        <p:sp>
          <p:nvSpPr>
            <p:cNvPr id="129046" name="Rectangle 22">
              <a:extLst>
                <a:ext uri="{FF2B5EF4-FFF2-40B4-BE49-F238E27FC236}">
                  <a16:creationId xmlns:a16="http://schemas.microsoft.com/office/drawing/2014/main" id="{CF9B16ED-A750-4EC6-BBAE-8950DAD9229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51" y="3583"/>
              <a:ext cx="485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solidFill>
                    <a:schemeClr val="tx2"/>
                  </a:solidFill>
                </a:rPr>
                <a:t>0.0</a:t>
              </a:r>
            </a:p>
          </p:txBody>
        </p:sp>
        <p:sp>
          <p:nvSpPr>
            <p:cNvPr id="129047" name="Rectangle 23">
              <a:extLst>
                <a:ext uri="{FF2B5EF4-FFF2-40B4-BE49-F238E27FC236}">
                  <a16:creationId xmlns:a16="http://schemas.microsoft.com/office/drawing/2014/main" id="{2FBBC5D1-77D4-404A-9A42-473248DA582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56" y="768"/>
              <a:ext cx="437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>
                  <a:solidFill>
                    <a:schemeClr val="tx2"/>
                  </a:solidFill>
                </a:rPr>
                <a:t> 0.3</a:t>
              </a:r>
            </a:p>
          </p:txBody>
        </p:sp>
        <p:sp>
          <p:nvSpPr>
            <p:cNvPr id="129048" name="Rectangle 24">
              <a:extLst>
                <a:ext uri="{FF2B5EF4-FFF2-40B4-BE49-F238E27FC236}">
                  <a16:creationId xmlns:a16="http://schemas.microsoft.com/office/drawing/2014/main" id="{640752FC-F467-4DFB-83D7-89656127F3B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16200000">
              <a:off x="548" y="2130"/>
              <a:ext cx="735" cy="2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500">
                  <a:solidFill>
                    <a:srgbClr val="CC0000"/>
                  </a:solidFill>
                </a:rPr>
                <a:t> Stress</a:t>
              </a:r>
            </a:p>
          </p:txBody>
        </p:sp>
        <p:sp>
          <p:nvSpPr>
            <p:cNvPr id="129049" name="Line 25">
              <a:extLst>
                <a:ext uri="{FF2B5EF4-FFF2-40B4-BE49-F238E27FC236}">
                  <a16:creationId xmlns:a16="http://schemas.microsoft.com/office/drawing/2014/main" id="{A13F94A2-6999-4798-963A-64282E80564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772" y="3694"/>
              <a:ext cx="0" cy="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50" name="Line 26">
              <a:extLst>
                <a:ext uri="{FF2B5EF4-FFF2-40B4-BE49-F238E27FC236}">
                  <a16:creationId xmlns:a16="http://schemas.microsoft.com/office/drawing/2014/main" id="{B94F650B-DB6D-4FA1-B135-B5D39594FB0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098" y="3694"/>
              <a:ext cx="0" cy="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51" name="Line 27">
              <a:extLst>
                <a:ext uri="{FF2B5EF4-FFF2-40B4-BE49-F238E27FC236}">
                  <a16:creationId xmlns:a16="http://schemas.microsoft.com/office/drawing/2014/main" id="{9C213FDA-65D8-4D6B-8E9A-8885146AF42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425" y="3694"/>
              <a:ext cx="0" cy="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52" name="Line 28">
              <a:extLst>
                <a:ext uri="{FF2B5EF4-FFF2-40B4-BE49-F238E27FC236}">
                  <a16:creationId xmlns:a16="http://schemas.microsoft.com/office/drawing/2014/main" id="{6E23EC63-A3AF-4B53-A9F9-64987220060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751" y="3694"/>
              <a:ext cx="0" cy="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53" name="Line 29">
              <a:extLst>
                <a:ext uri="{FF2B5EF4-FFF2-40B4-BE49-F238E27FC236}">
                  <a16:creationId xmlns:a16="http://schemas.microsoft.com/office/drawing/2014/main" id="{81319B01-4990-462E-A429-FFAC7025D15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096" y="3694"/>
              <a:ext cx="0" cy="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54" name="Line 30">
              <a:extLst>
                <a:ext uri="{FF2B5EF4-FFF2-40B4-BE49-F238E27FC236}">
                  <a16:creationId xmlns:a16="http://schemas.microsoft.com/office/drawing/2014/main" id="{2B1B0AF8-8C94-48E3-B737-0990EA0F1AE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445" y="3694"/>
              <a:ext cx="0" cy="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55" name="Line 31">
              <a:extLst>
                <a:ext uri="{FF2B5EF4-FFF2-40B4-BE49-F238E27FC236}">
                  <a16:creationId xmlns:a16="http://schemas.microsoft.com/office/drawing/2014/main" id="{C9DB8978-DB82-447B-BB1C-B47F5D59F4E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771" y="3694"/>
              <a:ext cx="0" cy="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56" name="Line 32">
              <a:extLst>
                <a:ext uri="{FF2B5EF4-FFF2-40B4-BE49-F238E27FC236}">
                  <a16:creationId xmlns:a16="http://schemas.microsoft.com/office/drawing/2014/main" id="{45FF0B97-0D5B-422A-9368-D4FB701B5AC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098" y="3694"/>
              <a:ext cx="0" cy="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57" name="Line 33">
              <a:extLst>
                <a:ext uri="{FF2B5EF4-FFF2-40B4-BE49-F238E27FC236}">
                  <a16:creationId xmlns:a16="http://schemas.microsoft.com/office/drawing/2014/main" id="{6579A162-63C4-4377-8228-922FE0D3AE5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424" y="3694"/>
              <a:ext cx="0" cy="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58" name="Line 34">
              <a:extLst>
                <a:ext uri="{FF2B5EF4-FFF2-40B4-BE49-F238E27FC236}">
                  <a16:creationId xmlns:a16="http://schemas.microsoft.com/office/drawing/2014/main" id="{A5C6474B-DB57-49C7-9F51-0C92C481872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070" y="1400"/>
              <a:ext cx="671" cy="144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59" name="Line 35">
              <a:extLst>
                <a:ext uri="{FF2B5EF4-FFF2-40B4-BE49-F238E27FC236}">
                  <a16:creationId xmlns:a16="http://schemas.microsoft.com/office/drawing/2014/main" id="{23687EB5-A416-41DD-967B-1EEDCEF3B38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792" y="2896"/>
              <a:ext cx="595" cy="45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60" name="Rectangle 36">
              <a:extLst>
                <a:ext uri="{FF2B5EF4-FFF2-40B4-BE49-F238E27FC236}">
                  <a16:creationId xmlns:a16="http://schemas.microsoft.com/office/drawing/2014/main" id="{D84341C1-3063-4CD6-AB93-28BDBF50BE9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13680000">
              <a:off x="2017" y="1304"/>
              <a:ext cx="82" cy="81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61" name="Rectangle 37">
              <a:extLst>
                <a:ext uri="{FF2B5EF4-FFF2-40B4-BE49-F238E27FC236}">
                  <a16:creationId xmlns:a16="http://schemas.microsoft.com/office/drawing/2014/main" id="{2243FA6C-B46B-4FBF-A6C8-C03D90F2634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13680000">
              <a:off x="2711" y="2815"/>
              <a:ext cx="81" cy="81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62" name="Rectangle 38">
              <a:extLst>
                <a:ext uri="{FF2B5EF4-FFF2-40B4-BE49-F238E27FC236}">
                  <a16:creationId xmlns:a16="http://schemas.microsoft.com/office/drawing/2014/main" id="{F83B7A55-96AA-4E0E-A1B4-345A9480B37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13680000">
              <a:off x="3363" y="3304"/>
              <a:ext cx="82" cy="8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63" name="Rectangle 39">
              <a:extLst>
                <a:ext uri="{FF2B5EF4-FFF2-40B4-BE49-F238E27FC236}">
                  <a16:creationId xmlns:a16="http://schemas.microsoft.com/office/drawing/2014/main" id="{184AE1CD-9A5F-40D5-A2A7-237ADCAC84F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13680000">
              <a:off x="4057" y="3508"/>
              <a:ext cx="82" cy="8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64" name="Line 40">
              <a:extLst>
                <a:ext uri="{FF2B5EF4-FFF2-40B4-BE49-F238E27FC236}">
                  <a16:creationId xmlns:a16="http://schemas.microsoft.com/office/drawing/2014/main" id="{23D1383F-8AB1-474D-9A4D-414F2FFD3D9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445" y="3386"/>
              <a:ext cx="602" cy="15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BB918F45-3D86-452F-8A05-5C8378EF283D}"/>
              </a:ext>
            </a:extLst>
          </p:cNvPr>
          <p:cNvSpPr/>
          <p:nvPr/>
        </p:nvSpPr>
        <p:spPr>
          <a:xfrm>
            <a:off x="124399" y="179998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6DD489B-485F-47BB-8F89-D248B6A9E8A5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536898-0AEA-4725-A593-C3DBB5758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D257C-DDB9-4445-AD9A-AE1AF229B38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985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9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9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90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90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9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9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6" grpId="0" autoUpdateAnimBg="0"/>
      <p:bldP spid="129038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>
            <a:extLst>
              <a:ext uri="{FF2B5EF4-FFF2-40B4-BE49-F238E27FC236}">
                <a16:creationId xmlns:a16="http://schemas.microsoft.com/office/drawing/2014/main" id="{985C6843-35E3-4305-833C-D947545F8C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8" y="284178"/>
            <a:ext cx="8562975" cy="733425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800080"/>
                </a:solidFill>
              </a:rPr>
              <a:t>A Spatial Map of Toothpaste Brands</a:t>
            </a:r>
          </a:p>
        </p:txBody>
      </p:sp>
      <p:grpSp>
        <p:nvGrpSpPr>
          <p:cNvPr id="215043" name="Group 3">
            <a:extLst>
              <a:ext uri="{FF2B5EF4-FFF2-40B4-BE49-F238E27FC236}">
                <a16:creationId xmlns:a16="http://schemas.microsoft.com/office/drawing/2014/main" id="{9E40CBB7-2566-4101-A9B2-25B6B1882E5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238500" y="1473200"/>
            <a:ext cx="5727700" cy="5187950"/>
            <a:chOff x="616" y="424"/>
            <a:chExt cx="4048" cy="3667"/>
          </a:xfrm>
        </p:grpSpPr>
        <p:sp>
          <p:nvSpPr>
            <p:cNvPr id="215044" name="Line 4">
              <a:extLst>
                <a:ext uri="{FF2B5EF4-FFF2-40B4-BE49-F238E27FC236}">
                  <a16:creationId xmlns:a16="http://schemas.microsoft.com/office/drawing/2014/main" id="{1037B78A-AFDA-4A02-B497-254057C53C9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093" y="3840"/>
              <a:ext cx="320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045" name="Line 5">
              <a:extLst>
                <a:ext uri="{FF2B5EF4-FFF2-40B4-BE49-F238E27FC236}">
                  <a16:creationId xmlns:a16="http://schemas.microsoft.com/office/drawing/2014/main" id="{DF7A5600-393A-4ABE-B20B-52AA50E2752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053" y="601"/>
              <a:ext cx="3" cy="321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046" name="Line 6">
              <a:extLst>
                <a:ext uri="{FF2B5EF4-FFF2-40B4-BE49-F238E27FC236}">
                  <a16:creationId xmlns:a16="http://schemas.microsoft.com/office/drawing/2014/main" id="{893837F9-34B9-48A7-860D-1955884E15C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092" y="569"/>
              <a:ext cx="3193" cy="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047" name="Line 7">
              <a:extLst>
                <a:ext uri="{FF2B5EF4-FFF2-40B4-BE49-F238E27FC236}">
                  <a16:creationId xmlns:a16="http://schemas.microsoft.com/office/drawing/2014/main" id="{3C91BDDC-2041-457D-90FD-F2ACE94A954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4320" y="570"/>
              <a:ext cx="0" cy="327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048" name="Rectangle 8">
              <a:extLst>
                <a:ext uri="{FF2B5EF4-FFF2-40B4-BE49-F238E27FC236}">
                  <a16:creationId xmlns:a16="http://schemas.microsoft.com/office/drawing/2014/main" id="{7734EB2A-C522-4B74-ACBA-937B97FA07D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16" y="1674"/>
              <a:ext cx="448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 0.5</a:t>
              </a:r>
            </a:p>
          </p:txBody>
        </p:sp>
        <p:sp>
          <p:nvSpPr>
            <p:cNvPr id="215049" name="Rectangle 9">
              <a:extLst>
                <a:ext uri="{FF2B5EF4-FFF2-40B4-BE49-F238E27FC236}">
                  <a16:creationId xmlns:a16="http://schemas.microsoft.com/office/drawing/2014/main" id="{AEEF11C7-44C0-4674-84C5-138B84A4F5E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92" y="3832"/>
              <a:ext cx="448" cy="2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-1.5</a:t>
              </a:r>
            </a:p>
          </p:txBody>
        </p:sp>
        <p:sp>
          <p:nvSpPr>
            <p:cNvPr id="215050" name="Rectangle 10">
              <a:extLst>
                <a:ext uri="{FF2B5EF4-FFF2-40B4-BE49-F238E27FC236}">
                  <a16:creationId xmlns:a16="http://schemas.microsoft.com/office/drawing/2014/main" id="{03B4B504-823C-4D45-A530-CD0A323B8F5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32" y="3113"/>
              <a:ext cx="1216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rgbClr val="CC0000"/>
                  </a:solidFill>
                </a:rPr>
                <a:t> Sensodyne</a:t>
              </a:r>
            </a:p>
          </p:txBody>
        </p:sp>
        <p:sp>
          <p:nvSpPr>
            <p:cNvPr id="215051" name="Rectangle 11">
              <a:extLst>
                <a:ext uri="{FF2B5EF4-FFF2-40B4-BE49-F238E27FC236}">
                  <a16:creationId xmlns:a16="http://schemas.microsoft.com/office/drawing/2014/main" id="{A5A607D7-87F9-4267-8A65-638A382612E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13" y="3834"/>
              <a:ext cx="448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-1.0</a:t>
              </a:r>
            </a:p>
          </p:txBody>
        </p:sp>
        <p:sp>
          <p:nvSpPr>
            <p:cNvPr id="215052" name="Rectangle 12">
              <a:extLst>
                <a:ext uri="{FF2B5EF4-FFF2-40B4-BE49-F238E27FC236}">
                  <a16:creationId xmlns:a16="http://schemas.microsoft.com/office/drawing/2014/main" id="{750B0D35-DB47-4B56-9671-092DFA108E2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08" y="3832"/>
              <a:ext cx="448" cy="2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-2.0</a:t>
              </a:r>
            </a:p>
          </p:txBody>
        </p:sp>
        <p:sp>
          <p:nvSpPr>
            <p:cNvPr id="215053" name="Rectangle 13">
              <a:extLst>
                <a:ext uri="{FF2B5EF4-FFF2-40B4-BE49-F238E27FC236}">
                  <a16:creationId xmlns:a16="http://schemas.microsoft.com/office/drawing/2014/main" id="{8473A663-1B0E-44AE-9E4C-D87C34B633A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64" y="2057"/>
              <a:ext cx="448" cy="2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0.0</a:t>
              </a:r>
            </a:p>
          </p:txBody>
        </p:sp>
        <p:sp>
          <p:nvSpPr>
            <p:cNvPr id="215054" name="Rectangle 14">
              <a:extLst>
                <a:ext uri="{FF2B5EF4-FFF2-40B4-BE49-F238E27FC236}">
                  <a16:creationId xmlns:a16="http://schemas.microsoft.com/office/drawing/2014/main" id="{17C3A991-D444-4B7C-881A-9F4D2FD39A8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42" y="424"/>
              <a:ext cx="447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 2.0</a:t>
              </a:r>
            </a:p>
          </p:txBody>
        </p:sp>
        <p:sp>
          <p:nvSpPr>
            <p:cNvPr id="215055" name="Rectangle 15">
              <a:extLst>
                <a:ext uri="{FF2B5EF4-FFF2-40B4-BE49-F238E27FC236}">
                  <a16:creationId xmlns:a16="http://schemas.microsoft.com/office/drawing/2014/main" id="{2F733B22-66E9-4FAA-9467-0B9E30C96B3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37" y="3168"/>
              <a:ext cx="96" cy="96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056" name="Line 16">
              <a:extLst>
                <a:ext uri="{FF2B5EF4-FFF2-40B4-BE49-F238E27FC236}">
                  <a16:creationId xmlns:a16="http://schemas.microsoft.com/office/drawing/2014/main" id="{B2C2F2BC-C4DB-491B-BB31-F65369A6AF1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688" y="602"/>
              <a:ext cx="0" cy="321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057" name="Line 17">
              <a:extLst>
                <a:ext uri="{FF2B5EF4-FFF2-40B4-BE49-F238E27FC236}">
                  <a16:creationId xmlns:a16="http://schemas.microsoft.com/office/drawing/2014/main" id="{4F136E23-A224-46EC-814B-3B2414DD72B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083" y="2208"/>
              <a:ext cx="321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15058" name="Group 18">
              <a:extLst>
                <a:ext uri="{FF2B5EF4-FFF2-40B4-BE49-F238E27FC236}">
                  <a16:creationId xmlns:a16="http://schemas.microsoft.com/office/drawing/2014/main" id="{57CC9100-F610-45ED-ABE2-60D29B8126C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50" y="782"/>
              <a:ext cx="158" cy="1234"/>
              <a:chOff x="1050" y="782"/>
              <a:chExt cx="158" cy="1234"/>
            </a:xfrm>
          </p:grpSpPr>
          <p:sp>
            <p:nvSpPr>
              <p:cNvPr id="215059" name="Line 19">
                <a:extLst>
                  <a:ext uri="{FF2B5EF4-FFF2-40B4-BE49-F238E27FC236}">
                    <a16:creationId xmlns:a16="http://schemas.microsoft.com/office/drawing/2014/main" id="{B59DE0C0-C46E-4F6D-A063-79E222DD2C7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1050" y="782"/>
                <a:ext cx="149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060" name="Line 20">
                <a:extLst>
                  <a:ext uri="{FF2B5EF4-FFF2-40B4-BE49-F238E27FC236}">
                    <a16:creationId xmlns:a16="http://schemas.microsoft.com/office/drawing/2014/main" id="{5126629A-0A7C-4B86-B25D-BB94D7BD1C9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1050" y="991"/>
                <a:ext cx="149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061" name="Line 21">
                <a:extLst>
                  <a:ext uri="{FF2B5EF4-FFF2-40B4-BE49-F238E27FC236}">
                    <a16:creationId xmlns:a16="http://schemas.microsoft.com/office/drawing/2014/main" id="{BA008844-2CE8-4D5C-BA13-33C0C9DF2A2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1050" y="1187"/>
                <a:ext cx="149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062" name="Line 22">
                <a:extLst>
                  <a:ext uri="{FF2B5EF4-FFF2-40B4-BE49-F238E27FC236}">
                    <a16:creationId xmlns:a16="http://schemas.microsoft.com/office/drawing/2014/main" id="{ADC954BE-14CB-44A5-AB07-7454F2AC84F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1050" y="1399"/>
                <a:ext cx="149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063" name="Line 23">
                <a:extLst>
                  <a:ext uri="{FF2B5EF4-FFF2-40B4-BE49-F238E27FC236}">
                    <a16:creationId xmlns:a16="http://schemas.microsoft.com/office/drawing/2014/main" id="{F4703754-95E7-4810-A0E7-D22DDC393A7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1051" y="1617"/>
                <a:ext cx="15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064" name="Line 24">
                <a:extLst>
                  <a:ext uri="{FF2B5EF4-FFF2-40B4-BE49-F238E27FC236}">
                    <a16:creationId xmlns:a16="http://schemas.microsoft.com/office/drawing/2014/main" id="{C1F478D3-32C4-4509-94F8-5C5D1BCDA1A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1050" y="1809"/>
                <a:ext cx="149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065" name="Line 25">
                <a:extLst>
                  <a:ext uri="{FF2B5EF4-FFF2-40B4-BE49-F238E27FC236}">
                    <a16:creationId xmlns:a16="http://schemas.microsoft.com/office/drawing/2014/main" id="{A3BCE9A0-FC17-4107-A8C7-F54E8F26C9B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1051" y="2016"/>
                <a:ext cx="15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15066" name="Line 26">
              <a:extLst>
                <a:ext uri="{FF2B5EF4-FFF2-40B4-BE49-F238E27FC236}">
                  <a16:creationId xmlns:a16="http://schemas.microsoft.com/office/drawing/2014/main" id="{9E3236A5-7B00-42F3-BA35-0946EC86AFB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050" y="2400"/>
              <a:ext cx="14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067" name="Line 27">
              <a:extLst>
                <a:ext uri="{FF2B5EF4-FFF2-40B4-BE49-F238E27FC236}">
                  <a16:creationId xmlns:a16="http://schemas.microsoft.com/office/drawing/2014/main" id="{93EB5D17-28C7-4AFD-809A-BB610831890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050" y="2609"/>
              <a:ext cx="14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068" name="Line 28">
              <a:extLst>
                <a:ext uri="{FF2B5EF4-FFF2-40B4-BE49-F238E27FC236}">
                  <a16:creationId xmlns:a16="http://schemas.microsoft.com/office/drawing/2014/main" id="{03A14F0C-624A-4C35-A826-C98DCD94B38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049" y="3027"/>
              <a:ext cx="16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069" name="Line 29">
              <a:extLst>
                <a:ext uri="{FF2B5EF4-FFF2-40B4-BE49-F238E27FC236}">
                  <a16:creationId xmlns:a16="http://schemas.microsoft.com/office/drawing/2014/main" id="{E22F7C1F-3C3D-4CFE-800D-A2C43789D25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051" y="3235"/>
              <a:ext cx="1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070" name="Line 30">
              <a:extLst>
                <a:ext uri="{FF2B5EF4-FFF2-40B4-BE49-F238E27FC236}">
                  <a16:creationId xmlns:a16="http://schemas.microsoft.com/office/drawing/2014/main" id="{EDDD596F-6413-4AFA-BE3A-081701E3556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051" y="3437"/>
              <a:ext cx="1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071" name="Line 31">
              <a:extLst>
                <a:ext uri="{FF2B5EF4-FFF2-40B4-BE49-F238E27FC236}">
                  <a16:creationId xmlns:a16="http://schemas.microsoft.com/office/drawing/2014/main" id="{DCC98881-2CFB-469C-A985-DE17B3626BB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051" y="3634"/>
              <a:ext cx="1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072" name="Line 32">
              <a:extLst>
                <a:ext uri="{FF2B5EF4-FFF2-40B4-BE49-F238E27FC236}">
                  <a16:creationId xmlns:a16="http://schemas.microsoft.com/office/drawing/2014/main" id="{275EE2EF-1B33-4114-B85B-B45C02B6FA0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696" y="3744"/>
              <a:ext cx="0" cy="9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073" name="Line 33">
              <a:extLst>
                <a:ext uri="{FF2B5EF4-FFF2-40B4-BE49-F238E27FC236}">
                  <a16:creationId xmlns:a16="http://schemas.microsoft.com/office/drawing/2014/main" id="{C8FCC1A8-636B-4B7D-BD7D-A6627871954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128" y="3744"/>
              <a:ext cx="0" cy="9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074" name="Line 34">
              <a:extLst>
                <a:ext uri="{FF2B5EF4-FFF2-40B4-BE49-F238E27FC236}">
                  <a16:creationId xmlns:a16="http://schemas.microsoft.com/office/drawing/2014/main" id="{CE85D53D-8A7A-4D71-A888-2F60F0B94C5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440" y="3744"/>
              <a:ext cx="1" cy="9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075" name="Line 35">
              <a:extLst>
                <a:ext uri="{FF2B5EF4-FFF2-40B4-BE49-F238E27FC236}">
                  <a16:creationId xmlns:a16="http://schemas.microsoft.com/office/drawing/2014/main" id="{6D631AC8-931A-4AA1-AB03-D16C8AF1ECF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064" y="3744"/>
              <a:ext cx="0" cy="9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076" name="Line 36">
              <a:extLst>
                <a:ext uri="{FF2B5EF4-FFF2-40B4-BE49-F238E27FC236}">
                  <a16:creationId xmlns:a16="http://schemas.microsoft.com/office/drawing/2014/main" id="{EE1F10AF-2288-4821-870D-76C9F4D90A8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496" y="3744"/>
              <a:ext cx="0" cy="9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077" name="Rectangle 37">
              <a:extLst>
                <a:ext uri="{FF2B5EF4-FFF2-40B4-BE49-F238E27FC236}">
                  <a16:creationId xmlns:a16="http://schemas.microsoft.com/office/drawing/2014/main" id="{AC6D2054-FF1E-4D4F-B6AD-781E7C871EE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10" y="3832"/>
              <a:ext cx="448" cy="2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0.0</a:t>
              </a:r>
            </a:p>
          </p:txBody>
        </p:sp>
        <p:sp>
          <p:nvSpPr>
            <p:cNvPr id="215078" name="Rectangle 38">
              <a:extLst>
                <a:ext uri="{FF2B5EF4-FFF2-40B4-BE49-F238E27FC236}">
                  <a16:creationId xmlns:a16="http://schemas.microsoft.com/office/drawing/2014/main" id="{66B094F8-B818-4924-AC16-AF53F4033B1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88" y="2450"/>
              <a:ext cx="1216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rgbClr val="CC0000"/>
                  </a:solidFill>
                </a:rPr>
                <a:t> Close Up</a:t>
              </a:r>
            </a:p>
          </p:txBody>
        </p:sp>
        <p:sp>
          <p:nvSpPr>
            <p:cNvPr id="215079" name="Rectangle 39">
              <a:extLst>
                <a:ext uri="{FF2B5EF4-FFF2-40B4-BE49-F238E27FC236}">
                  <a16:creationId xmlns:a16="http://schemas.microsoft.com/office/drawing/2014/main" id="{E9347AD4-14AB-44C2-8C0C-ECAFBFBD4DB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43" y="2389"/>
              <a:ext cx="96" cy="96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080" name="Rectangle 40">
              <a:extLst>
                <a:ext uri="{FF2B5EF4-FFF2-40B4-BE49-F238E27FC236}">
                  <a16:creationId xmlns:a16="http://schemas.microsoft.com/office/drawing/2014/main" id="{5818E860-CA84-4074-8A8C-27FF2D56CDE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08" y="3832"/>
              <a:ext cx="448" cy="2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-0.5</a:t>
              </a:r>
            </a:p>
          </p:txBody>
        </p:sp>
        <p:sp>
          <p:nvSpPr>
            <p:cNvPr id="215081" name="Rectangle 41">
              <a:extLst>
                <a:ext uri="{FF2B5EF4-FFF2-40B4-BE49-F238E27FC236}">
                  <a16:creationId xmlns:a16="http://schemas.microsoft.com/office/drawing/2014/main" id="{39DDBBCF-DE13-429D-A73B-4222FD3775C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34" y="3832"/>
              <a:ext cx="448" cy="2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 1.0</a:t>
              </a:r>
            </a:p>
          </p:txBody>
        </p:sp>
        <p:sp>
          <p:nvSpPr>
            <p:cNvPr id="215082" name="Rectangle 42">
              <a:extLst>
                <a:ext uri="{FF2B5EF4-FFF2-40B4-BE49-F238E27FC236}">
                  <a16:creationId xmlns:a16="http://schemas.microsoft.com/office/drawing/2014/main" id="{DB95AA22-3E1A-49F1-A8A9-BDE5E2A887E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44" y="3834"/>
              <a:ext cx="448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 1.5</a:t>
              </a:r>
            </a:p>
          </p:txBody>
        </p:sp>
        <p:sp>
          <p:nvSpPr>
            <p:cNvPr id="215083" name="Rectangle 43">
              <a:extLst>
                <a:ext uri="{FF2B5EF4-FFF2-40B4-BE49-F238E27FC236}">
                  <a16:creationId xmlns:a16="http://schemas.microsoft.com/office/drawing/2014/main" id="{D767C77B-9BF6-4E6C-B5D4-A34A597C3E7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50" y="3832"/>
              <a:ext cx="447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 0.5</a:t>
              </a:r>
            </a:p>
          </p:txBody>
        </p:sp>
        <p:sp>
          <p:nvSpPr>
            <p:cNvPr id="215084" name="Rectangle 44">
              <a:extLst>
                <a:ext uri="{FF2B5EF4-FFF2-40B4-BE49-F238E27FC236}">
                  <a16:creationId xmlns:a16="http://schemas.microsoft.com/office/drawing/2014/main" id="{6268EF11-8394-4452-88C1-ABC63C1B6C1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124" y="3832"/>
              <a:ext cx="448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2.0</a:t>
              </a:r>
            </a:p>
          </p:txBody>
        </p:sp>
        <p:sp>
          <p:nvSpPr>
            <p:cNvPr id="215085" name="Rectangle 45">
              <a:extLst>
                <a:ext uri="{FF2B5EF4-FFF2-40B4-BE49-F238E27FC236}">
                  <a16:creationId xmlns:a16="http://schemas.microsoft.com/office/drawing/2014/main" id="{95E59200-F4D8-451B-B12E-5E7569A6063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16" y="3256"/>
              <a:ext cx="448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-1.5</a:t>
              </a:r>
            </a:p>
          </p:txBody>
        </p:sp>
        <p:sp>
          <p:nvSpPr>
            <p:cNvPr id="215086" name="Rectangle 46">
              <a:extLst>
                <a:ext uri="{FF2B5EF4-FFF2-40B4-BE49-F238E27FC236}">
                  <a16:creationId xmlns:a16="http://schemas.microsoft.com/office/drawing/2014/main" id="{D7280BB0-A5A4-4A17-82BF-3DC0FE7BF0B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16" y="2875"/>
              <a:ext cx="448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-1.0</a:t>
              </a:r>
            </a:p>
          </p:txBody>
        </p:sp>
        <p:sp>
          <p:nvSpPr>
            <p:cNvPr id="215087" name="Rectangle 47">
              <a:extLst>
                <a:ext uri="{FF2B5EF4-FFF2-40B4-BE49-F238E27FC236}">
                  <a16:creationId xmlns:a16="http://schemas.microsoft.com/office/drawing/2014/main" id="{D2B9D1B5-F771-489F-9C04-6C95FB6A4FD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16" y="3640"/>
              <a:ext cx="448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-2.0</a:t>
              </a:r>
            </a:p>
          </p:txBody>
        </p:sp>
        <p:sp>
          <p:nvSpPr>
            <p:cNvPr id="215088" name="Rectangle 48">
              <a:extLst>
                <a:ext uri="{FF2B5EF4-FFF2-40B4-BE49-F238E27FC236}">
                  <a16:creationId xmlns:a16="http://schemas.microsoft.com/office/drawing/2014/main" id="{6330B005-04FA-40BC-8B1E-9FFE0C08BDC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16" y="2490"/>
              <a:ext cx="448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-0.5</a:t>
              </a:r>
            </a:p>
          </p:txBody>
        </p:sp>
        <p:sp>
          <p:nvSpPr>
            <p:cNvPr id="215089" name="Rectangle 49">
              <a:extLst>
                <a:ext uri="{FF2B5EF4-FFF2-40B4-BE49-F238E27FC236}">
                  <a16:creationId xmlns:a16="http://schemas.microsoft.com/office/drawing/2014/main" id="{CA237933-10FB-4875-92A8-6820CF1AE81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42" y="847"/>
              <a:ext cx="447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 1.5</a:t>
              </a:r>
            </a:p>
          </p:txBody>
        </p:sp>
        <p:sp>
          <p:nvSpPr>
            <p:cNvPr id="215090" name="Rectangle 50">
              <a:extLst>
                <a:ext uri="{FF2B5EF4-FFF2-40B4-BE49-F238E27FC236}">
                  <a16:creationId xmlns:a16="http://schemas.microsoft.com/office/drawing/2014/main" id="{E0078F4F-B968-4E57-87C3-E28A378C786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16" y="1288"/>
              <a:ext cx="448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 1.0</a:t>
              </a:r>
            </a:p>
          </p:txBody>
        </p:sp>
        <p:sp>
          <p:nvSpPr>
            <p:cNvPr id="215091" name="Rectangle 51">
              <a:extLst>
                <a:ext uri="{FF2B5EF4-FFF2-40B4-BE49-F238E27FC236}">
                  <a16:creationId xmlns:a16="http://schemas.microsoft.com/office/drawing/2014/main" id="{C92EC37E-3E07-4029-8F08-0D315681B64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50" y="1872"/>
              <a:ext cx="96" cy="96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092" name="Rectangle 52">
              <a:extLst>
                <a:ext uri="{FF2B5EF4-FFF2-40B4-BE49-F238E27FC236}">
                  <a16:creationId xmlns:a16="http://schemas.microsoft.com/office/drawing/2014/main" id="{DC0027DA-4BEE-4588-BFA3-71658F68DD5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35" y="2107"/>
              <a:ext cx="96" cy="96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093" name="Rectangle 53">
              <a:extLst>
                <a:ext uri="{FF2B5EF4-FFF2-40B4-BE49-F238E27FC236}">
                  <a16:creationId xmlns:a16="http://schemas.microsoft.com/office/drawing/2014/main" id="{17AB48AD-9410-4B6F-8934-4EA803B755F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51" y="1952"/>
              <a:ext cx="1217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  </a:t>
              </a:r>
              <a:r>
                <a:rPr lang="en-US" altLang="en-US">
                  <a:solidFill>
                    <a:srgbClr val="CC0000"/>
                  </a:solidFill>
                </a:rPr>
                <a:t>Pepsodent</a:t>
              </a:r>
            </a:p>
          </p:txBody>
        </p:sp>
        <p:sp>
          <p:nvSpPr>
            <p:cNvPr id="215094" name="Rectangle 54">
              <a:extLst>
                <a:ext uri="{FF2B5EF4-FFF2-40B4-BE49-F238E27FC236}">
                  <a16:creationId xmlns:a16="http://schemas.microsoft.com/office/drawing/2014/main" id="{4E95BDB4-619B-46CE-85C0-4956F9BEF3A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27" y="1594"/>
              <a:ext cx="1217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rgbClr val="CC0000"/>
                  </a:solidFill>
                </a:rPr>
                <a:t> Ultrabrite</a:t>
              </a:r>
            </a:p>
          </p:txBody>
        </p:sp>
        <p:sp>
          <p:nvSpPr>
            <p:cNvPr id="215095" name="Rectangle 55">
              <a:extLst>
                <a:ext uri="{FF2B5EF4-FFF2-40B4-BE49-F238E27FC236}">
                  <a16:creationId xmlns:a16="http://schemas.microsoft.com/office/drawing/2014/main" id="{F974C18C-7A9D-4D12-B0D5-5A10F6AA97A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72" y="1299"/>
              <a:ext cx="1216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 </a:t>
              </a:r>
              <a:r>
                <a:rPr lang="en-US" altLang="en-US">
                  <a:solidFill>
                    <a:srgbClr val="CC0000"/>
                  </a:solidFill>
                </a:rPr>
                <a:t>Plus White</a:t>
              </a:r>
            </a:p>
          </p:txBody>
        </p:sp>
        <p:sp>
          <p:nvSpPr>
            <p:cNvPr id="215096" name="Rectangle 56">
              <a:extLst>
                <a:ext uri="{FF2B5EF4-FFF2-40B4-BE49-F238E27FC236}">
                  <a16:creationId xmlns:a16="http://schemas.microsoft.com/office/drawing/2014/main" id="{F144ED62-54FA-4BED-BCD7-AE0958E993E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12" y="2256"/>
              <a:ext cx="96" cy="96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097" name="Rectangle 57">
              <a:extLst>
                <a:ext uri="{FF2B5EF4-FFF2-40B4-BE49-F238E27FC236}">
                  <a16:creationId xmlns:a16="http://schemas.microsoft.com/office/drawing/2014/main" id="{1344158D-0D4A-4AE9-B5E0-6E911FD0E40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00" y="2496"/>
              <a:ext cx="96" cy="96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098" name="Rectangle 58">
              <a:extLst>
                <a:ext uri="{FF2B5EF4-FFF2-40B4-BE49-F238E27FC236}">
                  <a16:creationId xmlns:a16="http://schemas.microsoft.com/office/drawing/2014/main" id="{8732ED90-5D20-4B7A-AABD-3A37563602D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04" y="1584"/>
              <a:ext cx="96" cy="96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099" name="Rectangle 59">
              <a:extLst>
                <a:ext uri="{FF2B5EF4-FFF2-40B4-BE49-F238E27FC236}">
                  <a16:creationId xmlns:a16="http://schemas.microsoft.com/office/drawing/2014/main" id="{31AAC4FF-65A7-4208-8DD5-A4F671BA6AD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00" y="2016"/>
              <a:ext cx="96" cy="96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00" name="Rectangle 60">
              <a:extLst>
                <a:ext uri="{FF2B5EF4-FFF2-40B4-BE49-F238E27FC236}">
                  <a16:creationId xmlns:a16="http://schemas.microsoft.com/office/drawing/2014/main" id="{BE6B9D83-4DAB-499F-A476-8903BBF8853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16" y="1584"/>
              <a:ext cx="96" cy="96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01" name="Rectangle 61">
              <a:extLst>
                <a:ext uri="{FF2B5EF4-FFF2-40B4-BE49-F238E27FC236}">
                  <a16:creationId xmlns:a16="http://schemas.microsoft.com/office/drawing/2014/main" id="{D8EC6B65-7BAA-4C6C-AE4D-E73630531E4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08" y="1920"/>
              <a:ext cx="96" cy="96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02" name="Rectangle 62">
              <a:extLst>
                <a:ext uri="{FF2B5EF4-FFF2-40B4-BE49-F238E27FC236}">
                  <a16:creationId xmlns:a16="http://schemas.microsoft.com/office/drawing/2014/main" id="{05FA70A6-2C06-46B3-B176-3F3ECBE9B7B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56" y="1376"/>
              <a:ext cx="1216" cy="2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 </a:t>
              </a:r>
              <a:r>
                <a:rPr lang="en-US" altLang="en-US">
                  <a:solidFill>
                    <a:srgbClr val="CC0000"/>
                  </a:solidFill>
                </a:rPr>
                <a:t>Aim</a:t>
              </a:r>
            </a:p>
          </p:txBody>
        </p:sp>
        <p:sp>
          <p:nvSpPr>
            <p:cNvPr id="215103" name="Rectangle 63">
              <a:extLst>
                <a:ext uri="{FF2B5EF4-FFF2-40B4-BE49-F238E27FC236}">
                  <a16:creationId xmlns:a16="http://schemas.microsoft.com/office/drawing/2014/main" id="{BC20C551-E488-49D1-8BC4-B93A69BFE3D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48" y="1720"/>
              <a:ext cx="1216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 </a:t>
              </a:r>
              <a:r>
                <a:rPr lang="en-US" altLang="en-US">
                  <a:solidFill>
                    <a:srgbClr val="CC0000"/>
                  </a:solidFill>
                </a:rPr>
                <a:t>Crest</a:t>
              </a:r>
            </a:p>
          </p:txBody>
        </p:sp>
        <p:sp>
          <p:nvSpPr>
            <p:cNvPr id="215104" name="Rectangle 64">
              <a:extLst>
                <a:ext uri="{FF2B5EF4-FFF2-40B4-BE49-F238E27FC236}">
                  <a16:creationId xmlns:a16="http://schemas.microsoft.com/office/drawing/2014/main" id="{DD96838A-A356-4AA7-B8FC-0328830CE4C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89" y="2192"/>
              <a:ext cx="1216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 </a:t>
              </a:r>
              <a:r>
                <a:rPr lang="en-US" altLang="en-US">
                  <a:solidFill>
                    <a:srgbClr val="CC0000"/>
                  </a:solidFill>
                </a:rPr>
                <a:t>Colgate</a:t>
              </a:r>
            </a:p>
          </p:txBody>
        </p:sp>
        <p:sp>
          <p:nvSpPr>
            <p:cNvPr id="215105" name="Rectangle 65">
              <a:extLst>
                <a:ext uri="{FF2B5EF4-FFF2-40B4-BE49-F238E27FC236}">
                  <a16:creationId xmlns:a16="http://schemas.microsoft.com/office/drawing/2014/main" id="{AE62F26D-E3A8-4E8B-9B9B-AE822B7C878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64" y="2576"/>
              <a:ext cx="1216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rgbClr val="CC0000"/>
                  </a:solidFill>
                </a:rPr>
                <a:t> Aqua- Fresh</a:t>
              </a:r>
            </a:p>
          </p:txBody>
        </p:sp>
        <p:sp>
          <p:nvSpPr>
            <p:cNvPr id="215106" name="Rectangle 66">
              <a:extLst>
                <a:ext uri="{FF2B5EF4-FFF2-40B4-BE49-F238E27FC236}">
                  <a16:creationId xmlns:a16="http://schemas.microsoft.com/office/drawing/2014/main" id="{8D9D6FA1-5696-4D62-A5F5-33B94A6C0E3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30" y="1742"/>
              <a:ext cx="1216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rgbClr val="CC0000"/>
                  </a:solidFill>
                </a:rPr>
                <a:t> Gleem</a:t>
              </a:r>
            </a:p>
          </p:txBody>
        </p:sp>
        <p:sp>
          <p:nvSpPr>
            <p:cNvPr id="215107" name="Line 67">
              <a:extLst>
                <a:ext uri="{FF2B5EF4-FFF2-40B4-BE49-F238E27FC236}">
                  <a16:creationId xmlns:a16="http://schemas.microsoft.com/office/drawing/2014/main" id="{EC958C10-18DB-47A1-AF8A-6E70CD36231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056" y="2832"/>
              <a:ext cx="16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08" name="Line 68">
              <a:extLst>
                <a:ext uri="{FF2B5EF4-FFF2-40B4-BE49-F238E27FC236}">
                  <a16:creationId xmlns:a16="http://schemas.microsoft.com/office/drawing/2014/main" id="{3D362AFE-D71B-4484-A424-77D2290E274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248" y="3744"/>
              <a:ext cx="1" cy="9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09" name="Line 69">
              <a:extLst>
                <a:ext uri="{FF2B5EF4-FFF2-40B4-BE49-F238E27FC236}">
                  <a16:creationId xmlns:a16="http://schemas.microsoft.com/office/drawing/2014/main" id="{5E301AB1-6DBB-4508-ADAB-3A36023E19C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872" y="3744"/>
              <a:ext cx="1" cy="9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10" name="Line 70">
              <a:extLst>
                <a:ext uri="{FF2B5EF4-FFF2-40B4-BE49-F238E27FC236}">
                  <a16:creationId xmlns:a16="http://schemas.microsoft.com/office/drawing/2014/main" id="{3252BB87-6FE1-4280-99D1-7914661F02D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256" y="3744"/>
              <a:ext cx="1" cy="9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11" name="Line 71">
              <a:extLst>
                <a:ext uri="{FF2B5EF4-FFF2-40B4-BE49-F238E27FC236}">
                  <a16:creationId xmlns:a16="http://schemas.microsoft.com/office/drawing/2014/main" id="{4FA5E490-0BE3-40F5-989E-610925D5551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880" y="3744"/>
              <a:ext cx="1" cy="9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12" name="Line 72">
              <a:extLst>
                <a:ext uri="{FF2B5EF4-FFF2-40B4-BE49-F238E27FC236}">
                  <a16:creationId xmlns:a16="http://schemas.microsoft.com/office/drawing/2014/main" id="{A730DC04-35BE-4358-A0AC-D3831961E93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312" y="3744"/>
              <a:ext cx="1" cy="9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13" name="Line 73">
              <a:extLst>
                <a:ext uri="{FF2B5EF4-FFF2-40B4-BE49-F238E27FC236}">
                  <a16:creationId xmlns:a16="http://schemas.microsoft.com/office/drawing/2014/main" id="{1E06D2FF-533F-4283-A964-12B3947981B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888" y="3744"/>
              <a:ext cx="1" cy="9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14" name="Line 74">
              <a:extLst>
                <a:ext uri="{FF2B5EF4-FFF2-40B4-BE49-F238E27FC236}">
                  <a16:creationId xmlns:a16="http://schemas.microsoft.com/office/drawing/2014/main" id="{E3D9766A-BA0F-46ED-8BF4-083F4829131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504" y="3744"/>
              <a:ext cx="1" cy="9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15" name="Line 75">
              <a:extLst>
                <a:ext uri="{FF2B5EF4-FFF2-40B4-BE49-F238E27FC236}">
                  <a16:creationId xmlns:a16="http://schemas.microsoft.com/office/drawing/2014/main" id="{FEB7D0CE-4556-4E45-B81E-42E9B5F389F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072" y="3744"/>
              <a:ext cx="1" cy="9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16" name="Line 76">
              <a:extLst>
                <a:ext uri="{FF2B5EF4-FFF2-40B4-BE49-F238E27FC236}">
                  <a16:creationId xmlns:a16="http://schemas.microsoft.com/office/drawing/2014/main" id="{C3A16C08-87C1-4368-9708-700A5712785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80" y="3744"/>
              <a:ext cx="1" cy="9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1" name="Rectangle 80">
            <a:extLst>
              <a:ext uri="{FF2B5EF4-FFF2-40B4-BE49-F238E27FC236}">
                <a16:creationId xmlns:a16="http://schemas.microsoft.com/office/drawing/2014/main" id="{49894192-26F0-4394-AD07-733C7B4547F4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1ED4F6E9-13FE-41CC-BB5E-249777748937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1478A0-EBD5-44FF-8C04-16CF92DE3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D257C-DDB9-4445-AD9A-AE1AF229B38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59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50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0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42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3C879227-1A71-4074-8CEC-9D4C98959F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8105" y="117476"/>
            <a:ext cx="7772400" cy="962025"/>
          </a:xfrm>
        </p:spPr>
        <p:txBody>
          <a:bodyPr/>
          <a:lstStyle/>
          <a:p>
            <a:r>
              <a:rPr lang="en-US" altLang="en-US" sz="3000" b="1" dirty="0">
                <a:solidFill>
                  <a:srgbClr val="800080"/>
                </a:solidFill>
              </a:rPr>
              <a:t>Using Attributes to Label Dimensions</a:t>
            </a:r>
          </a:p>
        </p:txBody>
      </p:sp>
      <p:grpSp>
        <p:nvGrpSpPr>
          <p:cNvPr id="131158" name="Group 86">
            <a:extLst>
              <a:ext uri="{FF2B5EF4-FFF2-40B4-BE49-F238E27FC236}">
                <a16:creationId xmlns:a16="http://schemas.microsoft.com/office/drawing/2014/main" id="{323B3F3A-A047-4067-B7EB-0667EE4EBAF7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371601"/>
            <a:ext cx="6858000" cy="5110163"/>
            <a:chOff x="720" y="864"/>
            <a:chExt cx="4320" cy="3219"/>
          </a:xfrm>
        </p:grpSpPr>
        <p:sp>
          <p:nvSpPr>
            <p:cNvPr id="131077" name="Line 5">
              <a:extLst>
                <a:ext uri="{FF2B5EF4-FFF2-40B4-BE49-F238E27FC236}">
                  <a16:creationId xmlns:a16="http://schemas.microsoft.com/office/drawing/2014/main" id="{B67BB322-9DE4-4D5B-9022-943C3EFF1E8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153" y="3859"/>
              <a:ext cx="29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078" name="Line 6">
              <a:extLst>
                <a:ext uri="{FF2B5EF4-FFF2-40B4-BE49-F238E27FC236}">
                  <a16:creationId xmlns:a16="http://schemas.microsoft.com/office/drawing/2014/main" id="{2A209399-D474-4CBC-BB73-8192D52FBA4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117" y="1019"/>
              <a:ext cx="2" cy="281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079" name="Line 7">
              <a:extLst>
                <a:ext uri="{FF2B5EF4-FFF2-40B4-BE49-F238E27FC236}">
                  <a16:creationId xmlns:a16="http://schemas.microsoft.com/office/drawing/2014/main" id="{E4F42E78-44B0-4CC6-A734-8556A1BDC7C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119" y="991"/>
              <a:ext cx="2931" cy="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080" name="Line 8">
              <a:extLst>
                <a:ext uri="{FF2B5EF4-FFF2-40B4-BE49-F238E27FC236}">
                  <a16:creationId xmlns:a16="http://schemas.microsoft.com/office/drawing/2014/main" id="{8B6C22F9-4665-43E2-B098-FF5F1EEED26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4082" y="992"/>
              <a:ext cx="0" cy="287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081" name="Rectangle 9">
              <a:extLst>
                <a:ext uri="{FF2B5EF4-FFF2-40B4-BE49-F238E27FC236}">
                  <a16:creationId xmlns:a16="http://schemas.microsoft.com/office/drawing/2014/main" id="{6F22307E-0B62-4390-8E82-CF163A25B2D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20" y="1960"/>
              <a:ext cx="40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 0.5</a:t>
              </a:r>
            </a:p>
          </p:txBody>
        </p:sp>
        <p:sp>
          <p:nvSpPr>
            <p:cNvPr id="131082" name="Rectangle 10">
              <a:extLst>
                <a:ext uri="{FF2B5EF4-FFF2-40B4-BE49-F238E27FC236}">
                  <a16:creationId xmlns:a16="http://schemas.microsoft.com/office/drawing/2014/main" id="{18CFF137-2E65-4F83-B038-F73194947B9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44" y="3852"/>
              <a:ext cx="405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-1.5</a:t>
              </a:r>
            </a:p>
          </p:txBody>
        </p:sp>
        <p:sp>
          <p:nvSpPr>
            <p:cNvPr id="131083" name="Rectangle 11">
              <a:extLst>
                <a:ext uri="{FF2B5EF4-FFF2-40B4-BE49-F238E27FC236}">
                  <a16:creationId xmlns:a16="http://schemas.microsoft.com/office/drawing/2014/main" id="{32784C22-9782-42C0-A092-6EFE52B31BB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61" y="3221"/>
              <a:ext cx="1103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rgbClr val="CC0000"/>
                  </a:solidFill>
                </a:rPr>
                <a:t>Sensodyne</a:t>
              </a:r>
            </a:p>
          </p:txBody>
        </p:sp>
        <p:sp>
          <p:nvSpPr>
            <p:cNvPr id="131084" name="Rectangle 12">
              <a:extLst>
                <a:ext uri="{FF2B5EF4-FFF2-40B4-BE49-F238E27FC236}">
                  <a16:creationId xmlns:a16="http://schemas.microsoft.com/office/drawing/2014/main" id="{C183B895-06B8-4527-AAA7-1082DDE827E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25" y="3853"/>
              <a:ext cx="406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-1.0</a:t>
              </a:r>
            </a:p>
          </p:txBody>
        </p:sp>
        <p:sp>
          <p:nvSpPr>
            <p:cNvPr id="131085" name="Rectangle 13">
              <a:extLst>
                <a:ext uri="{FF2B5EF4-FFF2-40B4-BE49-F238E27FC236}">
                  <a16:creationId xmlns:a16="http://schemas.microsoft.com/office/drawing/2014/main" id="{7E777410-444D-47D2-960F-3B924C476E2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95" y="3852"/>
              <a:ext cx="40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-2.0</a:t>
              </a:r>
            </a:p>
          </p:txBody>
        </p:sp>
        <p:sp>
          <p:nvSpPr>
            <p:cNvPr id="131086" name="Rectangle 14">
              <a:extLst>
                <a:ext uri="{FF2B5EF4-FFF2-40B4-BE49-F238E27FC236}">
                  <a16:creationId xmlns:a16="http://schemas.microsoft.com/office/drawing/2014/main" id="{E53E0E24-4203-414B-A5D7-86CE8411EDF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64" y="2295"/>
              <a:ext cx="40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0.0</a:t>
              </a:r>
            </a:p>
          </p:txBody>
        </p:sp>
        <p:sp>
          <p:nvSpPr>
            <p:cNvPr id="131087" name="Rectangle 15">
              <a:extLst>
                <a:ext uri="{FF2B5EF4-FFF2-40B4-BE49-F238E27FC236}">
                  <a16:creationId xmlns:a16="http://schemas.microsoft.com/office/drawing/2014/main" id="{E6755FB4-6FB0-4269-B169-F1E7AB51D0B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45" y="864"/>
              <a:ext cx="405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 2.0</a:t>
              </a:r>
            </a:p>
          </p:txBody>
        </p:sp>
        <p:sp>
          <p:nvSpPr>
            <p:cNvPr id="131088" name="Rectangle 16">
              <a:extLst>
                <a:ext uri="{FF2B5EF4-FFF2-40B4-BE49-F238E27FC236}">
                  <a16:creationId xmlns:a16="http://schemas.microsoft.com/office/drawing/2014/main" id="{9265C5C8-1F3F-4617-9B07-AE61CA82F50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73" y="3270"/>
              <a:ext cx="87" cy="8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089" name="Line 17">
              <a:extLst>
                <a:ext uri="{FF2B5EF4-FFF2-40B4-BE49-F238E27FC236}">
                  <a16:creationId xmlns:a16="http://schemas.microsoft.com/office/drawing/2014/main" id="{49631C04-48C2-47F2-8D91-EFE2DF34892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600" y="1020"/>
              <a:ext cx="0" cy="281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090" name="Line 18">
              <a:extLst>
                <a:ext uri="{FF2B5EF4-FFF2-40B4-BE49-F238E27FC236}">
                  <a16:creationId xmlns:a16="http://schemas.microsoft.com/office/drawing/2014/main" id="{4E2E4F0F-05CA-41FA-8B05-6DDD7286E01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144" y="2428"/>
              <a:ext cx="291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31091" name="Group 19">
              <a:extLst>
                <a:ext uri="{FF2B5EF4-FFF2-40B4-BE49-F238E27FC236}">
                  <a16:creationId xmlns:a16="http://schemas.microsoft.com/office/drawing/2014/main" id="{9D437DD9-18E7-465E-BD5D-9A32C05E397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14" y="1178"/>
              <a:ext cx="143" cy="1082"/>
              <a:chOff x="1050" y="782"/>
              <a:chExt cx="158" cy="1234"/>
            </a:xfrm>
          </p:grpSpPr>
          <p:sp>
            <p:nvSpPr>
              <p:cNvPr id="131092" name="Line 20">
                <a:extLst>
                  <a:ext uri="{FF2B5EF4-FFF2-40B4-BE49-F238E27FC236}">
                    <a16:creationId xmlns:a16="http://schemas.microsoft.com/office/drawing/2014/main" id="{B1C20E02-F34F-4F2D-92C7-070F2E0847F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1050" y="782"/>
                <a:ext cx="149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1093" name="Line 21">
                <a:extLst>
                  <a:ext uri="{FF2B5EF4-FFF2-40B4-BE49-F238E27FC236}">
                    <a16:creationId xmlns:a16="http://schemas.microsoft.com/office/drawing/2014/main" id="{5681B38C-B01D-41FA-BE1B-2368D9F4C31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1050" y="991"/>
                <a:ext cx="149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1094" name="Line 22">
                <a:extLst>
                  <a:ext uri="{FF2B5EF4-FFF2-40B4-BE49-F238E27FC236}">
                    <a16:creationId xmlns:a16="http://schemas.microsoft.com/office/drawing/2014/main" id="{AF04CAE2-1C89-486C-B6F9-F823E91F72C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1050" y="1187"/>
                <a:ext cx="149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1095" name="Line 23">
                <a:extLst>
                  <a:ext uri="{FF2B5EF4-FFF2-40B4-BE49-F238E27FC236}">
                    <a16:creationId xmlns:a16="http://schemas.microsoft.com/office/drawing/2014/main" id="{F4276D1E-D5C9-4B58-978E-EFB49B8FBA3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1050" y="1399"/>
                <a:ext cx="149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1096" name="Line 24">
                <a:extLst>
                  <a:ext uri="{FF2B5EF4-FFF2-40B4-BE49-F238E27FC236}">
                    <a16:creationId xmlns:a16="http://schemas.microsoft.com/office/drawing/2014/main" id="{2592EF6A-A07D-4415-80F8-B3FE69110EF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1051" y="1617"/>
                <a:ext cx="15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1097" name="Line 25">
                <a:extLst>
                  <a:ext uri="{FF2B5EF4-FFF2-40B4-BE49-F238E27FC236}">
                    <a16:creationId xmlns:a16="http://schemas.microsoft.com/office/drawing/2014/main" id="{0C1977C6-8562-4453-90E9-D5F68470521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1050" y="1809"/>
                <a:ext cx="149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1098" name="Line 26">
                <a:extLst>
                  <a:ext uri="{FF2B5EF4-FFF2-40B4-BE49-F238E27FC236}">
                    <a16:creationId xmlns:a16="http://schemas.microsoft.com/office/drawing/2014/main" id="{BC348AAD-CF23-4977-9701-D289DEB1A61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1051" y="2016"/>
                <a:ext cx="15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31099" name="Line 27">
              <a:extLst>
                <a:ext uri="{FF2B5EF4-FFF2-40B4-BE49-F238E27FC236}">
                  <a16:creationId xmlns:a16="http://schemas.microsoft.com/office/drawing/2014/main" id="{FF9F7FEB-5FFC-45C4-B513-FE202781D89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114" y="2597"/>
              <a:ext cx="13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100" name="Line 28">
              <a:extLst>
                <a:ext uri="{FF2B5EF4-FFF2-40B4-BE49-F238E27FC236}">
                  <a16:creationId xmlns:a16="http://schemas.microsoft.com/office/drawing/2014/main" id="{7B1C9935-4272-4A29-A199-3A81520F16E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114" y="2780"/>
              <a:ext cx="13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101" name="Line 29">
              <a:extLst>
                <a:ext uri="{FF2B5EF4-FFF2-40B4-BE49-F238E27FC236}">
                  <a16:creationId xmlns:a16="http://schemas.microsoft.com/office/drawing/2014/main" id="{3469F783-7514-4114-B5F7-6F5F43C8AAF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113" y="3146"/>
              <a:ext cx="14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102" name="Line 30">
              <a:extLst>
                <a:ext uri="{FF2B5EF4-FFF2-40B4-BE49-F238E27FC236}">
                  <a16:creationId xmlns:a16="http://schemas.microsoft.com/office/drawing/2014/main" id="{337A1377-57D1-442F-9F4A-123F9183E2E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115" y="3329"/>
              <a:ext cx="14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103" name="Line 31">
              <a:extLst>
                <a:ext uri="{FF2B5EF4-FFF2-40B4-BE49-F238E27FC236}">
                  <a16:creationId xmlns:a16="http://schemas.microsoft.com/office/drawing/2014/main" id="{27CD47B2-7F74-4E7B-9FCE-4761852ED70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115" y="3506"/>
              <a:ext cx="14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104" name="Line 32">
              <a:extLst>
                <a:ext uri="{FF2B5EF4-FFF2-40B4-BE49-F238E27FC236}">
                  <a16:creationId xmlns:a16="http://schemas.microsoft.com/office/drawing/2014/main" id="{EB6EA2EA-A9CB-4CF9-ABCB-A3B1DBA6C46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115" y="3679"/>
              <a:ext cx="14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105" name="Line 33">
              <a:extLst>
                <a:ext uri="{FF2B5EF4-FFF2-40B4-BE49-F238E27FC236}">
                  <a16:creationId xmlns:a16="http://schemas.microsoft.com/office/drawing/2014/main" id="{CF2C54F4-D0BD-490B-ACF1-252157345B8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515" y="3775"/>
              <a:ext cx="0" cy="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106" name="Line 34">
              <a:extLst>
                <a:ext uri="{FF2B5EF4-FFF2-40B4-BE49-F238E27FC236}">
                  <a16:creationId xmlns:a16="http://schemas.microsoft.com/office/drawing/2014/main" id="{801065CA-B16C-4B18-9495-4026A3E4025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907" y="3775"/>
              <a:ext cx="0" cy="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107" name="Line 35">
              <a:extLst>
                <a:ext uri="{FF2B5EF4-FFF2-40B4-BE49-F238E27FC236}">
                  <a16:creationId xmlns:a16="http://schemas.microsoft.com/office/drawing/2014/main" id="{3A7F27BC-CD0E-46D5-970C-33048127485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468" y="3775"/>
              <a:ext cx="1" cy="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108" name="Line 36">
              <a:extLst>
                <a:ext uri="{FF2B5EF4-FFF2-40B4-BE49-F238E27FC236}">
                  <a16:creationId xmlns:a16="http://schemas.microsoft.com/office/drawing/2014/main" id="{0F6ECE44-90C6-4831-A4F0-E03AC33724B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034" y="3775"/>
              <a:ext cx="0" cy="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109" name="Line 37">
              <a:extLst>
                <a:ext uri="{FF2B5EF4-FFF2-40B4-BE49-F238E27FC236}">
                  <a16:creationId xmlns:a16="http://schemas.microsoft.com/office/drawing/2014/main" id="{40094DC4-AFE8-4600-AC29-5998A3FDBFF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426" y="3775"/>
              <a:ext cx="0" cy="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110" name="Rectangle 38">
              <a:extLst>
                <a:ext uri="{FF2B5EF4-FFF2-40B4-BE49-F238E27FC236}">
                  <a16:creationId xmlns:a16="http://schemas.microsoft.com/office/drawing/2014/main" id="{760A63B0-4B55-4219-A4D0-52649FF6EEC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40" y="3852"/>
              <a:ext cx="40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0.0</a:t>
              </a:r>
            </a:p>
          </p:txBody>
        </p:sp>
        <p:sp>
          <p:nvSpPr>
            <p:cNvPr id="131111" name="Rectangle 39">
              <a:extLst>
                <a:ext uri="{FF2B5EF4-FFF2-40B4-BE49-F238E27FC236}">
                  <a16:creationId xmlns:a16="http://schemas.microsoft.com/office/drawing/2014/main" id="{5A6306B9-8C0B-45FC-B868-757B2DC71A5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19" y="2429"/>
              <a:ext cx="110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rgbClr val="CC0000"/>
                  </a:solidFill>
                </a:rPr>
                <a:t> Close Up</a:t>
              </a:r>
            </a:p>
          </p:txBody>
        </p:sp>
        <p:sp>
          <p:nvSpPr>
            <p:cNvPr id="131112" name="Rectangle 40">
              <a:extLst>
                <a:ext uri="{FF2B5EF4-FFF2-40B4-BE49-F238E27FC236}">
                  <a16:creationId xmlns:a16="http://schemas.microsoft.com/office/drawing/2014/main" id="{52A3F853-2983-49DE-8A9E-4C6EF3A1224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34" y="2587"/>
              <a:ext cx="87" cy="8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113" name="Rectangle 41">
              <a:extLst>
                <a:ext uri="{FF2B5EF4-FFF2-40B4-BE49-F238E27FC236}">
                  <a16:creationId xmlns:a16="http://schemas.microsoft.com/office/drawing/2014/main" id="{0ABD684D-7A2A-41E8-B1BF-6190F9282FA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83" y="3852"/>
              <a:ext cx="40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-0.5</a:t>
              </a:r>
            </a:p>
          </p:txBody>
        </p:sp>
        <p:sp>
          <p:nvSpPr>
            <p:cNvPr id="131114" name="Rectangle 42">
              <a:extLst>
                <a:ext uri="{FF2B5EF4-FFF2-40B4-BE49-F238E27FC236}">
                  <a16:creationId xmlns:a16="http://schemas.microsoft.com/office/drawing/2014/main" id="{8F827EA1-F9D8-463B-9E5A-E84E796F560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96" y="3852"/>
              <a:ext cx="40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 1.0</a:t>
              </a:r>
            </a:p>
          </p:txBody>
        </p:sp>
        <p:sp>
          <p:nvSpPr>
            <p:cNvPr id="131115" name="Rectangle 43">
              <a:extLst>
                <a:ext uri="{FF2B5EF4-FFF2-40B4-BE49-F238E27FC236}">
                  <a16:creationId xmlns:a16="http://schemas.microsoft.com/office/drawing/2014/main" id="{1913E30C-A6A4-4A65-8EE2-B0BA476E161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68" y="3853"/>
              <a:ext cx="406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 1.5</a:t>
              </a:r>
            </a:p>
          </p:txBody>
        </p:sp>
        <p:sp>
          <p:nvSpPr>
            <p:cNvPr id="131116" name="Rectangle 44">
              <a:extLst>
                <a:ext uri="{FF2B5EF4-FFF2-40B4-BE49-F238E27FC236}">
                  <a16:creationId xmlns:a16="http://schemas.microsoft.com/office/drawing/2014/main" id="{269D65C0-8EB4-4601-8BBE-A2C3DB1A7C8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47" y="3853"/>
              <a:ext cx="407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 0.5</a:t>
              </a:r>
            </a:p>
          </p:txBody>
        </p:sp>
        <p:sp>
          <p:nvSpPr>
            <p:cNvPr id="131117" name="Rectangle 45">
              <a:extLst>
                <a:ext uri="{FF2B5EF4-FFF2-40B4-BE49-F238E27FC236}">
                  <a16:creationId xmlns:a16="http://schemas.microsoft.com/office/drawing/2014/main" id="{8C6122FE-11B5-4D61-8FFF-3F0BBE2147E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04" y="3853"/>
              <a:ext cx="406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2.0</a:t>
              </a:r>
            </a:p>
          </p:txBody>
        </p:sp>
        <p:sp>
          <p:nvSpPr>
            <p:cNvPr id="131118" name="Rectangle 46">
              <a:extLst>
                <a:ext uri="{FF2B5EF4-FFF2-40B4-BE49-F238E27FC236}">
                  <a16:creationId xmlns:a16="http://schemas.microsoft.com/office/drawing/2014/main" id="{E4769EEB-7895-40AB-893E-32FE36DA717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20" y="3347"/>
              <a:ext cx="407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-1.5</a:t>
              </a:r>
            </a:p>
          </p:txBody>
        </p:sp>
        <p:sp>
          <p:nvSpPr>
            <p:cNvPr id="131119" name="Rectangle 47">
              <a:extLst>
                <a:ext uri="{FF2B5EF4-FFF2-40B4-BE49-F238E27FC236}">
                  <a16:creationId xmlns:a16="http://schemas.microsoft.com/office/drawing/2014/main" id="{9763C87E-FD6A-4237-A3E3-AA9D11169F3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20" y="3012"/>
              <a:ext cx="407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-1.0</a:t>
              </a:r>
            </a:p>
          </p:txBody>
        </p:sp>
        <p:sp>
          <p:nvSpPr>
            <p:cNvPr id="131120" name="Rectangle 48">
              <a:extLst>
                <a:ext uri="{FF2B5EF4-FFF2-40B4-BE49-F238E27FC236}">
                  <a16:creationId xmlns:a16="http://schemas.microsoft.com/office/drawing/2014/main" id="{F9F21B92-FCDA-4C9F-9B00-FB5AA3C1314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20" y="3684"/>
              <a:ext cx="40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-2.0</a:t>
              </a:r>
            </a:p>
          </p:txBody>
        </p:sp>
        <p:sp>
          <p:nvSpPr>
            <p:cNvPr id="131121" name="Rectangle 49">
              <a:extLst>
                <a:ext uri="{FF2B5EF4-FFF2-40B4-BE49-F238E27FC236}">
                  <a16:creationId xmlns:a16="http://schemas.microsoft.com/office/drawing/2014/main" id="{27318054-C1DB-41E9-BFA3-EB9DF6B0F0B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20" y="2676"/>
              <a:ext cx="40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-0.5</a:t>
              </a:r>
            </a:p>
          </p:txBody>
        </p:sp>
        <p:sp>
          <p:nvSpPr>
            <p:cNvPr id="131122" name="Rectangle 50">
              <a:extLst>
                <a:ext uri="{FF2B5EF4-FFF2-40B4-BE49-F238E27FC236}">
                  <a16:creationId xmlns:a16="http://schemas.microsoft.com/office/drawing/2014/main" id="{A8090179-9FD9-4C71-B087-65BC9836A93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45" y="1235"/>
              <a:ext cx="405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 1.5</a:t>
              </a:r>
            </a:p>
          </p:txBody>
        </p:sp>
        <p:sp>
          <p:nvSpPr>
            <p:cNvPr id="131123" name="Rectangle 51">
              <a:extLst>
                <a:ext uri="{FF2B5EF4-FFF2-40B4-BE49-F238E27FC236}">
                  <a16:creationId xmlns:a16="http://schemas.microsoft.com/office/drawing/2014/main" id="{ECB4DAD8-BE83-40D2-AB7C-17A1815A3CD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20" y="1622"/>
              <a:ext cx="40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 1.0</a:t>
              </a:r>
            </a:p>
          </p:txBody>
        </p:sp>
        <p:sp>
          <p:nvSpPr>
            <p:cNvPr id="131124" name="Rectangle 52">
              <a:extLst>
                <a:ext uri="{FF2B5EF4-FFF2-40B4-BE49-F238E27FC236}">
                  <a16:creationId xmlns:a16="http://schemas.microsoft.com/office/drawing/2014/main" id="{3E5CB5B8-0797-4B9F-B552-EA81655B119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40" y="2134"/>
              <a:ext cx="87" cy="8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125" name="Rectangle 53">
              <a:extLst>
                <a:ext uri="{FF2B5EF4-FFF2-40B4-BE49-F238E27FC236}">
                  <a16:creationId xmlns:a16="http://schemas.microsoft.com/office/drawing/2014/main" id="{8A0BB8D4-F719-4248-BF73-C6447498E57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26" y="2340"/>
              <a:ext cx="87" cy="8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126" name="Rectangle 54">
              <a:extLst>
                <a:ext uri="{FF2B5EF4-FFF2-40B4-BE49-F238E27FC236}">
                  <a16:creationId xmlns:a16="http://schemas.microsoft.com/office/drawing/2014/main" id="{C8C151D6-7E2C-4DF9-9530-25391CCD487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25" y="2204"/>
              <a:ext cx="110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rgbClr val="CC0000"/>
                  </a:solidFill>
                </a:rPr>
                <a:t>  Pepsodent</a:t>
              </a:r>
            </a:p>
          </p:txBody>
        </p:sp>
        <p:sp>
          <p:nvSpPr>
            <p:cNvPr id="131127" name="Rectangle 55">
              <a:extLst>
                <a:ext uri="{FF2B5EF4-FFF2-40B4-BE49-F238E27FC236}">
                  <a16:creationId xmlns:a16="http://schemas.microsoft.com/office/drawing/2014/main" id="{137C285A-04A4-4A62-AEFB-C923449A760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75" y="1890"/>
              <a:ext cx="110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rgbClr val="CC0000"/>
                  </a:solidFill>
                </a:rPr>
                <a:t> Ultrabrite</a:t>
              </a:r>
            </a:p>
          </p:txBody>
        </p:sp>
        <p:sp>
          <p:nvSpPr>
            <p:cNvPr id="131128" name="Rectangle 56">
              <a:extLst>
                <a:ext uri="{FF2B5EF4-FFF2-40B4-BE49-F238E27FC236}">
                  <a16:creationId xmlns:a16="http://schemas.microsoft.com/office/drawing/2014/main" id="{41B11F79-5517-4211-8005-51AAE4E5870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78" y="1631"/>
              <a:ext cx="110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rgbClr val="CC0000"/>
                  </a:solidFill>
                </a:rPr>
                <a:t>Plus White</a:t>
              </a:r>
            </a:p>
          </p:txBody>
        </p:sp>
        <p:sp>
          <p:nvSpPr>
            <p:cNvPr id="131129" name="Rectangle 57">
              <a:extLst>
                <a:ext uri="{FF2B5EF4-FFF2-40B4-BE49-F238E27FC236}">
                  <a16:creationId xmlns:a16="http://schemas.microsoft.com/office/drawing/2014/main" id="{5EEA99C1-E640-4439-BAE2-B59DDBF30B2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67" y="2470"/>
              <a:ext cx="87" cy="85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130" name="Rectangle 58">
              <a:extLst>
                <a:ext uri="{FF2B5EF4-FFF2-40B4-BE49-F238E27FC236}">
                  <a16:creationId xmlns:a16="http://schemas.microsoft.com/office/drawing/2014/main" id="{64112900-8F94-4F79-ACEA-5510606BC4A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28" y="2681"/>
              <a:ext cx="87" cy="8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131" name="Rectangle 59">
              <a:extLst>
                <a:ext uri="{FF2B5EF4-FFF2-40B4-BE49-F238E27FC236}">
                  <a16:creationId xmlns:a16="http://schemas.microsoft.com/office/drawing/2014/main" id="{2371466C-7E33-4201-BC0B-5BE6B90D98D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52" y="1881"/>
              <a:ext cx="87" cy="8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132" name="Rectangle 60">
              <a:extLst>
                <a:ext uri="{FF2B5EF4-FFF2-40B4-BE49-F238E27FC236}">
                  <a16:creationId xmlns:a16="http://schemas.microsoft.com/office/drawing/2014/main" id="{3D6DFD3E-6749-4857-B774-BED741CBE3F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39" y="2260"/>
              <a:ext cx="87" cy="8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133" name="Rectangle 61">
              <a:extLst>
                <a:ext uri="{FF2B5EF4-FFF2-40B4-BE49-F238E27FC236}">
                  <a16:creationId xmlns:a16="http://schemas.microsoft.com/office/drawing/2014/main" id="{85CF83A7-7B94-4131-9615-76B943B5074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80" y="1881"/>
              <a:ext cx="87" cy="8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134" name="Rectangle 62">
              <a:extLst>
                <a:ext uri="{FF2B5EF4-FFF2-40B4-BE49-F238E27FC236}">
                  <a16:creationId xmlns:a16="http://schemas.microsoft.com/office/drawing/2014/main" id="{EB1D61AC-A245-4A1D-A1B0-17A7BEA0A26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54" y="2176"/>
              <a:ext cx="87" cy="8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135" name="Rectangle 63">
              <a:extLst>
                <a:ext uri="{FF2B5EF4-FFF2-40B4-BE49-F238E27FC236}">
                  <a16:creationId xmlns:a16="http://schemas.microsoft.com/office/drawing/2014/main" id="{A5A38343-BEC6-4AD2-9B0E-E45B3505A46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15" y="1700"/>
              <a:ext cx="1105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 </a:t>
              </a:r>
              <a:r>
                <a:rPr lang="en-US" altLang="en-US">
                  <a:solidFill>
                    <a:srgbClr val="CC0000"/>
                  </a:solidFill>
                </a:rPr>
                <a:t>Aim</a:t>
              </a:r>
            </a:p>
          </p:txBody>
        </p:sp>
        <p:sp>
          <p:nvSpPr>
            <p:cNvPr id="131136" name="Rectangle 64">
              <a:extLst>
                <a:ext uri="{FF2B5EF4-FFF2-40B4-BE49-F238E27FC236}">
                  <a16:creationId xmlns:a16="http://schemas.microsoft.com/office/drawing/2014/main" id="{0F1F049D-3D31-4C17-AE69-29E115CA522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90" y="2001"/>
              <a:ext cx="1105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 </a:t>
              </a:r>
              <a:r>
                <a:rPr lang="en-US" altLang="en-US">
                  <a:solidFill>
                    <a:srgbClr val="CC0000"/>
                  </a:solidFill>
                </a:rPr>
                <a:t>Crest</a:t>
              </a:r>
            </a:p>
          </p:txBody>
        </p:sp>
        <p:sp>
          <p:nvSpPr>
            <p:cNvPr id="131137" name="Rectangle 65">
              <a:extLst>
                <a:ext uri="{FF2B5EF4-FFF2-40B4-BE49-F238E27FC236}">
                  <a16:creationId xmlns:a16="http://schemas.microsoft.com/office/drawing/2014/main" id="{08C9CAE9-4217-4A12-8057-F209B5375E1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37" y="2413"/>
              <a:ext cx="1103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chemeClr val="tx2"/>
                  </a:solidFill>
                </a:rPr>
                <a:t> </a:t>
              </a:r>
              <a:r>
                <a:rPr lang="en-US" altLang="en-US">
                  <a:solidFill>
                    <a:srgbClr val="CC0000"/>
                  </a:solidFill>
                </a:rPr>
                <a:t>Colgate</a:t>
              </a:r>
            </a:p>
          </p:txBody>
        </p:sp>
        <p:sp>
          <p:nvSpPr>
            <p:cNvPr id="131138" name="Rectangle 66">
              <a:extLst>
                <a:ext uri="{FF2B5EF4-FFF2-40B4-BE49-F238E27FC236}">
                  <a16:creationId xmlns:a16="http://schemas.microsoft.com/office/drawing/2014/main" id="{19820608-76A3-4D21-BC7F-6A8419FB069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42" y="2751"/>
              <a:ext cx="110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rgbClr val="CC0000"/>
                  </a:solidFill>
                </a:rPr>
                <a:t> Aqua- Fresh</a:t>
              </a:r>
            </a:p>
          </p:txBody>
        </p:sp>
        <p:sp>
          <p:nvSpPr>
            <p:cNvPr id="131139" name="Rectangle 67">
              <a:extLst>
                <a:ext uri="{FF2B5EF4-FFF2-40B4-BE49-F238E27FC236}">
                  <a16:creationId xmlns:a16="http://schemas.microsoft.com/office/drawing/2014/main" id="{F0FF031A-D98A-4F92-A174-78F5C00A7F1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03" y="2020"/>
              <a:ext cx="110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rgbClr val="CC0000"/>
                  </a:solidFill>
                </a:rPr>
                <a:t> Gleem</a:t>
              </a:r>
            </a:p>
          </p:txBody>
        </p:sp>
        <p:sp>
          <p:nvSpPr>
            <p:cNvPr id="131140" name="Line 68">
              <a:extLst>
                <a:ext uri="{FF2B5EF4-FFF2-40B4-BE49-F238E27FC236}">
                  <a16:creationId xmlns:a16="http://schemas.microsoft.com/office/drawing/2014/main" id="{DB48CCCB-D55A-4D67-89D7-377B211ED66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119" y="2976"/>
              <a:ext cx="14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141" name="Line 69">
              <a:extLst>
                <a:ext uri="{FF2B5EF4-FFF2-40B4-BE49-F238E27FC236}">
                  <a16:creationId xmlns:a16="http://schemas.microsoft.com/office/drawing/2014/main" id="{0068287B-20BD-4EBF-A7CC-93A96AE681D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294" y="3775"/>
              <a:ext cx="0" cy="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142" name="Line 70">
              <a:extLst>
                <a:ext uri="{FF2B5EF4-FFF2-40B4-BE49-F238E27FC236}">
                  <a16:creationId xmlns:a16="http://schemas.microsoft.com/office/drawing/2014/main" id="{4F18450A-4E95-43C5-BFE5-15D2D4C73D0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860" y="3775"/>
              <a:ext cx="1" cy="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143" name="Line 71">
              <a:extLst>
                <a:ext uri="{FF2B5EF4-FFF2-40B4-BE49-F238E27FC236}">
                  <a16:creationId xmlns:a16="http://schemas.microsoft.com/office/drawing/2014/main" id="{4DE5ED44-3DDC-4E49-91DF-59C5DEA2B90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208" y="3775"/>
              <a:ext cx="1" cy="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144" name="Line 72">
              <a:extLst>
                <a:ext uri="{FF2B5EF4-FFF2-40B4-BE49-F238E27FC236}">
                  <a16:creationId xmlns:a16="http://schemas.microsoft.com/office/drawing/2014/main" id="{8DEFE6D6-4BE6-46CC-99D8-B6C658E6770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775" y="3775"/>
              <a:ext cx="1" cy="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145" name="Line 73">
              <a:extLst>
                <a:ext uri="{FF2B5EF4-FFF2-40B4-BE49-F238E27FC236}">
                  <a16:creationId xmlns:a16="http://schemas.microsoft.com/office/drawing/2014/main" id="{7426C131-FA2D-4087-947C-8FCD0B160E8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167" y="3775"/>
              <a:ext cx="1" cy="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146" name="Line 74">
              <a:extLst>
                <a:ext uri="{FF2B5EF4-FFF2-40B4-BE49-F238E27FC236}">
                  <a16:creationId xmlns:a16="http://schemas.microsoft.com/office/drawing/2014/main" id="{E18306BC-CC9F-48E1-9B52-C9FB03ACBA9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690" y="3775"/>
              <a:ext cx="0" cy="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147" name="Line 75">
              <a:extLst>
                <a:ext uri="{FF2B5EF4-FFF2-40B4-BE49-F238E27FC236}">
                  <a16:creationId xmlns:a16="http://schemas.microsoft.com/office/drawing/2014/main" id="{468247E8-640F-4E13-BD52-2606B212B57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341" y="3775"/>
              <a:ext cx="1" cy="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148" name="Line 76">
              <a:extLst>
                <a:ext uri="{FF2B5EF4-FFF2-40B4-BE49-F238E27FC236}">
                  <a16:creationId xmlns:a16="http://schemas.microsoft.com/office/drawing/2014/main" id="{57223B2F-1949-4975-B719-4977FAAFB2F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949" y="3775"/>
              <a:ext cx="1" cy="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149" name="Line 77">
              <a:extLst>
                <a:ext uri="{FF2B5EF4-FFF2-40B4-BE49-F238E27FC236}">
                  <a16:creationId xmlns:a16="http://schemas.microsoft.com/office/drawing/2014/main" id="{E22054E0-E46D-4C70-86E3-9A850BFAAEB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86" y="3775"/>
              <a:ext cx="1" cy="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150" name="Line 78">
              <a:extLst>
                <a:ext uri="{FF2B5EF4-FFF2-40B4-BE49-F238E27FC236}">
                  <a16:creationId xmlns:a16="http://schemas.microsoft.com/office/drawing/2014/main" id="{87A2935B-32EE-4142-B2FE-F341AD06EC4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600" y="2218"/>
              <a:ext cx="1394" cy="21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151" name="Text Box 79">
              <a:extLst>
                <a:ext uri="{FF2B5EF4-FFF2-40B4-BE49-F238E27FC236}">
                  <a16:creationId xmlns:a16="http://schemas.microsoft.com/office/drawing/2014/main" id="{D93780D3-DEC1-4891-931F-5E6C52EB332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256" y="2007"/>
              <a:ext cx="784" cy="4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rgbClr val="800080"/>
                  </a:solidFill>
                </a:rPr>
                <a:t>Fights Cavities</a:t>
              </a:r>
            </a:p>
          </p:txBody>
        </p:sp>
        <p:sp>
          <p:nvSpPr>
            <p:cNvPr id="131152" name="Line 80">
              <a:extLst>
                <a:ext uri="{FF2B5EF4-FFF2-40B4-BE49-F238E27FC236}">
                  <a16:creationId xmlns:a16="http://schemas.microsoft.com/office/drawing/2014/main" id="{2400F46B-22D6-460C-AA5F-9059CB5E238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208" y="2428"/>
              <a:ext cx="392" cy="1095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153" name="Text Box 81">
              <a:extLst>
                <a:ext uri="{FF2B5EF4-FFF2-40B4-BE49-F238E27FC236}">
                  <a16:creationId xmlns:a16="http://schemas.microsoft.com/office/drawing/2014/main" id="{C36B174A-7491-4B1B-92D0-F64ECB1FFB2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49" y="2891"/>
              <a:ext cx="1221" cy="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rgbClr val="800080"/>
                  </a:solidFill>
                </a:rPr>
                <a:t>Whitens Teeth</a:t>
              </a:r>
            </a:p>
          </p:txBody>
        </p:sp>
        <p:sp>
          <p:nvSpPr>
            <p:cNvPr id="131154" name="Text Box 82">
              <a:extLst>
                <a:ext uri="{FF2B5EF4-FFF2-40B4-BE49-F238E27FC236}">
                  <a16:creationId xmlns:a16="http://schemas.microsoft.com/office/drawing/2014/main" id="{0FEFF158-823A-4C9A-BF5B-DA285E87AB6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686" y="3565"/>
              <a:ext cx="157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rgbClr val="800080"/>
                  </a:solidFill>
                </a:rPr>
                <a:t>Sensitivity Protection</a:t>
              </a:r>
            </a:p>
          </p:txBody>
        </p:sp>
        <p:sp>
          <p:nvSpPr>
            <p:cNvPr id="131155" name="Line 83">
              <a:extLst>
                <a:ext uri="{FF2B5EF4-FFF2-40B4-BE49-F238E27FC236}">
                  <a16:creationId xmlns:a16="http://schemas.microsoft.com/office/drawing/2014/main" id="{97A3E0E7-E5ED-40BB-B3CD-9A29DF48303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337" y="2428"/>
              <a:ext cx="1263" cy="463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7" name="Rectangle 86">
            <a:extLst>
              <a:ext uri="{FF2B5EF4-FFF2-40B4-BE49-F238E27FC236}">
                <a16:creationId xmlns:a16="http://schemas.microsoft.com/office/drawing/2014/main" id="{9B6E4F7C-8429-4071-AF31-391521878AAA}"/>
              </a:ext>
            </a:extLst>
          </p:cNvPr>
          <p:cNvSpPr/>
          <p:nvPr/>
        </p:nvSpPr>
        <p:spPr>
          <a:xfrm>
            <a:off x="168812" y="154745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44FCD34D-2483-4C07-888C-4CC7E27AECCD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5C7FD8-CF72-420A-A4A8-727116BA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D257C-DDB9-4445-AD9A-AE1AF229B38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260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1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1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1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1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4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>
            <a:extLst>
              <a:ext uri="{FF2B5EF4-FFF2-40B4-BE49-F238E27FC236}">
                <a16:creationId xmlns:a16="http://schemas.microsoft.com/office/drawing/2014/main" id="{B0F55D42-2FC9-4801-A503-585AD81565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198" y="319086"/>
            <a:ext cx="11734801" cy="733425"/>
          </a:xfrm>
        </p:spPr>
        <p:txBody>
          <a:bodyPr>
            <a:normAutofit/>
          </a:bodyPr>
          <a:lstStyle/>
          <a:p>
            <a:r>
              <a:rPr lang="en-US" altLang="en-US" sz="3600" b="1" dirty="0"/>
              <a:t>MDS: Case study Perceptual mapping of Sneakers (one matrix)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C4DFAF-920A-43F3-A048-0B7E4BCC3A89}"/>
              </a:ext>
            </a:extLst>
          </p:cNvPr>
          <p:cNvSpPr/>
          <p:nvPr/>
        </p:nvSpPr>
        <p:spPr>
          <a:xfrm>
            <a:off x="166467" y="232604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C3D40CD-E237-4249-AEFF-77FE72831300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C8F76BB4-06AC-4B42-BA48-17B37E4B5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931" y="1138993"/>
            <a:ext cx="3857625" cy="2095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BF45CC4-D7E6-4FCB-9B1C-0B46B11E7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8" y="3044479"/>
            <a:ext cx="4705350" cy="13525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234B6EB-6528-47D9-9C52-3C3D7E0D88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37" y="4540390"/>
            <a:ext cx="4429125" cy="17621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93EAFF8-D166-446B-80E5-36120CB6627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53"/>
          <a:stretch/>
        </p:blipFill>
        <p:spPr>
          <a:xfrm>
            <a:off x="6348520" y="2058641"/>
            <a:ext cx="4429125" cy="3324225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A53984D9-4748-4DDA-901F-70CECDF2C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D257C-DDB9-4445-AD9A-AE1AF229B38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8480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>
            <a:extLst>
              <a:ext uri="{FF2B5EF4-FFF2-40B4-BE49-F238E27FC236}">
                <a16:creationId xmlns:a16="http://schemas.microsoft.com/office/drawing/2014/main" id="{B0F55D42-2FC9-4801-A503-585AD81565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19086"/>
            <a:ext cx="5867400" cy="733425"/>
          </a:xfrm>
        </p:spPr>
        <p:txBody>
          <a:bodyPr>
            <a:normAutofit/>
          </a:bodyPr>
          <a:lstStyle/>
          <a:p>
            <a:r>
              <a:rPr lang="en-GB" altLang="en-US" sz="3600" b="1" dirty="0"/>
              <a:t>C</a:t>
            </a:r>
            <a:r>
              <a:rPr lang="en-US" altLang="en-US" sz="3600" b="1" dirty="0" err="1"/>
              <a:t>ase</a:t>
            </a:r>
            <a:r>
              <a:rPr lang="en-US" altLang="en-US" sz="3600" b="1" dirty="0"/>
              <a:t> study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C4DFAF-920A-43F3-A048-0B7E4BCC3A89}"/>
              </a:ext>
            </a:extLst>
          </p:cNvPr>
          <p:cNvSpPr/>
          <p:nvPr/>
        </p:nvSpPr>
        <p:spPr>
          <a:xfrm>
            <a:off x="166467" y="232604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C3D40CD-E237-4249-AEFF-77FE72831300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13DC3F60-3CCD-4859-9B22-CC76CE8C9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131" y="1961331"/>
            <a:ext cx="5300869" cy="33177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ADC082-1916-4E34-B32F-AD2B532EA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1755223"/>
            <a:ext cx="5602357" cy="4433539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F1F5107-DCF8-4A70-B5BE-59DC66424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D257C-DDB9-4445-AD9A-AE1AF229B38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5975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C4DFAF-920A-43F3-A048-0B7E4BCC3A89}"/>
              </a:ext>
            </a:extLst>
          </p:cNvPr>
          <p:cNvSpPr/>
          <p:nvPr/>
        </p:nvSpPr>
        <p:spPr>
          <a:xfrm>
            <a:off x="166467" y="232604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C3D40CD-E237-4249-AEFF-77FE72831300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2">
            <a:extLst>
              <a:ext uri="{FF2B5EF4-FFF2-40B4-BE49-F238E27FC236}">
                <a16:creationId xmlns:a16="http://schemas.microsoft.com/office/drawing/2014/main" id="{F38A8A6B-F417-43C0-AEEB-15A7000BA1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6467" y="288027"/>
            <a:ext cx="12317898" cy="733425"/>
          </a:xfrm>
        </p:spPr>
        <p:txBody>
          <a:bodyPr>
            <a:normAutofit/>
          </a:bodyPr>
          <a:lstStyle/>
          <a:p>
            <a:r>
              <a:rPr lang="en-US" altLang="en-US" sz="3600" b="1" dirty="0"/>
              <a:t>MDS: Case study: Detergent cakes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BF9562-AF42-40F4-A028-22B0466CF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96" y="1341783"/>
            <a:ext cx="4772025" cy="2743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3B17C41-697C-48B3-A524-1E870E86B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414" y="4084983"/>
            <a:ext cx="4772024" cy="235715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1E6F8B6-6CF3-4FFE-AE2F-37C96BD429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341783"/>
            <a:ext cx="3467916" cy="140141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6CC8BB1-17F3-49DC-9860-B0657952C2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5545" y="2879449"/>
            <a:ext cx="4467225" cy="3219450"/>
          </a:xfrm>
          <a:prstGeom prst="rect">
            <a:avLst/>
          </a:prstGeom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BB9E7C5-677E-49A4-BB0B-EE542078C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D257C-DDB9-4445-AD9A-AE1AF229B38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030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>
            <a:extLst>
              <a:ext uri="{FF2B5EF4-FFF2-40B4-BE49-F238E27FC236}">
                <a16:creationId xmlns:a16="http://schemas.microsoft.com/office/drawing/2014/main" id="{B0F55D42-2FC9-4801-A503-585AD81565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19086"/>
            <a:ext cx="5867400" cy="733425"/>
          </a:xfrm>
        </p:spPr>
        <p:txBody>
          <a:bodyPr>
            <a:normAutofit/>
          </a:bodyPr>
          <a:lstStyle/>
          <a:p>
            <a:r>
              <a:rPr lang="en-US" altLang="en-US" sz="3600" b="1" dirty="0"/>
              <a:t>Case study: perceptual space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C4DFAF-920A-43F3-A048-0B7E4BCC3A89}"/>
              </a:ext>
            </a:extLst>
          </p:cNvPr>
          <p:cNvSpPr/>
          <p:nvPr/>
        </p:nvSpPr>
        <p:spPr>
          <a:xfrm>
            <a:off x="166467" y="232604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C3D40CD-E237-4249-AEFF-77FE72831300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86CB54E0-C1E2-4D40-BB44-E313E0C6E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692" y="1459810"/>
            <a:ext cx="4410075" cy="26151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F66EB01-3821-4FD1-BC74-F981B336E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206967"/>
            <a:ext cx="5638800" cy="24350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F03589-5FFC-4ADE-B8DC-72724B252F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4122" y="1184542"/>
            <a:ext cx="6165574" cy="4679541"/>
          </a:xfrm>
          <a:prstGeom prst="rect">
            <a:avLst/>
          </a:prstGeom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427DE47-D8CB-4B7F-803C-A967A1DED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D257C-DDB9-4445-AD9A-AE1AF229B38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4171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>
            <a:extLst>
              <a:ext uri="{FF2B5EF4-FFF2-40B4-BE49-F238E27FC236}">
                <a16:creationId xmlns:a16="http://schemas.microsoft.com/office/drawing/2014/main" id="{B0F55D42-2FC9-4801-A503-585AD81565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19086"/>
            <a:ext cx="5867400" cy="733425"/>
          </a:xfrm>
        </p:spPr>
        <p:txBody>
          <a:bodyPr>
            <a:normAutofit/>
          </a:bodyPr>
          <a:lstStyle/>
          <a:p>
            <a:r>
              <a:rPr lang="en-US" altLang="en-US" sz="3600" b="1" dirty="0"/>
              <a:t>Case study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C4DFAF-920A-43F3-A048-0B7E4BCC3A89}"/>
              </a:ext>
            </a:extLst>
          </p:cNvPr>
          <p:cNvSpPr/>
          <p:nvPr/>
        </p:nvSpPr>
        <p:spPr>
          <a:xfrm>
            <a:off x="166467" y="232604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C3D40CD-E237-4249-AEFF-77FE72831300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D4CC15BE-3245-4355-9D04-42C6884D7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20" y="1727337"/>
            <a:ext cx="5454097" cy="381207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2DF0162-9F1A-4B56-A5D9-3C8B22992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379" y="1470993"/>
            <a:ext cx="5175803" cy="406840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6E4DDE-FA07-4F57-AC5C-B6BB9F814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D257C-DDB9-4445-AD9A-AE1AF229B38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0433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>
            <a:extLst>
              <a:ext uri="{FF2B5EF4-FFF2-40B4-BE49-F238E27FC236}">
                <a16:creationId xmlns:a16="http://schemas.microsoft.com/office/drawing/2014/main" id="{B0F55D42-2FC9-4801-A503-585AD81565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19086"/>
            <a:ext cx="5867400" cy="733425"/>
          </a:xfrm>
        </p:spPr>
        <p:txBody>
          <a:bodyPr>
            <a:normAutofit fontScale="90000"/>
          </a:bodyPr>
          <a:lstStyle/>
          <a:p>
            <a:r>
              <a:rPr lang="en-US" altLang="en-US" sz="3600" b="1" dirty="0"/>
              <a:t>Multi Dimensional Scaling: Example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C4DFAF-920A-43F3-A048-0B7E4BCC3A89}"/>
              </a:ext>
            </a:extLst>
          </p:cNvPr>
          <p:cNvSpPr/>
          <p:nvPr/>
        </p:nvSpPr>
        <p:spPr>
          <a:xfrm>
            <a:off x="166467" y="232604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C3D40CD-E237-4249-AEFF-77FE72831300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99576E-B8C5-40C1-ADA3-7A3CD10324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7592" y="1280111"/>
            <a:ext cx="7673008" cy="2148889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2EF3DC5-E485-4DDF-BF5B-473B6DBA0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557" y="1839982"/>
            <a:ext cx="8282608" cy="446376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F6D779-57E3-4268-99D1-3A87F01AB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D257C-DDB9-4445-AD9A-AE1AF229B38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6258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>
            <a:extLst>
              <a:ext uri="{FF2B5EF4-FFF2-40B4-BE49-F238E27FC236}">
                <a16:creationId xmlns:a16="http://schemas.microsoft.com/office/drawing/2014/main" id="{B0F55D42-2FC9-4801-A503-585AD81565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19086"/>
            <a:ext cx="5867400" cy="733425"/>
          </a:xfrm>
        </p:spPr>
        <p:txBody>
          <a:bodyPr>
            <a:normAutofit/>
          </a:bodyPr>
          <a:lstStyle/>
          <a:p>
            <a:r>
              <a:rPr lang="en-US" altLang="en-US" sz="3600" b="1" dirty="0"/>
              <a:t>Example for MDS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C4DFAF-920A-43F3-A048-0B7E4BCC3A89}"/>
              </a:ext>
            </a:extLst>
          </p:cNvPr>
          <p:cNvSpPr/>
          <p:nvPr/>
        </p:nvSpPr>
        <p:spPr>
          <a:xfrm>
            <a:off x="166467" y="232604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C3D40CD-E237-4249-AEFF-77FE72831300}"/>
              </a:ext>
            </a:extLst>
          </p:cNvPr>
          <p:cNvCxnSpPr/>
          <p:nvPr/>
        </p:nvCxnSpPr>
        <p:spPr>
          <a:xfrm>
            <a:off x="166467" y="993913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F98930-8BC3-4639-85CE-438929DAA7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2346" y="1361653"/>
            <a:ext cx="6416123" cy="2292828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9E1C7E2-D103-4FF4-88DD-C4B6D0DB5E6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4144"/>
          <a:stretch/>
        </p:blipFill>
        <p:spPr>
          <a:xfrm>
            <a:off x="2542345" y="4086303"/>
            <a:ext cx="8655741" cy="221743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10B6CD-3E23-4EB9-96B7-2407AF62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D257C-DDB9-4445-AD9A-AE1AF229B38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039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1025</TotalTime>
  <Words>1901</Words>
  <Application>Microsoft Office PowerPoint</Application>
  <PresentationFormat>Widescreen</PresentationFormat>
  <Paragraphs>248</Paragraphs>
  <Slides>33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Worksheet</vt:lpstr>
      <vt:lpstr>PowerPoint Presentation</vt:lpstr>
      <vt:lpstr>Multidimensional Scaling (MDS) </vt:lpstr>
      <vt:lpstr>PowerPoint Presentation</vt:lpstr>
      <vt:lpstr>Example:</vt:lpstr>
      <vt:lpstr>Types of Multidimensional Scaling</vt:lpstr>
      <vt:lpstr>Multidimensional Scaling: How it works ??</vt:lpstr>
      <vt:lpstr>Procedure for Multidimensional Scaling</vt:lpstr>
      <vt:lpstr>1. Formulate the Problem</vt:lpstr>
      <vt:lpstr>2. Input Data for Multidimensional Scaling</vt:lpstr>
      <vt:lpstr> Direct Approach: Advantages and disadvantages</vt:lpstr>
      <vt:lpstr> Derived Approach: Advantages and disadvantages</vt:lpstr>
      <vt:lpstr>3. Select an MDS Procedure: Types of MDS</vt:lpstr>
      <vt:lpstr> 4. Identify  the Number of Dimensions</vt:lpstr>
      <vt:lpstr> Identify the Number of Dimensions: b. Optimizer method:  Stress function Goodness-of-fit</vt:lpstr>
      <vt:lpstr> Identify  the Number of Dimensions: </vt:lpstr>
      <vt:lpstr>5. Label and Interpret Dimensions </vt:lpstr>
      <vt:lpstr> Assess Reliability and Validity</vt:lpstr>
      <vt:lpstr>Applications of the MDS</vt:lpstr>
      <vt:lpstr> The steps in the classical MDS algorithm:</vt:lpstr>
      <vt:lpstr>Non- Metric MDS:</vt:lpstr>
      <vt:lpstr>MDS: Case study Perceptual mapping of Toothpaste</vt:lpstr>
      <vt:lpstr>Case study: Similarity Rating Of Toothpaste Brands</vt:lpstr>
      <vt:lpstr> Case study: Input Data</vt:lpstr>
      <vt:lpstr>Plot of Stress Versus Dimensionality </vt:lpstr>
      <vt:lpstr>A Spatial Map of Toothpaste Brands</vt:lpstr>
      <vt:lpstr>Using Attributes to Label Dimensions</vt:lpstr>
      <vt:lpstr>MDS: Case study Perceptual mapping of Sneakers (one matrix)</vt:lpstr>
      <vt:lpstr>Case study</vt:lpstr>
      <vt:lpstr>MDS: Case study: Detergent cakes</vt:lpstr>
      <vt:lpstr>Case study: perceptual space</vt:lpstr>
      <vt:lpstr>Case study</vt:lpstr>
      <vt:lpstr>Multi Dimensional Scaling: Example</vt:lpstr>
      <vt:lpstr>Example for MDS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Subhash Chandra N</dc:creator>
  <cp:lastModifiedBy>Subhash Chandra N</cp:lastModifiedBy>
  <cp:revision>55</cp:revision>
  <dcterms:created xsi:type="dcterms:W3CDTF">2021-04-16T13:40:43Z</dcterms:created>
  <dcterms:modified xsi:type="dcterms:W3CDTF">2025-10-17T05:27:47Z</dcterms:modified>
</cp:coreProperties>
</file>