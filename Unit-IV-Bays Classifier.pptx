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84" r:id="rId3"/>
    <p:sldId id="1356" r:id="rId4"/>
    <p:sldId id="1350" r:id="rId5"/>
    <p:sldId id="1349" r:id="rId6"/>
    <p:sldId id="1357" r:id="rId7"/>
    <p:sldId id="1358" r:id="rId8"/>
    <p:sldId id="1359" r:id="rId9"/>
    <p:sldId id="407" r:id="rId10"/>
    <p:sldId id="1355" r:id="rId11"/>
    <p:sldId id="409" r:id="rId12"/>
    <p:sldId id="1157" r:id="rId13"/>
    <p:sldId id="1158" r:id="rId14"/>
    <p:sldId id="286" r:id="rId15"/>
    <p:sldId id="260" r:id="rId16"/>
    <p:sldId id="268" r:id="rId17"/>
    <p:sldId id="1347" r:id="rId18"/>
    <p:sldId id="1351" r:id="rId19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83" d="100"/>
          <a:sy n="83" d="100"/>
        </p:scale>
        <p:origin x="686" y="77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49469-9ED7-4E6B-81F2-DDF93635EA8F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0B9AA-71B6-428C-A0D6-4AF7FBE3F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432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FFFB4D46-4134-DBBB-38C5-2ABF4576D2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E1F5E33-AA20-4689-9B00-94E92595D525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66B30B7A-3759-3BEC-CBF0-9413A9E787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2F05DCC3-C51F-9C97-7C9A-5B239727A0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6641C822-11C0-6668-5709-14E7CE6177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3E34D51-F2C7-48A1-8483-CC6CABD3C016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3F6C107-D115-7EB2-9641-7605EDF687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352E1515-8C90-2FD6-F68C-3F9796C972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18FFC4C6-4A0E-D387-0208-90E89C54C8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787EDFF-16D4-40F9-B68C-4E179D94E9F0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B96B153F-2BAE-C066-9BEC-AFA19B62CF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30929C78-ACA2-7B95-CD0C-1A19AE4EFE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921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69636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69636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69636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381000"/>
            <a:ext cx="11203517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1371600"/>
            <a:ext cx="5537200" cy="1384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537200" cy="1384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BEA4C44A-0E5C-84AA-6BB1-FCD6F5AB630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303C76-5C07-405D-B693-0DF1F92ABA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5712377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381000"/>
            <a:ext cx="11203517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1371600"/>
            <a:ext cx="5537200" cy="1384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46800" y="1371600"/>
            <a:ext cx="5537200" cy="1384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46800" y="4000500"/>
            <a:ext cx="5537200" cy="1384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198ED717-B38F-7B09-4A5E-FEB7D179C13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C6DB1E-CFE1-4938-AFD2-71E9C6C79D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1140280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5343" y="70103"/>
            <a:ext cx="12017587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04867" y="339598"/>
            <a:ext cx="3382264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69636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5133" y="2508250"/>
            <a:ext cx="107950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7E4D6F2-689C-4A0A-9248-A063B60F6223}"/>
              </a:ext>
            </a:extLst>
          </p:cNvPr>
          <p:cNvSpPr txBox="1"/>
          <p:nvPr/>
        </p:nvSpPr>
        <p:spPr>
          <a:xfrm>
            <a:off x="4334345" y="1828800"/>
            <a:ext cx="3782960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Data Science</a:t>
            </a:r>
          </a:p>
          <a:p>
            <a:pPr algn="ctr"/>
            <a:r>
              <a:rPr lang="en-GB" sz="4400" dirty="0"/>
              <a:t>Unit-VI</a:t>
            </a:r>
          </a:p>
          <a:p>
            <a:pPr algn="ctr"/>
            <a:r>
              <a:rPr lang="en-US" sz="4400" spc="-5" dirty="0"/>
              <a:t>Bayes'</a:t>
            </a:r>
            <a:r>
              <a:rPr lang="en-US" sz="4400" spc="30" dirty="0"/>
              <a:t> </a:t>
            </a:r>
            <a:r>
              <a:rPr lang="en-US" sz="4400" spc="-5" dirty="0"/>
              <a:t>Classifier</a:t>
            </a:r>
            <a:endParaRPr lang="en-US" sz="4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16F443-EE66-4E37-B716-C5C9EE074259}"/>
              </a:ext>
            </a:extLst>
          </p:cNvPr>
          <p:cNvSpPr/>
          <p:nvPr/>
        </p:nvSpPr>
        <p:spPr>
          <a:xfrm>
            <a:off x="159026" y="14777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A6C7164-9F19-455A-952F-33B355652145}"/>
              </a:ext>
            </a:extLst>
          </p:cNvPr>
          <p:cNvCxnSpPr/>
          <p:nvPr/>
        </p:nvCxnSpPr>
        <p:spPr>
          <a:xfrm>
            <a:off x="159026" y="3276600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F26F6-60A5-46C1-B168-380642E53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77" y="416150"/>
            <a:ext cx="5611748" cy="615553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Bayes' Classifier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16F443-EE66-4E37-B716-C5C9EE074259}"/>
              </a:ext>
            </a:extLst>
          </p:cNvPr>
          <p:cNvSpPr/>
          <p:nvPr/>
        </p:nvSpPr>
        <p:spPr>
          <a:xfrm>
            <a:off x="159026" y="14777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6C7164-9F19-455A-952F-33B355652145}"/>
              </a:ext>
            </a:extLst>
          </p:cNvPr>
          <p:cNvCxnSpPr/>
          <p:nvPr/>
        </p:nvCxnSpPr>
        <p:spPr>
          <a:xfrm>
            <a:off x="159026" y="124770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AF7B7D4-D5D3-D0C7-DF88-DA01DD7189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206" t="22162"/>
          <a:stretch>
            <a:fillRect/>
          </a:stretch>
        </p:blipFill>
        <p:spPr>
          <a:xfrm>
            <a:off x="9696400" y="332656"/>
            <a:ext cx="2196946" cy="22508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49831E-2835-DD70-A0A4-A03CE5EEF39A}"/>
              </a:ext>
            </a:extLst>
          </p:cNvPr>
          <p:cNvSpPr txBox="1"/>
          <p:nvPr/>
        </p:nvSpPr>
        <p:spPr>
          <a:xfrm>
            <a:off x="1271464" y="1546969"/>
            <a:ext cx="74168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0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A Bayes classifier is a probabilistic machine learning model that uses Bayes' theorem to predict the class of a given data point by calculating the probability that it belongs to each class and selecting the class with the highest posterior probability.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0156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3058D-45F8-D1A0-FC07-9D3A3FBEC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ABF5C-66D2-6DA0-262E-647F29275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77" y="416150"/>
            <a:ext cx="5611748" cy="615553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Bayes' Classifier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848B50-DC86-AEB5-E667-F5B589930BAB}"/>
              </a:ext>
            </a:extLst>
          </p:cNvPr>
          <p:cNvSpPr/>
          <p:nvPr/>
        </p:nvSpPr>
        <p:spPr>
          <a:xfrm>
            <a:off x="159026" y="14777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51D6EA-A784-C93E-463F-6C95E5837A16}"/>
              </a:ext>
            </a:extLst>
          </p:cNvPr>
          <p:cNvCxnSpPr/>
          <p:nvPr/>
        </p:nvCxnSpPr>
        <p:spPr>
          <a:xfrm>
            <a:off x="159026" y="124770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F809791-A470-38D0-805B-A7D6F0426F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206" t="22162"/>
          <a:stretch>
            <a:fillRect/>
          </a:stretch>
        </p:blipFill>
        <p:spPr>
          <a:xfrm>
            <a:off x="9696400" y="332656"/>
            <a:ext cx="2196946" cy="22508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C6C2E2-AA7C-C861-16BE-A5CC99748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16" y="1463713"/>
            <a:ext cx="9182391" cy="471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52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paper&#10;&#10;Description automatically generated">
            <a:extLst>
              <a:ext uri="{FF2B5EF4-FFF2-40B4-BE49-F238E27FC236}">
                <a16:creationId xmlns:a16="http://schemas.microsoft.com/office/drawing/2014/main" id="{B38691F0-F54B-525E-83C0-F0E4B4FC7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4808" b="9051"/>
          <a:stretch/>
        </p:blipFill>
        <p:spPr>
          <a:xfrm>
            <a:off x="2063552" y="0"/>
            <a:ext cx="7632848" cy="666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095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paper with mathematical equations&#10;&#10;Description automatically generated">
            <a:extLst>
              <a:ext uri="{FF2B5EF4-FFF2-40B4-BE49-F238E27FC236}">
                <a16:creationId xmlns:a16="http://schemas.microsoft.com/office/drawing/2014/main" id="{D7A40249-7EAF-3B81-65C3-80359A248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3" b="17048"/>
          <a:stretch/>
        </p:blipFill>
        <p:spPr>
          <a:xfrm>
            <a:off x="2423592" y="260648"/>
            <a:ext cx="7632848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997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C02DD2D-4779-37F1-71C9-8AED0532B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2" y="476673"/>
            <a:ext cx="10585175" cy="490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694604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CFCC15-30AA-D3A6-1343-2AB36AAE3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90500"/>
            <a:ext cx="8656427" cy="6477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52E6EB-8DAF-CA5C-94E9-4ECDD4F10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21" t="19150" r="14640" b="2989"/>
          <a:stretch>
            <a:fillRect/>
          </a:stretch>
        </p:blipFill>
        <p:spPr>
          <a:xfrm>
            <a:off x="6816080" y="3068960"/>
            <a:ext cx="5256584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77670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821B41C-B0D5-ED8A-3543-556288B885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90" r="11383"/>
          <a:stretch>
            <a:fillRect/>
          </a:stretch>
        </p:blipFill>
        <p:spPr>
          <a:xfrm>
            <a:off x="119336" y="260648"/>
            <a:ext cx="7046633" cy="59128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B72107-BFC1-2EFA-4FE4-A314214E1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969" y="108194"/>
            <a:ext cx="4906695" cy="309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040862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>
            <a:extLst>
              <a:ext uri="{FF2B5EF4-FFF2-40B4-BE49-F238E27FC236}">
                <a16:creationId xmlns:a16="http://schemas.microsoft.com/office/drawing/2014/main" id="{1FAB7A6B-6594-1B38-ED47-7D52E3EF1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755900" y="7035800"/>
            <a:ext cx="4900613" cy="52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306" tIns="52153" rIns="104306" bIns="52153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en-GB"/>
              <a:t>COMP20411  Machine Learning</a:t>
            </a:r>
            <a:endParaRPr lang="en-GB" altLang="en-US" sz="1270">
              <a:latin typeface="Arial" panose="020B0604020202020204" pitchFamily="34" charset="0"/>
            </a:endParaRPr>
          </a:p>
        </p:txBody>
      </p:sp>
      <p:sp>
        <p:nvSpPr>
          <p:cNvPr id="16387" name="Slide Number Placeholder 5">
            <a:extLst>
              <a:ext uri="{FF2B5EF4-FFF2-40B4-BE49-F238E27FC236}">
                <a16:creationId xmlns:a16="http://schemas.microsoft.com/office/drawing/2014/main" id="{1DB46543-975E-ABEC-8A16-B86494DEE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662863" y="7065963"/>
            <a:ext cx="2495550" cy="52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306" tIns="52153" rIns="104306" bIns="52153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eaLnBrk="1" hangingPunct="1"/>
            <a:fld id="{21F1FD8C-4AF3-438C-8AB9-EFDAD55D0AD0}" type="slidenum">
              <a:rPr lang="en-GB" altLang="en-US" smtClean="0"/>
              <a:pPr eaLnBrk="1" hangingPunct="1"/>
              <a:t>9</a:t>
            </a:fld>
            <a:endParaRPr lang="en-GB" altLang="en-US" sz="1451">
              <a:latin typeface="Arial" panose="020B0604020202020204" pitchFamily="34" charset="0"/>
            </a:endParaRPr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5B194BB8-6074-D1C0-2EEB-FEA36EEC3B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344" y="238317"/>
            <a:ext cx="9272626" cy="615553"/>
          </a:xfrm>
        </p:spPr>
        <p:txBody>
          <a:bodyPr/>
          <a:lstStyle/>
          <a:p>
            <a:pPr eaLnBrk="1" hangingPunct="1"/>
            <a:r>
              <a:rPr lang="en-US" altLang="en-US" b="0" dirty="0"/>
              <a:t>Example	</a:t>
            </a:r>
          </a:p>
        </p:txBody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EBE978E1-96EB-DF20-10F8-650A7F0187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3672" y="1218113"/>
            <a:ext cx="9063849" cy="771493"/>
          </a:xfrm>
        </p:spPr>
        <p:txBody>
          <a:bodyPr/>
          <a:lstStyle/>
          <a:p>
            <a:pPr marL="483794" indent="-483794">
              <a:lnSpc>
                <a:spcPct val="110000"/>
              </a:lnSpc>
            </a:pPr>
            <a:endParaRPr lang="en-US" altLang="en-US"/>
          </a:p>
          <a:p>
            <a:pPr marL="483794" indent="-483794">
              <a:lnSpc>
                <a:spcPct val="110000"/>
              </a:lnSpc>
            </a:pPr>
            <a:r>
              <a:rPr lang="en-US" altLang="en-US" sz="2902"/>
              <a:t>     </a:t>
            </a:r>
          </a:p>
        </p:txBody>
      </p:sp>
      <p:pic>
        <p:nvPicPr>
          <p:cNvPr id="16391" name="Picture 9">
            <a:extLst>
              <a:ext uri="{FF2B5EF4-FFF2-40B4-BE49-F238E27FC236}">
                <a16:creationId xmlns:a16="http://schemas.microsoft.com/office/drawing/2014/main" id="{95ABB178-AE4F-2557-5B3D-A66AEF39B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396382"/>
            <a:ext cx="9063849" cy="6065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096593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9E01CD-377F-978E-994B-04A641F698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805" r="-649"/>
          <a:stretch/>
        </p:blipFill>
        <p:spPr>
          <a:xfrm>
            <a:off x="5946879" y="296652"/>
            <a:ext cx="6192688" cy="626469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89ADE7F-4979-7043-FA03-6564BA9E5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6" y="241445"/>
            <a:ext cx="5328591" cy="594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75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>
            <a:extLst>
              <a:ext uri="{FF2B5EF4-FFF2-40B4-BE49-F238E27FC236}">
                <a16:creationId xmlns:a16="http://schemas.microsoft.com/office/drawing/2014/main" id="{BA6507C3-1163-E308-9576-73BC9C4AD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755900" y="7035800"/>
            <a:ext cx="4900613" cy="52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306" tIns="52153" rIns="104306" bIns="52153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en-GB"/>
              <a:t>COMP20411  Machine Learning</a:t>
            </a:r>
            <a:endParaRPr lang="en-GB" altLang="en-US" sz="1270">
              <a:latin typeface="Arial" panose="020B0604020202020204" pitchFamily="34" charset="0"/>
            </a:endParaRPr>
          </a:p>
        </p:txBody>
      </p:sp>
      <p:sp>
        <p:nvSpPr>
          <p:cNvPr id="18435" name="Slide Number Placeholder 5">
            <a:extLst>
              <a:ext uri="{FF2B5EF4-FFF2-40B4-BE49-F238E27FC236}">
                <a16:creationId xmlns:a16="http://schemas.microsoft.com/office/drawing/2014/main" id="{DE549604-8F09-24BB-3D92-AF584BBF6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662863" y="7065963"/>
            <a:ext cx="2495550" cy="52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306" tIns="52153" rIns="104306" bIns="52153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5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eaLnBrk="1" hangingPunct="1"/>
            <a:fld id="{21F1FD8C-4AF3-438C-8AB9-EFDAD55D0AD0}" type="slidenum">
              <a:rPr lang="en-GB" altLang="en-US" smtClean="0"/>
              <a:pPr eaLnBrk="1" hangingPunct="1"/>
              <a:t>11</a:t>
            </a:fld>
            <a:endParaRPr lang="en-GB" altLang="en-US" sz="1451">
              <a:latin typeface="Arial" panose="020B0604020202020204" pitchFamily="34" charset="0"/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2FAC2A33-D1C9-0768-697C-2088CF0642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336" y="176648"/>
            <a:ext cx="9272626" cy="615553"/>
          </a:xfrm>
        </p:spPr>
        <p:txBody>
          <a:bodyPr/>
          <a:lstStyle/>
          <a:p>
            <a:pPr eaLnBrk="1" hangingPunct="1"/>
            <a:r>
              <a:rPr lang="en-US" altLang="en-US" b="0" dirty="0">
                <a:solidFill>
                  <a:schemeClr val="tx1"/>
                </a:solidFill>
              </a:rPr>
              <a:t>Example	</a:t>
            </a: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B922B411-61B2-3D98-9B2A-D4DBD526AC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3672" y="1218113"/>
            <a:ext cx="9063849" cy="771493"/>
          </a:xfrm>
        </p:spPr>
        <p:txBody>
          <a:bodyPr/>
          <a:lstStyle/>
          <a:p>
            <a:pPr marL="483794" indent="-483794">
              <a:lnSpc>
                <a:spcPct val="110000"/>
              </a:lnSpc>
            </a:pPr>
            <a:endParaRPr lang="en-US" altLang="en-US" b="1"/>
          </a:p>
          <a:p>
            <a:pPr marL="483794" indent="-483794">
              <a:lnSpc>
                <a:spcPct val="110000"/>
              </a:lnSpc>
            </a:pPr>
            <a:r>
              <a:rPr lang="en-US" altLang="en-US" sz="2902" b="1"/>
              <a:t>     </a:t>
            </a:r>
          </a:p>
        </p:txBody>
      </p:sp>
      <p:sp>
        <p:nvSpPr>
          <p:cNvPr id="18438" name="Rectangle 4">
            <a:extLst>
              <a:ext uri="{FF2B5EF4-FFF2-40B4-BE49-F238E27FC236}">
                <a16:creationId xmlns:a16="http://schemas.microsoft.com/office/drawing/2014/main" id="{74BE8DFF-357B-DA4F-669F-442BAB2B8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1119664"/>
            <a:ext cx="9577064" cy="5252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05" tIns="47302" rIns="94605" bIns="47302"/>
          <a:lstStyle>
            <a:lvl1pPr marL="533400" indent="-53340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79488" indent="-45720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en-US" sz="2540" dirty="0">
                <a:latin typeface="Tahoma" panose="020B0604030504040204" pitchFamily="34" charset="0"/>
              </a:rPr>
              <a:t>Test Phase: Predict class for instance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en-US" sz="2177" dirty="0">
                <a:latin typeface="Tahoma" panose="020B0604030504040204" pitchFamily="34" charset="0"/>
              </a:rPr>
              <a:t>Given a new instance, 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177" dirty="0">
                <a:latin typeface="Palatino Linotype" panose="02040502050505030304" pitchFamily="18" charset="0"/>
              </a:rPr>
              <a:t>      </a:t>
            </a:r>
            <a:r>
              <a:rPr lang="en-US" altLang="en-US" sz="2177" dirty="0">
                <a:solidFill>
                  <a:schemeClr val="accent2"/>
                </a:solidFill>
                <a:latin typeface="Palatino Linotype" panose="02040502050505030304" pitchFamily="18" charset="0"/>
              </a:rPr>
              <a:t>x</a:t>
            </a:r>
            <a:r>
              <a:rPr lang="en-US" altLang="en-US" sz="1814" dirty="0">
                <a:solidFill>
                  <a:schemeClr val="accent2"/>
                </a:solidFill>
                <a:latin typeface="Palatino Linotype" panose="02040502050505030304" pitchFamily="18" charset="0"/>
              </a:rPr>
              <a:t>’=(Outlook=</a:t>
            </a:r>
            <a:r>
              <a:rPr lang="en-US" altLang="en-US" sz="1814" i="1" dirty="0">
                <a:solidFill>
                  <a:schemeClr val="accent2"/>
                </a:solidFill>
                <a:latin typeface="Palatino Linotype" panose="02040502050505030304" pitchFamily="18" charset="0"/>
              </a:rPr>
              <a:t>Sunny, </a:t>
            </a:r>
            <a:r>
              <a:rPr lang="en-US" altLang="en-US" sz="1814" dirty="0">
                <a:solidFill>
                  <a:schemeClr val="accent2"/>
                </a:solidFill>
                <a:latin typeface="Palatino Linotype" panose="02040502050505030304" pitchFamily="18" charset="0"/>
              </a:rPr>
              <a:t>Temperature=</a:t>
            </a:r>
            <a:r>
              <a:rPr lang="en-US" altLang="en-US" sz="1814" i="1" dirty="0">
                <a:solidFill>
                  <a:schemeClr val="accent2"/>
                </a:solidFill>
                <a:latin typeface="Palatino Linotype" panose="02040502050505030304" pitchFamily="18" charset="0"/>
              </a:rPr>
              <a:t>Cool, </a:t>
            </a:r>
            <a:r>
              <a:rPr lang="en-US" altLang="en-US" sz="1814" dirty="0">
                <a:solidFill>
                  <a:schemeClr val="accent2"/>
                </a:solidFill>
                <a:latin typeface="Palatino Linotype" panose="02040502050505030304" pitchFamily="18" charset="0"/>
              </a:rPr>
              <a:t>Humidity</a:t>
            </a:r>
            <a:r>
              <a:rPr lang="en-US" altLang="en-US" sz="1814" i="1" dirty="0">
                <a:solidFill>
                  <a:schemeClr val="accent2"/>
                </a:solidFill>
                <a:latin typeface="Palatino Linotype" panose="02040502050505030304" pitchFamily="18" charset="0"/>
              </a:rPr>
              <a:t>=High, </a:t>
            </a:r>
            <a:r>
              <a:rPr lang="en-US" altLang="en-US" sz="1814" dirty="0">
                <a:solidFill>
                  <a:schemeClr val="accent2"/>
                </a:solidFill>
                <a:latin typeface="Palatino Linotype" panose="02040502050505030304" pitchFamily="18" charset="0"/>
              </a:rPr>
              <a:t>Wind=</a:t>
            </a:r>
            <a:r>
              <a:rPr lang="en-US" altLang="en-US" sz="1814" i="1" dirty="0">
                <a:solidFill>
                  <a:schemeClr val="accent2"/>
                </a:solidFill>
                <a:latin typeface="Palatino Linotype" panose="02040502050505030304" pitchFamily="18" charset="0"/>
              </a:rPr>
              <a:t>Strong</a:t>
            </a:r>
            <a:r>
              <a:rPr lang="en-US" altLang="en-US" sz="1814" dirty="0">
                <a:solidFill>
                  <a:schemeClr val="accent2"/>
                </a:solidFill>
                <a:latin typeface="Palatino Linotype" panose="0204050205050503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en-US" sz="2177" dirty="0">
                <a:solidFill>
                  <a:schemeClr val="tx2"/>
                </a:solidFill>
                <a:latin typeface="Tahoma" panose="020B0604030504040204" pitchFamily="34" charset="0"/>
              </a:rPr>
              <a:t>Look up tables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altLang="en-US" sz="2177" dirty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altLang="en-US" sz="2177" dirty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altLang="en-US" sz="2177" dirty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altLang="en-US" sz="2177" dirty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altLang="en-US" sz="2177" dirty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en-US" sz="2177" dirty="0">
                <a:solidFill>
                  <a:schemeClr val="tx2"/>
                </a:solidFill>
                <a:latin typeface="Tahoma" panose="020B0604030504040204" pitchFamily="34" charset="0"/>
              </a:rPr>
              <a:t>MAP rule</a:t>
            </a:r>
          </a:p>
        </p:txBody>
      </p:sp>
      <p:sp>
        <p:nvSpPr>
          <p:cNvPr id="18439" name="Text Box 91">
            <a:extLst>
              <a:ext uri="{FF2B5EF4-FFF2-40B4-BE49-F238E27FC236}">
                <a16:creationId xmlns:a16="http://schemas.microsoft.com/office/drawing/2014/main" id="{245C12EC-688C-C080-8FBB-9E0EEE053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624845"/>
            <a:ext cx="3597075" cy="1699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GB" altLang="en-US" sz="1633" dirty="0">
                <a:latin typeface="Palatino Linotype" panose="02040502050505030304" pitchFamily="18" charset="0"/>
              </a:rPr>
              <a:t>P(Outlook=</a:t>
            </a:r>
            <a:r>
              <a:rPr lang="en-GB" altLang="en-US" sz="1633" dirty="0" err="1">
                <a:latin typeface="Palatino Linotype" panose="02040502050505030304" pitchFamily="18" charset="0"/>
              </a:rPr>
              <a:t>S</a:t>
            </a:r>
            <a:r>
              <a:rPr lang="en-GB" altLang="en-US" sz="1633" i="1" dirty="0" err="1">
                <a:latin typeface="Palatino Linotype" panose="02040502050505030304" pitchFamily="18" charset="0"/>
              </a:rPr>
              <a:t>unny</a:t>
            </a:r>
            <a:r>
              <a:rPr lang="en-GB" altLang="en-US" sz="1633" dirty="0" err="1">
                <a:latin typeface="Palatino Linotype" panose="02040502050505030304" pitchFamily="18" charset="0"/>
              </a:rPr>
              <a:t>|Play</a:t>
            </a:r>
            <a:r>
              <a:rPr lang="en-GB" altLang="en-US" sz="1633" dirty="0">
                <a:latin typeface="Palatino Linotype" panose="02040502050505030304" pitchFamily="18" charset="0"/>
              </a:rPr>
              <a:t>=</a:t>
            </a:r>
            <a:r>
              <a:rPr lang="en-GB" altLang="en-US" sz="1633" i="1" dirty="0">
                <a:latin typeface="Palatino Linotype" panose="02040502050505030304" pitchFamily="18" charset="0"/>
              </a:rPr>
              <a:t>No</a:t>
            </a:r>
            <a:r>
              <a:rPr lang="en-GB" altLang="en-US" sz="1633" dirty="0">
                <a:latin typeface="Palatino Linotype" panose="02040502050505030304" pitchFamily="18" charset="0"/>
              </a:rPr>
              <a:t>) = 3/5</a:t>
            </a:r>
          </a:p>
          <a:p>
            <a:pPr eaLnBrk="1" hangingPunct="1">
              <a:lnSpc>
                <a:spcPct val="130000"/>
              </a:lnSpc>
            </a:pPr>
            <a:r>
              <a:rPr lang="en-GB" altLang="en-US" sz="1633" dirty="0">
                <a:latin typeface="Palatino Linotype" panose="02040502050505030304" pitchFamily="18" charset="0"/>
              </a:rPr>
              <a:t>P(Temperature=</a:t>
            </a:r>
            <a:r>
              <a:rPr lang="en-GB" altLang="en-US" sz="1633" i="1" dirty="0" err="1">
                <a:latin typeface="Palatino Linotype" panose="02040502050505030304" pitchFamily="18" charset="0"/>
              </a:rPr>
              <a:t>Cool</a:t>
            </a:r>
            <a:r>
              <a:rPr lang="en-GB" altLang="en-US" sz="1633" dirty="0" err="1">
                <a:latin typeface="Palatino Linotype" panose="02040502050505030304" pitchFamily="18" charset="0"/>
              </a:rPr>
              <a:t>|Play</a:t>
            </a:r>
            <a:r>
              <a:rPr lang="en-GB" altLang="en-US" sz="1633" dirty="0">
                <a:latin typeface="Palatino Linotype" panose="02040502050505030304" pitchFamily="18" charset="0"/>
              </a:rPr>
              <a:t>=</a:t>
            </a:r>
            <a:r>
              <a:rPr lang="en-GB" altLang="en-US" sz="1633" i="1" dirty="0">
                <a:latin typeface="Palatino Linotype" panose="02040502050505030304" pitchFamily="18" charset="0"/>
              </a:rPr>
              <a:t>=No</a:t>
            </a:r>
            <a:r>
              <a:rPr lang="en-GB" altLang="en-US" sz="1633" dirty="0">
                <a:latin typeface="Palatino Linotype" panose="02040502050505030304" pitchFamily="18" charset="0"/>
              </a:rPr>
              <a:t>) = 1/5</a:t>
            </a:r>
          </a:p>
          <a:p>
            <a:pPr eaLnBrk="1" hangingPunct="1">
              <a:lnSpc>
                <a:spcPct val="130000"/>
              </a:lnSpc>
            </a:pPr>
            <a:r>
              <a:rPr lang="en-GB" altLang="en-US" sz="1633" dirty="0">
                <a:latin typeface="Palatino Linotype" panose="02040502050505030304" pitchFamily="18" charset="0"/>
              </a:rPr>
              <a:t>P(</a:t>
            </a:r>
            <a:r>
              <a:rPr lang="en-GB" altLang="en-US" sz="1633" dirty="0" err="1">
                <a:latin typeface="Palatino Linotype" panose="02040502050505030304" pitchFamily="18" charset="0"/>
              </a:rPr>
              <a:t>Huminity</a:t>
            </a:r>
            <a:r>
              <a:rPr lang="en-GB" altLang="en-US" sz="1633" dirty="0">
                <a:latin typeface="Palatino Linotype" panose="02040502050505030304" pitchFamily="18" charset="0"/>
              </a:rPr>
              <a:t>=</a:t>
            </a:r>
            <a:r>
              <a:rPr lang="en-GB" altLang="en-US" sz="1633" i="1" dirty="0" err="1">
                <a:latin typeface="Palatino Linotype" panose="02040502050505030304" pitchFamily="18" charset="0"/>
              </a:rPr>
              <a:t>High</a:t>
            </a:r>
            <a:r>
              <a:rPr lang="en-GB" altLang="en-US" sz="1633" dirty="0" err="1">
                <a:latin typeface="Palatino Linotype" panose="02040502050505030304" pitchFamily="18" charset="0"/>
              </a:rPr>
              <a:t>|Play</a:t>
            </a:r>
            <a:r>
              <a:rPr lang="en-GB" altLang="en-US" sz="1633" dirty="0">
                <a:latin typeface="Palatino Linotype" panose="02040502050505030304" pitchFamily="18" charset="0"/>
              </a:rPr>
              <a:t>=</a:t>
            </a:r>
            <a:r>
              <a:rPr lang="en-GB" altLang="en-US" sz="1633" i="1" dirty="0">
                <a:latin typeface="Palatino Linotype" panose="02040502050505030304" pitchFamily="18" charset="0"/>
              </a:rPr>
              <a:t>No</a:t>
            </a:r>
            <a:r>
              <a:rPr lang="en-GB" altLang="en-US" sz="1633" dirty="0">
                <a:latin typeface="Palatino Linotype" panose="02040502050505030304" pitchFamily="18" charset="0"/>
              </a:rPr>
              <a:t>) = 4/5</a:t>
            </a:r>
          </a:p>
          <a:p>
            <a:pPr eaLnBrk="1" hangingPunct="1">
              <a:lnSpc>
                <a:spcPct val="130000"/>
              </a:lnSpc>
            </a:pPr>
            <a:r>
              <a:rPr lang="en-GB" altLang="en-US" sz="1633" dirty="0">
                <a:latin typeface="Palatino Linotype" panose="02040502050505030304" pitchFamily="18" charset="0"/>
              </a:rPr>
              <a:t>P(Wind=</a:t>
            </a:r>
            <a:r>
              <a:rPr lang="en-GB" altLang="en-US" sz="1633" i="1" dirty="0" err="1">
                <a:latin typeface="Palatino Linotype" panose="02040502050505030304" pitchFamily="18" charset="0"/>
              </a:rPr>
              <a:t>Strong</a:t>
            </a:r>
            <a:r>
              <a:rPr lang="en-GB" altLang="en-US" sz="1633" dirty="0" err="1">
                <a:latin typeface="Palatino Linotype" panose="02040502050505030304" pitchFamily="18" charset="0"/>
              </a:rPr>
              <a:t>|Play</a:t>
            </a:r>
            <a:r>
              <a:rPr lang="en-GB" altLang="en-US" sz="1633" dirty="0">
                <a:latin typeface="Palatino Linotype" panose="02040502050505030304" pitchFamily="18" charset="0"/>
              </a:rPr>
              <a:t>=</a:t>
            </a:r>
            <a:r>
              <a:rPr lang="en-GB" altLang="en-US" sz="1633" i="1" dirty="0">
                <a:latin typeface="Palatino Linotype" panose="02040502050505030304" pitchFamily="18" charset="0"/>
              </a:rPr>
              <a:t>No</a:t>
            </a:r>
            <a:r>
              <a:rPr lang="en-GB" altLang="en-US" sz="1633" dirty="0">
                <a:latin typeface="Palatino Linotype" panose="02040502050505030304" pitchFamily="18" charset="0"/>
              </a:rPr>
              <a:t>) = 3/5</a:t>
            </a:r>
          </a:p>
          <a:p>
            <a:pPr eaLnBrk="1" hangingPunct="1">
              <a:lnSpc>
                <a:spcPct val="130000"/>
              </a:lnSpc>
            </a:pPr>
            <a:r>
              <a:rPr lang="en-GB" altLang="en-US" sz="1633" dirty="0">
                <a:latin typeface="Palatino Linotype" panose="02040502050505030304" pitchFamily="18" charset="0"/>
              </a:rPr>
              <a:t>P(Play=</a:t>
            </a:r>
            <a:r>
              <a:rPr lang="en-GB" altLang="en-US" sz="1633" i="1" dirty="0">
                <a:latin typeface="Palatino Linotype" panose="02040502050505030304" pitchFamily="18" charset="0"/>
              </a:rPr>
              <a:t>No</a:t>
            </a:r>
            <a:r>
              <a:rPr lang="en-GB" altLang="en-US" sz="1633" dirty="0">
                <a:latin typeface="Palatino Linotype" panose="02040502050505030304" pitchFamily="18" charset="0"/>
              </a:rPr>
              <a:t>) = 5/14</a:t>
            </a:r>
          </a:p>
        </p:txBody>
      </p:sp>
      <p:sp>
        <p:nvSpPr>
          <p:cNvPr id="18440" name="Text Box 93">
            <a:extLst>
              <a:ext uri="{FF2B5EF4-FFF2-40B4-BE49-F238E27FC236}">
                <a16:creationId xmlns:a16="http://schemas.microsoft.com/office/drawing/2014/main" id="{F8270C28-46D1-C62A-57E6-8FB4FDA0A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2138" y="2669480"/>
            <a:ext cx="3516155" cy="1699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GB" altLang="en-US" sz="1633" dirty="0">
                <a:latin typeface="Palatino Linotype" panose="02040502050505030304" pitchFamily="18" charset="0"/>
              </a:rPr>
              <a:t>P(Outlook=</a:t>
            </a:r>
            <a:r>
              <a:rPr lang="en-GB" altLang="en-US" sz="1633" i="1" dirty="0" err="1">
                <a:latin typeface="Palatino Linotype" panose="02040502050505030304" pitchFamily="18" charset="0"/>
              </a:rPr>
              <a:t>Sunny</a:t>
            </a:r>
            <a:r>
              <a:rPr lang="en-GB" altLang="en-US" sz="1633" dirty="0" err="1">
                <a:latin typeface="Palatino Linotype" panose="02040502050505030304" pitchFamily="18" charset="0"/>
              </a:rPr>
              <a:t>|Play</a:t>
            </a:r>
            <a:r>
              <a:rPr lang="en-GB" altLang="en-US" sz="1633" dirty="0">
                <a:latin typeface="Palatino Linotype" panose="02040502050505030304" pitchFamily="18" charset="0"/>
              </a:rPr>
              <a:t>=</a:t>
            </a:r>
            <a:r>
              <a:rPr lang="en-GB" altLang="en-US" sz="1633" i="1" dirty="0">
                <a:latin typeface="Palatino Linotype" panose="02040502050505030304" pitchFamily="18" charset="0"/>
              </a:rPr>
              <a:t>Yes</a:t>
            </a:r>
            <a:r>
              <a:rPr lang="en-GB" altLang="en-US" sz="1633" dirty="0">
                <a:latin typeface="Palatino Linotype" panose="02040502050505030304" pitchFamily="18" charset="0"/>
              </a:rPr>
              <a:t>) = 2/9</a:t>
            </a:r>
          </a:p>
          <a:p>
            <a:pPr eaLnBrk="1" hangingPunct="1">
              <a:lnSpc>
                <a:spcPct val="130000"/>
              </a:lnSpc>
            </a:pPr>
            <a:r>
              <a:rPr lang="en-GB" altLang="en-US" sz="1633" dirty="0">
                <a:latin typeface="Palatino Linotype" panose="02040502050505030304" pitchFamily="18" charset="0"/>
              </a:rPr>
              <a:t>P(Temperature=</a:t>
            </a:r>
            <a:r>
              <a:rPr lang="en-GB" altLang="en-US" sz="1633" i="1" dirty="0" err="1">
                <a:latin typeface="Palatino Linotype" panose="02040502050505030304" pitchFamily="18" charset="0"/>
              </a:rPr>
              <a:t>Cool</a:t>
            </a:r>
            <a:r>
              <a:rPr lang="en-GB" altLang="en-US" sz="1633" dirty="0" err="1">
                <a:latin typeface="Palatino Linotype" panose="02040502050505030304" pitchFamily="18" charset="0"/>
              </a:rPr>
              <a:t>|Play</a:t>
            </a:r>
            <a:r>
              <a:rPr lang="en-GB" altLang="en-US" sz="1633" dirty="0">
                <a:latin typeface="Palatino Linotype" panose="02040502050505030304" pitchFamily="18" charset="0"/>
              </a:rPr>
              <a:t>=</a:t>
            </a:r>
            <a:r>
              <a:rPr lang="en-GB" altLang="en-US" sz="1633" i="1" dirty="0">
                <a:latin typeface="Palatino Linotype" panose="02040502050505030304" pitchFamily="18" charset="0"/>
              </a:rPr>
              <a:t>Yes</a:t>
            </a:r>
            <a:r>
              <a:rPr lang="en-GB" altLang="en-US" sz="1633" dirty="0">
                <a:latin typeface="Palatino Linotype" panose="02040502050505030304" pitchFamily="18" charset="0"/>
              </a:rPr>
              <a:t>) = 3/9</a:t>
            </a:r>
          </a:p>
          <a:p>
            <a:pPr eaLnBrk="1" hangingPunct="1">
              <a:lnSpc>
                <a:spcPct val="130000"/>
              </a:lnSpc>
            </a:pPr>
            <a:r>
              <a:rPr lang="en-GB" altLang="en-US" sz="1633" dirty="0">
                <a:latin typeface="Palatino Linotype" panose="02040502050505030304" pitchFamily="18" charset="0"/>
              </a:rPr>
              <a:t>P(</a:t>
            </a:r>
            <a:r>
              <a:rPr lang="en-GB" altLang="en-US" sz="1633" dirty="0" err="1">
                <a:latin typeface="Palatino Linotype" panose="02040502050505030304" pitchFamily="18" charset="0"/>
              </a:rPr>
              <a:t>Huminity</a:t>
            </a:r>
            <a:r>
              <a:rPr lang="en-GB" altLang="en-US" sz="1633" dirty="0">
                <a:latin typeface="Palatino Linotype" panose="02040502050505030304" pitchFamily="18" charset="0"/>
              </a:rPr>
              <a:t>=</a:t>
            </a:r>
            <a:r>
              <a:rPr lang="en-GB" altLang="en-US" sz="1633" i="1" dirty="0" err="1">
                <a:latin typeface="Palatino Linotype" panose="02040502050505030304" pitchFamily="18" charset="0"/>
              </a:rPr>
              <a:t>High</a:t>
            </a:r>
            <a:r>
              <a:rPr lang="en-GB" altLang="en-US" sz="1633" dirty="0" err="1">
                <a:latin typeface="Palatino Linotype" panose="02040502050505030304" pitchFamily="18" charset="0"/>
              </a:rPr>
              <a:t>|Play</a:t>
            </a:r>
            <a:r>
              <a:rPr lang="en-GB" altLang="en-US" sz="1633" dirty="0">
                <a:latin typeface="Palatino Linotype" panose="02040502050505030304" pitchFamily="18" charset="0"/>
              </a:rPr>
              <a:t>=</a:t>
            </a:r>
            <a:r>
              <a:rPr lang="en-GB" altLang="en-US" sz="1633" i="1" dirty="0">
                <a:latin typeface="Palatino Linotype" panose="02040502050505030304" pitchFamily="18" charset="0"/>
              </a:rPr>
              <a:t>Yes</a:t>
            </a:r>
            <a:r>
              <a:rPr lang="en-GB" altLang="en-US" sz="1633" dirty="0">
                <a:latin typeface="Palatino Linotype" panose="02040502050505030304" pitchFamily="18" charset="0"/>
              </a:rPr>
              <a:t>) = 3/9</a:t>
            </a:r>
          </a:p>
          <a:p>
            <a:pPr eaLnBrk="1" hangingPunct="1">
              <a:lnSpc>
                <a:spcPct val="130000"/>
              </a:lnSpc>
            </a:pPr>
            <a:r>
              <a:rPr lang="en-GB" altLang="en-US" sz="1633" dirty="0">
                <a:latin typeface="Palatino Linotype" panose="02040502050505030304" pitchFamily="18" charset="0"/>
              </a:rPr>
              <a:t>P(Wind=</a:t>
            </a:r>
            <a:r>
              <a:rPr lang="en-GB" altLang="en-US" sz="1633" i="1" dirty="0" err="1">
                <a:latin typeface="Palatino Linotype" panose="02040502050505030304" pitchFamily="18" charset="0"/>
              </a:rPr>
              <a:t>Strong</a:t>
            </a:r>
            <a:r>
              <a:rPr lang="en-GB" altLang="en-US" sz="1633" dirty="0" err="1">
                <a:latin typeface="Palatino Linotype" panose="02040502050505030304" pitchFamily="18" charset="0"/>
              </a:rPr>
              <a:t>|Play</a:t>
            </a:r>
            <a:r>
              <a:rPr lang="en-GB" altLang="en-US" sz="1633" dirty="0">
                <a:latin typeface="Palatino Linotype" panose="02040502050505030304" pitchFamily="18" charset="0"/>
              </a:rPr>
              <a:t>=</a:t>
            </a:r>
            <a:r>
              <a:rPr lang="en-GB" altLang="en-US" sz="1633" i="1" dirty="0">
                <a:latin typeface="Palatino Linotype" panose="02040502050505030304" pitchFamily="18" charset="0"/>
              </a:rPr>
              <a:t>Yes</a:t>
            </a:r>
            <a:r>
              <a:rPr lang="en-GB" altLang="en-US" sz="1633" dirty="0">
                <a:latin typeface="Palatino Linotype" panose="02040502050505030304" pitchFamily="18" charset="0"/>
              </a:rPr>
              <a:t>) = 3/9</a:t>
            </a:r>
          </a:p>
          <a:p>
            <a:pPr eaLnBrk="1" hangingPunct="1">
              <a:lnSpc>
                <a:spcPct val="130000"/>
              </a:lnSpc>
            </a:pPr>
            <a:r>
              <a:rPr lang="en-GB" altLang="en-US" sz="1633" dirty="0">
                <a:latin typeface="Palatino Linotype" panose="02040502050505030304" pitchFamily="18" charset="0"/>
              </a:rPr>
              <a:t>P(Play=</a:t>
            </a:r>
            <a:r>
              <a:rPr lang="en-GB" altLang="en-US" sz="1633" i="1" dirty="0">
                <a:latin typeface="Palatino Linotype" panose="02040502050505030304" pitchFamily="18" charset="0"/>
              </a:rPr>
              <a:t>Yes</a:t>
            </a:r>
            <a:r>
              <a:rPr lang="en-GB" altLang="en-US" sz="1633" dirty="0">
                <a:latin typeface="Palatino Linotype" panose="02040502050505030304" pitchFamily="18" charset="0"/>
              </a:rPr>
              <a:t>) = 9/14</a:t>
            </a:r>
          </a:p>
        </p:txBody>
      </p:sp>
      <p:sp>
        <p:nvSpPr>
          <p:cNvPr id="18441" name="Text Box 94">
            <a:extLst>
              <a:ext uri="{FF2B5EF4-FFF2-40B4-BE49-F238E27FC236}">
                <a16:creationId xmlns:a16="http://schemas.microsoft.com/office/drawing/2014/main" id="{235A523D-5EA2-2E0A-8860-0A49AFEE3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2137" y="4881088"/>
            <a:ext cx="7740627" cy="1693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GB" altLang="en-US" sz="1633">
                <a:solidFill>
                  <a:schemeClr val="accent2"/>
                </a:solidFill>
                <a:latin typeface="Palatino Linotype" panose="02040502050505030304" pitchFamily="18" charset="0"/>
              </a:rPr>
              <a:t>P(</a:t>
            </a:r>
            <a:r>
              <a:rPr lang="en-GB" altLang="en-US" sz="1633" i="1">
                <a:solidFill>
                  <a:schemeClr val="accent2"/>
                </a:solidFill>
                <a:latin typeface="Palatino Linotype" panose="02040502050505030304" pitchFamily="18" charset="0"/>
              </a:rPr>
              <a:t>Yes</a:t>
            </a:r>
            <a:r>
              <a:rPr lang="en-GB" altLang="en-US" sz="1633">
                <a:solidFill>
                  <a:schemeClr val="accent2"/>
                </a:solidFill>
                <a:latin typeface="Palatino Linotype" panose="02040502050505030304" pitchFamily="18" charset="0"/>
              </a:rPr>
              <a:t>|</a:t>
            </a:r>
            <a:r>
              <a:rPr lang="en-GB" altLang="en-US" sz="1995" b="1">
                <a:solidFill>
                  <a:schemeClr val="accent2"/>
                </a:solidFill>
                <a:latin typeface="Palatino Linotype" panose="02040502050505030304" pitchFamily="18" charset="0"/>
              </a:rPr>
              <a:t>x</a:t>
            </a:r>
            <a:r>
              <a:rPr lang="en-GB" altLang="en-US" sz="1633">
                <a:solidFill>
                  <a:schemeClr val="accent2"/>
                </a:solidFill>
                <a:latin typeface="Palatino Linotype" panose="02040502050505030304" pitchFamily="18" charset="0"/>
              </a:rPr>
              <a:t>’):</a:t>
            </a:r>
            <a:r>
              <a:rPr lang="en-GB" altLang="en-US" sz="1633">
                <a:latin typeface="Palatino Linotype" panose="02040502050505030304" pitchFamily="18" charset="0"/>
              </a:rPr>
              <a:t> [P(</a:t>
            </a:r>
            <a:r>
              <a:rPr lang="en-GB" altLang="en-US" sz="1633" i="1">
                <a:latin typeface="Palatino Linotype" panose="02040502050505030304" pitchFamily="18" charset="0"/>
              </a:rPr>
              <a:t>Sunny</a:t>
            </a:r>
            <a:r>
              <a:rPr lang="en-GB" altLang="en-US" sz="1633">
                <a:latin typeface="Palatino Linotype" panose="02040502050505030304" pitchFamily="18" charset="0"/>
              </a:rPr>
              <a:t>|Y</a:t>
            </a:r>
            <a:r>
              <a:rPr lang="en-GB" altLang="en-US" sz="1633" i="1">
                <a:latin typeface="Palatino Linotype" panose="02040502050505030304" pitchFamily="18" charset="0"/>
              </a:rPr>
              <a:t>es</a:t>
            </a:r>
            <a:r>
              <a:rPr lang="en-GB" altLang="en-US" sz="1633">
                <a:latin typeface="Palatino Linotype" panose="02040502050505030304" pitchFamily="18" charset="0"/>
              </a:rPr>
              <a:t>)P(</a:t>
            </a:r>
            <a:r>
              <a:rPr lang="en-GB" altLang="en-US" sz="1633" i="1">
                <a:latin typeface="Palatino Linotype" panose="02040502050505030304" pitchFamily="18" charset="0"/>
              </a:rPr>
              <a:t>Cool</a:t>
            </a:r>
            <a:r>
              <a:rPr lang="en-GB" altLang="en-US" sz="1633">
                <a:latin typeface="Palatino Linotype" panose="02040502050505030304" pitchFamily="18" charset="0"/>
              </a:rPr>
              <a:t>|</a:t>
            </a:r>
            <a:r>
              <a:rPr lang="en-GB" altLang="en-US" sz="1633" i="1">
                <a:latin typeface="Palatino Linotype" panose="02040502050505030304" pitchFamily="18" charset="0"/>
              </a:rPr>
              <a:t>Yes</a:t>
            </a:r>
            <a:r>
              <a:rPr lang="en-GB" altLang="en-US" sz="1633">
                <a:latin typeface="Palatino Linotype" panose="02040502050505030304" pitchFamily="18" charset="0"/>
              </a:rPr>
              <a:t>)P(</a:t>
            </a:r>
            <a:r>
              <a:rPr lang="en-GB" altLang="en-US" sz="1633" i="1">
                <a:latin typeface="Palatino Linotype" panose="02040502050505030304" pitchFamily="18" charset="0"/>
              </a:rPr>
              <a:t>High</a:t>
            </a:r>
            <a:r>
              <a:rPr lang="en-GB" altLang="en-US" sz="1633">
                <a:latin typeface="Palatino Linotype" panose="02040502050505030304" pitchFamily="18" charset="0"/>
              </a:rPr>
              <a:t>|Y</a:t>
            </a:r>
            <a:r>
              <a:rPr lang="en-GB" altLang="en-US" sz="1633" i="1">
                <a:latin typeface="Palatino Linotype" panose="02040502050505030304" pitchFamily="18" charset="0"/>
              </a:rPr>
              <a:t>es</a:t>
            </a:r>
            <a:r>
              <a:rPr lang="en-GB" altLang="en-US" sz="1633">
                <a:latin typeface="Palatino Linotype" panose="02040502050505030304" pitchFamily="18" charset="0"/>
              </a:rPr>
              <a:t>)P(</a:t>
            </a:r>
            <a:r>
              <a:rPr lang="en-GB" altLang="en-US" sz="1633" i="1">
                <a:latin typeface="Palatino Linotype" panose="02040502050505030304" pitchFamily="18" charset="0"/>
              </a:rPr>
              <a:t>Strong</a:t>
            </a:r>
            <a:r>
              <a:rPr lang="en-GB" altLang="en-US" sz="1633">
                <a:latin typeface="Palatino Linotype" panose="02040502050505030304" pitchFamily="18" charset="0"/>
              </a:rPr>
              <a:t>|</a:t>
            </a:r>
            <a:r>
              <a:rPr lang="en-GB" altLang="en-US" sz="1633" i="1">
                <a:latin typeface="Palatino Linotype" panose="02040502050505030304" pitchFamily="18" charset="0"/>
              </a:rPr>
              <a:t>Yes</a:t>
            </a:r>
            <a:r>
              <a:rPr lang="en-GB" altLang="en-US" sz="1633">
                <a:latin typeface="Palatino Linotype" panose="02040502050505030304" pitchFamily="18" charset="0"/>
              </a:rPr>
              <a:t>)]P(Play=</a:t>
            </a:r>
            <a:r>
              <a:rPr lang="en-GB" altLang="en-US" sz="1633" i="1">
                <a:latin typeface="Palatino Linotype" panose="02040502050505030304" pitchFamily="18" charset="0"/>
              </a:rPr>
              <a:t>Yes</a:t>
            </a:r>
            <a:r>
              <a:rPr lang="en-GB" altLang="en-US" sz="1633">
                <a:latin typeface="Palatino Linotype" panose="02040502050505030304" pitchFamily="18" charset="0"/>
              </a:rPr>
              <a:t>) = 0.0053</a:t>
            </a:r>
          </a:p>
          <a:p>
            <a:pPr eaLnBrk="1" hangingPunct="1"/>
            <a:r>
              <a:rPr lang="en-GB" altLang="en-US" sz="1633">
                <a:latin typeface="Palatino Linotype" panose="02040502050505030304" pitchFamily="18" charset="0"/>
              </a:rPr>
              <a:t> </a:t>
            </a:r>
            <a:r>
              <a:rPr lang="en-GB" altLang="en-US" sz="1633">
                <a:solidFill>
                  <a:schemeClr val="accent2"/>
                </a:solidFill>
                <a:latin typeface="Palatino Linotype" panose="02040502050505030304" pitchFamily="18" charset="0"/>
              </a:rPr>
              <a:t>P(</a:t>
            </a:r>
            <a:r>
              <a:rPr lang="en-GB" altLang="en-US" sz="1633" i="1">
                <a:solidFill>
                  <a:schemeClr val="accent2"/>
                </a:solidFill>
                <a:latin typeface="Palatino Linotype" panose="02040502050505030304" pitchFamily="18" charset="0"/>
              </a:rPr>
              <a:t>No</a:t>
            </a:r>
            <a:r>
              <a:rPr lang="en-GB" altLang="en-US" sz="1633">
                <a:solidFill>
                  <a:schemeClr val="accent2"/>
                </a:solidFill>
                <a:latin typeface="Palatino Linotype" panose="02040502050505030304" pitchFamily="18" charset="0"/>
              </a:rPr>
              <a:t>|</a:t>
            </a:r>
            <a:r>
              <a:rPr lang="en-GB" altLang="en-US" sz="1995" b="1">
                <a:solidFill>
                  <a:schemeClr val="accent2"/>
                </a:solidFill>
                <a:latin typeface="Palatino Linotype" panose="02040502050505030304" pitchFamily="18" charset="0"/>
              </a:rPr>
              <a:t>x</a:t>
            </a:r>
            <a:r>
              <a:rPr lang="en-GB" altLang="en-US" sz="1633">
                <a:solidFill>
                  <a:schemeClr val="accent2"/>
                </a:solidFill>
                <a:latin typeface="Palatino Linotype" panose="02040502050505030304" pitchFamily="18" charset="0"/>
              </a:rPr>
              <a:t>’):</a:t>
            </a:r>
            <a:r>
              <a:rPr lang="en-GB" altLang="en-US" sz="1633">
                <a:latin typeface="Palatino Linotype" panose="02040502050505030304" pitchFamily="18" charset="0"/>
              </a:rPr>
              <a:t> [P(</a:t>
            </a:r>
            <a:r>
              <a:rPr lang="en-GB" altLang="en-US" sz="1633" i="1">
                <a:latin typeface="Palatino Linotype" panose="02040502050505030304" pitchFamily="18" charset="0"/>
              </a:rPr>
              <a:t>Sunny</a:t>
            </a:r>
            <a:r>
              <a:rPr lang="en-GB" altLang="en-US" sz="1633">
                <a:latin typeface="Palatino Linotype" panose="02040502050505030304" pitchFamily="18" charset="0"/>
              </a:rPr>
              <a:t>|N</a:t>
            </a:r>
            <a:r>
              <a:rPr lang="en-GB" altLang="en-US" sz="1633" i="1">
                <a:latin typeface="Palatino Linotype" panose="02040502050505030304" pitchFamily="18" charset="0"/>
              </a:rPr>
              <a:t>o</a:t>
            </a:r>
            <a:r>
              <a:rPr lang="en-GB" altLang="en-US" sz="1633">
                <a:latin typeface="Palatino Linotype" panose="02040502050505030304" pitchFamily="18" charset="0"/>
              </a:rPr>
              <a:t>) P(</a:t>
            </a:r>
            <a:r>
              <a:rPr lang="en-GB" altLang="en-US" sz="1633" i="1">
                <a:latin typeface="Palatino Linotype" panose="02040502050505030304" pitchFamily="18" charset="0"/>
              </a:rPr>
              <a:t>Cool</a:t>
            </a:r>
            <a:r>
              <a:rPr lang="en-GB" altLang="en-US" sz="1633">
                <a:latin typeface="Palatino Linotype" panose="02040502050505030304" pitchFamily="18" charset="0"/>
              </a:rPr>
              <a:t>|N</a:t>
            </a:r>
            <a:r>
              <a:rPr lang="en-GB" altLang="en-US" sz="1633" i="1">
                <a:latin typeface="Palatino Linotype" panose="02040502050505030304" pitchFamily="18" charset="0"/>
              </a:rPr>
              <a:t>o</a:t>
            </a:r>
            <a:r>
              <a:rPr lang="en-GB" altLang="en-US" sz="1633">
                <a:latin typeface="Palatino Linotype" panose="02040502050505030304" pitchFamily="18" charset="0"/>
              </a:rPr>
              <a:t>)P(</a:t>
            </a:r>
            <a:r>
              <a:rPr lang="en-GB" altLang="en-US" sz="1633" i="1">
                <a:latin typeface="Palatino Linotype" panose="02040502050505030304" pitchFamily="18" charset="0"/>
              </a:rPr>
              <a:t>High</a:t>
            </a:r>
            <a:r>
              <a:rPr lang="en-GB" altLang="en-US" sz="1633">
                <a:latin typeface="Palatino Linotype" panose="02040502050505030304" pitchFamily="18" charset="0"/>
              </a:rPr>
              <a:t>|</a:t>
            </a:r>
            <a:r>
              <a:rPr lang="en-GB" altLang="en-US" sz="1633" i="1">
                <a:latin typeface="Palatino Linotype" panose="02040502050505030304" pitchFamily="18" charset="0"/>
              </a:rPr>
              <a:t>No</a:t>
            </a:r>
            <a:r>
              <a:rPr lang="en-GB" altLang="en-US" sz="1633">
                <a:latin typeface="Palatino Linotype" panose="02040502050505030304" pitchFamily="18" charset="0"/>
              </a:rPr>
              <a:t>)P(</a:t>
            </a:r>
            <a:r>
              <a:rPr lang="en-GB" altLang="en-US" sz="1633" i="1">
                <a:latin typeface="Palatino Linotype" panose="02040502050505030304" pitchFamily="18" charset="0"/>
              </a:rPr>
              <a:t>Strong</a:t>
            </a:r>
            <a:r>
              <a:rPr lang="en-GB" altLang="en-US" sz="1633">
                <a:latin typeface="Palatino Linotype" panose="02040502050505030304" pitchFamily="18" charset="0"/>
              </a:rPr>
              <a:t>|</a:t>
            </a:r>
            <a:r>
              <a:rPr lang="en-GB" altLang="en-US" sz="1633" i="1">
                <a:latin typeface="Palatino Linotype" panose="02040502050505030304" pitchFamily="18" charset="0"/>
              </a:rPr>
              <a:t>No</a:t>
            </a:r>
            <a:r>
              <a:rPr lang="en-GB" altLang="en-US" sz="1633">
                <a:latin typeface="Palatino Linotype" panose="02040502050505030304" pitchFamily="18" charset="0"/>
              </a:rPr>
              <a:t>)]P(Play=</a:t>
            </a:r>
            <a:r>
              <a:rPr lang="en-GB" altLang="en-US" sz="1633" i="1">
                <a:latin typeface="Palatino Linotype" panose="02040502050505030304" pitchFamily="18" charset="0"/>
              </a:rPr>
              <a:t>No</a:t>
            </a:r>
            <a:r>
              <a:rPr lang="en-GB" altLang="en-US" sz="1633">
                <a:latin typeface="Palatino Linotype" panose="02040502050505030304" pitchFamily="18" charset="0"/>
              </a:rPr>
              <a:t>) = 0.0206</a:t>
            </a:r>
          </a:p>
          <a:p>
            <a:pPr eaLnBrk="1" hangingPunct="1">
              <a:lnSpc>
                <a:spcPct val="50000"/>
              </a:lnSpc>
            </a:pPr>
            <a:endParaRPr lang="en-GB" altLang="en-US" sz="1633">
              <a:latin typeface="Palatino Linotype" panose="0204050205050503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GB" altLang="en-US" sz="1814">
                <a:solidFill>
                  <a:schemeClr val="accent2"/>
                </a:solidFill>
                <a:latin typeface="Palatino Linotype" panose="02040502050505030304" pitchFamily="18" charset="0"/>
              </a:rPr>
              <a:t>         Given the fact</a:t>
            </a:r>
            <a:r>
              <a:rPr lang="en-GB" altLang="en-US" sz="1814" b="1">
                <a:solidFill>
                  <a:schemeClr val="accent2"/>
                </a:solidFill>
                <a:latin typeface="Palatino Linotype" panose="02040502050505030304" pitchFamily="18" charset="0"/>
              </a:rPr>
              <a:t> </a:t>
            </a:r>
            <a:r>
              <a:rPr lang="en-GB" altLang="en-US" sz="1814">
                <a:solidFill>
                  <a:schemeClr val="accent2"/>
                </a:solidFill>
                <a:latin typeface="Palatino Linotype" panose="02040502050505030304" pitchFamily="18" charset="0"/>
              </a:rPr>
              <a:t>P(</a:t>
            </a:r>
            <a:r>
              <a:rPr lang="en-GB" altLang="en-US" sz="1814" i="1">
                <a:solidFill>
                  <a:schemeClr val="accent2"/>
                </a:solidFill>
                <a:latin typeface="Palatino Linotype" panose="02040502050505030304" pitchFamily="18" charset="0"/>
              </a:rPr>
              <a:t>Yes</a:t>
            </a:r>
            <a:r>
              <a:rPr lang="en-GB" altLang="en-US" sz="1814">
                <a:solidFill>
                  <a:schemeClr val="accent2"/>
                </a:solidFill>
                <a:latin typeface="Palatino Linotype" panose="02040502050505030304" pitchFamily="18" charset="0"/>
              </a:rPr>
              <a:t>|</a:t>
            </a:r>
            <a:r>
              <a:rPr lang="en-GB" altLang="en-US" sz="2177" b="1">
                <a:solidFill>
                  <a:schemeClr val="accent2"/>
                </a:solidFill>
                <a:latin typeface="Palatino Linotype" panose="02040502050505030304" pitchFamily="18" charset="0"/>
              </a:rPr>
              <a:t>x</a:t>
            </a:r>
            <a:r>
              <a:rPr lang="en-GB" altLang="en-US" sz="1814">
                <a:solidFill>
                  <a:schemeClr val="accent2"/>
                </a:solidFill>
                <a:latin typeface="Palatino Linotype" panose="02040502050505030304" pitchFamily="18" charset="0"/>
              </a:rPr>
              <a:t>’) &lt; P(</a:t>
            </a:r>
            <a:r>
              <a:rPr lang="en-GB" altLang="en-US" sz="1814" i="1">
                <a:solidFill>
                  <a:schemeClr val="accent2"/>
                </a:solidFill>
                <a:latin typeface="Palatino Linotype" panose="02040502050505030304" pitchFamily="18" charset="0"/>
              </a:rPr>
              <a:t>No</a:t>
            </a:r>
            <a:r>
              <a:rPr lang="en-GB" altLang="en-US" sz="1814">
                <a:solidFill>
                  <a:schemeClr val="accent2"/>
                </a:solidFill>
                <a:latin typeface="Palatino Linotype" panose="02040502050505030304" pitchFamily="18" charset="0"/>
              </a:rPr>
              <a:t>|</a:t>
            </a:r>
            <a:r>
              <a:rPr lang="en-GB" altLang="en-US" sz="2177" b="1">
                <a:solidFill>
                  <a:schemeClr val="accent2"/>
                </a:solidFill>
                <a:latin typeface="Palatino Linotype" panose="02040502050505030304" pitchFamily="18" charset="0"/>
              </a:rPr>
              <a:t>x</a:t>
            </a:r>
            <a:r>
              <a:rPr lang="en-GB" altLang="en-US" sz="1814">
                <a:solidFill>
                  <a:schemeClr val="accent2"/>
                </a:solidFill>
                <a:latin typeface="Palatino Linotype" panose="02040502050505030304" pitchFamily="18" charset="0"/>
              </a:rPr>
              <a:t>’), we label </a:t>
            </a:r>
            <a:r>
              <a:rPr lang="en-GB" altLang="en-US" sz="2177" b="1">
                <a:solidFill>
                  <a:schemeClr val="accent2"/>
                </a:solidFill>
                <a:latin typeface="Palatino Linotype" panose="02040502050505030304" pitchFamily="18" charset="0"/>
              </a:rPr>
              <a:t>x</a:t>
            </a:r>
            <a:r>
              <a:rPr lang="en-GB" altLang="en-US" sz="1814">
                <a:solidFill>
                  <a:schemeClr val="accent2"/>
                </a:solidFill>
                <a:latin typeface="Palatino Linotype" panose="02040502050505030304" pitchFamily="18" charset="0"/>
              </a:rPr>
              <a:t>’ to be “</a:t>
            </a:r>
            <a:r>
              <a:rPr lang="en-GB" altLang="en-US" sz="1814" i="1">
                <a:solidFill>
                  <a:schemeClr val="accent2"/>
                </a:solidFill>
                <a:latin typeface="Palatino Linotype" panose="02040502050505030304" pitchFamily="18" charset="0"/>
              </a:rPr>
              <a:t>No</a:t>
            </a:r>
            <a:r>
              <a:rPr lang="en-GB" altLang="en-US" sz="1814">
                <a:solidFill>
                  <a:schemeClr val="accent2"/>
                </a:solidFill>
                <a:latin typeface="Palatino Linotype" panose="02040502050505030304" pitchFamily="18" charset="0"/>
              </a:rPr>
              <a:t>”.</a:t>
            </a:r>
            <a:r>
              <a:rPr lang="en-GB" altLang="en-US" sz="1814">
                <a:latin typeface="Palatino Linotype" panose="02040502050505030304" pitchFamily="18" charset="0"/>
              </a:rPr>
              <a:t>    </a:t>
            </a:r>
          </a:p>
          <a:p>
            <a:pPr eaLnBrk="1" hangingPunct="1">
              <a:lnSpc>
                <a:spcPct val="130000"/>
              </a:lnSpc>
            </a:pPr>
            <a:endParaRPr lang="en-GB" altLang="en-US" sz="1814">
              <a:latin typeface="Palatino Linotype" panose="0204050205050503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BB8BE5-B148-A8FD-8048-4948F84D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453" y="152110"/>
            <a:ext cx="6083591" cy="169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68580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>
            <a:extLst>
              <a:ext uri="{FF2B5EF4-FFF2-40B4-BE49-F238E27FC236}">
                <a16:creationId xmlns:a16="http://schemas.microsoft.com/office/drawing/2014/main" id="{D03004E4-EF63-BFBD-FEA8-7EE8CF3A25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85EE4344-B141-4980-B7D6-E36E2AF3E4B1}" type="slidenum">
              <a:rPr lang="en-US" altLang="en-US" smtClean="0"/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12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5458AADA-51A8-02B4-5C6E-79EBF99B54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336" y="90500"/>
            <a:ext cx="9144000" cy="6096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Naïve Bayes Classifier: Example</a:t>
            </a:r>
          </a:p>
        </p:txBody>
      </p:sp>
      <p:sp>
        <p:nvSpPr>
          <p:cNvPr id="31748" name="Text Box 4">
            <a:extLst>
              <a:ext uri="{FF2B5EF4-FFF2-40B4-BE49-F238E27FC236}">
                <a16:creationId xmlns:a16="http://schemas.microsoft.com/office/drawing/2014/main" id="{A7381A70-D4AB-B828-B243-4640D52AB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453" y="1700808"/>
            <a:ext cx="3429000" cy="37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Class: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C1:buys_computer = ‘yes’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C2:buys_computer = ‘no’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Data to be classified: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X = (age &lt;=30,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Income = medium,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Student = yes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 err="1"/>
              <a:t>Credit_rating</a:t>
            </a:r>
            <a:r>
              <a:rPr lang="en-US" altLang="en-US" sz="2400" dirty="0"/>
              <a:t> = Fair)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B340BB-DF75-F2FA-8E8A-2B9BB0D1A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760" y="1052736"/>
            <a:ext cx="7992888" cy="53285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>
            <a:extLst>
              <a:ext uri="{FF2B5EF4-FFF2-40B4-BE49-F238E27FC236}">
                <a16:creationId xmlns:a16="http://schemas.microsoft.com/office/drawing/2014/main" id="{0126C2F1-84B5-B179-E6EC-B92314B99A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85EE4344-B141-4980-B7D6-E36E2AF3E4B1}" type="slidenum">
              <a:rPr lang="en-US" altLang="en-US" smtClean="0"/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13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5F9BA11F-BE0D-7DC5-46ED-091461D26B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5360" y="258383"/>
            <a:ext cx="9067800" cy="6096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Naïve Bayes Classifier: An Example</a:t>
            </a:r>
          </a:p>
        </p:txBody>
      </p:sp>
      <p:graphicFrame>
        <p:nvGraphicFramePr>
          <p:cNvPr id="33797" name="Object 1">
            <a:extLst>
              <a:ext uri="{FF2B5EF4-FFF2-40B4-BE49-F238E27FC236}">
                <a16:creationId xmlns:a16="http://schemas.microsoft.com/office/drawing/2014/main" id="{517845D8-8A38-9C5D-3F8A-215E944779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2931635"/>
              </p:ext>
            </p:extLst>
          </p:nvPr>
        </p:nvGraphicFramePr>
        <p:xfrm>
          <a:off x="8688288" y="258383"/>
          <a:ext cx="3384376" cy="3602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324438" imgH="4457652" progId="Excel.Sheet.8">
                  <p:embed/>
                </p:oleObj>
              </mc:Choice>
              <mc:Fallback>
                <p:oleObj name="Worksheet" r:id="rId3" imgW="4324438" imgH="4457652" progId="Excel.Sheet.8">
                  <p:embed/>
                  <p:pic>
                    <p:nvPicPr>
                      <p:cNvPr id="33797" name="Object 1">
                        <a:extLst>
                          <a:ext uri="{FF2B5EF4-FFF2-40B4-BE49-F238E27FC236}">
                            <a16:creationId xmlns:a16="http://schemas.microsoft.com/office/drawing/2014/main" id="{517845D8-8A38-9C5D-3F8A-215E9447798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8288" y="258383"/>
                        <a:ext cx="3384376" cy="36026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D008BDC-9E66-36B5-B993-C08E4DBF4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730" y="1052736"/>
            <a:ext cx="8238542" cy="54242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5314F-5322-4C8F-87E0-777BE2E7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6661"/>
            <a:ext cx="9671248" cy="615553"/>
          </a:xfrm>
        </p:spPr>
        <p:txBody>
          <a:bodyPr/>
          <a:lstStyle/>
          <a:p>
            <a:r>
              <a:rPr lang="en-GB" dirty="0" err="1">
                <a:solidFill>
                  <a:schemeClr val="tx1"/>
                </a:solidFill>
              </a:rPr>
              <a:t>Baye’s</a:t>
            </a:r>
            <a:r>
              <a:rPr lang="en-GB" dirty="0">
                <a:solidFill>
                  <a:schemeClr val="tx1"/>
                </a:solidFill>
              </a:rPr>
              <a:t> Classifier-Example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16F443-EE66-4E37-B716-C5C9EE074259}"/>
              </a:ext>
            </a:extLst>
          </p:cNvPr>
          <p:cNvSpPr/>
          <p:nvPr/>
        </p:nvSpPr>
        <p:spPr>
          <a:xfrm>
            <a:off x="159026" y="14777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6C7164-9F19-455A-952F-33B355652145}"/>
              </a:ext>
            </a:extLst>
          </p:cNvPr>
          <p:cNvCxnSpPr/>
          <p:nvPr/>
        </p:nvCxnSpPr>
        <p:spPr>
          <a:xfrm>
            <a:off x="159026" y="124770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A0457AF-6C7E-55B3-87D9-7D4A3C204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32" y="1577767"/>
            <a:ext cx="5350768" cy="2952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8041CE-DC36-DE12-6E8B-B7EE4615A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044" y="1483658"/>
            <a:ext cx="6143625" cy="304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650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16F443-EE66-4E37-B716-C5C9EE074259}"/>
              </a:ext>
            </a:extLst>
          </p:cNvPr>
          <p:cNvSpPr/>
          <p:nvPr/>
        </p:nvSpPr>
        <p:spPr>
          <a:xfrm>
            <a:off x="159026" y="14777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D92BC0-85CD-A62C-3310-4F033A63D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1" y="908720"/>
            <a:ext cx="5760639" cy="47910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E16CB2-FBDD-4A7A-F245-28F2C158D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94671"/>
            <a:ext cx="5936974" cy="46767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A16F443-EE66-4E37-B716-C5C9EE074259}"/>
              </a:ext>
            </a:extLst>
          </p:cNvPr>
          <p:cNvSpPr/>
          <p:nvPr/>
        </p:nvSpPr>
        <p:spPr>
          <a:xfrm>
            <a:off x="159026" y="14777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F85D585-3317-CC85-F299-9F5BF4E0C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60" y="332656"/>
            <a:ext cx="7704856" cy="61206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6">
            <a:extLst>
              <a:ext uri="{FF2B5EF4-FFF2-40B4-BE49-F238E27FC236}">
                <a16:creationId xmlns:a16="http://schemas.microsoft.com/office/drawing/2014/main" id="{18B4D80B-F7C8-FD34-9069-C63237F6D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02240" y="6377940"/>
            <a:ext cx="2804160" cy="18466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10F136-5180-4A6D-A26E-DFD13835FEF8}" type="slidenum">
              <a:rPr lang="en-US" altLang="en-US" sz="12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B7A0CBA1-D3E0-5CC8-066B-DC90F46CA8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5360" y="304800"/>
            <a:ext cx="11593288" cy="1231106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Avoiding the Zero-Probability Problem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36F7B52C-D6DB-FCD4-2C1E-116C12074B0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219201"/>
            <a:ext cx="9163744" cy="452431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Naïve Bayesian prediction requires each conditional prob. be </a:t>
            </a:r>
            <a:r>
              <a:rPr lang="en-US" altLang="en-US" sz="2400" b="1" dirty="0"/>
              <a:t>non-zero</a:t>
            </a:r>
            <a:r>
              <a:rPr lang="en-US" altLang="en-US" sz="2400" dirty="0"/>
              <a:t>.  Otherwise, the predicted prob. will be zero</a:t>
            </a:r>
          </a:p>
          <a:p>
            <a:pPr eaLnBrk="1" hangingPunct="1"/>
            <a:endParaRPr lang="en-US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="1" dirty="0"/>
              <a:t>	</a:t>
            </a:r>
          </a:p>
          <a:p>
            <a:pPr eaLnBrk="1" hangingPunct="1"/>
            <a:r>
              <a:rPr lang="en-US" altLang="en-US" sz="2400" dirty="0"/>
              <a:t>Ex. Suppose a dataset with 1000 tuples, income=low (0), income= medium (990), and income = high (10)</a:t>
            </a:r>
          </a:p>
          <a:p>
            <a:pPr eaLnBrk="1" hangingPunct="1"/>
            <a:r>
              <a:rPr lang="en-US" altLang="en-US" sz="2400" dirty="0"/>
              <a:t>Use </a:t>
            </a:r>
            <a:r>
              <a:rPr lang="en-US" altLang="en-US" sz="2400" b="1" dirty="0"/>
              <a:t>Laplacian correction</a:t>
            </a:r>
            <a:r>
              <a:rPr lang="en-US" altLang="en-US" sz="2400" dirty="0"/>
              <a:t> (or Laplacian estimator)</a:t>
            </a:r>
          </a:p>
          <a:p>
            <a:pPr lvl="1" eaLnBrk="1" hangingPunct="1"/>
            <a:r>
              <a:rPr lang="en-US" altLang="en-US" sz="2400" i="1" dirty="0"/>
              <a:t>Adding 1 to each case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Prob(income = low) = 1/1003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Prob(income = medium) = 991/1003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Prob(income = high) = 11/1003</a:t>
            </a:r>
          </a:p>
          <a:p>
            <a:pPr lvl="1" eaLnBrk="1" hangingPunct="1"/>
            <a:r>
              <a:rPr lang="en-US" altLang="en-US" sz="2400" dirty="0"/>
              <a:t>The “corrected” prob. estimates are close to their “uncorrected” counterparts</a:t>
            </a:r>
          </a:p>
        </p:txBody>
      </p:sp>
      <p:graphicFrame>
        <p:nvGraphicFramePr>
          <p:cNvPr id="35845" name="Object 4">
            <a:extLst>
              <a:ext uri="{FF2B5EF4-FFF2-40B4-BE49-F238E27FC236}">
                <a16:creationId xmlns:a16="http://schemas.microsoft.com/office/drawing/2014/main" id="{9652A316-04A7-34B3-0375-C87507F958C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733800" y="1981200"/>
          <a:ext cx="4038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65300" imgH="508000" progId="Equation.3">
                  <p:embed/>
                </p:oleObj>
              </mc:Choice>
              <mc:Fallback>
                <p:oleObj name="Equation" r:id="rId3" imgW="1765300" imgH="508000" progId="Equation.3">
                  <p:embed/>
                  <p:pic>
                    <p:nvPicPr>
                      <p:cNvPr id="35845" name="Object 4">
                        <a:extLst>
                          <a:ext uri="{FF2B5EF4-FFF2-40B4-BE49-F238E27FC236}">
                            <a16:creationId xmlns:a16="http://schemas.microsoft.com/office/drawing/2014/main" id="{9652A316-04A7-34B3-0375-C87507F958C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981200"/>
                        <a:ext cx="4038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5932278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F85B98-13F9-B80D-D134-93484FB6CD14}"/>
              </a:ext>
            </a:extLst>
          </p:cNvPr>
          <p:cNvSpPr txBox="1"/>
          <p:nvPr/>
        </p:nvSpPr>
        <p:spPr>
          <a:xfrm>
            <a:off x="1055440" y="476672"/>
            <a:ext cx="10585176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600"/>
              </a:spcAft>
              <a:buNone/>
            </a:pP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0"/>
              </a:rPr>
              <a:t>Advantages of Naive Bayes Classifier</a:t>
            </a:r>
          </a:p>
          <a:p>
            <a:pPr marL="285750" indent="-285750" algn="l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Easy to implement and computationally efficient.</a:t>
            </a:r>
          </a:p>
          <a:p>
            <a:pPr marL="285750" indent="-285750" algn="l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Effective in cases with a large number of features.</a:t>
            </a:r>
          </a:p>
          <a:p>
            <a:pPr marL="285750" indent="-285750" algn="l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Performs well even with limited training data.</a:t>
            </a:r>
          </a:p>
          <a:p>
            <a:pPr marL="285750" indent="-285750" algn="l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It performs well in the presence of categorical features.</a:t>
            </a:r>
          </a:p>
          <a:p>
            <a:pPr marL="285750" indent="-285750" algn="l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For numerical features data is assumed to come from normal distributions</a:t>
            </a:r>
          </a:p>
          <a:p>
            <a:pPr algn="l" fontAlgn="base">
              <a:spcAft>
                <a:spcPts val="600"/>
              </a:spcAft>
              <a:buNone/>
            </a:pP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0"/>
              </a:rPr>
              <a:t>Disadvantages of Naive Bayes Classifier</a:t>
            </a:r>
          </a:p>
          <a:p>
            <a:pPr marL="285750" indent="-285750" algn="l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Assumes that features are independent, which may not always hold in real-world data.</a:t>
            </a:r>
          </a:p>
          <a:p>
            <a:pPr marL="285750" indent="-285750" algn="l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Can be influenced by irrelevant attributes.</a:t>
            </a:r>
          </a:p>
          <a:p>
            <a:pPr marL="285750" indent="-285750" algn="l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May assign zero probability to unseen events, leading to poor generalization.</a:t>
            </a:r>
          </a:p>
          <a:p>
            <a:pPr algn="l" fontAlgn="base">
              <a:spcAft>
                <a:spcPts val="600"/>
              </a:spcAft>
              <a:buNone/>
            </a:pP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0"/>
              </a:rPr>
              <a:t>Applications of Naive Bayes Classifier</a:t>
            </a:r>
          </a:p>
          <a:p>
            <a:pPr marL="285750" indent="-285750" algn="l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0"/>
              </a:rPr>
              <a:t>Spam Email Filtering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: Classifies emails as spam or non-spam based on features.</a:t>
            </a:r>
          </a:p>
          <a:p>
            <a:pPr marL="285750" indent="-285750" algn="l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0"/>
              </a:rPr>
              <a:t>Text Classification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: Used in sentiment analysis, document categorization, and topic classification.</a:t>
            </a:r>
          </a:p>
          <a:p>
            <a:pPr marL="285750" indent="-285750" algn="l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0"/>
              </a:rPr>
              <a:t>Medical Diagnosis: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 Helps in predicting the likelihood of a disease based on symptoms.</a:t>
            </a:r>
          </a:p>
          <a:p>
            <a:pPr marL="285750" indent="-285750" algn="l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0"/>
              </a:rPr>
              <a:t>Credit Scoring: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 Evaluates creditworthiness of individuals for loan approval.</a:t>
            </a:r>
          </a:p>
          <a:p>
            <a:pPr marL="285750" indent="-285750" algn="l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0"/>
              </a:rPr>
              <a:t>Weather Prediction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: Classifies weather conditions based on various factors.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6487477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</TotalTime>
  <Words>653</Words>
  <Application>Microsoft Office PowerPoint</Application>
  <PresentationFormat>Widescreen</PresentationFormat>
  <Paragraphs>85</Paragraphs>
  <Slides>18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Aptos</vt:lpstr>
      <vt:lpstr>Arial</vt:lpstr>
      <vt:lpstr>Arial MT</vt:lpstr>
      <vt:lpstr>Calibri</vt:lpstr>
      <vt:lpstr>Nunito</vt:lpstr>
      <vt:lpstr>Palatino Linotype</vt:lpstr>
      <vt:lpstr>Tahoma</vt:lpstr>
      <vt:lpstr>Wingdings</vt:lpstr>
      <vt:lpstr>Office Theme</vt:lpstr>
      <vt:lpstr>Worksheet</vt:lpstr>
      <vt:lpstr>Equation</vt:lpstr>
      <vt:lpstr>PowerPoint Presentation</vt:lpstr>
      <vt:lpstr>Bayes' Classifier</vt:lpstr>
      <vt:lpstr>Bayes' Classifier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</vt:lpstr>
      <vt:lpstr>PowerPoint Presentation</vt:lpstr>
      <vt:lpstr>Example </vt:lpstr>
      <vt:lpstr>Naïve Bayes Classifier: Example</vt:lpstr>
      <vt:lpstr>Naïve Bayes Classifier: An Example</vt:lpstr>
      <vt:lpstr>Baye’s Classifier-Example</vt:lpstr>
      <vt:lpstr>PowerPoint Presentation</vt:lpstr>
      <vt:lpstr>PowerPoint Presentation</vt:lpstr>
      <vt:lpstr>Avoiding the Zero-Probability Problem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 Nearest Neighbour Classifier</dc:title>
  <dc:creator>prof.subhash</dc:creator>
  <cp:lastModifiedBy>Subhash Chandra N</cp:lastModifiedBy>
  <cp:revision>41</cp:revision>
  <dcterms:created xsi:type="dcterms:W3CDTF">2021-03-27T14:35:11Z</dcterms:created>
  <dcterms:modified xsi:type="dcterms:W3CDTF">2025-09-17T08:07:54Z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2017-04-05T00:00:00Z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2021-03-27T00:00:00Z</vt:filetime>
  </property>
</Properties>
</file>